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8" r:id="rId2"/>
    <p:sldId id="506" r:id="rId3"/>
    <p:sldId id="507" r:id="rId4"/>
    <p:sldId id="515" r:id="rId5"/>
    <p:sldId id="509" r:id="rId6"/>
    <p:sldId id="510" r:id="rId7"/>
    <p:sldId id="511" r:id="rId8"/>
    <p:sldId id="508" r:id="rId9"/>
    <p:sldId id="513" r:id="rId10"/>
    <p:sldId id="512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">
          <p15:clr>
            <a:srgbClr val="A4A3A4"/>
          </p15:clr>
        </p15:guide>
        <p15:guide id="2" orient="horz" pos="3984">
          <p15:clr>
            <a:srgbClr val="A4A3A4"/>
          </p15:clr>
        </p15:guide>
        <p15:guide id="3" orient="horz" pos="1102">
          <p15:clr>
            <a:srgbClr val="A4A3A4"/>
          </p15:clr>
        </p15:guide>
        <p15:guide id="4" orient="horz" pos="3494">
          <p15:clr>
            <a:srgbClr val="A4A3A4"/>
          </p15:clr>
        </p15:guide>
        <p15:guide id="5" orient="horz" pos="844">
          <p15:clr>
            <a:srgbClr val="A4A3A4"/>
          </p15:clr>
        </p15:guide>
        <p15:guide id="6" pos="816">
          <p15:clr>
            <a:srgbClr val="A4A3A4"/>
          </p15:clr>
        </p15:guide>
        <p15:guide id="7" pos="5622">
          <p15:clr>
            <a:srgbClr val="A4A3A4"/>
          </p15:clr>
        </p15:guide>
        <p15:guide id="8" pos="5402">
          <p15:clr>
            <a:srgbClr val="A4A3A4"/>
          </p15:clr>
        </p15:guide>
        <p15:guide id="9" pos="4498">
          <p15:clr>
            <a:srgbClr val="A4A3A4"/>
          </p15:clr>
        </p15:guide>
        <p15:guide id="10" pos="5056">
          <p15:clr>
            <a:srgbClr val="A4A3A4"/>
          </p15:clr>
        </p15:guide>
        <p15:guide id="11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40"/>
    <a:srgbClr val="C5D1E0"/>
    <a:srgbClr val="F3F3F3"/>
    <a:srgbClr val="FF1D19"/>
    <a:srgbClr val="FF0000"/>
    <a:srgbClr val="808081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3907" autoAdjust="0"/>
  </p:normalViewPr>
  <p:slideViewPr>
    <p:cSldViewPr snapToGrid="0">
      <p:cViewPr varScale="1">
        <p:scale>
          <a:sx n="82" d="100"/>
          <a:sy n="82" d="100"/>
        </p:scale>
        <p:origin x="808" y="56"/>
      </p:cViewPr>
      <p:guideLst>
        <p:guide orient="horz" pos="624"/>
        <p:guide orient="horz" pos="3984"/>
        <p:guide orient="horz" pos="1102"/>
        <p:guide orient="horz" pos="3494"/>
        <p:guide orient="horz" pos="844"/>
        <p:guide pos="816"/>
        <p:guide pos="5622"/>
        <p:guide pos="5402"/>
        <p:guide pos="4498"/>
        <p:guide pos="5056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2725D32-1950-4256-3C47-02C0E0F29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67740351-EB27-6545-4A85-062A59D837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8" name="Rectangle 4">
            <a:extLst>
              <a:ext uri="{FF2B5EF4-FFF2-40B4-BE49-F238E27FC236}">
                <a16:creationId xmlns:a16="http://schemas.microsoft.com/office/drawing/2014/main" id="{E5EFFF0D-9840-6EFA-F5C0-3CF1A859D83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9" name="Rectangle 5">
            <a:extLst>
              <a:ext uri="{FF2B5EF4-FFF2-40B4-BE49-F238E27FC236}">
                <a16:creationId xmlns:a16="http://schemas.microsoft.com/office/drawing/2014/main" id="{F860D0FC-3571-D8DE-8C66-DBBE5885C9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2C2362A0-830E-450A-9B49-C5DA54E0CC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D8062F-996C-B16F-326D-B363EB7E2A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F0DBD24-000F-5E74-AE06-39085E2A30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D09B32-D9C7-B256-B2B0-F02DA16ABA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18B8BC6-60C8-E9E0-302A-48FF4BEC2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1D9CD0C-6E4B-D267-1F74-85AC08ADB9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26355A4-6BDB-86F7-CF30-E92F4C9C9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CBAC1EE1-2880-4401-9F3D-D9405615B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EB4A5E6E-DA61-2222-A669-A575E604F2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CAEEDC-AB6A-44D4-95DD-4947D559D9E6}" type="slidenum">
              <a:rPr lang="zh-CN" altLang="en-US" sz="1200" baseline="0" smtClean="0"/>
              <a:pPr/>
              <a:t>1</a:t>
            </a:fld>
            <a:endParaRPr lang="en-US" altLang="zh-CN" sz="1200" baseline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25B9850-00F3-A417-9D91-08B3AD6D03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3FBE54F-8F31-57E8-9FC8-F836DAEE1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09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250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113F-78C6-28B2-30CF-80A81B27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16068-212A-9A8C-D5C0-0500FAD3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77567-CCD1-F575-293E-C8D1C8309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4D12-7320-F354-E2DB-9B4B2ACD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552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126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747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397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72E5-1553-C7DE-E445-51D4588F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7AE31-008B-016E-B065-CAC9A7655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C845A-7776-BA86-4646-87582D0EA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43C4C-AFDE-BF06-3741-4ACC1BC0C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1587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604D-98C4-2343-BD1A-B6E696D0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892E9-64EC-88C2-FE19-ED55AF46B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83587-2695-5508-E747-801D03EE4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C0D8-A2ED-7AFA-09F5-FDA5657D7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24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8E4BE2-11B8-AD06-158E-40A14EF321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02BC2-256C-4C41-AAF5-DD24A1FC7493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1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A35FD4-C5FE-A4C3-1899-B694EACA45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D9702-DF11-4041-85A2-D6743F280F67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69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3BC6EE3-0F13-3382-206A-5279ED1E71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0414F-87EF-4BD3-829F-6435070674BF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11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413" y="990600"/>
            <a:ext cx="4351337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90600"/>
            <a:ext cx="4352925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C67A24-7849-3573-B70C-FAF58020DAF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72F98-5D14-4C5C-B6DD-AA5B225D18A1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38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33782-8906-934C-45A1-72D047E8F8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0215F-66C4-431B-A729-EF3434EEC949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54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EC07694-F899-2F5B-7E01-47B26AD61B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1C700-052B-466D-91CC-A90B5E34DF3C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40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1C1066E-DCA1-F5F0-1BC5-A931A8A9F9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DE1CD-49EE-464F-94A9-3FDA5A0C5B70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3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76E894-12EE-20DE-F654-25A6FDAC33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BDCE2-A519-49E5-AA8F-2861E5F7203E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93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700EFF-DDAB-BDAA-2CC3-4631954CD1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5F651-34A5-4A12-A613-FE810678A225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3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090C22-A92F-F7F7-83CF-9F05FF1179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F55B3-3DB8-45FD-878B-DEEB29D06D97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7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9100" y="76200"/>
            <a:ext cx="2212975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413" y="76200"/>
            <a:ext cx="6491287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0471F1-9769-347B-31F8-1241C9D74C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62303-B3C9-4856-A816-081A4D57B5B0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62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75" y="76200"/>
            <a:ext cx="77724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413" y="990600"/>
            <a:ext cx="4351337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29150" y="990600"/>
            <a:ext cx="4352925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29150" y="3733800"/>
            <a:ext cx="4352925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570EB1-A392-02F2-8B9C-694BD5256E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55B96-FC71-4BE9-B153-3B52226E5A41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623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75" y="76200"/>
            <a:ext cx="77724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25413" y="990600"/>
            <a:ext cx="8856662" cy="5334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89A8186-B7FB-CAD1-CD57-512CA10C6E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119C4-A099-48AE-9ADD-6F7A6723D1C3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4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24823A2-4B3C-23B0-0A51-6C8037814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76200"/>
            <a:ext cx="7772400" cy="685800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ctr" rotWithShape="0">
              <a:srgbClr val="808080">
                <a:alpha val="25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5973C16-3EB9-3B02-07B8-627DD73B1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5413" y="990600"/>
            <a:ext cx="8856662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38B49DF-CBF6-CD86-4D65-065E722AD2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8588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rgbClr val="B2B2B2"/>
                </a:solidFill>
                <a:latin typeface="Georgia" panose="02040502050405020303" pitchFamily="18" charset="0"/>
              </a:defRPr>
            </a:lvl1pPr>
          </a:lstStyle>
          <a:p>
            <a:pPr>
              <a:defRPr/>
            </a:pPr>
            <a:fld id="{FE3C43C2-3DBB-4E25-AC87-17D66FC327C1}" type="slidenum">
              <a:rPr lang="zh-CN" altLang="en-US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F3F3F3"/>
          </a:solidFill>
          <a:latin typeface="Georgia" pitchFamily="-105" charset="0"/>
          <a:ea typeface="ＭＳ Ｐゴシック" pitchFamily="-105" charset="-128"/>
          <a:cs typeface="ＭＳ Ｐゴシック" pitchFamily="-105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E7BBD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86868"/>
          </a:solidFill>
          <a:latin typeface="+mj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86868"/>
          </a:solidFill>
          <a:latin typeface="+mj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86868"/>
          </a:solidFill>
          <a:latin typeface="+mj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86868"/>
          </a:solidFill>
          <a:latin typeface="+mj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25889217-3C02-BDC7-9A2B-9A374B74EB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45326" y="1160526"/>
            <a:ext cx="8015287" cy="21859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000CC"/>
                </a:solidFill>
              </a:rPr>
              <a:t>Double/debiased machine learning with regression calibration (improved version)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530923D7-1F1A-B0B1-C04D-38B156BCE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54063" y="3784600"/>
            <a:ext cx="5659437" cy="2487613"/>
          </a:xfrm>
          <a:effectLst>
            <a:outerShdw blurRad="25400" dist="12700" dir="27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Georgia" panose="02040502050405020303" pitchFamily="18" charset="0"/>
              </a:rPr>
              <a:t>Zuoheng (Anita) Wang, PhD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latin typeface="Georgia" panose="02040502050405020303" pitchFamily="18" charset="0"/>
            </a:endParaRP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Georgia" panose="02040502050405020303" pitchFamily="18" charset="0"/>
              </a:rPr>
              <a:t>Department of Biostatistics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Georgia" panose="02040502050405020303" pitchFamily="18" charset="0"/>
              </a:rPr>
              <a:t>Yale School of Public Health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latin typeface="Georgia" panose="02040502050405020303" pitchFamily="18" charset="0"/>
            </a:endParaRP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Study design and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7988" y="1029753"/>
                <a:ext cx="8581179" cy="5311087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Main Study (MS):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External Validation Study (EVS):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a continuous outcome variable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surrogate exposures of 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surrogate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of interest</a:t>
                </a: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surrogate exposures of other PM</a:t>
                </a:r>
                <a:r>
                  <a:rPr lang="en-US" sz="1600" kern="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confounders measured without error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true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of interest</a:t>
                </a: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other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sz="1600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7988" y="1029753"/>
                <a:ext cx="8581179" cy="5311087"/>
              </a:xfrm>
              <a:blipFill>
                <a:blip r:embed="rId3"/>
                <a:stretch>
                  <a:fillRect l="-995" t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8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4871" y="887345"/>
                <a:ext cx="8754257" cy="5535941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 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 err="1">
                    <a:latin typeface="Georgia" panose="02040502050405020303" pitchFamily="18" charset="0"/>
                    <a:cs typeface="Times New Roman" panose="02020603050405020304" pitchFamily="18" charset="0"/>
                  </a:rPr>
                  <a:t>Chernozhukov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et al., 2018)</a:t>
                </a:r>
                <a:endParaRPr lang="en-US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4871" y="887345"/>
                <a:ext cx="8754257" cy="5535941"/>
              </a:xfrm>
              <a:blipFill>
                <a:blip r:embed="rId3"/>
                <a:stretch>
                  <a:fillRect l="-975" t="-881" r="-696" b="-1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79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AB7F-2A16-2701-C784-E513BBD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4584DC-6197-7ECA-AE5A-3A9346377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Neyman orthogonality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/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i="1" dirty="0"/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neighborhood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Or alternatively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𝜼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𝜼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1045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35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/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𝜕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905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00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Measurement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4871" y="969792"/>
                <a:ext cx="8754257" cy="5353370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Assumptions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</a:rPr>
                  <a:t>Transportability:</a:t>
                </a:r>
                <a:r>
                  <a:rPr lang="en-US" dirty="0">
                    <a:latin typeface="Georgia" panose="02040502050405020303" pitchFamily="18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measurement error process</a:t>
                </a:r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ker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same in the MS and EVS</a:t>
                </a:r>
                <a:endParaRPr lang="en-US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Surrogacy: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conditionally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dirty="0">
                  <a:latin typeface="Georgia" panose="02040502050405020303" pitchFamily="18" charset="0"/>
                </a:endParaRPr>
              </a:p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inear regression calibration (RC)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Georgia" panose="02040502050405020303" pitchFamily="18" charset="0"/>
                  </a:rPr>
                  <a:t>.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Fit linear regression model in the EVS: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𝐈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 true exposures in the MS</a:t>
                </a: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US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4871" y="969792"/>
                <a:ext cx="8754257" cy="5353370"/>
              </a:xfrm>
              <a:blipFill>
                <a:blip r:embed="rId3"/>
                <a:stretch>
                  <a:fillRect l="-975" t="-911" r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0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76200"/>
            <a:ext cx="781737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4871" y="849868"/>
                <a:ext cx="8754257" cy="5685843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Modified 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</a:t>
                </a: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𝑅𝐶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4871" y="849868"/>
                <a:ext cx="8754257" cy="5685843"/>
              </a:xfrm>
              <a:blipFill>
                <a:blip r:embed="rId3"/>
                <a:stretch>
                  <a:fillRect l="-975" t="-857" r="-696" b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46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69822" y="1014762"/>
                <a:ext cx="8754257" cy="5266116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Statistical properties</a:t>
                </a:r>
              </a:p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i="1" dirty="0">
                    <a:effectLst/>
                    <a:latin typeface="Georgia" panose="02040502050405020303" pitchFamily="18" charset="0"/>
                    <a:ea typeface="DengXian" panose="02010600030101010101" pitchFamily="2" charset="-122"/>
                  </a:rPr>
                  <a:t>Theorem 1: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DengXian" panose="02010600030101010101" pitchFamily="2" charset="-122"/>
                  </a:rPr>
                  <a:t> Suppose that Assumption 1 holds, the DML estimator with regression calibration,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DengXian" panose="02010600030101010101" pitchFamily="2" charset="-122"/>
                  </a:rPr>
                  <a:t>, converges in probability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DengXian" panose="02010600030101010101" pitchFamily="2" charset="-122"/>
                  </a:rPr>
                  <a:t>,</a:t>
                </a:r>
                <a:endParaRPr lang="en-US" sz="1800" dirty="0">
                  <a:latin typeface="Georgia" panose="02040502050405020303" pitchFamily="18" charset="0"/>
                  <a:ea typeface="DengXian" panose="02010600030101010101" pitchFamily="2" charset="-122"/>
                </a:endParaRPr>
              </a:p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𝑅𝐶</m:t>
                          </m:r>
                        </m:sub>
                      </m:sSub>
                      <m:r>
                        <a:rPr lang="en-US" sz="20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0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0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0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Asymptotic variance</a:t>
                </a:r>
              </a:p>
              <a:p>
                <a:pPr marL="347472" indent="0" algn="just" eaLnBrk="1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</m:acc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𝑅𝐶</m:t>
                              </m:r>
                            </m:sub>
                          </m:sSub>
                        </m:e>
                      </m:d>
                      <m:r>
                        <a:rPr lang="en-US" sz="16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1,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1,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𝑚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p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𝑿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2,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𝑾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𝑚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𝑾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𝑌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𝑔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𝑾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limLoc m:val="undOvr"/>
                                                  <m:supHide m:val="on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∈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  <m:sup/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𝑫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;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𝛽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𝑅𝐶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𝜽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𝜼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𝑘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num>
                                                    <m:den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nary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Var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𝑆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𝑫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;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𝜼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b="1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𝜽</m:t>
                                                  </m:r>
                                                </m:den>
                                              </m:f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1600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9822" y="1014762"/>
                <a:ext cx="8754257" cy="5266116"/>
              </a:xfrm>
              <a:blipFill>
                <a:blip r:embed="rId3"/>
                <a:stretch>
                  <a:fillRect l="-905" t="-926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45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64D8-9D46-FD47-188E-85B23320C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6F3B791-3C43-9BE8-A8A6-5F471AB51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Measurement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8F63893-9EE9-EE0A-4AB5-A52630C9E51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4871" y="969792"/>
                <a:ext cx="8754257" cy="5353370"/>
              </a:xfrm>
            </p:spPr>
            <p:txBody>
              <a:bodyPr/>
              <a:lstStyle/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Linear regression calibration (RC)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Georgia" panose="02040502050405020303" pitchFamily="18" charset="0"/>
                  </a:rPr>
                  <a:t>.</a:t>
                </a:r>
                <a:endParaRPr lang="en-US" altLang="en-US" dirty="0">
                  <a:latin typeface="Georgia" panose="02040502050405020303" pitchFamily="18" charset="0"/>
                </a:endParaRPr>
              </a:p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General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measurement error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12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</a:t>
                </a:r>
                <a:endParaRPr lang="en-US" sz="18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 true exposures in the MS</a:t>
                </a: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8F63893-9EE9-EE0A-4AB5-A52630C9E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4871" y="969792"/>
                <a:ext cx="8754257" cy="5353370"/>
              </a:xfrm>
              <a:blipFill>
                <a:blip r:embed="rId3"/>
                <a:stretch>
                  <a:fillRect l="-975" t="-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6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9070-4837-889B-E509-7F95F299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1EB81C2-CAC9-5D63-3900-179DC4E89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76200"/>
            <a:ext cx="781737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 (version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6E4BE827-DA37-EAB8-4101-08F1D50FD6C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4871" y="849868"/>
                <a:ext cx="8754257" cy="5685843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Modified 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</a:t>
                </a: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dirty="0">
                    <a:solidFill>
                      <a:srgbClr val="FF0000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This score </a:t>
                </a:r>
                <a:r>
                  <a:rPr lang="en-US" sz="1800">
                    <a:solidFill>
                      <a:srgbClr val="FF0000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function does not </a:t>
                </a:r>
                <a:r>
                  <a:rPr lang="en-US" sz="1800" dirty="0">
                    <a:solidFill>
                      <a:srgbClr val="FF0000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satisfy Neyman </a:t>
                </a:r>
                <a:r>
                  <a:rPr lang="en-US" sz="1800">
                    <a:solidFill>
                      <a:srgbClr val="FF0000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Orthogonality.</a:t>
                </a:r>
                <a:endParaRPr lang="en-US" sz="1800" dirty="0">
                  <a:solidFill>
                    <a:srgbClr val="FF0000"/>
                  </a:solidFill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6E4BE827-DA37-EAB8-4101-08F1D50FD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4871" y="849868"/>
                <a:ext cx="8754257" cy="5685843"/>
              </a:xfrm>
              <a:blipFill>
                <a:blip r:embed="rId3"/>
                <a:stretch>
                  <a:fillRect l="-975" t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63639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eorgia"/>
        <a:ea typeface="ＭＳ Ｐゴシック"/>
        <a:cs typeface="ＭＳ Ｐゴシック"/>
      </a:majorFont>
      <a:minorFont>
        <a:latin typeface="Verdan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-2500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-105" charset="0"/>
            <a:ea typeface="ＭＳ Ｐゴシック" pitchFamily="-105" charset="-128"/>
            <a:cs typeface="ＭＳ Ｐゴシック" pitchFamily="-10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-2500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-105" charset="0"/>
            <a:ea typeface="ＭＳ Ｐゴシック" pitchFamily="-105" charset="-128"/>
            <a:cs typeface="ＭＳ Ｐゴシック" pitchFamily="-105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14490</TotalTime>
  <Words>721</Words>
  <Application>Microsoft Office PowerPoint</Application>
  <PresentationFormat>On-screen Show (4:3)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Cambria Math</vt:lpstr>
      <vt:lpstr>Georgia</vt:lpstr>
      <vt:lpstr>Times New Roman</vt:lpstr>
      <vt:lpstr>Verdana</vt:lpstr>
      <vt:lpstr>Wingdings</vt:lpstr>
      <vt:lpstr>Blank Presentation</vt:lpstr>
      <vt:lpstr>Double/debiased machine learning with regression calibration (improved version)</vt:lpstr>
      <vt:lpstr>Study design and notations</vt:lpstr>
      <vt:lpstr>Double/debiased machine learning (DML)</vt:lpstr>
      <vt:lpstr>Neyman orthogonality</vt:lpstr>
      <vt:lpstr>Double/debiased machine learning (DML)</vt:lpstr>
      <vt:lpstr>Measurement error correction</vt:lpstr>
      <vt:lpstr>DML-RC</vt:lpstr>
      <vt:lpstr>DML-RC</vt:lpstr>
      <vt:lpstr>Measurement error correction</vt:lpstr>
      <vt:lpstr>DML-RC (version 1)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Yale FBO Communications</dc:title>
  <dc:subject/>
  <dc:creator>Patrick J. Lynch</dc:creator>
  <cp:keywords/>
  <dc:description/>
  <cp:lastModifiedBy>Wang, Zuoheng</cp:lastModifiedBy>
  <cp:revision>1428</cp:revision>
  <cp:lastPrinted>2007-07-16T15:50:51Z</cp:lastPrinted>
  <dcterms:modified xsi:type="dcterms:W3CDTF">2025-08-15T13:09:36Z</dcterms:modified>
  <cp:category/>
</cp:coreProperties>
</file>