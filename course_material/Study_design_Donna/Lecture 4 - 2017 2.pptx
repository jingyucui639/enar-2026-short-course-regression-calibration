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notesSlides/notesSlide2.xml" ContentType="application/vnd.openxmlformats-officedocument.presentationml.notesSlide+xml"/>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notesSlides/notesSlide3.xml" ContentType="application/vnd.openxmlformats-officedocument.presentationml.notesSlide+xml"/>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notesSlides/notesSlide4.xml" ContentType="application/vnd.openxmlformats-officedocument.presentationml.notesSlide+xml"/>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notesSlides/notesSlide5.xml" ContentType="application/vnd.openxmlformats-officedocument.presentationml.notesSlide+xml"/>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notesSlides/notesSlide6.xml" ContentType="application/vnd.openxmlformats-officedocument.presentationml.notesSlide+xml"/>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notesSlides/notesSlide7.xml" ContentType="application/vnd.openxmlformats-officedocument.presentationml.notesSlide+xml"/>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notesSlides/notesSlide8.xml" ContentType="application/vnd.openxmlformats-officedocument.presentationml.notesSlide+xml"/>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notesSlides/notesSlide9.xml" ContentType="application/vnd.openxmlformats-officedocument.presentationml.notesSlide+xml"/>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notesSlides/notesSlide10.xml" ContentType="application/vnd.openxmlformats-officedocument.presentationml.notesSlide+xml"/>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ppt/notesSlides/notesSlide11.xml" ContentType="application/vnd.openxmlformats-officedocument.presentationml.notesSlide+xml"/>
  <Override PartName="/ppt/embeddings/oleObject63.bin" ContentType="application/vnd.openxmlformats-officedocument.oleObject"/>
  <Override PartName="/ppt/embeddings/oleObject64.bin" ContentType="application/vnd.openxmlformats-officedocument.oleObject"/>
  <Override PartName="/ppt/embeddings/oleObject65.bin" ContentType="application/vnd.openxmlformats-officedocument.oleObject"/>
  <Override PartName="/ppt/embeddings/oleObject66.bin" ContentType="application/vnd.openxmlformats-officedocument.oleObject"/>
  <Override PartName="/ppt/embeddings/oleObject67.bin" ContentType="application/vnd.openxmlformats-officedocument.oleObject"/>
  <Override PartName="/ppt/embeddings/oleObject68.bin" ContentType="application/vnd.openxmlformats-officedocument.oleObject"/>
  <Override PartName="/ppt/embeddings/oleObject69.bin" ContentType="application/vnd.openxmlformats-officedocument.oleObject"/>
  <Override PartName="/ppt/embeddings/oleObject70.bin" ContentType="application/vnd.openxmlformats-officedocument.oleObject"/>
  <Override PartName="/ppt/embeddings/oleObject71.bin" ContentType="application/vnd.openxmlformats-officedocument.oleObject"/>
  <Override PartName="/ppt/embeddings/oleObject72.bin" ContentType="application/vnd.openxmlformats-officedocument.oleObject"/>
  <Override PartName="/ppt/embeddings/oleObject73.bin" ContentType="application/vnd.openxmlformats-officedocument.oleObject"/>
  <Override PartName="/ppt/embeddings/oleObject74.bin" ContentType="application/vnd.openxmlformats-officedocument.oleObject"/>
  <Override PartName="/ppt/embeddings/oleObject75.bin" ContentType="application/vnd.openxmlformats-officedocument.oleObject"/>
  <Override PartName="/ppt/embeddings/oleObject76.bin" ContentType="application/vnd.openxmlformats-officedocument.oleObject"/>
  <Override PartName="/ppt/embeddings/oleObject77.bin" ContentType="application/vnd.openxmlformats-officedocument.oleObject"/>
  <Override PartName="/ppt/embeddings/oleObject78.bin" ContentType="application/vnd.openxmlformats-officedocument.oleObject"/>
  <Override PartName="/ppt/embeddings/oleObject79.bin" ContentType="application/vnd.openxmlformats-officedocument.oleObject"/>
  <Override PartName="/ppt/embeddings/oleObject80.bin" ContentType="application/vnd.openxmlformats-officedocument.oleObject"/>
  <Override PartName="/ppt/embeddings/oleObject81.bin" ContentType="application/vnd.openxmlformats-officedocument.oleObject"/>
  <Override PartName="/ppt/embeddings/oleObject82.bin" ContentType="application/vnd.openxmlformats-officedocument.oleObject"/>
  <Override PartName="/ppt/embeddings/oleObject83.bin" ContentType="application/vnd.openxmlformats-officedocument.oleObject"/>
  <Override PartName="/ppt/embeddings/oleObject84.bin" ContentType="application/vnd.openxmlformats-officedocument.oleObject"/>
  <Override PartName="/ppt/embeddings/oleObject85.bin" ContentType="application/vnd.openxmlformats-officedocument.oleObject"/>
  <Override PartName="/ppt/notesSlides/notesSlide12.xml" ContentType="application/vnd.openxmlformats-officedocument.presentationml.notesSlide+xml"/>
  <Override PartName="/ppt/embeddings/oleObject86.bin" ContentType="application/vnd.openxmlformats-officedocument.oleObject"/>
  <Override PartName="/ppt/embeddings/oleObject87.bin" ContentType="application/vnd.openxmlformats-officedocument.oleObject"/>
  <Override PartName="/ppt/embeddings/oleObject88.bin" ContentType="application/vnd.openxmlformats-officedocument.oleObject"/>
  <Override PartName="/ppt/notesSlides/notesSlide13.xml" ContentType="application/vnd.openxmlformats-officedocument.presentationml.notesSlide+xml"/>
  <Override PartName="/ppt/embeddings/oleObject89.bin" ContentType="application/vnd.openxmlformats-officedocument.oleObject"/>
  <Override PartName="/ppt/embeddings/oleObject90.bin" ContentType="application/vnd.openxmlformats-officedocument.oleObject"/>
  <Override PartName="/ppt/notesSlides/notesSlide14.xml" ContentType="application/vnd.openxmlformats-officedocument.presentationml.notesSlide+xml"/>
  <Override PartName="/ppt/embeddings/oleObject91.bin" ContentType="application/vnd.openxmlformats-officedocument.oleObject"/>
  <Override PartName="/ppt/embeddings/oleObject92.bin" ContentType="application/vnd.openxmlformats-officedocument.oleObject"/>
  <Override PartName="/ppt/embeddings/oleObject93.bin" ContentType="application/vnd.openxmlformats-officedocument.oleObject"/>
  <Override PartName="/ppt/embeddings/oleObject94.bin" ContentType="application/vnd.openxmlformats-officedocument.oleObject"/>
  <Override PartName="/ppt/embeddings/oleObject95.bin" ContentType="application/vnd.openxmlformats-officedocument.oleObject"/>
  <Override PartName="/ppt/embeddings/oleObject96.bin" ContentType="application/vnd.openxmlformats-officedocument.oleObject"/>
  <Override PartName="/ppt/notesSlides/notesSlide15.xml" ContentType="application/vnd.openxmlformats-officedocument.presentationml.notesSlide+xml"/>
  <Override PartName="/ppt/embeddings/oleObject97.bin" ContentType="application/vnd.openxmlformats-officedocument.oleObject"/>
  <Override PartName="/ppt/embeddings/oleObject98.bin" ContentType="application/vnd.openxmlformats-officedocument.oleObject"/>
  <Override PartName="/ppt/embeddings/oleObject99.bin" ContentType="application/vnd.openxmlformats-officedocument.oleObject"/>
  <Override PartName="/ppt/embeddings/oleObject100.bin" ContentType="application/vnd.openxmlformats-officedocument.oleObject"/>
  <Override PartName="/ppt/embeddings/oleObject101.bin" ContentType="application/vnd.openxmlformats-officedocument.oleObject"/>
  <Override PartName="/ppt/embeddings/oleObject102.bin" ContentType="application/vnd.openxmlformats-officedocument.oleObject"/>
  <Override PartName="/ppt/notesSlides/notesSlide16.xml" ContentType="application/vnd.openxmlformats-officedocument.presentationml.notesSlide+xml"/>
  <Override PartName="/ppt/embeddings/oleObject103.bin" ContentType="application/vnd.openxmlformats-officedocument.oleObject"/>
  <Override PartName="/ppt/embeddings/oleObject104.bin" ContentType="application/vnd.openxmlformats-officedocument.oleObject"/>
  <Override PartName="/ppt/embeddings/oleObject105.bin" ContentType="application/vnd.openxmlformats-officedocument.oleObject"/>
  <Override PartName="/ppt/embeddings/oleObject106.bin" ContentType="application/vnd.openxmlformats-officedocument.oleObject"/>
  <Override PartName="/ppt/embeddings/oleObject107.bin" ContentType="application/vnd.openxmlformats-officedocument.oleObject"/>
  <Override PartName="/ppt/embeddings/oleObject108.bin" ContentType="application/vnd.openxmlformats-officedocument.oleObject"/>
  <Override PartName="/ppt/embeddings/oleObject109.bin" ContentType="application/vnd.openxmlformats-officedocument.oleObject"/>
  <Override PartName="/ppt/embeddings/oleObject110.bin" ContentType="application/vnd.openxmlformats-officedocument.oleObject"/>
  <Override PartName="/ppt/embeddings/oleObject111.bin" ContentType="application/vnd.openxmlformats-officedocument.oleObject"/>
  <Override PartName="/ppt/notesSlides/notesSlide17.xml" ContentType="application/vnd.openxmlformats-officedocument.presentationml.notesSlide+xml"/>
  <Override PartName="/ppt/embeddings/oleObject112.bin" ContentType="application/vnd.openxmlformats-officedocument.oleObject"/>
  <Override PartName="/ppt/embeddings/oleObject113.bin" ContentType="application/vnd.openxmlformats-officedocument.oleObject"/>
  <Override PartName="/ppt/embeddings/oleObject114.bin" ContentType="application/vnd.openxmlformats-officedocument.oleObject"/>
  <Override PartName="/ppt/embeddings/oleObject115.bin" ContentType="application/vnd.openxmlformats-officedocument.oleObject"/>
  <Override PartName="/ppt/embeddings/oleObject116.bin" ContentType="application/vnd.openxmlformats-officedocument.oleObject"/>
  <Override PartName="/ppt/embeddings/oleObject117.bin" ContentType="application/vnd.openxmlformats-officedocument.oleObject"/>
  <Override PartName="/ppt/embeddings/oleObject118.bin" ContentType="application/vnd.openxmlformats-officedocument.oleObject"/>
  <Override PartName="/ppt/embeddings/oleObject119.bin" ContentType="application/vnd.openxmlformats-officedocument.oleObject"/>
  <Override PartName="/ppt/embeddings/oleObject120.bin" ContentType="application/vnd.openxmlformats-officedocument.oleObject"/>
  <Override PartName="/ppt/notesSlides/notesSlide18.xml" ContentType="application/vnd.openxmlformats-officedocument.presentationml.notesSlide+xml"/>
  <Override PartName="/ppt/embeddings/oleObject121.bin" ContentType="application/vnd.openxmlformats-officedocument.oleObject"/>
  <Override PartName="/ppt/embeddings/oleObject122.bin" ContentType="application/vnd.openxmlformats-officedocument.oleObject"/>
  <Override PartName="/ppt/embeddings/oleObject123.bin" ContentType="application/vnd.openxmlformats-officedocument.oleObject"/>
  <Override PartName="/ppt/embeddings/oleObject124.bin" ContentType="application/vnd.openxmlformats-officedocument.oleObject"/>
  <Override PartName="/ppt/embeddings/oleObject125.bin" ContentType="application/vnd.openxmlformats-officedocument.oleObject"/>
  <Override PartName="/ppt/embeddings/oleObject126.bin" ContentType="application/vnd.openxmlformats-officedocument.oleObject"/>
  <Override PartName="/ppt/embeddings/oleObject127.bin" ContentType="application/vnd.openxmlformats-officedocument.oleObject"/>
  <Override PartName="/ppt/embeddings/oleObject128.bin" ContentType="application/vnd.openxmlformats-officedocument.oleObject"/>
  <Override PartName="/ppt/embeddings/oleObject129.bin" ContentType="application/vnd.openxmlformats-officedocument.oleObject"/>
  <Override PartName="/ppt/embeddings/oleObject130.bin" ContentType="application/vnd.openxmlformats-officedocument.oleObject"/>
  <Override PartName="/ppt/notesSlides/notesSlide19.xml" ContentType="application/vnd.openxmlformats-officedocument.presentationml.notesSlide+xml"/>
  <Override PartName="/ppt/embeddings/oleObject131.bin" ContentType="application/vnd.openxmlformats-officedocument.oleObject"/>
  <Override PartName="/ppt/embeddings/oleObject132.bin" ContentType="application/vnd.openxmlformats-officedocument.oleObject"/>
  <Override PartName="/ppt/embeddings/oleObject133.bin" ContentType="application/vnd.openxmlformats-officedocument.oleObject"/>
  <Override PartName="/ppt/embeddings/oleObject134.bin" ContentType="application/vnd.openxmlformats-officedocument.oleObject"/>
  <Override PartName="/ppt/embeddings/oleObject135.bin" ContentType="application/vnd.openxmlformats-officedocument.oleObject"/>
  <Override PartName="/ppt/embeddings/oleObject136.bin" ContentType="application/vnd.openxmlformats-officedocument.oleObject"/>
  <Override PartName="/ppt/embeddings/oleObject137.bin" ContentType="application/vnd.openxmlformats-officedocument.oleObject"/>
  <Override PartName="/ppt/notesSlides/notesSlide20.xml" ContentType="application/vnd.openxmlformats-officedocument.presentationml.notesSlide+xml"/>
  <Override PartName="/ppt/embeddings/oleObject138.bin" ContentType="application/vnd.openxmlformats-officedocument.oleObject"/>
  <Override PartName="/ppt/embeddings/oleObject139.bin" ContentType="application/vnd.openxmlformats-officedocument.oleObject"/>
  <Override PartName="/ppt/embeddings/oleObject140.bin" ContentType="application/vnd.openxmlformats-officedocument.oleObject"/>
  <Override PartName="/ppt/embeddings/oleObject141.bin" ContentType="application/vnd.openxmlformats-officedocument.oleObject"/>
  <Override PartName="/ppt/embeddings/oleObject142.bin" ContentType="application/vnd.openxmlformats-officedocument.oleObject"/>
  <Override PartName="/ppt/embeddings/oleObject143.bin" ContentType="application/vnd.openxmlformats-officedocument.oleObject"/>
  <Override PartName="/ppt/embeddings/oleObject144.bin" ContentType="application/vnd.openxmlformats-officedocument.oleObject"/>
  <Override PartName="/ppt/embeddings/oleObject145.bin" ContentType="application/vnd.openxmlformats-officedocument.oleObject"/>
  <Override PartName="/ppt/embeddings/oleObject146.bin" ContentType="application/vnd.openxmlformats-officedocument.oleObject"/>
  <Override PartName="/ppt/embeddings/oleObject147.bin" ContentType="application/vnd.openxmlformats-officedocument.oleObject"/>
  <Override PartName="/ppt/notesSlides/notesSlide21.xml" ContentType="application/vnd.openxmlformats-officedocument.presentationml.notesSlide+xml"/>
  <Override PartName="/ppt/embeddings/oleObject148.bin" ContentType="application/vnd.openxmlformats-officedocument.oleObject"/>
  <Override PartName="/ppt/embeddings/oleObject149.bin" ContentType="application/vnd.openxmlformats-officedocument.oleObject"/>
  <Override PartName="/ppt/embeddings/oleObject150.bin" ContentType="application/vnd.openxmlformats-officedocument.oleObject"/>
  <Override PartName="/ppt/embeddings/oleObject151.bin" ContentType="application/vnd.openxmlformats-officedocument.oleObject"/>
  <Override PartName="/ppt/embeddings/oleObject152.bin" ContentType="application/vnd.openxmlformats-officedocument.oleObject"/>
  <Override PartName="/ppt/embeddings/oleObject153.bin" ContentType="application/vnd.openxmlformats-officedocument.oleObject"/>
  <Override PartName="/ppt/embeddings/oleObject154.bin" ContentType="application/vnd.openxmlformats-officedocument.oleObject"/>
  <Override PartName="/ppt/notesSlides/notesSlide22.xml" ContentType="application/vnd.openxmlformats-officedocument.presentationml.notesSlide+xml"/>
  <Override PartName="/ppt/embeddings/oleObject155.bin" ContentType="application/vnd.openxmlformats-officedocument.oleObject"/>
  <Override PartName="/ppt/embeddings/oleObject156.bin" ContentType="application/vnd.openxmlformats-officedocument.oleObject"/>
  <Override PartName="/ppt/embeddings/oleObject157.bin" ContentType="application/vnd.openxmlformats-officedocument.oleObject"/>
  <Override PartName="/ppt/embeddings/oleObject158.bin" ContentType="application/vnd.openxmlformats-officedocument.oleObject"/>
  <Override PartName="/ppt/notesSlides/notesSlide23.xml" ContentType="application/vnd.openxmlformats-officedocument.presentationml.notesSlide+xml"/>
  <Override PartName="/ppt/embeddings/oleObject159.bin" ContentType="application/vnd.openxmlformats-officedocument.oleObject"/>
  <Override PartName="/ppt/embeddings/oleObject160.bin" ContentType="application/vnd.openxmlformats-officedocument.oleObject"/>
  <Override PartName="/ppt/embeddings/oleObject161.bin" ContentType="application/vnd.openxmlformats-officedocument.oleObject"/>
  <Override PartName="/ppt/embeddings/oleObject162.bin" ContentType="application/vnd.openxmlformats-officedocument.oleObject"/>
  <Override PartName="/ppt/embeddings/oleObject163.bin" ContentType="application/vnd.openxmlformats-officedocument.oleObject"/>
  <Override PartName="/ppt/embeddings/oleObject164.bin" ContentType="application/vnd.openxmlformats-officedocument.oleObject"/>
  <Override PartName="/ppt/embeddings/oleObject165.bin" ContentType="application/vnd.openxmlformats-officedocument.oleObject"/>
  <Override PartName="/ppt/notesSlides/notesSlide24.xml" ContentType="application/vnd.openxmlformats-officedocument.presentationml.notesSlide+xml"/>
  <Override PartName="/ppt/embeddings/oleObject166.bin" ContentType="application/vnd.openxmlformats-officedocument.oleObject"/>
  <Override PartName="/ppt/embeddings/oleObject167.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2"/>
  </p:notesMasterIdLst>
  <p:handoutMasterIdLst>
    <p:handoutMasterId r:id="rId33"/>
  </p:handoutMasterIdLst>
  <p:sldIdLst>
    <p:sldId id="472" r:id="rId2"/>
    <p:sldId id="470" r:id="rId3"/>
    <p:sldId id="473" r:id="rId4"/>
    <p:sldId id="474" r:id="rId5"/>
    <p:sldId id="475" r:id="rId6"/>
    <p:sldId id="514" r:id="rId7"/>
    <p:sldId id="476" r:id="rId8"/>
    <p:sldId id="477" r:id="rId9"/>
    <p:sldId id="478" r:id="rId10"/>
    <p:sldId id="516" r:id="rId11"/>
    <p:sldId id="498" r:id="rId12"/>
    <p:sldId id="496" r:id="rId13"/>
    <p:sldId id="482" r:id="rId14"/>
    <p:sldId id="513" r:id="rId15"/>
    <p:sldId id="483" r:id="rId16"/>
    <p:sldId id="484" r:id="rId17"/>
    <p:sldId id="515" r:id="rId18"/>
    <p:sldId id="485" r:id="rId19"/>
    <p:sldId id="486" r:id="rId20"/>
    <p:sldId id="487" r:id="rId21"/>
    <p:sldId id="488" r:id="rId22"/>
    <p:sldId id="512" r:id="rId23"/>
    <p:sldId id="490" r:id="rId24"/>
    <p:sldId id="503" r:id="rId25"/>
    <p:sldId id="489" r:id="rId26"/>
    <p:sldId id="492" r:id="rId27"/>
    <p:sldId id="511" r:id="rId28"/>
    <p:sldId id="494" r:id="rId29"/>
    <p:sldId id="493" r:id="rId30"/>
    <p:sldId id="495" r:id="rId31"/>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onna" initials="D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05" autoAdjust="0"/>
    <p:restoredTop sz="97633" autoAdjust="0"/>
  </p:normalViewPr>
  <p:slideViewPr>
    <p:cSldViewPr>
      <p:cViewPr varScale="1">
        <p:scale>
          <a:sx n="117" d="100"/>
          <a:sy n="117" d="100"/>
        </p:scale>
        <p:origin x="-1376" y="-256"/>
      </p:cViewPr>
      <p:guideLst>
        <p:guide orient="horz" pos="2160"/>
        <p:guide pos="2880"/>
      </p:guideLst>
    </p:cSldViewPr>
  </p:slideViewPr>
  <p:outlineViewPr>
    <p:cViewPr>
      <p:scale>
        <a:sx n="33" d="100"/>
        <a:sy n="33" d="100"/>
      </p:scale>
      <p:origin x="0" y="3903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handoutMaster" Target="handoutMasters/handoutMaster1.xml"/><Relationship Id="rId34" Type="http://schemas.openxmlformats.org/officeDocument/2006/relationships/printerSettings" Target="printerSettings/printerSettings1.bin"/><Relationship Id="rId35" Type="http://schemas.openxmlformats.org/officeDocument/2006/relationships/commentAuthors" Target="commentAuthors.xml"/><Relationship Id="rId36"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7.wmf"/><Relationship Id="rId4" Type="http://schemas.openxmlformats.org/officeDocument/2006/relationships/image" Target="../media/image8.emf"/><Relationship Id="rId5" Type="http://schemas.openxmlformats.org/officeDocument/2006/relationships/image" Target="../media/image9.emf"/><Relationship Id="rId6" Type="http://schemas.openxmlformats.org/officeDocument/2006/relationships/image" Target="../media/image10.emf"/><Relationship Id="rId1" Type="http://schemas.openxmlformats.org/officeDocument/2006/relationships/image" Target="../media/image1.wmf"/><Relationship Id="rId2"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3.wmf"/><Relationship Id="rId4" Type="http://schemas.openxmlformats.org/officeDocument/2006/relationships/image" Target="../media/image14.wmf"/><Relationship Id="rId1" Type="http://schemas.openxmlformats.org/officeDocument/2006/relationships/image" Target="../media/image1.wmf"/><Relationship Id="rId2"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6.wmf"/><Relationship Id="rId4" Type="http://schemas.openxmlformats.org/officeDocument/2006/relationships/image" Target="../media/image17.wmf"/><Relationship Id="rId5" Type="http://schemas.openxmlformats.org/officeDocument/2006/relationships/image" Target="../media/image18.wmf"/><Relationship Id="rId6" Type="http://schemas.openxmlformats.org/officeDocument/2006/relationships/image" Target="../media/image19.wmf"/><Relationship Id="rId7" Type="http://schemas.openxmlformats.org/officeDocument/2006/relationships/image" Target="../media/image20.emf"/><Relationship Id="rId8" Type="http://schemas.openxmlformats.org/officeDocument/2006/relationships/image" Target="../media/image21.wmf"/><Relationship Id="rId9" Type="http://schemas.openxmlformats.org/officeDocument/2006/relationships/image" Target="../media/image22.wmf"/><Relationship Id="rId10" Type="http://schemas.openxmlformats.org/officeDocument/2006/relationships/image" Target="../media/image23.wmf"/><Relationship Id="rId1" Type="http://schemas.openxmlformats.org/officeDocument/2006/relationships/image" Target="../media/image1.wmf"/><Relationship Id="rId2"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5.wmf"/><Relationship Id="rId4" Type="http://schemas.openxmlformats.org/officeDocument/2006/relationships/image" Target="../media/image26.wmf"/><Relationship Id="rId5" Type="http://schemas.openxmlformats.org/officeDocument/2006/relationships/image" Target="../media/image27.wmf"/><Relationship Id="rId6" Type="http://schemas.openxmlformats.org/officeDocument/2006/relationships/image" Target="../media/image28.wmf"/><Relationship Id="rId7" Type="http://schemas.openxmlformats.org/officeDocument/2006/relationships/image" Target="../media/image29.wmf"/><Relationship Id="rId8" Type="http://schemas.openxmlformats.org/officeDocument/2006/relationships/image" Target="../media/image30.wmf"/><Relationship Id="rId9" Type="http://schemas.openxmlformats.org/officeDocument/2006/relationships/image" Target="../media/image31.wmf"/><Relationship Id="rId1" Type="http://schemas.openxmlformats.org/officeDocument/2006/relationships/image" Target="../media/image1.wmf"/><Relationship Id="rId2"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5.emf"/><Relationship Id="rId4" Type="http://schemas.openxmlformats.org/officeDocument/2006/relationships/image" Target="../media/image36.wmf"/><Relationship Id="rId5" Type="http://schemas.openxmlformats.org/officeDocument/2006/relationships/image" Target="../media/image37.wmf"/><Relationship Id="rId6" Type="http://schemas.openxmlformats.org/officeDocument/2006/relationships/image" Target="../media/image38.emf"/><Relationship Id="rId1" Type="http://schemas.openxmlformats.org/officeDocument/2006/relationships/image" Target="../media/image1.wmf"/><Relationship Id="rId2" Type="http://schemas.openxmlformats.org/officeDocument/2006/relationships/image" Target="../media/image3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0.wmf"/><Relationship Id="rId4" Type="http://schemas.openxmlformats.org/officeDocument/2006/relationships/image" Target="../media/image41.emf"/><Relationship Id="rId5" Type="http://schemas.openxmlformats.org/officeDocument/2006/relationships/image" Target="../media/image42.wmf"/><Relationship Id="rId1" Type="http://schemas.openxmlformats.org/officeDocument/2006/relationships/image" Target="../media/image1.wmf"/><Relationship Id="rId2" Type="http://schemas.openxmlformats.org/officeDocument/2006/relationships/image" Target="../media/image39.emf"/></Relationships>
</file>

<file path=ppt/drawings/_rels/vmlDrawing12.vml.rels><?xml version="1.0" encoding="UTF-8" standalone="yes"?>
<Relationships xmlns="http://schemas.openxmlformats.org/package/2006/relationships"><Relationship Id="rId11" Type="http://schemas.openxmlformats.org/officeDocument/2006/relationships/image" Target="../media/image52.wmf"/><Relationship Id="rId12" Type="http://schemas.openxmlformats.org/officeDocument/2006/relationships/image" Target="../media/image53.wmf"/><Relationship Id="rId13" Type="http://schemas.openxmlformats.org/officeDocument/2006/relationships/image" Target="../media/image54.wmf"/><Relationship Id="rId14" Type="http://schemas.openxmlformats.org/officeDocument/2006/relationships/image" Target="../media/image55.wmf"/><Relationship Id="rId15" Type="http://schemas.openxmlformats.org/officeDocument/2006/relationships/image" Target="../media/image56.wmf"/><Relationship Id="rId16" Type="http://schemas.openxmlformats.org/officeDocument/2006/relationships/image" Target="../media/image57.wmf"/><Relationship Id="rId17" Type="http://schemas.openxmlformats.org/officeDocument/2006/relationships/image" Target="../media/image58.wmf"/><Relationship Id="rId1" Type="http://schemas.openxmlformats.org/officeDocument/2006/relationships/image" Target="../media/image1.wmf"/><Relationship Id="rId2" Type="http://schemas.openxmlformats.org/officeDocument/2006/relationships/image" Target="../media/image43.wmf"/><Relationship Id="rId3" Type="http://schemas.openxmlformats.org/officeDocument/2006/relationships/image" Target="../media/image44.wmf"/><Relationship Id="rId4" Type="http://schemas.openxmlformats.org/officeDocument/2006/relationships/image" Target="../media/image45.wmf"/><Relationship Id="rId5" Type="http://schemas.openxmlformats.org/officeDocument/2006/relationships/image" Target="../media/image46.wmf"/><Relationship Id="rId6" Type="http://schemas.openxmlformats.org/officeDocument/2006/relationships/image" Target="../media/image47.wmf"/><Relationship Id="rId7" Type="http://schemas.openxmlformats.org/officeDocument/2006/relationships/image" Target="../media/image48.wmf"/><Relationship Id="rId8" Type="http://schemas.openxmlformats.org/officeDocument/2006/relationships/image" Target="../media/image49.wmf"/><Relationship Id="rId9" Type="http://schemas.openxmlformats.org/officeDocument/2006/relationships/image" Target="../media/image50.wmf"/><Relationship Id="rId10"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0.wmf"/><Relationship Id="rId4" Type="http://schemas.openxmlformats.org/officeDocument/2006/relationships/image" Target="../media/image61.wmf"/><Relationship Id="rId1" Type="http://schemas.openxmlformats.org/officeDocument/2006/relationships/image" Target="../media/image1.wmf"/><Relationship Id="rId2" Type="http://schemas.openxmlformats.org/officeDocument/2006/relationships/image" Target="../media/image5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3.wmf"/><Relationship Id="rId4" Type="http://schemas.openxmlformats.org/officeDocument/2006/relationships/image" Target="../media/image64.wmf"/><Relationship Id="rId5" Type="http://schemas.openxmlformats.org/officeDocument/2006/relationships/image" Target="../media/image65.wmf"/><Relationship Id="rId1" Type="http://schemas.openxmlformats.org/officeDocument/2006/relationships/image" Target="../media/image1.wmf"/><Relationship Id="rId2" Type="http://schemas.openxmlformats.org/officeDocument/2006/relationships/image" Target="../media/image6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7.wmf"/><Relationship Id="rId4" Type="http://schemas.openxmlformats.org/officeDocument/2006/relationships/image" Target="../media/image68.wmf"/><Relationship Id="rId5" Type="http://schemas.openxmlformats.org/officeDocument/2006/relationships/image" Target="../media/image69.wmf"/><Relationship Id="rId6" Type="http://schemas.openxmlformats.org/officeDocument/2006/relationships/image" Target="../media/image70.wmf"/><Relationship Id="rId7" Type="http://schemas.openxmlformats.org/officeDocument/2006/relationships/image" Target="../media/image71.wmf"/><Relationship Id="rId1" Type="http://schemas.openxmlformats.org/officeDocument/2006/relationships/image" Target="../media/image1.wmf"/><Relationship Id="rId2" Type="http://schemas.openxmlformats.org/officeDocument/2006/relationships/image" Target="../media/image6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5.wmf"/><Relationship Id="rId4" Type="http://schemas.openxmlformats.org/officeDocument/2006/relationships/image" Target="../media/image76.emf"/><Relationship Id="rId5" Type="http://schemas.openxmlformats.org/officeDocument/2006/relationships/image" Target="../media/image77.emf"/><Relationship Id="rId6" Type="http://schemas.openxmlformats.org/officeDocument/2006/relationships/image" Target="../media/image78.emf"/><Relationship Id="rId7" Type="http://schemas.openxmlformats.org/officeDocument/2006/relationships/image" Target="../media/image79.wmf"/><Relationship Id="rId1" Type="http://schemas.openxmlformats.org/officeDocument/2006/relationships/image" Target="../media/image1.wmf"/><Relationship Id="rId2" Type="http://schemas.openxmlformats.org/officeDocument/2006/relationships/image" Target="../media/image7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1.wmf"/><Relationship Id="rId4" Type="http://schemas.openxmlformats.org/officeDocument/2006/relationships/image" Target="../media/image82.wmf"/><Relationship Id="rId5" Type="http://schemas.openxmlformats.org/officeDocument/2006/relationships/image" Target="../media/image83.wmf"/><Relationship Id="rId6" Type="http://schemas.openxmlformats.org/officeDocument/2006/relationships/image" Target="../media/image84.wmf"/><Relationship Id="rId7" Type="http://schemas.openxmlformats.org/officeDocument/2006/relationships/image" Target="../media/image85.wmf"/><Relationship Id="rId8" Type="http://schemas.openxmlformats.org/officeDocument/2006/relationships/image" Target="../media/image86.wmf"/><Relationship Id="rId1" Type="http://schemas.openxmlformats.org/officeDocument/2006/relationships/image" Target="../media/image1.wmf"/><Relationship Id="rId2" Type="http://schemas.openxmlformats.org/officeDocument/2006/relationships/image" Target="../media/image80.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1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0.wmf"/><Relationship Id="rId4" Type="http://schemas.openxmlformats.org/officeDocument/2006/relationships/image" Target="../media/image91.wmf"/><Relationship Id="rId1" Type="http://schemas.openxmlformats.org/officeDocument/2006/relationships/image" Target="../media/image88.wmf"/><Relationship Id="rId2" Type="http://schemas.openxmlformats.org/officeDocument/2006/relationships/image" Target="../media/image89.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3.wmf"/><Relationship Id="rId4" Type="http://schemas.openxmlformats.org/officeDocument/2006/relationships/image" Target="../media/image94.wmf"/><Relationship Id="rId5" Type="http://schemas.openxmlformats.org/officeDocument/2006/relationships/image" Target="../media/image95.wmf"/><Relationship Id="rId6" Type="http://schemas.openxmlformats.org/officeDocument/2006/relationships/image" Target="../media/image96.wmf"/><Relationship Id="rId7" Type="http://schemas.openxmlformats.org/officeDocument/2006/relationships/image" Target="../media/image97.wmf"/><Relationship Id="rId8" Type="http://schemas.openxmlformats.org/officeDocument/2006/relationships/image" Target="../media/image83.wmf"/><Relationship Id="rId1" Type="http://schemas.openxmlformats.org/officeDocument/2006/relationships/image" Target="../media/image1.wmf"/><Relationship Id="rId2" Type="http://schemas.openxmlformats.org/officeDocument/2006/relationships/image" Target="../media/image92.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99.wmf"/><Relationship Id="rId4" Type="http://schemas.openxmlformats.org/officeDocument/2006/relationships/image" Target="../media/image100.wmf"/><Relationship Id="rId1" Type="http://schemas.openxmlformats.org/officeDocument/2006/relationships/image" Target="../media/image1.wmf"/><Relationship Id="rId2" Type="http://schemas.openxmlformats.org/officeDocument/2006/relationships/image" Target="../media/image9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103.wmf"/><Relationship Id="rId3" Type="http://schemas.openxmlformats.org/officeDocument/2006/relationships/image" Target="../media/image104.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6.wmf"/><Relationship Id="rId4" Type="http://schemas.openxmlformats.org/officeDocument/2006/relationships/image" Target="../media/image107.wmf"/><Relationship Id="rId1" Type="http://schemas.openxmlformats.org/officeDocument/2006/relationships/image" Target="../media/image1.wmf"/><Relationship Id="rId2" Type="http://schemas.openxmlformats.org/officeDocument/2006/relationships/image" Target="../media/image105.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583" cy="480388"/>
          </a:xfrm>
          <a:prstGeom prst="rect">
            <a:avLst/>
          </a:prstGeom>
        </p:spPr>
        <p:txBody>
          <a:bodyPr vert="horz" wrap="square" lIns="94851" tIns="47425" rIns="94851" bIns="47425" numCol="1" anchor="t" anchorCtr="0" compatLnSpc="1">
            <a:prstTxWarp prst="textNoShape">
              <a:avLst/>
            </a:prstTxWarp>
          </a:bodyPr>
          <a:lstStyle>
            <a:lvl1pPr>
              <a:defRPr sz="1200">
                <a:latin typeface="Calibri" pitchFamily="34" charset="0"/>
              </a:defRPr>
            </a:lvl1pPr>
          </a:lstStyle>
          <a:p>
            <a:pPr>
              <a:defRPr/>
            </a:pPr>
            <a:endParaRPr lang="zh-CN" altLang="en-US"/>
          </a:p>
        </p:txBody>
      </p:sp>
      <p:sp>
        <p:nvSpPr>
          <p:cNvPr id="3" name="Date Placeholder 2"/>
          <p:cNvSpPr>
            <a:spLocks noGrp="1"/>
          </p:cNvSpPr>
          <p:nvPr>
            <p:ph type="dt" sz="quarter" idx="1"/>
          </p:nvPr>
        </p:nvSpPr>
        <p:spPr>
          <a:xfrm>
            <a:off x="4142962" y="0"/>
            <a:ext cx="3170583" cy="480388"/>
          </a:xfrm>
          <a:prstGeom prst="rect">
            <a:avLst/>
          </a:prstGeom>
        </p:spPr>
        <p:txBody>
          <a:bodyPr vert="horz" wrap="square" lIns="94851" tIns="47425" rIns="94851" bIns="47425" numCol="1" anchor="t" anchorCtr="0" compatLnSpc="1">
            <a:prstTxWarp prst="textNoShape">
              <a:avLst/>
            </a:prstTxWarp>
          </a:bodyPr>
          <a:lstStyle>
            <a:lvl1pPr algn="r">
              <a:defRPr sz="1200">
                <a:latin typeface="Calibri" pitchFamily="34" charset="0"/>
              </a:defRPr>
            </a:lvl1pPr>
          </a:lstStyle>
          <a:p>
            <a:pPr>
              <a:defRPr/>
            </a:pPr>
            <a:fld id="{487B62C1-4971-480C-BA99-2F71DB031E37}" type="datetimeFigureOut">
              <a:rPr lang="zh-CN" altLang="en-US"/>
              <a:pPr>
                <a:defRPr/>
              </a:pPr>
              <a:t>10/9/17</a:t>
            </a:fld>
            <a:endParaRPr lang="en-US" altLang="zh-CN"/>
          </a:p>
        </p:txBody>
      </p:sp>
      <p:sp>
        <p:nvSpPr>
          <p:cNvPr id="4" name="Footer Placeholder 3"/>
          <p:cNvSpPr>
            <a:spLocks noGrp="1"/>
          </p:cNvSpPr>
          <p:nvPr>
            <p:ph type="ftr" sz="quarter" idx="2"/>
          </p:nvPr>
        </p:nvSpPr>
        <p:spPr>
          <a:xfrm>
            <a:off x="0" y="9119173"/>
            <a:ext cx="3170583" cy="480388"/>
          </a:xfrm>
          <a:prstGeom prst="rect">
            <a:avLst/>
          </a:prstGeom>
        </p:spPr>
        <p:txBody>
          <a:bodyPr vert="horz" wrap="square" lIns="94851" tIns="47425" rIns="94851" bIns="47425" numCol="1" anchor="b" anchorCtr="0" compatLnSpc="1">
            <a:prstTxWarp prst="textNoShape">
              <a:avLst/>
            </a:prstTxWarp>
          </a:bodyPr>
          <a:lstStyle>
            <a:lvl1pPr>
              <a:defRPr sz="1200">
                <a:latin typeface="Calibri" pitchFamily="34" charset="0"/>
              </a:defRPr>
            </a:lvl1pPr>
          </a:lstStyle>
          <a:p>
            <a:pPr>
              <a:defRPr/>
            </a:pPr>
            <a:endParaRPr lang="zh-CN" altLang="en-US"/>
          </a:p>
        </p:txBody>
      </p:sp>
      <p:sp>
        <p:nvSpPr>
          <p:cNvPr id="5" name="Slide Number Placeholder 4"/>
          <p:cNvSpPr>
            <a:spLocks noGrp="1"/>
          </p:cNvSpPr>
          <p:nvPr>
            <p:ph type="sldNum" sz="quarter" idx="3"/>
          </p:nvPr>
        </p:nvSpPr>
        <p:spPr>
          <a:xfrm>
            <a:off x="4142962" y="9119173"/>
            <a:ext cx="3170583" cy="480388"/>
          </a:xfrm>
          <a:prstGeom prst="rect">
            <a:avLst/>
          </a:prstGeom>
        </p:spPr>
        <p:txBody>
          <a:bodyPr vert="horz" wrap="square" lIns="94851" tIns="47425" rIns="94851" bIns="47425" numCol="1" anchor="b" anchorCtr="0" compatLnSpc="1">
            <a:prstTxWarp prst="textNoShape">
              <a:avLst/>
            </a:prstTxWarp>
          </a:bodyPr>
          <a:lstStyle>
            <a:lvl1pPr algn="r">
              <a:defRPr sz="1200">
                <a:latin typeface="Calibri" pitchFamily="34" charset="0"/>
              </a:defRPr>
            </a:lvl1pPr>
          </a:lstStyle>
          <a:p>
            <a:pPr>
              <a:defRPr/>
            </a:pPr>
            <a:fld id="{2C7E07EA-57FE-4E01-B310-55735D9ED4F3}" type="slidenum">
              <a:rPr lang="zh-CN" altLang="en-US"/>
              <a:pPr>
                <a:defRPr/>
              </a:pPr>
              <a:t>‹#›</a:t>
            </a:fld>
            <a:endParaRPr lang="en-US" altLang="zh-CN"/>
          </a:p>
        </p:txBody>
      </p:sp>
    </p:spTree>
    <p:extLst>
      <p:ext uri="{BB962C8B-B14F-4D97-AF65-F5344CB8AC3E}">
        <p14:creationId xmlns:p14="http://schemas.microsoft.com/office/powerpoint/2010/main" val="6744334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583" cy="480388"/>
          </a:xfrm>
          <a:prstGeom prst="rect">
            <a:avLst/>
          </a:prstGeom>
        </p:spPr>
        <p:txBody>
          <a:bodyPr vert="horz" wrap="square" lIns="96653" tIns="48327" rIns="96653" bIns="48327" numCol="1" anchor="t" anchorCtr="0" compatLnSpc="1">
            <a:prstTxWarp prst="textNoShape">
              <a:avLst/>
            </a:prstTxWarp>
          </a:bodyPr>
          <a:lstStyle>
            <a:lvl1pPr>
              <a:defRPr sz="1200">
                <a:latin typeface="Calibri" pitchFamily="34" charset="0"/>
              </a:defRPr>
            </a:lvl1pPr>
          </a:lstStyle>
          <a:p>
            <a:pPr>
              <a:defRPr/>
            </a:pPr>
            <a:endParaRPr lang="zh-CN" altLang="en-US"/>
          </a:p>
        </p:txBody>
      </p:sp>
      <p:sp>
        <p:nvSpPr>
          <p:cNvPr id="3" name="Date Placeholder 2"/>
          <p:cNvSpPr>
            <a:spLocks noGrp="1"/>
          </p:cNvSpPr>
          <p:nvPr>
            <p:ph type="dt" idx="1"/>
          </p:nvPr>
        </p:nvSpPr>
        <p:spPr>
          <a:xfrm>
            <a:off x="4142962" y="0"/>
            <a:ext cx="3170583" cy="480388"/>
          </a:xfrm>
          <a:prstGeom prst="rect">
            <a:avLst/>
          </a:prstGeom>
        </p:spPr>
        <p:txBody>
          <a:bodyPr vert="horz" wrap="square" lIns="96653" tIns="48327" rIns="96653" bIns="48327" numCol="1" anchor="t" anchorCtr="0" compatLnSpc="1">
            <a:prstTxWarp prst="textNoShape">
              <a:avLst/>
            </a:prstTxWarp>
          </a:bodyPr>
          <a:lstStyle>
            <a:lvl1pPr algn="r">
              <a:defRPr sz="1200">
                <a:latin typeface="Calibri" pitchFamily="34" charset="0"/>
              </a:defRPr>
            </a:lvl1pPr>
          </a:lstStyle>
          <a:p>
            <a:pPr>
              <a:defRPr/>
            </a:pPr>
            <a:fld id="{31C4F636-5479-48D5-B40F-0FA34FC072AC}" type="datetimeFigureOut">
              <a:rPr lang="zh-CN" altLang="en-US"/>
              <a:pPr>
                <a:defRPr/>
              </a:pPr>
              <a:t>10/9/17</a:t>
            </a:fld>
            <a:endParaRPr lang="en-US" altLang="zh-CN"/>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pPr lvl="0"/>
            <a:endParaRPr lang="en-US" noProof="0"/>
          </a:p>
        </p:txBody>
      </p:sp>
      <p:sp>
        <p:nvSpPr>
          <p:cNvPr id="5" name="Notes Placeholder 4"/>
          <p:cNvSpPr>
            <a:spLocks noGrp="1"/>
          </p:cNvSpPr>
          <p:nvPr>
            <p:ph type="body" sz="quarter" idx="3"/>
          </p:nvPr>
        </p:nvSpPr>
        <p:spPr>
          <a:xfrm>
            <a:off x="732183" y="4561226"/>
            <a:ext cx="5850835" cy="4320213"/>
          </a:xfrm>
          <a:prstGeom prst="rect">
            <a:avLst/>
          </a:prstGeom>
        </p:spPr>
        <p:txBody>
          <a:bodyPr vert="horz" lIns="96653" tIns="48327" rIns="96653" bIns="48327"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119173"/>
            <a:ext cx="3170583" cy="480388"/>
          </a:xfrm>
          <a:prstGeom prst="rect">
            <a:avLst/>
          </a:prstGeom>
        </p:spPr>
        <p:txBody>
          <a:bodyPr vert="horz" wrap="square" lIns="96653" tIns="48327" rIns="96653" bIns="48327" numCol="1" anchor="b" anchorCtr="0" compatLnSpc="1">
            <a:prstTxWarp prst="textNoShape">
              <a:avLst/>
            </a:prstTxWarp>
          </a:bodyPr>
          <a:lstStyle>
            <a:lvl1pPr>
              <a:defRPr sz="1200">
                <a:latin typeface="Calibri" pitchFamily="34" charset="0"/>
              </a:defRPr>
            </a:lvl1pPr>
          </a:lstStyle>
          <a:p>
            <a:pPr>
              <a:defRPr/>
            </a:pPr>
            <a:endParaRPr lang="zh-CN" altLang="en-US"/>
          </a:p>
        </p:txBody>
      </p:sp>
      <p:sp>
        <p:nvSpPr>
          <p:cNvPr id="7" name="Slide Number Placeholder 6"/>
          <p:cNvSpPr>
            <a:spLocks noGrp="1"/>
          </p:cNvSpPr>
          <p:nvPr>
            <p:ph type="sldNum" sz="quarter" idx="5"/>
          </p:nvPr>
        </p:nvSpPr>
        <p:spPr>
          <a:xfrm>
            <a:off x="4142962" y="9119173"/>
            <a:ext cx="3170583" cy="480388"/>
          </a:xfrm>
          <a:prstGeom prst="rect">
            <a:avLst/>
          </a:prstGeom>
        </p:spPr>
        <p:txBody>
          <a:bodyPr vert="horz" wrap="square" lIns="96653" tIns="48327" rIns="96653" bIns="48327" numCol="1" anchor="b" anchorCtr="0" compatLnSpc="1">
            <a:prstTxWarp prst="textNoShape">
              <a:avLst/>
            </a:prstTxWarp>
          </a:bodyPr>
          <a:lstStyle>
            <a:lvl1pPr algn="r">
              <a:defRPr sz="1200">
                <a:latin typeface="Calibri" pitchFamily="34" charset="0"/>
              </a:defRPr>
            </a:lvl1pPr>
          </a:lstStyle>
          <a:p>
            <a:pPr>
              <a:defRPr/>
            </a:pPr>
            <a:fld id="{29627C84-8AE2-40B3-ADCC-54043863930A}" type="slidenum">
              <a:rPr lang="zh-CN" altLang="en-US"/>
              <a:pPr>
                <a:defRPr/>
              </a:pPr>
              <a:t>‹#›</a:t>
            </a:fld>
            <a:endParaRPr lang="en-US" altLang="zh-CN"/>
          </a:p>
        </p:txBody>
      </p:sp>
    </p:spTree>
    <p:extLst>
      <p:ext uri="{BB962C8B-B14F-4D97-AF65-F5344CB8AC3E}">
        <p14:creationId xmlns:p14="http://schemas.microsoft.com/office/powerpoint/2010/main" val="24044298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itchFamily="34" charset="0"/>
              </a:defRPr>
            </a:lvl1pPr>
            <a:lvl2pPr marL="770662" indent="-296408" eaLnBrk="0" hangingPunct="0">
              <a:spcBef>
                <a:spcPct val="30000"/>
              </a:spcBef>
              <a:defRPr sz="1200">
                <a:solidFill>
                  <a:schemeClr val="tx1"/>
                </a:solidFill>
                <a:latin typeface="Calibri" pitchFamily="34" charset="0"/>
              </a:defRPr>
            </a:lvl2pPr>
            <a:lvl3pPr marL="1185634" indent="-237127" eaLnBrk="0" hangingPunct="0">
              <a:spcBef>
                <a:spcPct val="30000"/>
              </a:spcBef>
              <a:defRPr sz="1200">
                <a:solidFill>
                  <a:schemeClr val="tx1"/>
                </a:solidFill>
                <a:latin typeface="Calibri" pitchFamily="34" charset="0"/>
              </a:defRPr>
            </a:lvl3pPr>
            <a:lvl4pPr marL="1659887" indent="-237127" eaLnBrk="0" hangingPunct="0">
              <a:spcBef>
                <a:spcPct val="30000"/>
              </a:spcBef>
              <a:defRPr sz="1200">
                <a:solidFill>
                  <a:schemeClr val="tx1"/>
                </a:solidFill>
                <a:latin typeface="Calibri" pitchFamily="34" charset="0"/>
              </a:defRPr>
            </a:lvl4pPr>
            <a:lvl5pPr marL="2134141" indent="-237127" eaLnBrk="0" hangingPunct="0">
              <a:spcBef>
                <a:spcPct val="30000"/>
              </a:spcBef>
              <a:defRPr sz="1200">
                <a:solidFill>
                  <a:schemeClr val="tx1"/>
                </a:solidFill>
                <a:latin typeface="Calibri" pitchFamily="34" charset="0"/>
              </a:defRPr>
            </a:lvl5pPr>
            <a:lvl6pPr marL="2608395" indent="-237127" eaLnBrk="0" fontAlgn="base" hangingPunct="0">
              <a:spcBef>
                <a:spcPct val="30000"/>
              </a:spcBef>
              <a:spcAft>
                <a:spcPct val="0"/>
              </a:spcAft>
              <a:defRPr sz="1200">
                <a:solidFill>
                  <a:schemeClr val="tx1"/>
                </a:solidFill>
                <a:latin typeface="Calibri" pitchFamily="34" charset="0"/>
              </a:defRPr>
            </a:lvl6pPr>
            <a:lvl7pPr marL="3082648" indent="-237127" eaLnBrk="0" fontAlgn="base" hangingPunct="0">
              <a:spcBef>
                <a:spcPct val="30000"/>
              </a:spcBef>
              <a:spcAft>
                <a:spcPct val="0"/>
              </a:spcAft>
              <a:defRPr sz="1200">
                <a:solidFill>
                  <a:schemeClr val="tx1"/>
                </a:solidFill>
                <a:latin typeface="Calibri" pitchFamily="34" charset="0"/>
              </a:defRPr>
            </a:lvl7pPr>
            <a:lvl8pPr marL="3556902" indent="-237127" eaLnBrk="0" fontAlgn="base" hangingPunct="0">
              <a:spcBef>
                <a:spcPct val="30000"/>
              </a:spcBef>
              <a:spcAft>
                <a:spcPct val="0"/>
              </a:spcAft>
              <a:defRPr sz="1200">
                <a:solidFill>
                  <a:schemeClr val="tx1"/>
                </a:solidFill>
                <a:latin typeface="Calibri" pitchFamily="34" charset="0"/>
              </a:defRPr>
            </a:lvl8pPr>
            <a:lvl9pPr marL="4031155" indent="-237127"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193383E-A9FB-46F0-BE6B-39682A23AF1A}" type="slidenum">
              <a:rPr lang="en-US" altLang="en-US" smtClean="0"/>
              <a:pPr eaLnBrk="1" hangingPunct="1">
                <a:spcBef>
                  <a:spcPct val="0"/>
                </a:spcBef>
              </a:pPr>
              <a:t>1</a:t>
            </a:fld>
            <a:endParaRPr lang="en-US" altLang="en-US" smtClean="0"/>
          </a:p>
        </p:txBody>
      </p:sp>
      <p:sp>
        <p:nvSpPr>
          <p:cNvPr id="2867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521329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11F667D-7CBB-45E3-9EF2-9BEE7BBB07B0}" type="slidenum">
              <a:rPr lang="zh-CN" altLang="en-US"/>
              <a:pPr algn="r" eaLnBrk="1" hangingPunct="1">
                <a:spcBef>
                  <a:spcPct val="0"/>
                </a:spcBef>
              </a:pPr>
              <a:t>2</a:t>
            </a:fld>
            <a:endParaRPr lang="en-US" altLang="zh-CN"/>
          </a:p>
        </p:txBody>
      </p:sp>
      <p:sp>
        <p:nvSpPr>
          <p:cNvPr id="2969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3276101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78CEDD61-1DA1-456B-AB83-9AB04A631EAE}" type="slidenum">
              <a:rPr lang="zh-CN" altLang="en-US"/>
              <a:pPr algn="r" eaLnBrk="1" hangingPunct="1">
                <a:spcBef>
                  <a:spcPct val="0"/>
                </a:spcBef>
              </a:pPr>
              <a:t>3</a:t>
            </a:fld>
            <a:endParaRPr lang="en-US" altLang="zh-CN"/>
          </a:p>
        </p:txBody>
      </p:sp>
      <p:sp>
        <p:nvSpPr>
          <p:cNvPr id="3072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670159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A61BE271-8753-4D9E-A70C-7ABA3DE47F8B}" type="slidenum">
              <a:rPr lang="zh-CN" altLang="en-US"/>
              <a:pPr algn="r" eaLnBrk="1" hangingPunct="1">
                <a:spcBef>
                  <a:spcPct val="0"/>
                </a:spcBef>
              </a:pPr>
              <a:t>4</a:t>
            </a:fld>
            <a:endParaRPr lang="en-US" altLang="zh-CN"/>
          </a:p>
        </p:txBody>
      </p:sp>
      <p:sp>
        <p:nvSpPr>
          <p:cNvPr id="3174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583472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0824FB59-341D-498C-B56E-DAEA69B48DF4}" type="slidenum">
              <a:rPr lang="zh-CN" altLang="en-US"/>
              <a:pPr algn="r" eaLnBrk="1" hangingPunct="1">
                <a:spcBef>
                  <a:spcPct val="0"/>
                </a:spcBef>
              </a:pPr>
              <a:t>5</a:t>
            </a:fld>
            <a:endParaRPr lang="en-US" altLang="zh-CN"/>
          </a:p>
        </p:txBody>
      </p:sp>
      <p:sp>
        <p:nvSpPr>
          <p:cNvPr id="3277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501183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BEB8E9D8-DBA0-4081-BF6A-5C5FBEB5F246}" type="slidenum">
              <a:rPr lang="zh-CN" altLang="en-US"/>
              <a:pPr algn="r" eaLnBrk="1" hangingPunct="1">
                <a:spcBef>
                  <a:spcPct val="0"/>
                </a:spcBef>
              </a:pPr>
              <a:t>7</a:t>
            </a:fld>
            <a:endParaRPr lang="en-US" altLang="zh-CN"/>
          </a:p>
        </p:txBody>
      </p:sp>
      <p:sp>
        <p:nvSpPr>
          <p:cNvPr id="3379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2907868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6B46EA7F-6CC4-45E7-9B61-16A1CB81C906}" type="slidenum">
              <a:rPr lang="zh-CN" altLang="en-US"/>
              <a:pPr algn="r" eaLnBrk="1" hangingPunct="1">
                <a:spcBef>
                  <a:spcPct val="0"/>
                </a:spcBef>
              </a:pPr>
              <a:t>8</a:t>
            </a:fld>
            <a:endParaRPr lang="en-US" altLang="zh-CN"/>
          </a:p>
        </p:txBody>
      </p:sp>
      <p:sp>
        <p:nvSpPr>
          <p:cNvPr id="3481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32729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900DFF7-6D98-4B60-AAE7-4F047A34CED7}" type="slidenum">
              <a:rPr lang="zh-CN" altLang="en-US"/>
              <a:pPr algn="r" eaLnBrk="1" hangingPunct="1">
                <a:spcBef>
                  <a:spcPct val="0"/>
                </a:spcBef>
              </a:pPr>
              <a:t>9</a:t>
            </a:fld>
            <a:endParaRPr lang="en-US" altLang="zh-CN"/>
          </a:p>
        </p:txBody>
      </p:sp>
      <p:sp>
        <p:nvSpPr>
          <p:cNvPr id="3584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3947190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139F5547-5AD7-4444-868A-FCD5C2D9A2F9}" type="slidenum">
              <a:rPr lang="zh-CN" altLang="en-US"/>
              <a:pPr algn="r" eaLnBrk="1" hangingPunct="1">
                <a:spcBef>
                  <a:spcPct val="0"/>
                </a:spcBef>
              </a:pPr>
              <a:t>10</a:t>
            </a:fld>
            <a:endParaRPr lang="en-US" altLang="zh-CN"/>
          </a:p>
        </p:txBody>
      </p:sp>
      <p:sp>
        <p:nvSpPr>
          <p:cNvPr id="3789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2450879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87177024-4A6F-4272-B775-9A00F89C9F5D}" type="slidenum">
              <a:rPr lang="zh-CN" altLang="en-US">
                <a:solidFill>
                  <a:prstClr val="black"/>
                </a:solidFill>
              </a:rPr>
              <a:pPr algn="r" eaLnBrk="1" hangingPunct="1">
                <a:spcBef>
                  <a:spcPct val="0"/>
                </a:spcBef>
              </a:pPr>
              <a:t>11</a:t>
            </a:fld>
            <a:endParaRPr lang="en-US" altLang="zh-CN">
              <a:solidFill>
                <a:prstClr val="black"/>
              </a:solidFill>
            </a:endParaRPr>
          </a:p>
        </p:txBody>
      </p:sp>
      <p:sp>
        <p:nvSpPr>
          <p:cNvPr id="3686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23959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6B8FC2B3-F161-4B65-8362-68BD88A456E3}" type="slidenum">
              <a:rPr lang="zh-CN" altLang="en-US"/>
              <a:pPr algn="r" eaLnBrk="1" hangingPunct="1">
                <a:spcBef>
                  <a:spcPct val="0"/>
                </a:spcBef>
              </a:pPr>
              <a:t>12</a:t>
            </a:fld>
            <a:endParaRPr lang="en-US" altLang="zh-CN"/>
          </a:p>
        </p:txBody>
      </p:sp>
      <p:sp>
        <p:nvSpPr>
          <p:cNvPr id="3891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3561129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51ECEFF3-1834-42F5-BE49-05A8B238DDA1}" type="slidenum">
              <a:rPr lang="zh-CN" altLang="en-US"/>
              <a:pPr algn="r" eaLnBrk="1" hangingPunct="1">
                <a:spcBef>
                  <a:spcPct val="0"/>
                </a:spcBef>
              </a:pPr>
              <a:t>13</a:t>
            </a:fld>
            <a:endParaRPr lang="en-US" altLang="zh-CN"/>
          </a:p>
        </p:txBody>
      </p:sp>
      <p:sp>
        <p:nvSpPr>
          <p:cNvPr id="3993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534368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8896A4D9-C062-4037-BA04-C708C742A081}" type="slidenum">
              <a:rPr lang="zh-CN" altLang="en-US"/>
              <a:pPr algn="r" eaLnBrk="1" hangingPunct="1">
                <a:spcBef>
                  <a:spcPct val="0"/>
                </a:spcBef>
              </a:pPr>
              <a:t>15</a:t>
            </a:fld>
            <a:endParaRPr lang="en-US" altLang="zh-CN"/>
          </a:p>
        </p:txBody>
      </p:sp>
      <p:sp>
        <p:nvSpPr>
          <p:cNvPr id="4096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75493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2C35FDF8-3891-4874-BAFB-78CDE46945B8}" type="slidenum">
              <a:rPr lang="zh-CN" altLang="en-US"/>
              <a:pPr algn="r" eaLnBrk="1" hangingPunct="1">
                <a:spcBef>
                  <a:spcPct val="0"/>
                </a:spcBef>
              </a:pPr>
              <a:t>16</a:t>
            </a:fld>
            <a:endParaRPr lang="en-US" altLang="zh-CN"/>
          </a:p>
        </p:txBody>
      </p:sp>
      <p:sp>
        <p:nvSpPr>
          <p:cNvPr id="4198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044685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28EFC927-6ADC-433F-BBE5-7205AF56410B}" type="slidenum">
              <a:rPr lang="zh-CN" altLang="en-US"/>
              <a:pPr algn="r" eaLnBrk="1" hangingPunct="1">
                <a:spcBef>
                  <a:spcPct val="0"/>
                </a:spcBef>
              </a:pPr>
              <a:t>18</a:t>
            </a:fld>
            <a:endParaRPr lang="en-US" altLang="zh-CN"/>
          </a:p>
        </p:txBody>
      </p:sp>
      <p:sp>
        <p:nvSpPr>
          <p:cNvPr id="4301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401709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8650FA7-8025-4CEE-BA5E-5B17CB8CF68C}" type="slidenum">
              <a:rPr lang="zh-CN" altLang="en-US"/>
              <a:pPr algn="r" eaLnBrk="1" hangingPunct="1">
                <a:spcBef>
                  <a:spcPct val="0"/>
                </a:spcBef>
              </a:pPr>
              <a:t>19</a:t>
            </a:fld>
            <a:endParaRPr lang="en-US" altLang="zh-CN"/>
          </a:p>
        </p:txBody>
      </p:sp>
      <p:sp>
        <p:nvSpPr>
          <p:cNvPr id="4403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087557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26756E50-16BF-434F-8366-B2C1479C6735}" type="slidenum">
              <a:rPr lang="zh-CN" altLang="en-US"/>
              <a:pPr algn="r" eaLnBrk="1" hangingPunct="1">
                <a:spcBef>
                  <a:spcPct val="0"/>
                </a:spcBef>
              </a:pPr>
              <a:t>20</a:t>
            </a:fld>
            <a:endParaRPr lang="en-US" altLang="zh-CN"/>
          </a:p>
        </p:txBody>
      </p:sp>
      <p:sp>
        <p:nvSpPr>
          <p:cNvPr id="4505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2764498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6CE5A3CA-74B0-4A38-8553-4485077D8F88}" type="slidenum">
              <a:rPr lang="zh-CN" altLang="en-US"/>
              <a:pPr algn="r" eaLnBrk="1" hangingPunct="1">
                <a:spcBef>
                  <a:spcPct val="0"/>
                </a:spcBef>
              </a:pPr>
              <a:t>21</a:t>
            </a:fld>
            <a:endParaRPr lang="en-US" altLang="zh-CN"/>
          </a:p>
        </p:txBody>
      </p:sp>
      <p:sp>
        <p:nvSpPr>
          <p:cNvPr id="4608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2518841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779551E-9770-4691-A19A-DD941BA6C626}" type="slidenum">
              <a:rPr lang="zh-CN" altLang="en-US"/>
              <a:pPr algn="r" eaLnBrk="1" hangingPunct="1">
                <a:spcBef>
                  <a:spcPct val="0"/>
                </a:spcBef>
              </a:pPr>
              <a:t>23</a:t>
            </a:fld>
            <a:endParaRPr lang="en-US" altLang="zh-CN"/>
          </a:p>
        </p:txBody>
      </p:sp>
      <p:sp>
        <p:nvSpPr>
          <p:cNvPr id="4710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1988256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08A85F82-E012-41AC-A87C-4EB21CE8FE5E}" type="slidenum">
              <a:rPr lang="zh-CN" altLang="en-US"/>
              <a:pPr algn="r" eaLnBrk="1" hangingPunct="1">
                <a:spcBef>
                  <a:spcPct val="0"/>
                </a:spcBef>
              </a:pPr>
              <a:t>25</a:t>
            </a:fld>
            <a:endParaRPr lang="en-US" altLang="zh-CN"/>
          </a:p>
        </p:txBody>
      </p:sp>
      <p:sp>
        <p:nvSpPr>
          <p:cNvPr id="48131"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4043471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74B770B4-DE4C-45D2-B6FE-29FC978B00BD}" type="slidenum">
              <a:rPr lang="zh-CN" altLang="en-US"/>
              <a:pPr algn="r" eaLnBrk="1" hangingPunct="1">
                <a:spcBef>
                  <a:spcPct val="0"/>
                </a:spcBef>
              </a:pPr>
              <a:t>26</a:t>
            </a:fld>
            <a:endParaRPr lang="en-US" altLang="zh-CN"/>
          </a:p>
        </p:txBody>
      </p:sp>
      <p:sp>
        <p:nvSpPr>
          <p:cNvPr id="49155"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3244622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E488DF69-8B13-40FB-9CB3-3DB107F06B13}" type="slidenum">
              <a:rPr lang="zh-CN" altLang="en-US"/>
              <a:pPr algn="r" eaLnBrk="1" hangingPunct="1">
                <a:spcBef>
                  <a:spcPct val="0"/>
                </a:spcBef>
              </a:pPr>
              <a:t>28</a:t>
            </a:fld>
            <a:endParaRPr lang="en-US" altLang="zh-CN"/>
          </a:p>
        </p:txBody>
      </p:sp>
      <p:sp>
        <p:nvSpPr>
          <p:cNvPr id="50179"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3308040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D04B3955-FBD6-4EBF-B59D-C10D0E71CC13}" type="slidenum">
              <a:rPr lang="zh-CN" altLang="en-US"/>
              <a:pPr algn="r" eaLnBrk="1" hangingPunct="1">
                <a:spcBef>
                  <a:spcPct val="0"/>
                </a:spcBef>
              </a:pPr>
              <a:t>29</a:t>
            </a:fld>
            <a:endParaRPr lang="en-US" altLang="zh-CN"/>
          </a:p>
        </p:txBody>
      </p:sp>
      <p:sp>
        <p:nvSpPr>
          <p:cNvPr id="51203"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Tree>
    <p:extLst>
      <p:ext uri="{BB962C8B-B14F-4D97-AF65-F5344CB8AC3E}">
        <p14:creationId xmlns:p14="http://schemas.microsoft.com/office/powerpoint/2010/main" val="3038183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txBox="1">
            <a:spLocks noGrp="1" noChangeArrowheads="1"/>
          </p:cNvSpPr>
          <p:nvPr/>
        </p:nvSpPr>
        <p:spPr bwMode="auto">
          <a:xfrm>
            <a:off x="4142962" y="9119173"/>
            <a:ext cx="3170583" cy="48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53" tIns="48327" rIns="96653" bIns="48327"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85C6023D-AF22-4F2D-BE80-0264F9422D9E}" type="slidenum">
              <a:rPr lang="zh-CN" altLang="en-US"/>
              <a:pPr algn="r" eaLnBrk="1" hangingPunct="1">
                <a:spcBef>
                  <a:spcPct val="0"/>
                </a:spcBef>
              </a:pPr>
              <a:t>30</a:t>
            </a:fld>
            <a:endParaRPr lang="en-US" altLang="zh-CN"/>
          </a:p>
        </p:txBody>
      </p:sp>
      <p:sp>
        <p:nvSpPr>
          <p:cNvPr id="52227" name="Rectangle 2"/>
          <p:cNvSpPr>
            <a:spLocks noGrp="1" noRot="1" noChangeAspect="1" noChangeArrowheads="1" noTextEdit="1"/>
          </p:cNvSpPr>
          <p:nvPr>
            <p:ph type="sldImg"/>
          </p:nvPr>
        </p:nvSpPr>
        <p:spPr bwMode="auto">
          <a:xfrm>
            <a:off x="1266825" y="727075"/>
            <a:ext cx="4781550" cy="3586163"/>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Tree>
    <p:extLst>
      <p:ext uri="{BB962C8B-B14F-4D97-AF65-F5344CB8AC3E}">
        <p14:creationId xmlns:p14="http://schemas.microsoft.com/office/powerpoint/2010/main" val="2548300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4199983-69C2-4AE9-8DA8-BCD522A328DF}" type="slidenum">
              <a:rPr lang="zh-CN" altLang="en-US"/>
              <a:pPr>
                <a:defRPr/>
              </a:pPr>
              <a:t>‹#›</a:t>
            </a:fld>
            <a:endParaRPr lang="en-US" altLang="zh-CN"/>
          </a:p>
        </p:txBody>
      </p:sp>
    </p:spTree>
    <p:extLst>
      <p:ext uri="{BB962C8B-B14F-4D97-AF65-F5344CB8AC3E}">
        <p14:creationId xmlns:p14="http://schemas.microsoft.com/office/powerpoint/2010/main" val="3894085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198F7EC-1B42-4AC7-B340-E18A20251A83}" type="slidenum">
              <a:rPr lang="zh-CN" altLang="en-US"/>
              <a:pPr>
                <a:defRPr/>
              </a:pPr>
              <a:t>‹#›</a:t>
            </a:fld>
            <a:endParaRPr lang="en-US" altLang="zh-CN"/>
          </a:p>
        </p:txBody>
      </p:sp>
    </p:spTree>
    <p:extLst>
      <p:ext uri="{BB962C8B-B14F-4D97-AF65-F5344CB8AC3E}">
        <p14:creationId xmlns:p14="http://schemas.microsoft.com/office/powerpoint/2010/main" val="2307208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831D5E1-8459-4E83-9704-73D3CC5E19D2}" type="slidenum">
              <a:rPr lang="zh-CN" altLang="en-US"/>
              <a:pPr>
                <a:defRPr/>
              </a:pPr>
              <a:t>‹#›</a:t>
            </a:fld>
            <a:endParaRPr lang="en-US" altLang="zh-CN"/>
          </a:p>
        </p:txBody>
      </p:sp>
    </p:spTree>
    <p:extLst>
      <p:ext uri="{BB962C8B-B14F-4D97-AF65-F5344CB8AC3E}">
        <p14:creationId xmlns:p14="http://schemas.microsoft.com/office/powerpoint/2010/main" val="373509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F656EABF-3110-422C-99BF-CB4BBD64661A}" type="slidenum">
              <a:rPr lang="zh-CN" altLang="en-US"/>
              <a:pPr>
                <a:defRPr/>
              </a:pPr>
              <a:t>‹#›</a:t>
            </a:fld>
            <a:endParaRPr lang="en-US" altLang="zh-CN"/>
          </a:p>
        </p:txBody>
      </p:sp>
    </p:spTree>
    <p:extLst>
      <p:ext uri="{BB962C8B-B14F-4D97-AF65-F5344CB8AC3E}">
        <p14:creationId xmlns:p14="http://schemas.microsoft.com/office/powerpoint/2010/main" val="211785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56B971AE-3E59-47F1-B82E-43B22E8A8CAF}" type="slidenum">
              <a:rPr lang="zh-CN" altLang="en-US"/>
              <a:pPr>
                <a:defRPr/>
              </a:pPr>
              <a:t>‹#›</a:t>
            </a:fld>
            <a:endParaRPr lang="en-US" altLang="zh-CN"/>
          </a:p>
        </p:txBody>
      </p:sp>
    </p:spTree>
    <p:extLst>
      <p:ext uri="{BB962C8B-B14F-4D97-AF65-F5344CB8AC3E}">
        <p14:creationId xmlns:p14="http://schemas.microsoft.com/office/powerpoint/2010/main" val="1764221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FE2EEE5B-925D-4B2E-B20B-10DD6A733690}" type="slidenum">
              <a:rPr lang="zh-CN" altLang="en-US"/>
              <a:pPr>
                <a:defRPr/>
              </a:pPr>
              <a:t>‹#›</a:t>
            </a:fld>
            <a:endParaRPr lang="en-US" altLang="zh-CN"/>
          </a:p>
        </p:txBody>
      </p:sp>
    </p:spTree>
    <p:extLst>
      <p:ext uri="{BB962C8B-B14F-4D97-AF65-F5344CB8AC3E}">
        <p14:creationId xmlns:p14="http://schemas.microsoft.com/office/powerpoint/2010/main" val="59124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9EC2F25A-7C19-4DC2-ACB6-9E5283462E2A}" type="slidenum">
              <a:rPr lang="zh-CN" altLang="en-US"/>
              <a:pPr>
                <a:defRPr/>
              </a:pPr>
              <a:t>‹#›</a:t>
            </a:fld>
            <a:endParaRPr lang="en-US" altLang="zh-CN"/>
          </a:p>
        </p:txBody>
      </p:sp>
    </p:spTree>
    <p:extLst>
      <p:ext uri="{BB962C8B-B14F-4D97-AF65-F5344CB8AC3E}">
        <p14:creationId xmlns:p14="http://schemas.microsoft.com/office/powerpoint/2010/main" val="2615631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74379B6-EF1F-44DC-B70A-40D11DFF905E}" type="slidenum">
              <a:rPr lang="zh-CN" altLang="en-US"/>
              <a:pPr>
                <a:defRPr/>
              </a:pPr>
              <a:t>‹#›</a:t>
            </a:fld>
            <a:endParaRPr lang="en-US" altLang="zh-CN"/>
          </a:p>
        </p:txBody>
      </p:sp>
    </p:spTree>
    <p:extLst>
      <p:ext uri="{BB962C8B-B14F-4D97-AF65-F5344CB8AC3E}">
        <p14:creationId xmlns:p14="http://schemas.microsoft.com/office/powerpoint/2010/main" val="2094889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E7A50223-696C-400D-A343-0CC962F88451}" type="slidenum">
              <a:rPr lang="zh-CN" altLang="en-US"/>
              <a:pPr>
                <a:defRPr/>
              </a:pPr>
              <a:t>‹#›</a:t>
            </a:fld>
            <a:endParaRPr lang="en-US" altLang="zh-CN"/>
          </a:p>
        </p:txBody>
      </p:sp>
    </p:spTree>
    <p:extLst>
      <p:ext uri="{BB962C8B-B14F-4D97-AF65-F5344CB8AC3E}">
        <p14:creationId xmlns:p14="http://schemas.microsoft.com/office/powerpoint/2010/main" val="424899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FA3A718-5AEA-41FB-9FEC-7C13AE29D6C0}" type="slidenum">
              <a:rPr lang="zh-CN" altLang="en-US"/>
              <a:pPr>
                <a:defRPr/>
              </a:pPr>
              <a:t>‹#›</a:t>
            </a:fld>
            <a:endParaRPr lang="en-US" altLang="zh-CN"/>
          </a:p>
        </p:txBody>
      </p:sp>
    </p:spTree>
    <p:extLst>
      <p:ext uri="{BB962C8B-B14F-4D97-AF65-F5344CB8AC3E}">
        <p14:creationId xmlns:p14="http://schemas.microsoft.com/office/powerpoint/2010/main" val="2608511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5071618A-A291-4210-91F0-4FBF5DB783B6}" type="slidenum">
              <a:rPr lang="zh-CN" altLang="en-US"/>
              <a:pPr>
                <a:defRPr/>
              </a:pPr>
              <a:t>‹#›</a:t>
            </a:fld>
            <a:endParaRPr lang="en-US" altLang="zh-CN"/>
          </a:p>
        </p:txBody>
      </p:sp>
    </p:spTree>
    <p:extLst>
      <p:ext uri="{BB962C8B-B14F-4D97-AF65-F5344CB8AC3E}">
        <p14:creationId xmlns:p14="http://schemas.microsoft.com/office/powerpoint/2010/main" val="2044767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28613" y="1941513"/>
            <a:ext cx="4027487"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08500" y="1941513"/>
            <a:ext cx="4029075"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925DF84-257F-4C45-966B-C0EA4E1475B2}" type="slidenum">
              <a:rPr lang="en-US"/>
              <a:pPr>
                <a:defRPr/>
              </a:pPr>
              <a:t>‹#›</a:t>
            </a:fld>
            <a:endParaRPr lang="en-US"/>
          </a:p>
        </p:txBody>
      </p:sp>
    </p:spTree>
    <p:extLst>
      <p:ext uri="{BB962C8B-B14F-4D97-AF65-F5344CB8AC3E}">
        <p14:creationId xmlns:p14="http://schemas.microsoft.com/office/powerpoint/2010/main" val="2927559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pPr>
              <a:defRPr/>
            </a:pPr>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34" charset="0"/>
              </a:defRPr>
            </a:lvl1pPr>
          </a:lstStyle>
          <a:p>
            <a:pPr>
              <a:defRPr/>
            </a:pPr>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a:defRPr/>
            </a:pPr>
            <a:fld id="{9F6B171A-01DB-4B39-A277-6E8A2BD9AE8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4" Type="http://schemas.openxmlformats.org/officeDocument/2006/relationships/oleObject" Target="../embeddings/oleObject1.bin"/><Relationship Id="rId5" Type="http://schemas.openxmlformats.org/officeDocument/2006/relationships/image" Target="../media/image1.wmf"/><Relationship Id="rId6" Type="http://schemas.openxmlformats.org/officeDocument/2006/relationships/oleObject" Target="../embeddings/oleObject2.bin"/><Relationship Id="rId7" Type="http://schemas.openxmlformats.org/officeDocument/2006/relationships/image" Target="../media/image2.png"/><Relationship Id="rId1" Type="http://schemas.openxmlformats.org/officeDocument/2006/relationships/vmlDrawing" Target="../drawings/vmlDrawing1.vml"/><Relationship Id="rId2"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4" Type="http://schemas.openxmlformats.org/officeDocument/2006/relationships/oleObject" Target="../embeddings/oleObject3.bin"/><Relationship Id="rId5" Type="http://schemas.openxmlformats.org/officeDocument/2006/relationships/image" Target="../media/image1.wmf"/><Relationship Id="rId6" Type="http://schemas.openxmlformats.org/officeDocument/2006/relationships/oleObject" Target="../embeddings/oleObject4.bin"/><Relationship Id="rId7" Type="http://schemas.openxmlformats.org/officeDocument/2006/relationships/oleObject" Target="../embeddings/oleObject5.bin"/><Relationship Id="rId8" Type="http://schemas.openxmlformats.org/officeDocument/2006/relationships/image" Target="../media/image3.wmf"/><Relationship Id="rId1" Type="http://schemas.openxmlformats.org/officeDocument/2006/relationships/vmlDrawing" Target="../drawings/vmlDrawing2.vml"/><Relationship Id="rId2"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4" Type="http://schemas.openxmlformats.org/officeDocument/2006/relationships/oleObject" Target="../embeddings/oleObject6.bin"/><Relationship Id="rId5" Type="http://schemas.openxmlformats.org/officeDocument/2006/relationships/image" Target="../media/image1.wmf"/><Relationship Id="rId6" Type="http://schemas.openxmlformats.org/officeDocument/2006/relationships/oleObject" Target="../embeddings/oleObject7.bin"/><Relationship Id="rId7" Type="http://schemas.openxmlformats.org/officeDocument/2006/relationships/oleObject" Target="../embeddings/oleObject8.bin"/><Relationship Id="rId8" Type="http://schemas.openxmlformats.org/officeDocument/2006/relationships/image" Target="../media/image4.emf"/><Relationship Id="rId1" Type="http://schemas.openxmlformats.org/officeDocument/2006/relationships/vmlDrawing" Target="../drawings/vmlDrawing3.vml"/><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4" Type="http://schemas.openxmlformats.org/officeDocument/2006/relationships/oleObject" Target="../embeddings/oleObject9.bin"/><Relationship Id="rId5" Type="http://schemas.openxmlformats.org/officeDocument/2006/relationships/image" Target="../media/image1.wmf"/><Relationship Id="rId6" Type="http://schemas.openxmlformats.org/officeDocument/2006/relationships/oleObject" Target="../embeddings/oleObject10.bin"/><Relationship Id="rId7" Type="http://schemas.openxmlformats.org/officeDocument/2006/relationships/oleObject" Target="../embeddings/oleObject11.bin"/><Relationship Id="rId8" Type="http://schemas.openxmlformats.org/officeDocument/2006/relationships/image" Target="../media/image5.emf"/><Relationship Id="rId1" Type="http://schemas.openxmlformats.org/officeDocument/2006/relationships/vmlDrawing" Target="../drawings/vmlDrawing4.vml"/><Relationship Id="rId2"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1" Type="http://schemas.openxmlformats.org/officeDocument/2006/relationships/oleObject" Target="../embeddings/oleObject16.bin"/><Relationship Id="rId12" Type="http://schemas.openxmlformats.org/officeDocument/2006/relationships/image" Target="../media/image8.emf"/><Relationship Id="rId13" Type="http://schemas.openxmlformats.org/officeDocument/2006/relationships/oleObject" Target="../embeddings/oleObject17.bin"/><Relationship Id="rId14" Type="http://schemas.openxmlformats.org/officeDocument/2006/relationships/image" Target="../media/image9.emf"/><Relationship Id="rId15" Type="http://schemas.openxmlformats.org/officeDocument/2006/relationships/oleObject" Target="../embeddings/oleObject18.bin"/><Relationship Id="rId16" Type="http://schemas.openxmlformats.org/officeDocument/2006/relationships/image" Target="../media/image10.emf"/><Relationship Id="rId17" Type="http://schemas.openxmlformats.org/officeDocument/2006/relationships/oleObject" Target="../embeddings/oleObject19.bin"/><Relationship Id="rId18" Type="http://schemas.openxmlformats.org/officeDocument/2006/relationships/oleObject" Target="../embeddings/oleObject20.bin"/><Relationship Id="rId1" Type="http://schemas.openxmlformats.org/officeDocument/2006/relationships/vmlDrawing" Target="../drawings/vmlDrawing5.v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oleObject" Target="../embeddings/oleObject12.bin"/><Relationship Id="rId5" Type="http://schemas.openxmlformats.org/officeDocument/2006/relationships/image" Target="../media/image1.wmf"/><Relationship Id="rId6" Type="http://schemas.openxmlformats.org/officeDocument/2006/relationships/oleObject" Target="../embeddings/oleObject13.bin"/><Relationship Id="rId7" Type="http://schemas.openxmlformats.org/officeDocument/2006/relationships/oleObject" Target="../embeddings/oleObject14.bin"/><Relationship Id="rId8" Type="http://schemas.openxmlformats.org/officeDocument/2006/relationships/image" Target="../media/image6.wmf"/><Relationship Id="rId9" Type="http://schemas.openxmlformats.org/officeDocument/2006/relationships/oleObject" Target="../embeddings/oleObject15.bin"/><Relationship Id="rId10"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4" Type="http://schemas.openxmlformats.org/officeDocument/2006/relationships/image" Target="../media/image11.wmf"/><Relationship Id="rId1" Type="http://schemas.openxmlformats.org/officeDocument/2006/relationships/vmlDrawing" Target="../drawings/vmlDrawing6.vml"/><Relationship Id="rId2"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1" Type="http://schemas.openxmlformats.org/officeDocument/2006/relationships/oleObject" Target="../embeddings/oleObject26.bin"/><Relationship Id="rId12" Type="http://schemas.openxmlformats.org/officeDocument/2006/relationships/image" Target="../media/image14.wmf"/><Relationship Id="rId1" Type="http://schemas.openxmlformats.org/officeDocument/2006/relationships/vmlDrawing" Target="../drawings/vmlDrawing7.vml"/><Relationship Id="rId2" Type="http://schemas.openxmlformats.org/officeDocument/2006/relationships/slideLayout" Target="../slideLayouts/slideLayout7.xml"/><Relationship Id="rId3" Type="http://schemas.openxmlformats.org/officeDocument/2006/relationships/notesSlide" Target="../notesSlides/notesSlide6.xml"/><Relationship Id="rId4" Type="http://schemas.openxmlformats.org/officeDocument/2006/relationships/oleObject" Target="../embeddings/oleObject22.bin"/><Relationship Id="rId5" Type="http://schemas.openxmlformats.org/officeDocument/2006/relationships/image" Target="../media/image1.wmf"/><Relationship Id="rId6" Type="http://schemas.openxmlformats.org/officeDocument/2006/relationships/oleObject" Target="../embeddings/oleObject23.bin"/><Relationship Id="rId7" Type="http://schemas.openxmlformats.org/officeDocument/2006/relationships/oleObject" Target="../embeddings/oleObject24.bin"/><Relationship Id="rId8" Type="http://schemas.openxmlformats.org/officeDocument/2006/relationships/image" Target="../media/image12.wmf"/><Relationship Id="rId9" Type="http://schemas.openxmlformats.org/officeDocument/2006/relationships/oleObject" Target="../embeddings/oleObject25.bin"/><Relationship Id="rId10" Type="http://schemas.openxmlformats.org/officeDocument/2006/relationships/image" Target="../media/image13.wmf"/></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30.bin"/><Relationship Id="rId20" Type="http://schemas.openxmlformats.org/officeDocument/2006/relationships/image" Target="../media/image21.wmf"/><Relationship Id="rId21" Type="http://schemas.openxmlformats.org/officeDocument/2006/relationships/oleObject" Target="../embeddings/oleObject36.bin"/><Relationship Id="rId22" Type="http://schemas.openxmlformats.org/officeDocument/2006/relationships/image" Target="../media/image22.wmf"/><Relationship Id="rId23" Type="http://schemas.openxmlformats.org/officeDocument/2006/relationships/oleObject" Target="../embeddings/oleObject37.bin"/><Relationship Id="rId24" Type="http://schemas.openxmlformats.org/officeDocument/2006/relationships/image" Target="../media/image23.wmf"/><Relationship Id="rId25" Type="http://schemas.openxmlformats.org/officeDocument/2006/relationships/oleObject" Target="../embeddings/oleObject38.bin"/><Relationship Id="rId26" Type="http://schemas.openxmlformats.org/officeDocument/2006/relationships/oleObject" Target="../embeddings/oleObject39.bin"/><Relationship Id="rId10" Type="http://schemas.openxmlformats.org/officeDocument/2006/relationships/image" Target="../media/image16.wmf"/><Relationship Id="rId11" Type="http://schemas.openxmlformats.org/officeDocument/2006/relationships/oleObject" Target="../embeddings/oleObject31.bin"/><Relationship Id="rId12" Type="http://schemas.openxmlformats.org/officeDocument/2006/relationships/image" Target="../media/image17.wmf"/><Relationship Id="rId13" Type="http://schemas.openxmlformats.org/officeDocument/2006/relationships/oleObject" Target="../embeddings/oleObject32.bin"/><Relationship Id="rId14" Type="http://schemas.openxmlformats.org/officeDocument/2006/relationships/image" Target="../media/image18.wmf"/><Relationship Id="rId15" Type="http://schemas.openxmlformats.org/officeDocument/2006/relationships/oleObject" Target="../embeddings/oleObject33.bin"/><Relationship Id="rId16" Type="http://schemas.openxmlformats.org/officeDocument/2006/relationships/image" Target="../media/image19.wmf"/><Relationship Id="rId17" Type="http://schemas.openxmlformats.org/officeDocument/2006/relationships/oleObject" Target="../embeddings/oleObject34.bin"/><Relationship Id="rId18" Type="http://schemas.openxmlformats.org/officeDocument/2006/relationships/image" Target="../media/image20.emf"/><Relationship Id="rId19" Type="http://schemas.openxmlformats.org/officeDocument/2006/relationships/oleObject" Target="../embeddings/oleObject35.bin"/><Relationship Id="rId1" Type="http://schemas.openxmlformats.org/officeDocument/2006/relationships/vmlDrawing" Target="../drawings/vmlDrawing8.vml"/><Relationship Id="rId2" Type="http://schemas.openxmlformats.org/officeDocument/2006/relationships/slideLayout" Target="../slideLayouts/slideLayout7.xml"/><Relationship Id="rId3" Type="http://schemas.openxmlformats.org/officeDocument/2006/relationships/notesSlide" Target="../notesSlides/notesSlide7.xml"/><Relationship Id="rId4" Type="http://schemas.openxmlformats.org/officeDocument/2006/relationships/oleObject" Target="../embeddings/oleObject27.bin"/><Relationship Id="rId5" Type="http://schemas.openxmlformats.org/officeDocument/2006/relationships/image" Target="../media/image1.wmf"/><Relationship Id="rId6" Type="http://schemas.openxmlformats.org/officeDocument/2006/relationships/oleObject" Target="../embeddings/oleObject28.bin"/><Relationship Id="rId7" Type="http://schemas.openxmlformats.org/officeDocument/2006/relationships/oleObject" Target="../embeddings/oleObject29.bin"/><Relationship Id="rId8" Type="http://schemas.openxmlformats.org/officeDocument/2006/relationships/image" Target="../media/image15.wmf"/></Relationships>
</file>

<file path=ppt/slides/_rels/slide9.xml.rels><?xml version="1.0" encoding="UTF-8" standalone="yes"?>
<Relationships xmlns="http://schemas.openxmlformats.org/package/2006/relationships"><Relationship Id="rId9" Type="http://schemas.openxmlformats.org/officeDocument/2006/relationships/image" Target="../media/image24.wmf"/><Relationship Id="rId20" Type="http://schemas.openxmlformats.org/officeDocument/2006/relationships/oleObject" Target="../embeddings/oleObject48.bin"/><Relationship Id="rId21" Type="http://schemas.openxmlformats.org/officeDocument/2006/relationships/image" Target="../media/image30.wmf"/><Relationship Id="rId22" Type="http://schemas.openxmlformats.org/officeDocument/2006/relationships/oleObject" Target="../embeddings/oleObject49.bin"/><Relationship Id="rId23" Type="http://schemas.openxmlformats.org/officeDocument/2006/relationships/image" Target="../media/image31.wmf"/><Relationship Id="rId24" Type="http://schemas.openxmlformats.org/officeDocument/2006/relationships/image" Target="../media/image33.emf"/><Relationship Id="rId10" Type="http://schemas.openxmlformats.org/officeDocument/2006/relationships/oleObject" Target="../embeddings/oleObject43.bin"/><Relationship Id="rId11" Type="http://schemas.openxmlformats.org/officeDocument/2006/relationships/image" Target="../media/image25.wmf"/><Relationship Id="rId12" Type="http://schemas.openxmlformats.org/officeDocument/2006/relationships/oleObject" Target="../embeddings/oleObject44.bin"/><Relationship Id="rId13" Type="http://schemas.openxmlformats.org/officeDocument/2006/relationships/image" Target="../media/image26.wmf"/><Relationship Id="rId14" Type="http://schemas.openxmlformats.org/officeDocument/2006/relationships/oleObject" Target="../embeddings/oleObject45.bin"/><Relationship Id="rId15" Type="http://schemas.openxmlformats.org/officeDocument/2006/relationships/image" Target="../media/image27.wmf"/><Relationship Id="rId16" Type="http://schemas.openxmlformats.org/officeDocument/2006/relationships/oleObject" Target="../embeddings/oleObject46.bin"/><Relationship Id="rId17" Type="http://schemas.openxmlformats.org/officeDocument/2006/relationships/image" Target="../media/image28.wmf"/><Relationship Id="rId18" Type="http://schemas.openxmlformats.org/officeDocument/2006/relationships/oleObject" Target="../embeddings/oleObject47.bin"/><Relationship Id="rId19" Type="http://schemas.openxmlformats.org/officeDocument/2006/relationships/image" Target="../media/image29.wmf"/><Relationship Id="rId1" Type="http://schemas.openxmlformats.org/officeDocument/2006/relationships/vmlDrawing" Target="../drawings/vmlDrawing9.vml"/><Relationship Id="rId2" Type="http://schemas.openxmlformats.org/officeDocument/2006/relationships/slideLayout" Target="../slideLayouts/slideLayout7.xml"/><Relationship Id="rId3" Type="http://schemas.openxmlformats.org/officeDocument/2006/relationships/notesSlide" Target="../notesSlides/notesSlide8.xml"/><Relationship Id="rId4" Type="http://schemas.openxmlformats.org/officeDocument/2006/relationships/image" Target="../media/image32.png"/><Relationship Id="rId5" Type="http://schemas.openxmlformats.org/officeDocument/2006/relationships/oleObject" Target="../embeddings/oleObject40.bin"/><Relationship Id="rId6" Type="http://schemas.openxmlformats.org/officeDocument/2006/relationships/image" Target="../media/image1.wmf"/><Relationship Id="rId7" Type="http://schemas.openxmlformats.org/officeDocument/2006/relationships/oleObject" Target="../embeddings/oleObject41.bin"/><Relationship Id="rId8" Type="http://schemas.openxmlformats.org/officeDocument/2006/relationships/oleObject" Target="../embeddings/oleObject42.bin"/></Relationships>
</file>

<file path=ppt/slides/_rels/slide10.xml.rels><?xml version="1.0" encoding="UTF-8" standalone="yes"?>
<Relationships xmlns="http://schemas.openxmlformats.org/package/2006/relationships"><Relationship Id="rId11" Type="http://schemas.openxmlformats.org/officeDocument/2006/relationships/image" Target="../media/image35.emf"/><Relationship Id="rId12" Type="http://schemas.openxmlformats.org/officeDocument/2006/relationships/oleObject" Target="../embeddings/oleObject54.bin"/><Relationship Id="rId13" Type="http://schemas.openxmlformats.org/officeDocument/2006/relationships/image" Target="../media/image36.wmf"/><Relationship Id="rId14" Type="http://schemas.openxmlformats.org/officeDocument/2006/relationships/oleObject" Target="../embeddings/oleObject55.bin"/><Relationship Id="rId15" Type="http://schemas.openxmlformats.org/officeDocument/2006/relationships/image" Target="../media/image37.wmf"/><Relationship Id="rId16" Type="http://schemas.openxmlformats.org/officeDocument/2006/relationships/oleObject" Target="../embeddings/oleObject56.bin"/><Relationship Id="rId17" Type="http://schemas.openxmlformats.org/officeDocument/2006/relationships/image" Target="../media/image38.emf"/><Relationship Id="rId1" Type="http://schemas.openxmlformats.org/officeDocument/2006/relationships/vmlDrawing" Target="../drawings/vmlDrawing10.vml"/><Relationship Id="rId2" Type="http://schemas.openxmlformats.org/officeDocument/2006/relationships/slideLayout" Target="../slideLayouts/slideLayout7.xml"/><Relationship Id="rId3" Type="http://schemas.openxmlformats.org/officeDocument/2006/relationships/notesSlide" Target="../notesSlides/notesSlide9.xml"/><Relationship Id="rId4" Type="http://schemas.openxmlformats.org/officeDocument/2006/relationships/image" Target="../media/image39.png"/><Relationship Id="rId5" Type="http://schemas.openxmlformats.org/officeDocument/2006/relationships/oleObject" Target="../embeddings/oleObject50.bin"/><Relationship Id="rId6" Type="http://schemas.openxmlformats.org/officeDocument/2006/relationships/image" Target="../media/image1.wmf"/><Relationship Id="rId7" Type="http://schemas.openxmlformats.org/officeDocument/2006/relationships/oleObject" Target="../embeddings/oleObject51.bin"/><Relationship Id="rId8" Type="http://schemas.openxmlformats.org/officeDocument/2006/relationships/oleObject" Target="../embeddings/oleObject52.bin"/><Relationship Id="rId9" Type="http://schemas.openxmlformats.org/officeDocument/2006/relationships/image" Target="../media/image34.wmf"/><Relationship Id="rId10" Type="http://schemas.openxmlformats.org/officeDocument/2006/relationships/oleObject" Target="../embeddings/oleObject53.bin"/></Relationships>
</file>

<file path=ppt/slides/_rels/slide11.xml.rels><?xml version="1.0" encoding="UTF-8" standalone="yes"?>
<Relationships xmlns="http://schemas.openxmlformats.org/package/2006/relationships"><Relationship Id="rId11" Type="http://schemas.openxmlformats.org/officeDocument/2006/relationships/image" Target="../media/image40.wmf"/><Relationship Id="rId12" Type="http://schemas.openxmlformats.org/officeDocument/2006/relationships/oleObject" Target="../embeddings/oleObject61.bin"/><Relationship Id="rId13" Type="http://schemas.openxmlformats.org/officeDocument/2006/relationships/image" Target="../media/image41.emf"/><Relationship Id="rId14" Type="http://schemas.openxmlformats.org/officeDocument/2006/relationships/oleObject" Target="../embeddings/oleObject62.bin"/><Relationship Id="rId15" Type="http://schemas.openxmlformats.org/officeDocument/2006/relationships/image" Target="../media/image42.wmf"/><Relationship Id="rId1" Type="http://schemas.openxmlformats.org/officeDocument/2006/relationships/vmlDrawing" Target="../drawings/vmlDrawing11.vml"/><Relationship Id="rId2" Type="http://schemas.openxmlformats.org/officeDocument/2006/relationships/slideLayout" Target="../slideLayouts/slideLayout7.xml"/><Relationship Id="rId3" Type="http://schemas.openxmlformats.org/officeDocument/2006/relationships/notesSlide" Target="../notesSlides/notesSlide10.xml"/><Relationship Id="rId4" Type="http://schemas.openxmlformats.org/officeDocument/2006/relationships/image" Target="../media/image44.png"/><Relationship Id="rId5" Type="http://schemas.openxmlformats.org/officeDocument/2006/relationships/oleObject" Target="../embeddings/oleObject57.bin"/><Relationship Id="rId6" Type="http://schemas.openxmlformats.org/officeDocument/2006/relationships/image" Target="../media/image1.wmf"/><Relationship Id="rId7" Type="http://schemas.openxmlformats.org/officeDocument/2006/relationships/oleObject" Target="../embeddings/oleObject58.bin"/><Relationship Id="rId8" Type="http://schemas.openxmlformats.org/officeDocument/2006/relationships/oleObject" Target="../embeddings/oleObject59.bin"/><Relationship Id="rId9" Type="http://schemas.openxmlformats.org/officeDocument/2006/relationships/image" Target="../media/image39.emf"/><Relationship Id="rId10" Type="http://schemas.openxmlformats.org/officeDocument/2006/relationships/oleObject" Target="../embeddings/oleObject60.bin"/></Relationships>
</file>

<file path=ppt/slides/_rels/slide12.xml.rels><?xml version="1.0" encoding="UTF-8" standalone="yes"?>
<Relationships xmlns="http://schemas.openxmlformats.org/package/2006/relationships"><Relationship Id="rId20" Type="http://schemas.openxmlformats.org/officeDocument/2006/relationships/image" Target="../media/image49.wmf"/><Relationship Id="rId21" Type="http://schemas.openxmlformats.org/officeDocument/2006/relationships/oleObject" Target="../embeddings/oleObject72.bin"/><Relationship Id="rId22" Type="http://schemas.openxmlformats.org/officeDocument/2006/relationships/image" Target="../media/image50.wmf"/><Relationship Id="rId23" Type="http://schemas.openxmlformats.org/officeDocument/2006/relationships/oleObject" Target="../embeddings/oleObject73.bin"/><Relationship Id="rId24" Type="http://schemas.openxmlformats.org/officeDocument/2006/relationships/image" Target="../media/image51.wmf"/><Relationship Id="rId25" Type="http://schemas.openxmlformats.org/officeDocument/2006/relationships/oleObject" Target="../embeddings/oleObject74.bin"/><Relationship Id="rId26" Type="http://schemas.openxmlformats.org/officeDocument/2006/relationships/image" Target="../media/image52.wmf"/><Relationship Id="rId27" Type="http://schemas.openxmlformats.org/officeDocument/2006/relationships/oleObject" Target="../embeddings/oleObject75.bin"/><Relationship Id="rId28" Type="http://schemas.openxmlformats.org/officeDocument/2006/relationships/image" Target="../media/image53.wmf"/><Relationship Id="rId29" Type="http://schemas.openxmlformats.org/officeDocument/2006/relationships/oleObject" Target="../embeddings/oleObject76.bin"/><Relationship Id="rId1" Type="http://schemas.openxmlformats.org/officeDocument/2006/relationships/vmlDrawing" Target="../drawings/vmlDrawing12.vml"/><Relationship Id="rId2" Type="http://schemas.openxmlformats.org/officeDocument/2006/relationships/slideLayout" Target="../slideLayouts/slideLayout7.xml"/><Relationship Id="rId3" Type="http://schemas.openxmlformats.org/officeDocument/2006/relationships/notesSlide" Target="../notesSlides/notesSlide11.xml"/><Relationship Id="rId4" Type="http://schemas.openxmlformats.org/officeDocument/2006/relationships/oleObject" Target="../embeddings/oleObject63.bin"/><Relationship Id="rId5" Type="http://schemas.openxmlformats.org/officeDocument/2006/relationships/image" Target="../media/image1.wmf"/><Relationship Id="rId30" Type="http://schemas.openxmlformats.org/officeDocument/2006/relationships/image" Target="../media/image54.wmf"/><Relationship Id="rId31" Type="http://schemas.openxmlformats.org/officeDocument/2006/relationships/oleObject" Target="../embeddings/oleObject77.bin"/><Relationship Id="rId32" Type="http://schemas.openxmlformats.org/officeDocument/2006/relationships/oleObject" Target="../embeddings/oleObject78.bin"/><Relationship Id="rId9" Type="http://schemas.openxmlformats.org/officeDocument/2006/relationships/oleObject" Target="../embeddings/oleObject66.bin"/><Relationship Id="rId6" Type="http://schemas.openxmlformats.org/officeDocument/2006/relationships/oleObject" Target="../embeddings/oleObject64.bin"/><Relationship Id="rId7" Type="http://schemas.openxmlformats.org/officeDocument/2006/relationships/oleObject" Target="../embeddings/oleObject65.bin"/><Relationship Id="rId8" Type="http://schemas.openxmlformats.org/officeDocument/2006/relationships/image" Target="../media/image43.wmf"/><Relationship Id="rId33" Type="http://schemas.openxmlformats.org/officeDocument/2006/relationships/image" Target="../media/image55.wmf"/><Relationship Id="rId34" Type="http://schemas.openxmlformats.org/officeDocument/2006/relationships/oleObject" Target="../embeddings/oleObject79.bin"/><Relationship Id="rId35" Type="http://schemas.openxmlformats.org/officeDocument/2006/relationships/image" Target="../media/image56.wmf"/><Relationship Id="rId36" Type="http://schemas.openxmlformats.org/officeDocument/2006/relationships/oleObject" Target="../embeddings/oleObject80.bin"/><Relationship Id="rId10" Type="http://schemas.openxmlformats.org/officeDocument/2006/relationships/image" Target="../media/image44.wmf"/><Relationship Id="rId11" Type="http://schemas.openxmlformats.org/officeDocument/2006/relationships/oleObject" Target="../embeddings/oleObject67.bin"/><Relationship Id="rId12" Type="http://schemas.openxmlformats.org/officeDocument/2006/relationships/image" Target="../media/image45.wmf"/><Relationship Id="rId13" Type="http://schemas.openxmlformats.org/officeDocument/2006/relationships/oleObject" Target="../embeddings/oleObject68.bin"/><Relationship Id="rId14" Type="http://schemas.openxmlformats.org/officeDocument/2006/relationships/image" Target="../media/image46.wmf"/><Relationship Id="rId15" Type="http://schemas.openxmlformats.org/officeDocument/2006/relationships/oleObject" Target="../embeddings/oleObject69.bin"/><Relationship Id="rId16" Type="http://schemas.openxmlformats.org/officeDocument/2006/relationships/image" Target="../media/image47.wmf"/><Relationship Id="rId17" Type="http://schemas.openxmlformats.org/officeDocument/2006/relationships/oleObject" Target="../embeddings/oleObject70.bin"/><Relationship Id="rId18" Type="http://schemas.openxmlformats.org/officeDocument/2006/relationships/image" Target="../media/image48.wmf"/><Relationship Id="rId19" Type="http://schemas.openxmlformats.org/officeDocument/2006/relationships/oleObject" Target="../embeddings/oleObject71.bin"/><Relationship Id="rId37" Type="http://schemas.openxmlformats.org/officeDocument/2006/relationships/oleObject" Target="../embeddings/oleObject81.bin"/><Relationship Id="rId38" Type="http://schemas.openxmlformats.org/officeDocument/2006/relationships/image" Target="../media/image57.wmf"/><Relationship Id="rId39" Type="http://schemas.openxmlformats.org/officeDocument/2006/relationships/oleObject" Target="../embeddings/oleObject82.bin"/><Relationship Id="rId40" Type="http://schemas.openxmlformats.org/officeDocument/2006/relationships/image" Target="../media/image58.wmf"/><Relationship Id="rId41" Type="http://schemas.openxmlformats.org/officeDocument/2006/relationships/oleObject" Target="../embeddings/oleObject83.bin"/><Relationship Id="rId42" Type="http://schemas.openxmlformats.org/officeDocument/2006/relationships/oleObject" Target="../embeddings/oleObject84.bin"/><Relationship Id="rId43" Type="http://schemas.openxmlformats.org/officeDocument/2006/relationships/oleObject" Target="../embeddings/oleObject85.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4" Type="http://schemas.openxmlformats.org/officeDocument/2006/relationships/oleObject" Target="../embeddings/oleObject86.bin"/><Relationship Id="rId5" Type="http://schemas.openxmlformats.org/officeDocument/2006/relationships/image" Target="../media/image1.wmf"/><Relationship Id="rId6" Type="http://schemas.openxmlformats.org/officeDocument/2006/relationships/oleObject" Target="../embeddings/oleObject87.bin"/><Relationship Id="rId1" Type="http://schemas.openxmlformats.org/officeDocument/2006/relationships/vmlDrawing" Target="../drawings/vmlDrawing13.vml"/><Relationship Id="rId2"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8.bin"/><Relationship Id="rId4" Type="http://schemas.openxmlformats.org/officeDocument/2006/relationships/image" Target="../media/image11.wmf"/><Relationship Id="rId1" Type="http://schemas.openxmlformats.org/officeDocument/2006/relationships/vmlDrawing" Target="../drawings/vmlDrawing14.vml"/><Relationship Id="rId2"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4" Type="http://schemas.openxmlformats.org/officeDocument/2006/relationships/hyperlink" Target="http://www.meb.ki.se/~marrei/software/" TargetMode="External"/><Relationship Id="rId5" Type="http://schemas.openxmlformats.org/officeDocument/2006/relationships/oleObject" Target="../embeddings/oleObject89.bin"/><Relationship Id="rId6" Type="http://schemas.openxmlformats.org/officeDocument/2006/relationships/image" Target="../media/image1.wmf"/><Relationship Id="rId7" Type="http://schemas.openxmlformats.org/officeDocument/2006/relationships/oleObject" Target="../embeddings/oleObject90.bin"/><Relationship Id="rId1" Type="http://schemas.openxmlformats.org/officeDocument/2006/relationships/vmlDrawing" Target="../drawings/vmlDrawing15.vml"/><Relationship Id="rId2"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1" Type="http://schemas.openxmlformats.org/officeDocument/2006/relationships/oleObject" Target="../embeddings/oleObject95.bin"/><Relationship Id="rId12" Type="http://schemas.openxmlformats.org/officeDocument/2006/relationships/image" Target="../media/image61.wmf"/><Relationship Id="rId1" Type="http://schemas.openxmlformats.org/officeDocument/2006/relationships/vmlDrawing" Target="../drawings/vmlDrawing16.vml"/><Relationship Id="rId2" Type="http://schemas.openxmlformats.org/officeDocument/2006/relationships/slideLayout" Target="../slideLayouts/slideLayout7.xml"/><Relationship Id="rId3" Type="http://schemas.openxmlformats.org/officeDocument/2006/relationships/notesSlide" Target="../notesSlides/notesSlide14.xml"/><Relationship Id="rId4" Type="http://schemas.openxmlformats.org/officeDocument/2006/relationships/oleObject" Target="../embeddings/oleObject91.bin"/><Relationship Id="rId5" Type="http://schemas.openxmlformats.org/officeDocument/2006/relationships/image" Target="../media/image1.wmf"/><Relationship Id="rId6" Type="http://schemas.openxmlformats.org/officeDocument/2006/relationships/oleObject" Target="../embeddings/oleObject92.bin"/><Relationship Id="rId7" Type="http://schemas.openxmlformats.org/officeDocument/2006/relationships/oleObject" Target="../embeddings/oleObject93.bin"/><Relationship Id="rId8" Type="http://schemas.openxmlformats.org/officeDocument/2006/relationships/image" Target="../media/image59.wmf"/><Relationship Id="rId9" Type="http://schemas.openxmlformats.org/officeDocument/2006/relationships/oleObject" Target="../embeddings/oleObject94.bin"/><Relationship Id="rId10" Type="http://schemas.openxmlformats.org/officeDocument/2006/relationships/image" Target="../media/image60.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6.bin"/><Relationship Id="rId4" Type="http://schemas.openxmlformats.org/officeDocument/2006/relationships/image" Target="../media/image11.wmf"/><Relationship Id="rId1" Type="http://schemas.openxmlformats.org/officeDocument/2006/relationships/vmlDrawing" Target="../drawings/vmlDrawing17.vml"/><Relationship Id="rId2"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1" Type="http://schemas.openxmlformats.org/officeDocument/2006/relationships/oleObject" Target="../embeddings/oleObject101.bin"/><Relationship Id="rId12" Type="http://schemas.openxmlformats.org/officeDocument/2006/relationships/image" Target="../media/image64.wmf"/><Relationship Id="rId13" Type="http://schemas.openxmlformats.org/officeDocument/2006/relationships/oleObject" Target="../embeddings/oleObject102.bin"/><Relationship Id="rId14" Type="http://schemas.openxmlformats.org/officeDocument/2006/relationships/image" Target="../media/image65.wmf"/><Relationship Id="rId1" Type="http://schemas.openxmlformats.org/officeDocument/2006/relationships/vmlDrawing" Target="../drawings/vmlDrawing18.vml"/><Relationship Id="rId2" Type="http://schemas.openxmlformats.org/officeDocument/2006/relationships/slideLayout" Target="../slideLayouts/slideLayout7.xml"/><Relationship Id="rId3" Type="http://schemas.openxmlformats.org/officeDocument/2006/relationships/notesSlide" Target="../notesSlides/notesSlide15.xml"/><Relationship Id="rId4" Type="http://schemas.openxmlformats.org/officeDocument/2006/relationships/oleObject" Target="../embeddings/oleObject97.bin"/><Relationship Id="rId5" Type="http://schemas.openxmlformats.org/officeDocument/2006/relationships/image" Target="../media/image1.wmf"/><Relationship Id="rId6" Type="http://schemas.openxmlformats.org/officeDocument/2006/relationships/oleObject" Target="../embeddings/oleObject98.bin"/><Relationship Id="rId7" Type="http://schemas.openxmlformats.org/officeDocument/2006/relationships/oleObject" Target="../embeddings/oleObject99.bin"/><Relationship Id="rId8" Type="http://schemas.openxmlformats.org/officeDocument/2006/relationships/image" Target="../media/image62.wmf"/><Relationship Id="rId9" Type="http://schemas.openxmlformats.org/officeDocument/2006/relationships/oleObject" Target="../embeddings/oleObject100.bin"/><Relationship Id="rId10" Type="http://schemas.openxmlformats.org/officeDocument/2006/relationships/image" Target="../media/image63.wmf"/></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06.bin"/><Relationship Id="rId20" Type="http://schemas.openxmlformats.org/officeDocument/2006/relationships/image" Target="../media/image72.jpeg"/><Relationship Id="rId21" Type="http://schemas.openxmlformats.org/officeDocument/2006/relationships/image" Target="../media/image73.jpeg"/><Relationship Id="rId10" Type="http://schemas.openxmlformats.org/officeDocument/2006/relationships/image" Target="../media/image67.wmf"/><Relationship Id="rId11" Type="http://schemas.openxmlformats.org/officeDocument/2006/relationships/oleObject" Target="../embeddings/oleObject107.bin"/><Relationship Id="rId12" Type="http://schemas.openxmlformats.org/officeDocument/2006/relationships/image" Target="../media/image68.wmf"/><Relationship Id="rId13" Type="http://schemas.openxmlformats.org/officeDocument/2006/relationships/oleObject" Target="../embeddings/oleObject108.bin"/><Relationship Id="rId14" Type="http://schemas.openxmlformats.org/officeDocument/2006/relationships/oleObject" Target="../embeddings/oleObject109.bin"/><Relationship Id="rId15" Type="http://schemas.openxmlformats.org/officeDocument/2006/relationships/image" Target="../media/image69.wmf"/><Relationship Id="rId16" Type="http://schemas.openxmlformats.org/officeDocument/2006/relationships/oleObject" Target="../embeddings/oleObject110.bin"/><Relationship Id="rId17" Type="http://schemas.openxmlformats.org/officeDocument/2006/relationships/image" Target="../media/image70.wmf"/><Relationship Id="rId18" Type="http://schemas.openxmlformats.org/officeDocument/2006/relationships/oleObject" Target="../embeddings/oleObject111.bin"/><Relationship Id="rId19" Type="http://schemas.openxmlformats.org/officeDocument/2006/relationships/image" Target="../media/image71.wmf"/><Relationship Id="rId1" Type="http://schemas.openxmlformats.org/officeDocument/2006/relationships/vmlDrawing" Target="../drawings/vmlDrawing19.vml"/><Relationship Id="rId2" Type="http://schemas.openxmlformats.org/officeDocument/2006/relationships/slideLayout" Target="../slideLayouts/slideLayout7.xml"/><Relationship Id="rId3" Type="http://schemas.openxmlformats.org/officeDocument/2006/relationships/notesSlide" Target="../notesSlides/notesSlide16.xml"/><Relationship Id="rId4" Type="http://schemas.openxmlformats.org/officeDocument/2006/relationships/oleObject" Target="../embeddings/oleObject103.bin"/><Relationship Id="rId5" Type="http://schemas.openxmlformats.org/officeDocument/2006/relationships/image" Target="../media/image1.wmf"/><Relationship Id="rId6" Type="http://schemas.openxmlformats.org/officeDocument/2006/relationships/oleObject" Target="../embeddings/oleObject104.bin"/><Relationship Id="rId7" Type="http://schemas.openxmlformats.org/officeDocument/2006/relationships/oleObject" Target="../embeddings/oleObject105.bin"/><Relationship Id="rId8" Type="http://schemas.openxmlformats.org/officeDocument/2006/relationships/image" Target="../media/image66.wmf"/></Relationships>
</file>

<file path=ppt/slides/_rels/slide20.xml.rels><?xml version="1.0" encoding="UTF-8" standalone="yes"?>
<Relationships xmlns="http://schemas.openxmlformats.org/package/2006/relationships"><Relationship Id="rId11" Type="http://schemas.openxmlformats.org/officeDocument/2006/relationships/oleObject" Target="../embeddings/oleObject116.bin"/><Relationship Id="rId12" Type="http://schemas.openxmlformats.org/officeDocument/2006/relationships/image" Target="../media/image76.emf"/><Relationship Id="rId13" Type="http://schemas.openxmlformats.org/officeDocument/2006/relationships/oleObject" Target="../embeddings/oleObject117.bin"/><Relationship Id="rId14" Type="http://schemas.openxmlformats.org/officeDocument/2006/relationships/oleObject" Target="../embeddings/oleObject118.bin"/><Relationship Id="rId15" Type="http://schemas.openxmlformats.org/officeDocument/2006/relationships/image" Target="../media/image77.emf"/><Relationship Id="rId16" Type="http://schemas.openxmlformats.org/officeDocument/2006/relationships/oleObject" Target="../embeddings/oleObject119.bin"/><Relationship Id="rId17" Type="http://schemas.openxmlformats.org/officeDocument/2006/relationships/image" Target="../media/image78.emf"/><Relationship Id="rId18" Type="http://schemas.openxmlformats.org/officeDocument/2006/relationships/oleObject" Target="../embeddings/oleObject120.bin"/><Relationship Id="rId19" Type="http://schemas.openxmlformats.org/officeDocument/2006/relationships/image" Target="../media/image79.wmf"/><Relationship Id="rId1" Type="http://schemas.openxmlformats.org/officeDocument/2006/relationships/vmlDrawing" Target="../drawings/vmlDrawing20.vml"/><Relationship Id="rId2" Type="http://schemas.openxmlformats.org/officeDocument/2006/relationships/slideLayout" Target="../slideLayouts/slideLayout7.xml"/><Relationship Id="rId3" Type="http://schemas.openxmlformats.org/officeDocument/2006/relationships/notesSlide" Target="../notesSlides/notesSlide17.xml"/><Relationship Id="rId4" Type="http://schemas.openxmlformats.org/officeDocument/2006/relationships/oleObject" Target="../embeddings/oleObject112.bin"/><Relationship Id="rId5" Type="http://schemas.openxmlformats.org/officeDocument/2006/relationships/image" Target="../media/image1.wmf"/><Relationship Id="rId6" Type="http://schemas.openxmlformats.org/officeDocument/2006/relationships/oleObject" Target="../embeddings/oleObject113.bin"/><Relationship Id="rId7" Type="http://schemas.openxmlformats.org/officeDocument/2006/relationships/oleObject" Target="../embeddings/oleObject114.bin"/><Relationship Id="rId8" Type="http://schemas.openxmlformats.org/officeDocument/2006/relationships/image" Target="../media/image74.wmf"/><Relationship Id="rId9" Type="http://schemas.openxmlformats.org/officeDocument/2006/relationships/oleObject" Target="../embeddings/oleObject115.bin"/><Relationship Id="rId10" Type="http://schemas.openxmlformats.org/officeDocument/2006/relationships/image" Target="../media/image75.wmf"/></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24.bin"/><Relationship Id="rId20" Type="http://schemas.openxmlformats.org/officeDocument/2006/relationships/image" Target="../media/image86.wmf"/><Relationship Id="rId10" Type="http://schemas.openxmlformats.org/officeDocument/2006/relationships/image" Target="../media/image81.wmf"/><Relationship Id="rId11" Type="http://schemas.openxmlformats.org/officeDocument/2006/relationships/oleObject" Target="../embeddings/oleObject125.bin"/><Relationship Id="rId12" Type="http://schemas.openxmlformats.org/officeDocument/2006/relationships/image" Target="../media/image82.wmf"/><Relationship Id="rId13" Type="http://schemas.openxmlformats.org/officeDocument/2006/relationships/oleObject" Target="../embeddings/oleObject126.bin"/><Relationship Id="rId14" Type="http://schemas.openxmlformats.org/officeDocument/2006/relationships/image" Target="../media/image83.wmf"/><Relationship Id="rId15" Type="http://schemas.openxmlformats.org/officeDocument/2006/relationships/oleObject" Target="../embeddings/oleObject127.bin"/><Relationship Id="rId16" Type="http://schemas.openxmlformats.org/officeDocument/2006/relationships/image" Target="../media/image84.wmf"/><Relationship Id="rId17" Type="http://schemas.openxmlformats.org/officeDocument/2006/relationships/oleObject" Target="../embeddings/oleObject128.bin"/><Relationship Id="rId18" Type="http://schemas.openxmlformats.org/officeDocument/2006/relationships/image" Target="../media/image85.wmf"/><Relationship Id="rId19" Type="http://schemas.openxmlformats.org/officeDocument/2006/relationships/oleObject" Target="../embeddings/oleObject129.bin"/><Relationship Id="rId1" Type="http://schemas.openxmlformats.org/officeDocument/2006/relationships/vmlDrawing" Target="../drawings/vmlDrawing21.vml"/><Relationship Id="rId2" Type="http://schemas.openxmlformats.org/officeDocument/2006/relationships/slideLayout" Target="../slideLayouts/slideLayout7.xml"/><Relationship Id="rId3" Type="http://schemas.openxmlformats.org/officeDocument/2006/relationships/notesSlide" Target="../notesSlides/notesSlide18.xml"/><Relationship Id="rId4" Type="http://schemas.openxmlformats.org/officeDocument/2006/relationships/oleObject" Target="../embeddings/oleObject121.bin"/><Relationship Id="rId5" Type="http://schemas.openxmlformats.org/officeDocument/2006/relationships/image" Target="../media/image1.wmf"/><Relationship Id="rId6" Type="http://schemas.openxmlformats.org/officeDocument/2006/relationships/oleObject" Target="../embeddings/oleObject122.bin"/><Relationship Id="rId7" Type="http://schemas.openxmlformats.org/officeDocument/2006/relationships/oleObject" Target="../embeddings/oleObject123.bin"/><Relationship Id="rId8" Type="http://schemas.openxmlformats.org/officeDocument/2006/relationships/image" Target="../media/image80.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30.bin"/><Relationship Id="rId4" Type="http://schemas.openxmlformats.org/officeDocument/2006/relationships/image" Target="../media/image11.wmf"/><Relationship Id="rId1" Type="http://schemas.openxmlformats.org/officeDocument/2006/relationships/vmlDrawing" Target="../drawings/vmlDrawing22.vml"/><Relationship Id="rId2"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4" Type="http://schemas.openxmlformats.org/officeDocument/2006/relationships/oleObject" Target="../embeddings/oleObject131.bin"/><Relationship Id="rId5" Type="http://schemas.openxmlformats.org/officeDocument/2006/relationships/image" Target="../media/image1.wmf"/><Relationship Id="rId6" Type="http://schemas.openxmlformats.org/officeDocument/2006/relationships/oleObject" Target="../embeddings/oleObject132.bin"/><Relationship Id="rId7" Type="http://schemas.openxmlformats.org/officeDocument/2006/relationships/oleObject" Target="../embeddings/oleObject133.bin"/><Relationship Id="rId8" Type="http://schemas.openxmlformats.org/officeDocument/2006/relationships/image" Target="../media/image11.wmf"/><Relationship Id="rId9" Type="http://schemas.openxmlformats.org/officeDocument/2006/relationships/image" Target="../media/image87.jpeg"/><Relationship Id="rId1" Type="http://schemas.openxmlformats.org/officeDocument/2006/relationships/vmlDrawing" Target="../drawings/vmlDrawing23.vml"/><Relationship Id="rId2"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34.bin"/><Relationship Id="rId4" Type="http://schemas.openxmlformats.org/officeDocument/2006/relationships/image" Target="../media/image88.wmf"/><Relationship Id="rId5" Type="http://schemas.openxmlformats.org/officeDocument/2006/relationships/oleObject" Target="../embeddings/oleObject135.bin"/><Relationship Id="rId6" Type="http://schemas.openxmlformats.org/officeDocument/2006/relationships/image" Target="../media/image89.wmf"/><Relationship Id="rId7" Type="http://schemas.openxmlformats.org/officeDocument/2006/relationships/oleObject" Target="../embeddings/oleObject136.bin"/><Relationship Id="rId8" Type="http://schemas.openxmlformats.org/officeDocument/2006/relationships/image" Target="../media/image90.wmf"/><Relationship Id="rId9" Type="http://schemas.openxmlformats.org/officeDocument/2006/relationships/oleObject" Target="../embeddings/oleObject137.bin"/><Relationship Id="rId10" Type="http://schemas.openxmlformats.org/officeDocument/2006/relationships/image" Target="../media/image91.wmf"/><Relationship Id="rId1" Type="http://schemas.openxmlformats.org/officeDocument/2006/relationships/vmlDrawing" Target="../drawings/vmlDrawing24.v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image" Target="../media/image92.wmf"/><Relationship Id="rId20" Type="http://schemas.openxmlformats.org/officeDocument/2006/relationships/image" Target="../media/image97.wmf"/><Relationship Id="rId21" Type="http://schemas.openxmlformats.org/officeDocument/2006/relationships/oleObject" Target="../embeddings/oleObject147.bin"/><Relationship Id="rId22" Type="http://schemas.openxmlformats.org/officeDocument/2006/relationships/image" Target="../media/image83.wmf"/><Relationship Id="rId10" Type="http://schemas.openxmlformats.org/officeDocument/2006/relationships/oleObject" Target="../embeddings/oleObject141.bin"/><Relationship Id="rId11" Type="http://schemas.openxmlformats.org/officeDocument/2006/relationships/image" Target="../media/image93.wmf"/><Relationship Id="rId12" Type="http://schemas.openxmlformats.org/officeDocument/2006/relationships/oleObject" Target="../embeddings/oleObject142.bin"/><Relationship Id="rId13" Type="http://schemas.openxmlformats.org/officeDocument/2006/relationships/image" Target="../media/image94.wmf"/><Relationship Id="rId14" Type="http://schemas.openxmlformats.org/officeDocument/2006/relationships/oleObject" Target="../embeddings/oleObject143.bin"/><Relationship Id="rId15" Type="http://schemas.openxmlformats.org/officeDocument/2006/relationships/image" Target="../media/image95.wmf"/><Relationship Id="rId16" Type="http://schemas.openxmlformats.org/officeDocument/2006/relationships/oleObject" Target="../embeddings/oleObject144.bin"/><Relationship Id="rId17" Type="http://schemas.openxmlformats.org/officeDocument/2006/relationships/image" Target="../media/image96.wmf"/><Relationship Id="rId18" Type="http://schemas.openxmlformats.org/officeDocument/2006/relationships/oleObject" Target="../embeddings/oleObject145.bin"/><Relationship Id="rId19" Type="http://schemas.openxmlformats.org/officeDocument/2006/relationships/oleObject" Target="../embeddings/oleObject146.bin"/><Relationship Id="rId1" Type="http://schemas.openxmlformats.org/officeDocument/2006/relationships/vmlDrawing" Target="../drawings/vmlDrawing25.vml"/><Relationship Id="rId2" Type="http://schemas.openxmlformats.org/officeDocument/2006/relationships/slideLayout" Target="../slideLayouts/slideLayout7.xml"/><Relationship Id="rId3" Type="http://schemas.openxmlformats.org/officeDocument/2006/relationships/notesSlide" Target="../notesSlides/notesSlide20.xml"/><Relationship Id="rId4" Type="http://schemas.openxmlformats.org/officeDocument/2006/relationships/image" Target="../media/image100.png"/><Relationship Id="rId5" Type="http://schemas.openxmlformats.org/officeDocument/2006/relationships/oleObject" Target="../embeddings/oleObject138.bin"/><Relationship Id="rId6" Type="http://schemas.openxmlformats.org/officeDocument/2006/relationships/image" Target="../media/image1.wmf"/><Relationship Id="rId7" Type="http://schemas.openxmlformats.org/officeDocument/2006/relationships/oleObject" Target="../embeddings/oleObject139.bin"/><Relationship Id="rId8" Type="http://schemas.openxmlformats.org/officeDocument/2006/relationships/oleObject" Target="../embeddings/oleObject140.bin"/></Relationships>
</file>

<file path=ppt/slides/_rels/slide26.xml.rels><?xml version="1.0" encoding="UTF-8" standalone="yes"?>
<Relationships xmlns="http://schemas.openxmlformats.org/package/2006/relationships"><Relationship Id="rId11" Type="http://schemas.openxmlformats.org/officeDocument/2006/relationships/image" Target="../media/image99.wmf"/><Relationship Id="rId12" Type="http://schemas.openxmlformats.org/officeDocument/2006/relationships/image" Target="../media/image102.jpeg"/><Relationship Id="rId13" Type="http://schemas.openxmlformats.org/officeDocument/2006/relationships/oleObject" Target="../embeddings/oleObject152.bin"/><Relationship Id="rId14" Type="http://schemas.openxmlformats.org/officeDocument/2006/relationships/image" Target="../media/image100.wmf"/><Relationship Id="rId15" Type="http://schemas.openxmlformats.org/officeDocument/2006/relationships/oleObject" Target="../embeddings/oleObject153.bin"/><Relationship Id="rId1" Type="http://schemas.openxmlformats.org/officeDocument/2006/relationships/vmlDrawing" Target="../drawings/vmlDrawing26.vml"/><Relationship Id="rId2" Type="http://schemas.openxmlformats.org/officeDocument/2006/relationships/slideLayout" Target="../slideLayouts/slideLayout7.xml"/><Relationship Id="rId3" Type="http://schemas.openxmlformats.org/officeDocument/2006/relationships/notesSlide" Target="../notesSlides/notesSlide21.xml"/><Relationship Id="rId4" Type="http://schemas.openxmlformats.org/officeDocument/2006/relationships/oleObject" Target="../embeddings/oleObject148.bin"/><Relationship Id="rId5" Type="http://schemas.openxmlformats.org/officeDocument/2006/relationships/image" Target="../media/image1.wmf"/><Relationship Id="rId6" Type="http://schemas.openxmlformats.org/officeDocument/2006/relationships/oleObject" Target="../embeddings/oleObject149.bin"/><Relationship Id="rId7" Type="http://schemas.openxmlformats.org/officeDocument/2006/relationships/image" Target="../media/image101.emf"/><Relationship Id="rId8" Type="http://schemas.openxmlformats.org/officeDocument/2006/relationships/oleObject" Target="../embeddings/oleObject150.bin"/><Relationship Id="rId9" Type="http://schemas.openxmlformats.org/officeDocument/2006/relationships/image" Target="../media/image98.wmf"/><Relationship Id="rId10" Type="http://schemas.openxmlformats.org/officeDocument/2006/relationships/oleObject" Target="../embeddings/oleObject151.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54.bin"/><Relationship Id="rId4" Type="http://schemas.openxmlformats.org/officeDocument/2006/relationships/image" Target="../media/image11.wmf"/><Relationship Id="rId1" Type="http://schemas.openxmlformats.org/officeDocument/2006/relationships/vmlDrawing" Target="../drawings/vmlDrawing27.vml"/><Relationship Id="rId2"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4" Type="http://schemas.openxmlformats.org/officeDocument/2006/relationships/oleObject" Target="../embeddings/oleObject155.bin"/><Relationship Id="rId5" Type="http://schemas.openxmlformats.org/officeDocument/2006/relationships/image" Target="../media/image1.wmf"/><Relationship Id="rId6" Type="http://schemas.openxmlformats.org/officeDocument/2006/relationships/oleObject" Target="../embeddings/oleObject156.bin"/><Relationship Id="rId7" Type="http://schemas.openxmlformats.org/officeDocument/2006/relationships/oleObject" Target="../embeddings/oleObject157.bin"/><Relationship Id="rId8" Type="http://schemas.openxmlformats.org/officeDocument/2006/relationships/image" Target="../media/image103.wmf"/><Relationship Id="rId9" Type="http://schemas.openxmlformats.org/officeDocument/2006/relationships/oleObject" Target="../embeddings/oleObject158.bin"/><Relationship Id="rId10" Type="http://schemas.openxmlformats.org/officeDocument/2006/relationships/image" Target="../media/image104.wmf"/><Relationship Id="rId1" Type="http://schemas.openxmlformats.org/officeDocument/2006/relationships/vmlDrawing" Target="../drawings/vmlDrawing28.vml"/><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1" Type="http://schemas.openxmlformats.org/officeDocument/2006/relationships/oleObject" Target="../embeddings/oleObject163.bin"/><Relationship Id="rId12" Type="http://schemas.openxmlformats.org/officeDocument/2006/relationships/image" Target="../media/image106.wmf"/><Relationship Id="rId13" Type="http://schemas.openxmlformats.org/officeDocument/2006/relationships/oleObject" Target="../embeddings/oleObject164.bin"/><Relationship Id="rId14" Type="http://schemas.openxmlformats.org/officeDocument/2006/relationships/oleObject" Target="../embeddings/oleObject165.bin"/><Relationship Id="rId15" Type="http://schemas.openxmlformats.org/officeDocument/2006/relationships/image" Target="../media/image107.wmf"/><Relationship Id="rId16" Type="http://schemas.openxmlformats.org/officeDocument/2006/relationships/image" Target="../media/image1210.png"/><Relationship Id="rId17" Type="http://schemas.openxmlformats.org/officeDocument/2006/relationships/image" Target="../media/image122.png"/><Relationship Id="rId18" Type="http://schemas.openxmlformats.org/officeDocument/2006/relationships/image" Target="../media/image123.png"/><Relationship Id="rId19" Type="http://schemas.openxmlformats.org/officeDocument/2006/relationships/image" Target="../media/image124.png"/><Relationship Id="rId1" Type="http://schemas.openxmlformats.org/officeDocument/2006/relationships/vmlDrawing" Target="../drawings/vmlDrawing29.vml"/><Relationship Id="rId2" Type="http://schemas.openxmlformats.org/officeDocument/2006/relationships/slideLayout" Target="../slideLayouts/slideLayout7.xml"/><Relationship Id="rId3" Type="http://schemas.openxmlformats.org/officeDocument/2006/relationships/notesSlide" Target="../notesSlides/notesSlide23.xml"/><Relationship Id="rId4" Type="http://schemas.openxmlformats.org/officeDocument/2006/relationships/oleObject" Target="../embeddings/oleObject159.bin"/><Relationship Id="rId5" Type="http://schemas.openxmlformats.org/officeDocument/2006/relationships/image" Target="../media/image1.wmf"/><Relationship Id="rId6" Type="http://schemas.openxmlformats.org/officeDocument/2006/relationships/oleObject" Target="../embeddings/oleObject160.bin"/><Relationship Id="rId7" Type="http://schemas.openxmlformats.org/officeDocument/2006/relationships/image" Target="../media/image108.emf"/><Relationship Id="rId8" Type="http://schemas.openxmlformats.org/officeDocument/2006/relationships/oleObject" Target="../embeddings/oleObject161.bin"/><Relationship Id="rId9" Type="http://schemas.openxmlformats.org/officeDocument/2006/relationships/image" Target="../media/image105.wmf"/><Relationship Id="rId10" Type="http://schemas.openxmlformats.org/officeDocument/2006/relationships/oleObject" Target="../embeddings/oleObject162.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4" Type="http://schemas.openxmlformats.org/officeDocument/2006/relationships/oleObject" Target="../embeddings/oleObject166.bin"/><Relationship Id="rId5" Type="http://schemas.openxmlformats.org/officeDocument/2006/relationships/image" Target="../media/image1.wmf"/><Relationship Id="rId6" Type="http://schemas.openxmlformats.org/officeDocument/2006/relationships/oleObject" Target="../embeddings/oleObject167.bin"/><Relationship Id="rId1" Type="http://schemas.openxmlformats.org/officeDocument/2006/relationships/vmlDrawing" Target="../drawings/vmlDrawing30.vml"/><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sz="half" idx="1"/>
          </p:nvPr>
        </p:nvSpPr>
        <p:spPr>
          <a:xfrm>
            <a:off x="228600" y="228600"/>
            <a:ext cx="8610600" cy="6400800"/>
          </a:xfrm>
        </p:spPr>
        <p:txBody>
          <a:bodyPr lIns="92075" tIns="46038" rIns="92075" bIns="46038"/>
          <a:lstStyle/>
          <a:p>
            <a:pPr algn="ctr" eaLnBrk="1" hangingPunct="1">
              <a:buFont typeface="Arial" charset="0"/>
              <a:buNone/>
            </a:pPr>
            <a:r>
              <a:rPr lang="en-US" altLang="zh-CN" dirty="0" smtClean="0">
                <a:solidFill>
                  <a:srgbClr val="000000"/>
                </a:solidFill>
                <a:latin typeface="Times New Roman" pitchFamily="18" charset="0"/>
              </a:rPr>
              <a:t>Measurement Error and Misclassification</a:t>
            </a:r>
          </a:p>
          <a:p>
            <a:pPr algn="ctr" eaLnBrk="1" hangingPunct="1">
              <a:buFont typeface="Arial" charset="0"/>
              <a:buNone/>
            </a:pPr>
            <a:r>
              <a:rPr lang="en-US" altLang="zh-CN" sz="2200" dirty="0" smtClean="0">
                <a:solidFill>
                  <a:srgbClr val="FF3300"/>
                </a:solidFill>
                <a:latin typeface="Times New Roman" pitchFamily="18" charset="0"/>
              </a:rPr>
              <a:t>EPI515 Fall 1</a:t>
            </a:r>
          </a:p>
          <a:p>
            <a:pPr algn="ctr" eaLnBrk="1" hangingPunct="1">
              <a:buFont typeface="Arial" charset="0"/>
              <a:buNone/>
            </a:pPr>
            <a:endParaRPr lang="en-US" altLang="en-US" sz="4000" dirty="0" smtClean="0">
              <a:solidFill>
                <a:srgbClr val="000000"/>
              </a:solidFill>
              <a:latin typeface="Times New Roman" pitchFamily="18" charset="0"/>
              <a:ea typeface="宋体" pitchFamily="2" charset="-122"/>
            </a:endParaRPr>
          </a:p>
          <a:p>
            <a:pPr algn="ctr" eaLnBrk="1" hangingPunct="1">
              <a:buFont typeface="Arial" charset="0"/>
              <a:buNone/>
            </a:pPr>
            <a:endParaRPr lang="en-US" altLang="en-US" sz="4000" dirty="0">
              <a:solidFill>
                <a:srgbClr val="000000"/>
              </a:solidFill>
              <a:latin typeface="Times New Roman" pitchFamily="18" charset="0"/>
              <a:ea typeface="宋体" pitchFamily="2" charset="-122"/>
            </a:endParaRPr>
          </a:p>
          <a:p>
            <a:pPr algn="ctr" eaLnBrk="1" hangingPunct="1">
              <a:buFont typeface="Arial" charset="0"/>
              <a:buNone/>
            </a:pPr>
            <a:endParaRPr lang="en-US" altLang="en-US" sz="4000" dirty="0" smtClean="0">
              <a:solidFill>
                <a:srgbClr val="000000"/>
              </a:solidFill>
              <a:latin typeface="Times New Roman" pitchFamily="18" charset="0"/>
              <a:ea typeface="宋体" pitchFamily="2" charset="-122"/>
            </a:endParaRPr>
          </a:p>
          <a:p>
            <a:pPr algn="ctr" eaLnBrk="1" hangingPunct="1">
              <a:buFont typeface="Arial" charset="0"/>
              <a:buNone/>
            </a:pPr>
            <a:endParaRPr lang="en-US" altLang="en-US" sz="4000" dirty="0" smtClean="0">
              <a:solidFill>
                <a:srgbClr val="000000"/>
              </a:solidFill>
              <a:latin typeface="Times New Roman" pitchFamily="18" charset="0"/>
              <a:ea typeface="宋体" pitchFamily="2" charset="-122"/>
            </a:endParaRPr>
          </a:p>
          <a:p>
            <a:pPr algn="ctr" eaLnBrk="1" hangingPunct="1">
              <a:buFont typeface="Arial" charset="0"/>
              <a:buNone/>
            </a:pPr>
            <a:endParaRPr lang="en-US" altLang="en-US" sz="2400" b="1" dirty="0" smtClean="0">
              <a:solidFill>
                <a:srgbClr val="000000"/>
              </a:solidFill>
              <a:latin typeface="Times New Roman" pitchFamily="18" charset="0"/>
              <a:ea typeface="宋体" pitchFamily="2" charset="-122"/>
            </a:endParaRPr>
          </a:p>
          <a:p>
            <a:pPr algn="ctr" eaLnBrk="1" hangingPunct="1">
              <a:buFont typeface="Arial" charset="0"/>
              <a:buNone/>
            </a:pPr>
            <a:r>
              <a:rPr lang="en-US" altLang="en-US" sz="4200" b="1" dirty="0" smtClean="0">
                <a:solidFill>
                  <a:srgbClr val="FF3300"/>
                </a:solidFill>
                <a:latin typeface="Times New Roman" pitchFamily="18" charset="0"/>
                <a:ea typeface="宋体" pitchFamily="2" charset="-122"/>
              </a:rPr>
              <a:t>Lecture 4</a:t>
            </a:r>
          </a:p>
          <a:p>
            <a:pPr algn="ctr">
              <a:buFont typeface="Arial" charset="0"/>
              <a:buNone/>
            </a:pPr>
            <a:r>
              <a:rPr lang="en-US" altLang="en-US" dirty="0" smtClean="0">
                <a:latin typeface="Times New Roman" pitchFamily="18" charset="0"/>
                <a:cs typeface="Times New Roman" pitchFamily="18" charset="0"/>
              </a:rPr>
              <a:t>   </a:t>
            </a:r>
            <a:r>
              <a:rPr lang="en-US" altLang="en-US" sz="2800" dirty="0" smtClean="0">
                <a:latin typeface="Times New Roman" pitchFamily="18" charset="0"/>
                <a:cs typeface="Times New Roman" pitchFamily="18" charset="0"/>
              </a:rPr>
              <a:t>Study Design in the Presence of Exposure Misclassification or Measurement Error</a:t>
            </a:r>
          </a:p>
          <a:p>
            <a:pPr algn="ctr">
              <a:buFont typeface="Arial" charset="0"/>
              <a:buNone/>
            </a:pPr>
            <a:endParaRPr lang="en-US" altLang="en-US" sz="1400" dirty="0" smtClean="0">
              <a:latin typeface="Times New Roman" pitchFamily="18" charset="0"/>
              <a:cs typeface="Times New Roman" pitchFamily="18" charset="0"/>
            </a:endParaRPr>
          </a:p>
          <a:p>
            <a:pPr algn="ctr">
              <a:buFont typeface="Arial" charset="0"/>
              <a:buNone/>
            </a:pPr>
            <a:r>
              <a:rPr lang="en-US" altLang="en-US" sz="1400" dirty="0" smtClean="0">
                <a:solidFill>
                  <a:srgbClr val="FF0000"/>
                </a:solidFill>
                <a:latin typeface="Times New Roman" pitchFamily="18" charset="0"/>
                <a:cs typeface="Times New Roman" pitchFamily="18" charset="0"/>
              </a:rPr>
              <a:t>Updated 9.25.2017</a:t>
            </a:r>
          </a:p>
          <a:p>
            <a:pPr algn="ctr">
              <a:buFont typeface="Arial" charset="0"/>
              <a:buNone/>
            </a:pPr>
            <a:endParaRPr lang="en-US" altLang="en-US" sz="2800" dirty="0" smtClean="0">
              <a:latin typeface="Times New Roman" pitchFamily="18" charset="0"/>
              <a:cs typeface="Times New Roman" pitchFamily="18" charset="0"/>
            </a:endParaRPr>
          </a:p>
          <a:p>
            <a:pPr algn="ctr" eaLnBrk="1" hangingPunct="1">
              <a:buFont typeface="Arial" charset="0"/>
              <a:buNone/>
            </a:pPr>
            <a:endParaRPr lang="en-US" altLang="en-US" dirty="0" smtClean="0">
              <a:solidFill>
                <a:srgbClr val="000000"/>
              </a:solidFill>
              <a:latin typeface="Times New Roman" pitchFamily="18" charset="0"/>
              <a:ea typeface="宋体" pitchFamily="2" charset="-122"/>
            </a:endParaRPr>
          </a:p>
          <a:p>
            <a:pPr algn="ctr" eaLnBrk="1" hangingPunct="1">
              <a:buFont typeface="Arial" charset="0"/>
              <a:buNone/>
            </a:pPr>
            <a:endParaRPr lang="en-US" altLang="en-US" dirty="0" smtClean="0">
              <a:solidFill>
                <a:srgbClr val="000000"/>
              </a:solidFill>
              <a:latin typeface="Times New Roman" pitchFamily="18" charset="0"/>
              <a:ea typeface="宋体" pitchFamily="2" charset="-122"/>
            </a:endParaRPr>
          </a:p>
          <a:p>
            <a:pPr eaLnBrk="1" hangingPunct="1">
              <a:buFont typeface="Arial" charset="0"/>
              <a:buNone/>
            </a:pPr>
            <a:endParaRPr lang="en-US" altLang="en-US" dirty="0" smtClean="0">
              <a:latin typeface="Times New Roman" pitchFamily="18" charset="0"/>
              <a:ea typeface="宋体" pitchFamily="2" charset="-122"/>
            </a:endParaRPr>
          </a:p>
          <a:p>
            <a:pPr eaLnBrk="1" hangingPunct="1">
              <a:lnSpc>
                <a:spcPct val="80000"/>
              </a:lnSpc>
              <a:buFontTx/>
              <a:buNone/>
            </a:pPr>
            <a:endParaRPr lang="en-US" altLang="en-US" sz="2400" dirty="0" smtClean="0">
              <a:solidFill>
                <a:srgbClr val="000000"/>
              </a:solidFill>
              <a:ea typeface="宋体" pitchFamily="2" charset="-122"/>
            </a:endParaRPr>
          </a:p>
          <a:p>
            <a:pPr eaLnBrk="1" hangingPunct="1">
              <a:lnSpc>
                <a:spcPct val="80000"/>
              </a:lnSpc>
              <a:buFontTx/>
              <a:buNone/>
            </a:pPr>
            <a:endParaRPr lang="en-US" altLang="en-US" sz="2400" dirty="0" smtClean="0">
              <a:solidFill>
                <a:srgbClr val="000000"/>
              </a:solidFill>
              <a:ea typeface="宋体" pitchFamily="2" charset="-122"/>
            </a:endParaRPr>
          </a:p>
          <a:p>
            <a:pPr eaLnBrk="1" hangingPunct="1">
              <a:lnSpc>
                <a:spcPct val="80000"/>
              </a:lnSpc>
              <a:buFontTx/>
              <a:buNone/>
            </a:pPr>
            <a:endParaRPr lang="en-US" altLang="en-US" sz="2000" dirty="0" smtClean="0">
              <a:solidFill>
                <a:srgbClr val="000000"/>
              </a:solidFill>
              <a:ea typeface="宋体" pitchFamily="2" charset="-122"/>
            </a:endParaRPr>
          </a:p>
          <a:p>
            <a:pPr eaLnBrk="1" hangingPunct="1">
              <a:lnSpc>
                <a:spcPct val="80000"/>
              </a:lnSpc>
              <a:buFontTx/>
              <a:buNone/>
            </a:pPr>
            <a:endParaRPr lang="en-US" altLang="en-US" sz="2000" dirty="0" smtClean="0">
              <a:solidFill>
                <a:srgbClr val="000000"/>
              </a:solidFill>
              <a:ea typeface="宋体" pitchFamily="2" charset="-122"/>
            </a:endParaRPr>
          </a:p>
          <a:p>
            <a:pPr eaLnBrk="1" hangingPunct="1">
              <a:lnSpc>
                <a:spcPct val="80000"/>
              </a:lnSpc>
              <a:buFontTx/>
              <a:buNone/>
            </a:pPr>
            <a:endParaRPr lang="en-US" altLang="en-US" sz="2000" dirty="0" smtClean="0">
              <a:solidFill>
                <a:srgbClr val="000000"/>
              </a:solidFill>
              <a:ea typeface="宋体" pitchFamily="2" charset="-122"/>
            </a:endParaRPr>
          </a:p>
          <a:p>
            <a:pPr eaLnBrk="1" hangingPunct="1">
              <a:lnSpc>
                <a:spcPct val="80000"/>
              </a:lnSpc>
              <a:buFontTx/>
              <a:buNone/>
            </a:pPr>
            <a:endParaRPr lang="en-US" altLang="en-US" sz="2000" dirty="0" smtClean="0">
              <a:solidFill>
                <a:srgbClr val="000000"/>
              </a:solidFill>
              <a:ea typeface="宋体" pitchFamily="2" charset="-122"/>
            </a:endParaRPr>
          </a:p>
          <a:p>
            <a:pPr eaLnBrk="1" hangingPunct="1">
              <a:lnSpc>
                <a:spcPct val="80000"/>
              </a:lnSpc>
              <a:buFontTx/>
              <a:buNone/>
            </a:pPr>
            <a:endParaRPr lang="en-US" altLang="en-US" sz="2000" dirty="0" smtClean="0">
              <a:solidFill>
                <a:srgbClr val="000000"/>
              </a:solidFill>
              <a:ea typeface="宋体" pitchFamily="2" charset="-122"/>
            </a:endParaRPr>
          </a:p>
          <a:p>
            <a:pPr eaLnBrk="1" hangingPunct="1">
              <a:lnSpc>
                <a:spcPct val="80000"/>
              </a:lnSpc>
              <a:buFontTx/>
              <a:buNone/>
            </a:pPr>
            <a:endParaRPr lang="en-US" altLang="en-US" sz="2000" dirty="0" smtClean="0">
              <a:solidFill>
                <a:srgbClr val="000000"/>
              </a:solidFill>
              <a:ea typeface="宋体" pitchFamily="2" charset="-122"/>
            </a:endParaRPr>
          </a:p>
          <a:p>
            <a:pPr eaLnBrk="1" hangingPunct="1">
              <a:lnSpc>
                <a:spcPct val="80000"/>
              </a:lnSpc>
              <a:buFontTx/>
              <a:buNone/>
            </a:pPr>
            <a:r>
              <a:rPr lang="en-US" altLang="en-US" sz="2400" dirty="0" smtClean="0">
                <a:solidFill>
                  <a:srgbClr val="000000"/>
                </a:solidFill>
                <a:ea typeface="宋体" pitchFamily="2" charset="-122"/>
              </a:rPr>
              <a:t>                                                                   </a:t>
            </a:r>
          </a:p>
          <a:p>
            <a:pPr eaLnBrk="1" hangingPunct="1">
              <a:lnSpc>
                <a:spcPct val="80000"/>
              </a:lnSpc>
              <a:buFontTx/>
              <a:buNone/>
            </a:pPr>
            <a:endParaRPr lang="en-US" altLang="en-US" sz="2400" dirty="0" smtClean="0">
              <a:solidFill>
                <a:srgbClr val="000000"/>
              </a:solidFill>
              <a:ea typeface="宋体" pitchFamily="2" charset="-122"/>
            </a:endParaRPr>
          </a:p>
          <a:p>
            <a:pPr eaLnBrk="1" hangingPunct="1">
              <a:lnSpc>
                <a:spcPct val="80000"/>
              </a:lnSpc>
              <a:buFontTx/>
              <a:buNone/>
            </a:pPr>
            <a:endParaRPr lang="en-US" altLang="en-US" sz="2400" dirty="0" smtClean="0">
              <a:solidFill>
                <a:srgbClr val="000000"/>
              </a:solidFill>
              <a:ea typeface="宋体" pitchFamily="2" charset="-122"/>
            </a:endParaRPr>
          </a:p>
          <a:p>
            <a:pPr eaLnBrk="1" hangingPunct="1">
              <a:lnSpc>
                <a:spcPct val="80000"/>
              </a:lnSpc>
              <a:buFontTx/>
              <a:buNone/>
            </a:pPr>
            <a:r>
              <a:rPr lang="en-US" altLang="en-US" sz="2400" dirty="0" smtClean="0">
                <a:solidFill>
                  <a:srgbClr val="000000"/>
                </a:solidFill>
                <a:ea typeface="宋体" pitchFamily="2" charset="-122"/>
              </a:rPr>
              <a:t>         </a:t>
            </a:r>
            <a:endParaRPr lang="en-US" altLang="en-US" sz="1800" dirty="0" smtClean="0">
              <a:solidFill>
                <a:srgbClr val="000000"/>
              </a:solidFill>
              <a:latin typeface="Verdana" pitchFamily="34" charset="0"/>
              <a:ea typeface="宋体" pitchFamily="2" charset="-122"/>
            </a:endParaRPr>
          </a:p>
        </p:txBody>
      </p:sp>
      <p:cxnSp>
        <p:nvCxnSpPr>
          <p:cNvPr id="3075" name="AutoShape 3"/>
          <p:cNvCxnSpPr>
            <a:cxnSpLocks noChangeShapeType="1"/>
            <a:stCxn id="3074" idx="3"/>
            <a:endCxn id="3074" idx="3"/>
          </p:cNvCxnSpPr>
          <p:nvPr/>
        </p:nvCxnSpPr>
        <p:spPr bwMode="auto">
          <a:xfrm>
            <a:off x="8839200" y="3429000"/>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307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1800">
              <a:latin typeface="Arial" charset="0"/>
            </a:endParaRPr>
          </a:p>
        </p:txBody>
      </p:sp>
      <p:graphicFrame>
        <p:nvGraphicFramePr>
          <p:cNvPr id="3077"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3840"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8"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3841"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9"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fld id="{7D9C0FEE-A46A-4D1E-92E1-FDDDDF4C2937}" type="slidenum">
              <a:rPr lang="en-US" altLang="en-US" sz="1200" smtClean="0">
                <a:solidFill>
                  <a:srgbClr val="898989"/>
                </a:solidFill>
              </a:rPr>
              <a:pPr eaLnBrk="1" hangingPunct="1">
                <a:spcBef>
                  <a:spcPct val="0"/>
                </a:spcBef>
                <a:buFontTx/>
                <a:buNone/>
              </a:pPr>
              <a:t>1</a:t>
            </a:fld>
            <a:endParaRPr lang="en-US" altLang="en-US" sz="1200" smtClean="0">
              <a:solidFill>
                <a:srgbClr val="898989"/>
              </a:solidFill>
            </a:endParaRPr>
          </a:p>
        </p:txBody>
      </p:sp>
      <p:pic>
        <p:nvPicPr>
          <p:cNvPr id="308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00" y="1584325"/>
            <a:ext cx="25971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457200"/>
            <a:ext cx="8382000" cy="6172200"/>
          </a:xfrm>
        </p:spPr>
        <p:txBody>
          <a:bodyPr lIns="92075" tIns="46038" rIns="92075" bIns="46038"/>
          <a:lstStyle/>
          <a:p>
            <a:pPr>
              <a:buFont typeface="Arial" charset="0"/>
              <a:buNone/>
              <a:defRPr/>
            </a:pPr>
            <a:r>
              <a:rPr lang="en-US" sz="2400" u="sng" dirty="0" smtClean="0">
                <a:latin typeface="Times New Roman" pitchFamily="18" charset="0"/>
                <a:cs typeface="Times New Roman" pitchFamily="18" charset="0"/>
              </a:rPr>
              <a:t>Study design in the presence of misclassification</a:t>
            </a: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r>
              <a:rPr lang="en-US" sz="2400" b="1" dirty="0" smtClean="0">
                <a:solidFill>
                  <a:srgbClr val="3366FF"/>
                </a:solidFill>
                <a:latin typeface="Times New Roman" pitchFamily="18" charset="0"/>
                <a:cs typeface="Times New Roman" pitchFamily="18" charset="0"/>
              </a:rPr>
              <a:t>Fully validated </a:t>
            </a:r>
            <a:r>
              <a:rPr lang="en-US" sz="2400" dirty="0" smtClean="0">
                <a:latin typeface="Times New Roman" pitchFamily="18" charset="0"/>
                <a:cs typeface="Times New Roman" pitchFamily="18" charset="0"/>
              </a:rPr>
              <a:t>design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i="1" dirty="0" smtClean="0">
                <a:solidFill>
                  <a:srgbClr val="3366FF"/>
                </a:solidFill>
                <a:latin typeface="Times New Roman" pitchFamily="18" charset="0"/>
                <a:cs typeface="Times New Roman" pitchFamily="18" charset="0"/>
              </a:rPr>
              <a:t>Advantages</a:t>
            </a:r>
            <a:r>
              <a:rPr lang="en-US" sz="2400" dirty="0" smtClean="0">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Easy to analyze</a:t>
            </a:r>
            <a:r>
              <a:rPr lang="en-US" sz="2400" dirty="0" smtClean="0">
                <a:latin typeface="Times New Roman" pitchFamily="18" charset="0"/>
                <a:cs typeface="Times New Roman" pitchFamily="18" charset="0"/>
              </a:rPr>
              <a:t>, no questions about </a:t>
            </a:r>
            <a:r>
              <a:rPr lang="en-US" sz="2400" b="1" dirty="0" smtClean="0">
                <a:solidFill>
                  <a:srgbClr val="FF0000"/>
                </a:solidFill>
                <a:latin typeface="Times New Roman" pitchFamily="18" charset="0"/>
                <a:cs typeface="Times New Roman" pitchFamily="18" charset="0"/>
              </a:rPr>
              <a:t>validity</a:t>
            </a:r>
            <a:r>
              <a:rPr lang="en-US" sz="2400" dirty="0" smtClean="0">
                <a:latin typeface="Times New Roman" pitchFamily="18" charset="0"/>
                <a:cs typeface="Times New Roman" pitchFamily="18" charset="0"/>
              </a:rPr>
              <a:t> in terms</a:t>
            </a:r>
          </a:p>
          <a:p>
            <a:pPr>
              <a:buFont typeface="Arial" charset="0"/>
              <a:buNone/>
              <a:defRPr/>
            </a:pPr>
            <a:r>
              <a:rPr lang="en-US" sz="2400" dirty="0" smtClean="0">
                <a:latin typeface="Times New Roman" pitchFamily="18" charset="0"/>
                <a:cs typeface="Times New Roman" pitchFamily="18" charset="0"/>
              </a:rPr>
              <a:t>of (1) transportability, (2) form of the measurement error/misclassification model</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i="1" dirty="0" smtClean="0">
                <a:solidFill>
                  <a:srgbClr val="3366FF"/>
                </a:solidFill>
                <a:latin typeface="Times New Roman" pitchFamily="18" charset="0"/>
                <a:cs typeface="Times New Roman" pitchFamily="18" charset="0"/>
              </a:rPr>
              <a:t>Disadvantages</a:t>
            </a:r>
            <a:r>
              <a:rPr lang="en-US" sz="2400" dirty="0" smtClean="0">
                <a:latin typeface="Times New Roman" pitchFamily="18" charset="0"/>
                <a:cs typeface="Times New Roman" pitchFamily="18" charset="0"/>
              </a:rPr>
              <a:t>: May be unethical or unfeasible; even when not, </a:t>
            </a:r>
          </a:p>
          <a:p>
            <a:pPr>
              <a:buFont typeface="Arial" charset="0"/>
              <a:buNone/>
              <a:defRPr/>
            </a:pPr>
            <a:r>
              <a:rPr lang="en-US" sz="2400" b="1" dirty="0" smtClean="0">
                <a:latin typeface="Times New Roman" pitchFamily="18" charset="0"/>
                <a:cs typeface="Times New Roman" pitchFamily="18" charset="0"/>
              </a:rPr>
              <a:t>cost</a:t>
            </a:r>
            <a:r>
              <a:rPr lang="en-US" sz="2400" dirty="0" smtClean="0">
                <a:latin typeface="Times New Roman" pitchFamily="18" charset="0"/>
                <a:cs typeface="Times New Roman" pitchFamily="18" charset="0"/>
              </a:rPr>
              <a:t> may be prohibitive</a:t>
            </a: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4099"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410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4101"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5352"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2"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5353"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410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82D8EB9-E1ED-496E-9928-E64EB0777B10}" type="slidenum">
              <a:rPr lang="zh-CN" altLang="en-US" sz="1200">
                <a:solidFill>
                  <a:srgbClr val="898989"/>
                </a:solidFill>
              </a:rPr>
              <a:pPr algn="r" eaLnBrk="1" hangingPunct="1">
                <a:spcBef>
                  <a:spcPct val="0"/>
                </a:spcBef>
                <a:buFontTx/>
                <a:buNone/>
              </a:pPr>
              <a:t>2</a:t>
            </a:fld>
            <a:endParaRPr lang="en-US" altLang="zh-CN" sz="1200">
              <a:solidFill>
                <a:srgbClr val="898989"/>
              </a:solidFill>
            </a:endParaRPr>
          </a:p>
        </p:txBody>
      </p:sp>
      <p:graphicFrame>
        <p:nvGraphicFramePr>
          <p:cNvPr id="4105" name="Object 9"/>
          <p:cNvGraphicFramePr>
            <a:graphicFrameLocks noChangeAspect="1"/>
          </p:cNvGraphicFramePr>
          <p:nvPr/>
        </p:nvGraphicFramePr>
        <p:xfrm>
          <a:off x="3276600" y="1371600"/>
          <a:ext cx="2957513" cy="501650"/>
        </p:xfrm>
        <a:graphic>
          <a:graphicData uri="http://schemas.openxmlformats.org/presentationml/2006/ole">
            <mc:AlternateContent xmlns:mc="http://schemas.openxmlformats.org/markup-compatibility/2006">
              <mc:Choice xmlns:v="urn:schemas-microsoft-com:vml" Requires="v">
                <p:oleObj spid="_x0000_s95354" name="Equation" r:id="rId7" imgW="1422400" imgH="241300" progId="Equation.DSMT4">
                  <p:embed/>
                </p:oleObj>
              </mc:Choice>
              <mc:Fallback>
                <p:oleObj name="Equation" r:id="rId7" imgW="1422400" imgH="2413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1371600"/>
                        <a:ext cx="2957513"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457200"/>
            <a:ext cx="8382000" cy="6172200"/>
          </a:xfrm>
        </p:spPr>
        <p:txBody>
          <a:bodyPr lIns="92075" tIns="46038" rIns="92075" bIns="46038"/>
          <a:lstStyle/>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Main study/</a:t>
            </a:r>
            <a:r>
              <a:rPr lang="en-US" sz="2400" b="1" dirty="0" smtClean="0">
                <a:solidFill>
                  <a:srgbClr val="3366FF"/>
                </a:solidFill>
                <a:latin typeface="Times New Roman" pitchFamily="18" charset="0"/>
                <a:cs typeface="Times New Roman" pitchFamily="18" charset="0"/>
              </a:rPr>
              <a:t>internal</a:t>
            </a:r>
            <a:r>
              <a:rPr lang="en-US" sz="2400" dirty="0" smtClean="0">
                <a:latin typeface="Times New Roman" pitchFamily="18" charset="0"/>
                <a:cs typeface="Times New Roman" pitchFamily="18" charset="0"/>
              </a:rPr>
              <a:t> validation study design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i="1" dirty="0" smtClean="0">
                <a:solidFill>
                  <a:srgbClr val="3366FF"/>
                </a:solidFill>
                <a:latin typeface="Times New Roman" pitchFamily="18" charset="0"/>
                <a:cs typeface="Times New Roman" pitchFamily="18" charset="0"/>
              </a:rPr>
              <a:t>Advantages</a:t>
            </a:r>
            <a:r>
              <a:rPr lang="en-US" sz="2400" dirty="0" smtClean="0">
                <a:latin typeface="Times New Roman" pitchFamily="18" charset="0"/>
                <a:cs typeface="Times New Roman" pitchFamily="18" charset="0"/>
              </a:rPr>
              <a:t>: If VS is a random sample of full study (MS+VS), guaranteed to be </a:t>
            </a:r>
            <a:r>
              <a:rPr lang="en-US" sz="2400" b="1" dirty="0" smtClean="0">
                <a:solidFill>
                  <a:srgbClr val="FF0000"/>
                </a:solidFill>
                <a:latin typeface="Times New Roman" pitchFamily="18" charset="0"/>
                <a:cs typeface="Times New Roman" pitchFamily="18" charset="0"/>
              </a:rPr>
              <a:t>transportable</a:t>
            </a:r>
            <a:r>
              <a:rPr lang="en-US" sz="2400" dirty="0" smtClean="0">
                <a:latin typeface="Times New Roman" pitchFamily="18" charset="0"/>
                <a:cs typeface="Times New Roman" pitchFamily="18" charset="0"/>
              </a:rPr>
              <a:t>, more </a:t>
            </a:r>
            <a:r>
              <a:rPr lang="en-US" sz="2400" b="1" dirty="0" smtClean="0">
                <a:solidFill>
                  <a:srgbClr val="FF0000"/>
                </a:solidFill>
                <a:latin typeface="Times New Roman" pitchFamily="18" charset="0"/>
                <a:cs typeface="Times New Roman" pitchFamily="18" charset="0"/>
              </a:rPr>
              <a:t>efficient</a:t>
            </a:r>
            <a:r>
              <a:rPr lang="en-US" sz="2400" dirty="0" smtClean="0">
                <a:latin typeface="Times New Roman" pitchFamily="18" charset="0"/>
                <a:cs typeface="Times New Roman" pitchFamily="18" charset="0"/>
              </a:rPr>
              <a:t> than </a:t>
            </a:r>
          </a:p>
          <a:p>
            <a:pPr>
              <a:buFont typeface="Arial" charset="0"/>
              <a:buNone/>
              <a:defRPr/>
            </a:pPr>
            <a:r>
              <a:rPr lang="en-US" sz="2400" dirty="0" smtClean="0">
                <a:latin typeface="Times New Roman" pitchFamily="18" charset="0"/>
                <a:cs typeface="Times New Roman" pitchFamily="18" charset="0"/>
              </a:rPr>
              <a:t>main study / external validation study</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i="1" dirty="0" smtClean="0">
                <a:solidFill>
                  <a:srgbClr val="0000FF"/>
                </a:solidFill>
                <a:latin typeface="Times New Roman" pitchFamily="18" charset="0"/>
                <a:cs typeface="Times New Roman" pitchFamily="18" charset="0"/>
              </a:rPr>
              <a:t>Disadvantages</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Almost always needs to be </a:t>
            </a:r>
            <a:r>
              <a:rPr lang="en-US" sz="2400" b="1" dirty="0" smtClean="0">
                <a:solidFill>
                  <a:srgbClr val="FF0000"/>
                </a:solidFill>
                <a:latin typeface="Times New Roman" pitchFamily="18" charset="0"/>
                <a:cs typeface="Times New Roman" pitchFamily="18" charset="0"/>
              </a:rPr>
              <a:t>planned in advance</a:t>
            </a:r>
            <a:r>
              <a:rPr lang="en-US" sz="24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although there are exceptions</a:t>
            </a: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5123"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512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5125"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6376"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6"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6377"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512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8899678-B307-4980-8F0D-F8252D66EFD3}" type="slidenum">
              <a:rPr lang="zh-CN" altLang="en-US" sz="1200">
                <a:solidFill>
                  <a:srgbClr val="898989"/>
                </a:solidFill>
              </a:rPr>
              <a:pPr algn="r" eaLnBrk="1" hangingPunct="1">
                <a:spcBef>
                  <a:spcPct val="0"/>
                </a:spcBef>
                <a:buFontTx/>
                <a:buNone/>
              </a:pPr>
              <a:t>3</a:t>
            </a:fld>
            <a:endParaRPr lang="en-US" altLang="zh-CN" sz="1200">
              <a:solidFill>
                <a:srgbClr val="898989"/>
              </a:solidFill>
            </a:endParaRPr>
          </a:p>
        </p:txBody>
      </p:sp>
      <p:graphicFrame>
        <p:nvGraphicFramePr>
          <p:cNvPr id="5129" name="Object 5"/>
          <p:cNvGraphicFramePr>
            <a:graphicFrameLocks noChangeAspect="1"/>
          </p:cNvGraphicFramePr>
          <p:nvPr>
            <p:extLst>
              <p:ext uri="{D42A27DB-BD31-4B8C-83A1-F6EECF244321}">
                <p14:modId xmlns:p14="http://schemas.microsoft.com/office/powerpoint/2010/main" val="696840343"/>
              </p:ext>
            </p:extLst>
          </p:nvPr>
        </p:nvGraphicFramePr>
        <p:xfrm>
          <a:off x="1752600" y="1371600"/>
          <a:ext cx="5810250" cy="1263650"/>
        </p:xfrm>
        <a:graphic>
          <a:graphicData uri="http://schemas.openxmlformats.org/presentationml/2006/ole">
            <mc:AlternateContent xmlns:mc="http://schemas.openxmlformats.org/markup-compatibility/2006">
              <mc:Choice xmlns:v="urn:schemas-microsoft-com:vml" Requires="v">
                <p:oleObj spid="_x0000_s96378" name="Equation" r:id="rId7" imgW="2628900" imgH="571500" progId="Equation.3">
                  <p:embed/>
                </p:oleObj>
              </mc:Choice>
              <mc:Fallback>
                <p:oleObj name="Equation" r:id="rId7" imgW="2628900" imgH="571500" progId="Equation.3">
                  <p:embed/>
                  <p:pic>
                    <p:nvPicPr>
                      <p:cNvPr id="0" name="Object 5"/>
                      <p:cNvPicPr>
                        <a:picLocks noChangeAspect="1" noChangeArrowheads="1"/>
                      </p:cNvPicPr>
                      <p:nvPr/>
                    </p:nvPicPr>
                    <p:blipFill>
                      <a:blip r:embed="rId8"/>
                      <a:srcRect/>
                      <a:stretch>
                        <a:fillRect/>
                      </a:stretch>
                    </p:blipFill>
                    <p:spPr bwMode="auto">
                      <a:xfrm>
                        <a:off x="1752600" y="1371600"/>
                        <a:ext cx="5810250" cy="126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457200"/>
            <a:ext cx="8382000" cy="6172200"/>
          </a:xfrm>
        </p:spPr>
        <p:txBody>
          <a:bodyPr lIns="92075" tIns="46038" rIns="92075" bIns="46038"/>
          <a:lstStyle/>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Main study/</a:t>
            </a:r>
            <a:r>
              <a:rPr lang="en-US" sz="2400" b="1" dirty="0" smtClean="0">
                <a:solidFill>
                  <a:srgbClr val="0000FF"/>
                </a:solidFill>
                <a:latin typeface="Times New Roman" pitchFamily="18" charset="0"/>
                <a:cs typeface="Times New Roman" pitchFamily="18" charset="0"/>
              </a:rPr>
              <a:t>external</a:t>
            </a:r>
            <a:r>
              <a:rPr lang="en-US" sz="2400" dirty="0" smtClean="0">
                <a:latin typeface="Times New Roman" pitchFamily="18" charset="0"/>
                <a:cs typeface="Times New Roman" pitchFamily="18" charset="0"/>
              </a:rPr>
              <a:t> validation study design  </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i="1" dirty="0" smtClean="0">
                <a:solidFill>
                  <a:srgbClr val="0000FF"/>
                </a:solidFill>
                <a:latin typeface="Times New Roman" pitchFamily="18" charset="0"/>
                <a:cs typeface="Times New Roman" pitchFamily="18" charset="0"/>
              </a:rPr>
              <a:t>Advantages</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Often, </a:t>
            </a:r>
            <a:r>
              <a:rPr lang="en-US" sz="2400" b="1" dirty="0" smtClean="0">
                <a:solidFill>
                  <a:srgbClr val="FF0000"/>
                </a:solidFill>
                <a:latin typeface="Times New Roman" pitchFamily="18" charset="0"/>
                <a:cs typeface="Times New Roman" pitchFamily="18" charset="0"/>
              </a:rPr>
              <a:t>the only option </a:t>
            </a:r>
            <a:r>
              <a:rPr lang="en-US" sz="2400" dirty="0" smtClean="0">
                <a:latin typeface="Times New Roman" pitchFamily="18" charset="0"/>
                <a:cs typeface="Times New Roman" pitchFamily="18" charset="0"/>
              </a:rPr>
              <a:t>for valid analysis of studies in </a:t>
            </a:r>
          </a:p>
          <a:p>
            <a:pPr>
              <a:buFont typeface="Arial" charset="0"/>
              <a:buNone/>
              <a:defRPr/>
            </a:pPr>
            <a:r>
              <a:rPr lang="en-US" sz="2400" dirty="0" smtClean="0">
                <a:latin typeface="Times New Roman" pitchFamily="18" charset="0"/>
                <a:cs typeface="Times New Roman" pitchFamily="18" charset="0"/>
              </a:rPr>
              <a:t>which there is measurement error or misclassification</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i="1" dirty="0" smtClean="0">
                <a:solidFill>
                  <a:srgbClr val="0000FF"/>
                </a:solidFill>
                <a:latin typeface="Times New Roman" pitchFamily="18" charset="0"/>
                <a:cs typeface="Times New Roman" pitchFamily="18" charset="0"/>
              </a:rPr>
              <a:t>Disadvantages</a:t>
            </a:r>
            <a:r>
              <a:rPr lang="en-US" sz="2400" i="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Transportability</a:t>
            </a:r>
            <a:r>
              <a:rPr lang="en-US" sz="2400" dirty="0" smtClean="0">
                <a:latin typeface="Times New Roman" pitchFamily="18" charset="0"/>
                <a:cs typeface="Times New Roman" pitchFamily="18" charset="0"/>
              </a:rPr>
              <a:t> may be questionable, and cannot</a:t>
            </a:r>
          </a:p>
          <a:p>
            <a:pPr>
              <a:buFont typeface="Arial" charset="0"/>
              <a:buNone/>
              <a:defRPr/>
            </a:pPr>
            <a:r>
              <a:rPr lang="en-US" sz="2400" dirty="0" smtClean="0">
                <a:latin typeface="Times New Roman" pitchFamily="18" charset="0"/>
                <a:cs typeface="Times New Roman" pitchFamily="18" charset="0"/>
              </a:rPr>
              <a:t>be empirically verified; </a:t>
            </a:r>
            <a:r>
              <a:rPr lang="en-US" sz="2400" b="1" dirty="0" smtClean="0">
                <a:solidFill>
                  <a:srgbClr val="FF0000"/>
                </a:solidFill>
                <a:latin typeface="Times New Roman" pitchFamily="18" charset="0"/>
                <a:cs typeface="Times New Roman" pitchFamily="18" charset="0"/>
              </a:rPr>
              <a:t>less efficient </a:t>
            </a:r>
            <a:r>
              <a:rPr lang="en-US" sz="2400" dirty="0" smtClean="0">
                <a:latin typeface="Times New Roman" pitchFamily="18" charset="0"/>
                <a:cs typeface="Times New Roman" pitchFamily="18" charset="0"/>
              </a:rPr>
              <a:t>than the main study/internal</a:t>
            </a:r>
          </a:p>
          <a:p>
            <a:pPr>
              <a:buFont typeface="Arial" charset="0"/>
              <a:buNone/>
              <a:defRPr/>
            </a:pPr>
            <a:r>
              <a:rPr lang="en-US" sz="2400" dirty="0" smtClean="0">
                <a:latin typeface="Times New Roman" pitchFamily="18" charset="0"/>
                <a:cs typeface="Times New Roman" pitchFamily="18" charset="0"/>
              </a:rPr>
              <a:t>validation study design</a:t>
            </a:r>
          </a:p>
          <a:p>
            <a:pPr>
              <a:buFont typeface="Arial" charset="0"/>
              <a:buNone/>
              <a:defRPr/>
            </a:pPr>
            <a:r>
              <a:rPr lang="en-US" sz="2400" dirty="0" smtClean="0">
                <a:latin typeface="Times New Roman" pitchFamily="18" charset="0"/>
                <a:cs typeface="Times New Roman" pitchFamily="18" charset="0"/>
              </a:rPr>
              <a:t> </a:t>
            </a: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6147"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614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6149"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7400"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0"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7401"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615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E63603EB-4BC9-4324-B705-AAA7B84AFF20}" type="slidenum">
              <a:rPr lang="zh-CN" altLang="en-US" sz="1200">
                <a:solidFill>
                  <a:srgbClr val="898989"/>
                </a:solidFill>
              </a:rPr>
              <a:pPr algn="r" eaLnBrk="1" hangingPunct="1">
                <a:spcBef>
                  <a:spcPct val="0"/>
                </a:spcBef>
                <a:buFontTx/>
                <a:buNone/>
              </a:pPr>
              <a:t>4</a:t>
            </a:fld>
            <a:endParaRPr lang="en-US" altLang="zh-CN" sz="1200">
              <a:solidFill>
                <a:srgbClr val="898989"/>
              </a:solidFill>
            </a:endParaRPr>
          </a:p>
        </p:txBody>
      </p:sp>
      <p:graphicFrame>
        <p:nvGraphicFramePr>
          <p:cNvPr id="6153" name="Object 5"/>
          <p:cNvGraphicFramePr>
            <a:graphicFrameLocks noChangeAspect="1"/>
          </p:cNvGraphicFramePr>
          <p:nvPr>
            <p:extLst>
              <p:ext uri="{D42A27DB-BD31-4B8C-83A1-F6EECF244321}">
                <p14:modId xmlns:p14="http://schemas.microsoft.com/office/powerpoint/2010/main" val="4035372523"/>
              </p:ext>
            </p:extLst>
          </p:nvPr>
        </p:nvGraphicFramePr>
        <p:xfrm>
          <a:off x="1676400" y="1371600"/>
          <a:ext cx="5305425" cy="1263650"/>
        </p:xfrm>
        <a:graphic>
          <a:graphicData uri="http://schemas.openxmlformats.org/presentationml/2006/ole">
            <mc:AlternateContent xmlns:mc="http://schemas.openxmlformats.org/markup-compatibility/2006">
              <mc:Choice xmlns:v="urn:schemas-microsoft-com:vml" Requires="v">
                <p:oleObj spid="_x0000_s97402" name="Equation" r:id="rId7" imgW="2400300" imgH="571500" progId="Equation.3">
                  <p:embed/>
                </p:oleObj>
              </mc:Choice>
              <mc:Fallback>
                <p:oleObj name="Equation" r:id="rId7" imgW="2400300" imgH="571500" progId="Equation.3">
                  <p:embed/>
                  <p:pic>
                    <p:nvPicPr>
                      <p:cNvPr id="0" name="Object 5"/>
                      <p:cNvPicPr>
                        <a:picLocks noChangeAspect="1" noChangeArrowheads="1"/>
                      </p:cNvPicPr>
                      <p:nvPr/>
                    </p:nvPicPr>
                    <p:blipFill>
                      <a:blip r:embed="rId8"/>
                      <a:srcRect/>
                      <a:stretch>
                        <a:fillRect/>
                      </a:stretch>
                    </p:blipFill>
                    <p:spPr bwMode="auto">
                      <a:xfrm>
                        <a:off x="1676400" y="1371600"/>
                        <a:ext cx="5305425" cy="126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152400" y="457200"/>
            <a:ext cx="8610600" cy="6172200"/>
          </a:xfrm>
        </p:spPr>
        <p:txBody>
          <a:bodyPr lIns="92075" tIns="46038" rIns="92075" bIns="46038"/>
          <a:lstStyle/>
          <a:p>
            <a:pPr>
              <a:buNone/>
              <a:defRPr/>
            </a:pPr>
            <a:r>
              <a:rPr lang="en-US" sz="2400" dirty="0" smtClean="0">
                <a:latin typeface="Times New Roman" pitchFamily="18" charset="0"/>
                <a:cs typeface="Times New Roman" pitchFamily="18" charset="0"/>
              </a:rPr>
              <a:t>A given </a:t>
            </a:r>
            <a:r>
              <a:rPr lang="en-US" sz="2400" dirty="0">
                <a:solidFill>
                  <a:srgbClr val="FF0000"/>
                </a:solidFill>
                <a:latin typeface="Times New Roman" pitchFamily="18" charset="0"/>
                <a:cs typeface="Times New Roman" pitchFamily="18" charset="0"/>
              </a:rPr>
              <a:t>power</a:t>
            </a:r>
            <a:r>
              <a:rPr lang="en-US" sz="2400" dirty="0">
                <a:latin typeface="Times New Roman" pitchFamily="18" charset="0"/>
                <a:cs typeface="Times New Roman" pitchFamily="18" charset="0"/>
              </a:rPr>
              <a:t> would not </a:t>
            </a:r>
            <a:r>
              <a:rPr lang="en-US" sz="2400" dirty="0">
                <a:solidFill>
                  <a:srgbClr val="FF0000"/>
                </a:solidFill>
                <a:latin typeface="Times New Roman" pitchFamily="18" charset="0"/>
                <a:cs typeface="Times New Roman" pitchFamily="18" charset="0"/>
              </a:rPr>
              <a:t>uniquely</a:t>
            </a:r>
            <a:r>
              <a:rPr lang="en-US" sz="2400" dirty="0">
                <a:latin typeface="Times New Roman" pitchFamily="18" charset="0"/>
                <a:cs typeface="Times New Roman" pitchFamily="18" charset="0"/>
              </a:rPr>
              <a:t> determine                . </a:t>
            </a:r>
            <a:r>
              <a:rPr lang="en-US" sz="2400" dirty="0" smtClean="0">
                <a:latin typeface="Times New Roman" pitchFamily="18" charset="0"/>
                <a:cs typeface="Times New Roman" pitchFamily="18" charset="0"/>
              </a:rPr>
              <a:t>An additional </a:t>
            </a:r>
            <a:r>
              <a:rPr lang="en-US" sz="2400" dirty="0" smtClean="0">
                <a:latin typeface="Times New Roman" pitchFamily="18" charset="0"/>
                <a:cs typeface="Times New Roman" pitchFamily="18" charset="0"/>
              </a:rPr>
              <a:t>criterion (</a:t>
            </a:r>
            <a:r>
              <a:rPr lang="en-US" sz="2400" dirty="0" smtClean="0">
                <a:solidFill>
                  <a:srgbClr val="FF0000"/>
                </a:solidFill>
                <a:latin typeface="Times New Roman" pitchFamily="18" charset="0"/>
                <a:cs typeface="Times New Roman" pitchFamily="18" charset="0"/>
              </a:rPr>
              <a:t>cost</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is needed.</a:t>
            </a:r>
          </a:p>
          <a:p>
            <a:pPr>
              <a:buNone/>
              <a:defRPr/>
            </a:pPr>
            <a:endParaRPr lang="en-US" sz="2400" dirty="0">
              <a:latin typeface="Times New Roman" pitchFamily="18" charset="0"/>
              <a:cs typeface="Times New Roman" pitchFamily="18" charset="0"/>
            </a:endParaRPr>
          </a:p>
          <a:p>
            <a:pPr>
              <a:buFont typeface="Arial" charset="0"/>
              <a:buNone/>
              <a:defRPr/>
            </a:pPr>
            <a:r>
              <a:rPr lang="en-US" sz="2400" dirty="0" smtClean="0">
                <a:solidFill>
                  <a:srgbClr val="0000FF"/>
                </a:solidFill>
                <a:latin typeface="Times New Roman" pitchFamily="18" charset="0"/>
                <a:cs typeface="Times New Roman" pitchFamily="18" charset="0"/>
              </a:rPr>
              <a:t>Two design problems </a:t>
            </a:r>
            <a:r>
              <a:rPr lang="en-US" sz="2400" dirty="0" smtClean="0">
                <a:latin typeface="Times New Roman" pitchFamily="18" charset="0"/>
                <a:cs typeface="Times New Roman" pitchFamily="18" charset="0"/>
              </a:rPr>
              <a:t>are most important</a:t>
            </a:r>
          </a:p>
          <a:p>
            <a:pPr>
              <a:buFont typeface="Arial" charset="0"/>
              <a:buNone/>
              <a:defRPr/>
            </a:pPr>
            <a:endParaRPr lang="en-US" sz="12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r>
              <a:rPr lang="en-US" sz="2400" dirty="0" smtClean="0">
                <a:solidFill>
                  <a:srgbClr val="0000FF"/>
                </a:solidFill>
                <a:latin typeface="Times New Roman" pitchFamily="18" charset="0"/>
                <a:cs typeface="Times New Roman" pitchFamily="18" charset="0"/>
              </a:rPr>
              <a:t>a</a:t>
            </a:r>
            <a:r>
              <a:rPr lang="en-US" sz="2400" dirty="0" smtClean="0">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Minimize the cost </a:t>
            </a:r>
            <a:r>
              <a:rPr lang="en-US" sz="2400" dirty="0" smtClean="0">
                <a:latin typeface="Times New Roman" pitchFamily="18" charset="0"/>
                <a:cs typeface="Times New Roman" pitchFamily="18" charset="0"/>
              </a:rPr>
              <a:t>of the study as a function of                 , </a:t>
            </a:r>
          </a:p>
          <a:p>
            <a:pPr>
              <a:buFont typeface="Arial" charset="0"/>
              <a:buNone/>
              <a:defRPr/>
            </a:pPr>
            <a:r>
              <a:rPr lang="en-US" sz="2400" dirty="0" smtClean="0">
                <a:latin typeface="Times New Roman" pitchFamily="18" charset="0"/>
                <a:cs typeface="Times New Roman" pitchFamily="18" charset="0"/>
              </a:rPr>
              <a:t>        subject to a</a:t>
            </a:r>
            <a:r>
              <a:rPr lang="en-US" sz="2400" b="1" dirty="0" smtClean="0">
                <a:solidFill>
                  <a:srgbClr val="FF0000"/>
                </a:solidFill>
                <a:latin typeface="Times New Roman" pitchFamily="18" charset="0"/>
                <a:cs typeface="Times New Roman" pitchFamily="18" charset="0"/>
              </a:rPr>
              <a:t> minimum acceptable pow</a:t>
            </a:r>
            <a:r>
              <a:rPr lang="en-US" sz="2400" dirty="0" smtClean="0">
                <a:solidFill>
                  <a:srgbClr val="FF0000"/>
                </a:solidFill>
                <a:latin typeface="Times New Roman" pitchFamily="18" charset="0"/>
                <a:cs typeface="Times New Roman" pitchFamily="18" charset="0"/>
              </a:rPr>
              <a:t>er </a:t>
            </a:r>
            <a:r>
              <a:rPr lang="en-US" sz="2400" dirty="0" smtClean="0">
                <a:latin typeface="Times New Roman" pitchFamily="18" charset="0"/>
                <a:cs typeface="Times New Roman" pitchFamily="18" charset="0"/>
              </a:rPr>
              <a:t>(     )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r>
              <a:rPr lang="en-US" sz="2400" dirty="0" smtClean="0">
                <a:solidFill>
                  <a:srgbClr val="0000FF"/>
                </a:solidFill>
                <a:latin typeface="Times New Roman" pitchFamily="18" charset="0"/>
                <a:cs typeface="Times New Roman" pitchFamily="18" charset="0"/>
              </a:rPr>
              <a:t> b</a:t>
            </a:r>
            <a:r>
              <a:rPr lang="en-US" sz="2400" dirty="0" smtClean="0">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Maximize the power </a:t>
            </a:r>
            <a:r>
              <a:rPr lang="en-US" sz="2400" dirty="0" smtClean="0">
                <a:latin typeface="Times New Roman" pitchFamily="18" charset="0"/>
                <a:cs typeface="Times New Roman" pitchFamily="18" charset="0"/>
              </a:rPr>
              <a:t>of the study as a function of                 , </a:t>
            </a:r>
          </a:p>
          <a:p>
            <a:pPr>
              <a:buFont typeface="Arial" charset="0"/>
              <a:buNone/>
              <a:defRPr/>
            </a:pPr>
            <a:r>
              <a:rPr lang="en-US" sz="2400" dirty="0" smtClean="0">
                <a:latin typeface="Times New Roman" pitchFamily="18" charset="0"/>
                <a:cs typeface="Times New Roman" pitchFamily="18" charset="0"/>
              </a:rPr>
              <a:t>        subject to a</a:t>
            </a:r>
            <a:r>
              <a:rPr lang="en-US" sz="2400" b="1" dirty="0" smtClean="0">
                <a:latin typeface="Times New Roman" pitchFamily="18" charset="0"/>
                <a:cs typeface="Times New Roman" pitchFamily="18" charset="0"/>
              </a:rPr>
              <a:t> </a:t>
            </a:r>
            <a:r>
              <a:rPr lang="en-US" sz="2400" b="1" dirty="0" smtClean="0">
                <a:solidFill>
                  <a:srgbClr val="FF0000"/>
                </a:solidFill>
                <a:latin typeface="Times New Roman" pitchFamily="18" charset="0"/>
                <a:cs typeface="Times New Roman" pitchFamily="18" charset="0"/>
              </a:rPr>
              <a:t>fixed total cost</a:t>
            </a:r>
            <a:r>
              <a:rPr lang="en-US" sz="2400" dirty="0" smtClean="0">
                <a:solidFill>
                  <a:srgbClr val="FF0000"/>
                </a:solidFill>
                <a:latin typeface="Times New Roman" pitchFamily="18" charset="0"/>
                <a:cs typeface="Times New Roman" pitchFamily="18" charset="0"/>
              </a:rPr>
              <a:t>.</a:t>
            </a:r>
          </a:p>
          <a:p>
            <a:pPr>
              <a:buFont typeface="Arial" charset="0"/>
              <a:buNone/>
              <a:defRPr/>
            </a:pPr>
            <a:r>
              <a:rPr lang="en-US" sz="2400" dirty="0" smtClean="0">
                <a:solidFill>
                  <a:srgbClr val="FF0000"/>
                </a:solidFill>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 A closely related, but less useful, problem is </a:t>
            </a:r>
          </a:p>
          <a:p>
            <a:pPr>
              <a:buFont typeface="Arial" charset="0"/>
              <a:buNone/>
              <a:defRPr/>
            </a:pPr>
            <a:endParaRPr lang="en-US" sz="10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r>
              <a:rPr lang="en-US" sz="2400" dirty="0" smtClean="0">
                <a:solidFill>
                  <a:srgbClr val="0000FF"/>
                </a:solidFill>
                <a:latin typeface="Times New Roman" pitchFamily="18" charset="0"/>
                <a:cs typeface="Times New Roman" pitchFamily="18" charset="0"/>
              </a:rPr>
              <a:t>c</a:t>
            </a:r>
            <a:r>
              <a:rPr lang="en-US" sz="2400" dirty="0" smtClean="0">
                <a:latin typeface="Times New Roman" pitchFamily="18" charset="0"/>
                <a:cs typeface="Times New Roman" pitchFamily="18" charset="0"/>
              </a:rPr>
              <a:t>. </a:t>
            </a:r>
            <a:r>
              <a:rPr lang="en-US" sz="2400" dirty="0" smtClean="0">
                <a:solidFill>
                  <a:srgbClr val="FF3300"/>
                </a:solidFill>
                <a:latin typeface="Times New Roman" pitchFamily="18" charset="0"/>
                <a:cs typeface="Times New Roman" pitchFamily="18" charset="0"/>
              </a:rPr>
              <a:t>Minimize</a:t>
            </a:r>
            <a:r>
              <a:rPr lang="en-US" sz="2400" dirty="0" smtClean="0">
                <a:latin typeface="Times New Roman" pitchFamily="18" charset="0"/>
                <a:cs typeface="Times New Roman" pitchFamily="18" charset="0"/>
              </a:rPr>
              <a:t>                 subject to a </a:t>
            </a:r>
            <a:r>
              <a:rPr lang="en-US" sz="2400" dirty="0" smtClean="0">
                <a:solidFill>
                  <a:srgbClr val="FF3300"/>
                </a:solidFill>
                <a:latin typeface="Times New Roman" pitchFamily="18" charset="0"/>
                <a:cs typeface="Times New Roman" pitchFamily="18" charset="0"/>
              </a:rPr>
              <a:t>fixed total cost</a:t>
            </a:r>
            <a:r>
              <a:rPr lang="en-US" sz="24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        (For a case-control study,               is substituted with                )</a:t>
            </a:r>
          </a:p>
          <a:p>
            <a:pPr>
              <a:buFont typeface="Arial" charset="0"/>
              <a:buNone/>
              <a:defRPr/>
            </a:pPr>
            <a:r>
              <a:rPr lang="en-US" sz="2200" dirty="0" smtClean="0">
                <a:latin typeface="Times New Roman" pitchFamily="18" charset="0"/>
                <a:cs typeface="Times New Roman" pitchFamily="18" charset="0"/>
              </a:rPr>
              <a:t> </a:t>
            </a: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7171" name="AutoShape 3"/>
          <p:cNvCxnSpPr>
            <a:cxnSpLocks noChangeShapeType="1"/>
            <a:stCxn id="28676" idx="3"/>
            <a:endCxn id="28676" idx="3"/>
          </p:cNvCxnSpPr>
          <p:nvPr/>
        </p:nvCxnSpPr>
        <p:spPr bwMode="auto">
          <a:xfrm>
            <a:off x="8763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717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7173"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8556"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4"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8557"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717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A72F671D-67E8-41FE-8570-8DA62472B94B}" type="slidenum">
              <a:rPr lang="zh-CN" altLang="en-US" sz="1200">
                <a:solidFill>
                  <a:srgbClr val="898989"/>
                </a:solidFill>
              </a:rPr>
              <a:pPr algn="r" eaLnBrk="1" hangingPunct="1">
                <a:spcBef>
                  <a:spcPct val="0"/>
                </a:spcBef>
                <a:buFontTx/>
                <a:buNone/>
              </a:pPr>
              <a:t>5</a:t>
            </a:fld>
            <a:endParaRPr lang="en-US" altLang="zh-CN" sz="1200">
              <a:solidFill>
                <a:srgbClr val="898989"/>
              </a:solidFill>
            </a:endParaRPr>
          </a:p>
        </p:txBody>
      </p:sp>
      <p:graphicFrame>
        <p:nvGraphicFramePr>
          <p:cNvPr id="7177" name="Object 5"/>
          <p:cNvGraphicFramePr>
            <a:graphicFrameLocks noChangeAspect="1"/>
          </p:cNvGraphicFramePr>
          <p:nvPr>
            <p:extLst>
              <p:ext uri="{D42A27DB-BD31-4B8C-83A1-F6EECF244321}">
                <p14:modId xmlns:p14="http://schemas.microsoft.com/office/powerpoint/2010/main" val="996196095"/>
              </p:ext>
            </p:extLst>
          </p:nvPr>
        </p:nvGraphicFramePr>
        <p:xfrm>
          <a:off x="5894672" y="512240"/>
          <a:ext cx="1155700" cy="457200"/>
        </p:xfrm>
        <a:graphic>
          <a:graphicData uri="http://schemas.openxmlformats.org/presentationml/2006/ole">
            <mc:AlternateContent xmlns:mc="http://schemas.openxmlformats.org/markup-compatibility/2006">
              <mc:Choice xmlns:v="urn:schemas-microsoft-com:vml" Requires="v">
                <p:oleObj spid="_x0000_s108558" name="Equation" r:id="rId7" imgW="609336" imgH="241195" progId="Equation.3">
                  <p:embed/>
                </p:oleObj>
              </mc:Choice>
              <mc:Fallback>
                <p:oleObj name="Equation" r:id="rId7" imgW="609336" imgH="24119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94672" y="512240"/>
                        <a:ext cx="115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8" name="Object 6"/>
          <p:cNvGraphicFramePr>
            <a:graphicFrameLocks noChangeAspect="1"/>
          </p:cNvGraphicFramePr>
          <p:nvPr>
            <p:extLst>
              <p:ext uri="{D42A27DB-BD31-4B8C-83A1-F6EECF244321}">
                <p14:modId xmlns:p14="http://schemas.microsoft.com/office/powerpoint/2010/main" val="3846314424"/>
              </p:ext>
            </p:extLst>
          </p:nvPr>
        </p:nvGraphicFramePr>
        <p:xfrm>
          <a:off x="6089490" y="2900975"/>
          <a:ext cx="412750" cy="381000"/>
        </p:xfrm>
        <a:graphic>
          <a:graphicData uri="http://schemas.openxmlformats.org/presentationml/2006/ole">
            <mc:AlternateContent xmlns:mc="http://schemas.openxmlformats.org/markup-compatibility/2006">
              <mc:Choice xmlns:v="urn:schemas-microsoft-com:vml" Requires="v">
                <p:oleObj spid="_x0000_s108559" name="Equation" r:id="rId9" imgW="164957" imgH="152268" progId="Equation.DSMT4">
                  <p:embed/>
                </p:oleObj>
              </mc:Choice>
              <mc:Fallback>
                <p:oleObj name="Equation" r:id="rId9" imgW="164957" imgH="152268"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89490" y="2900975"/>
                        <a:ext cx="4127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9" name="Object 9"/>
          <p:cNvGraphicFramePr>
            <a:graphicFrameLocks noChangeAspect="1"/>
          </p:cNvGraphicFramePr>
          <p:nvPr>
            <p:extLst>
              <p:ext uri="{D42A27DB-BD31-4B8C-83A1-F6EECF244321}">
                <p14:modId xmlns:p14="http://schemas.microsoft.com/office/powerpoint/2010/main" val="3550605595"/>
              </p:ext>
            </p:extLst>
          </p:nvPr>
        </p:nvGraphicFramePr>
        <p:xfrm>
          <a:off x="2154583" y="5535703"/>
          <a:ext cx="1089025" cy="511175"/>
        </p:xfrm>
        <a:graphic>
          <a:graphicData uri="http://schemas.openxmlformats.org/presentationml/2006/ole">
            <mc:AlternateContent xmlns:mc="http://schemas.openxmlformats.org/markup-compatibility/2006">
              <mc:Choice xmlns:v="urn:schemas-microsoft-com:vml" Requires="v">
                <p:oleObj spid="_x0000_s108560" name="Equation" r:id="rId11" imgW="647700" imgH="304800" progId="Equation.3">
                  <p:embed/>
                </p:oleObj>
              </mc:Choice>
              <mc:Fallback>
                <p:oleObj name="Equation" r:id="rId11" imgW="647700" imgH="304800" progId="Equation.3">
                  <p:embed/>
                  <p:pic>
                    <p:nvPicPr>
                      <p:cNvPr id="0" name="Object 9"/>
                      <p:cNvPicPr>
                        <a:picLocks noChangeAspect="1" noChangeArrowheads="1"/>
                      </p:cNvPicPr>
                      <p:nvPr/>
                    </p:nvPicPr>
                    <p:blipFill>
                      <a:blip r:embed="rId12"/>
                      <a:srcRect/>
                      <a:stretch>
                        <a:fillRect/>
                      </a:stretch>
                    </p:blipFill>
                    <p:spPr bwMode="auto">
                      <a:xfrm>
                        <a:off x="2154583" y="5535703"/>
                        <a:ext cx="108902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0" name="Object 11"/>
          <p:cNvGraphicFramePr>
            <a:graphicFrameLocks noChangeAspect="1"/>
          </p:cNvGraphicFramePr>
          <p:nvPr>
            <p:extLst>
              <p:ext uri="{D42A27DB-BD31-4B8C-83A1-F6EECF244321}">
                <p14:modId xmlns:p14="http://schemas.microsoft.com/office/powerpoint/2010/main" val="3679658736"/>
              </p:ext>
            </p:extLst>
          </p:nvPr>
        </p:nvGraphicFramePr>
        <p:xfrm>
          <a:off x="7423841" y="5995987"/>
          <a:ext cx="1177925" cy="542925"/>
        </p:xfrm>
        <a:graphic>
          <a:graphicData uri="http://schemas.openxmlformats.org/presentationml/2006/ole">
            <mc:AlternateContent xmlns:mc="http://schemas.openxmlformats.org/markup-compatibility/2006">
              <mc:Choice xmlns:v="urn:schemas-microsoft-com:vml" Requires="v">
                <p:oleObj spid="_x0000_s108561" name="Equation" r:id="rId13" imgW="660400" imgH="304800" progId="Equation.3">
                  <p:embed/>
                </p:oleObj>
              </mc:Choice>
              <mc:Fallback>
                <p:oleObj name="Equation" r:id="rId13" imgW="660400" imgH="304800" progId="Equation.3">
                  <p:embed/>
                  <p:pic>
                    <p:nvPicPr>
                      <p:cNvPr id="0" name="Object 11"/>
                      <p:cNvPicPr>
                        <a:picLocks noChangeAspect="1" noChangeArrowheads="1"/>
                      </p:cNvPicPr>
                      <p:nvPr/>
                    </p:nvPicPr>
                    <p:blipFill>
                      <a:blip r:embed="rId14"/>
                      <a:srcRect/>
                      <a:stretch>
                        <a:fillRect/>
                      </a:stretch>
                    </p:blipFill>
                    <p:spPr bwMode="auto">
                      <a:xfrm>
                        <a:off x="7423841" y="5995987"/>
                        <a:ext cx="117792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1" name="Object 12"/>
          <p:cNvGraphicFramePr>
            <a:graphicFrameLocks noChangeAspect="1"/>
          </p:cNvGraphicFramePr>
          <p:nvPr>
            <p:extLst>
              <p:ext uri="{D42A27DB-BD31-4B8C-83A1-F6EECF244321}">
                <p14:modId xmlns:p14="http://schemas.microsoft.com/office/powerpoint/2010/main" val="2840777757"/>
              </p:ext>
            </p:extLst>
          </p:nvPr>
        </p:nvGraphicFramePr>
        <p:xfrm>
          <a:off x="4086225" y="6081712"/>
          <a:ext cx="971550" cy="457200"/>
        </p:xfrm>
        <a:graphic>
          <a:graphicData uri="http://schemas.openxmlformats.org/presentationml/2006/ole">
            <mc:AlternateContent xmlns:mc="http://schemas.openxmlformats.org/markup-compatibility/2006">
              <mc:Choice xmlns:v="urn:schemas-microsoft-com:vml" Requires="v">
                <p:oleObj spid="_x0000_s108562" name="Equation" r:id="rId15" imgW="647700" imgH="304800" progId="Equation.3">
                  <p:embed/>
                </p:oleObj>
              </mc:Choice>
              <mc:Fallback>
                <p:oleObj name="Equation" r:id="rId15" imgW="647700" imgH="304800" progId="Equation.3">
                  <p:embed/>
                  <p:pic>
                    <p:nvPicPr>
                      <p:cNvPr id="0" name="Object 12"/>
                      <p:cNvPicPr>
                        <a:picLocks noChangeAspect="1" noChangeArrowheads="1"/>
                      </p:cNvPicPr>
                      <p:nvPr/>
                    </p:nvPicPr>
                    <p:blipFill>
                      <a:blip r:embed="rId16"/>
                      <a:srcRect/>
                      <a:stretch>
                        <a:fillRect/>
                      </a:stretch>
                    </p:blipFill>
                    <p:spPr bwMode="auto">
                      <a:xfrm>
                        <a:off x="4086225" y="6081712"/>
                        <a:ext cx="971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2" name="Object 14"/>
          <p:cNvGraphicFramePr>
            <a:graphicFrameLocks noChangeAspect="1"/>
          </p:cNvGraphicFramePr>
          <p:nvPr>
            <p:extLst>
              <p:ext uri="{D42A27DB-BD31-4B8C-83A1-F6EECF244321}">
                <p14:modId xmlns:p14="http://schemas.microsoft.com/office/powerpoint/2010/main" val="1049037262"/>
              </p:ext>
            </p:extLst>
          </p:nvPr>
        </p:nvGraphicFramePr>
        <p:xfrm>
          <a:off x="7106978" y="3699329"/>
          <a:ext cx="1155700" cy="457200"/>
        </p:xfrm>
        <a:graphic>
          <a:graphicData uri="http://schemas.openxmlformats.org/presentationml/2006/ole">
            <mc:AlternateContent xmlns:mc="http://schemas.openxmlformats.org/markup-compatibility/2006">
              <mc:Choice xmlns:v="urn:schemas-microsoft-com:vml" Requires="v">
                <p:oleObj spid="_x0000_s108563" name="Equation" r:id="rId17" imgW="609336" imgH="241195" progId="Equation.DSMT4">
                  <p:embed/>
                </p:oleObj>
              </mc:Choice>
              <mc:Fallback>
                <p:oleObj name="Equation" r:id="rId17" imgW="609336" imgH="241195"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6978" y="3699329"/>
                        <a:ext cx="115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5"/>
          <p:cNvGraphicFramePr>
            <a:graphicFrameLocks noChangeAspect="1"/>
          </p:cNvGraphicFramePr>
          <p:nvPr>
            <p:extLst>
              <p:ext uri="{D42A27DB-BD31-4B8C-83A1-F6EECF244321}">
                <p14:modId xmlns:p14="http://schemas.microsoft.com/office/powerpoint/2010/main" val="3495935599"/>
              </p:ext>
            </p:extLst>
          </p:nvPr>
        </p:nvGraphicFramePr>
        <p:xfrm>
          <a:off x="6857104" y="2400300"/>
          <a:ext cx="1155700" cy="457200"/>
        </p:xfrm>
        <a:graphic>
          <a:graphicData uri="http://schemas.openxmlformats.org/presentationml/2006/ole">
            <mc:AlternateContent xmlns:mc="http://schemas.openxmlformats.org/markup-compatibility/2006">
              <mc:Choice xmlns:v="urn:schemas-microsoft-com:vml" Requires="v">
                <p:oleObj spid="_x0000_s108564" name="Equation" r:id="rId18" imgW="609336" imgH="241195" progId="Equation.3">
                  <p:embed/>
                </p:oleObj>
              </mc:Choice>
              <mc:Fallback>
                <p:oleObj name="Equation" r:id="rId18" imgW="609336" imgH="24119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7104" y="2400300"/>
                        <a:ext cx="115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6</a:t>
            </a:fld>
            <a:endParaRPr lang="en-US" altLang="zh-CN"/>
          </a:p>
        </p:txBody>
      </p:sp>
      <p:graphicFrame>
        <p:nvGraphicFramePr>
          <p:cNvPr id="3" name="Table 2"/>
          <p:cNvGraphicFramePr>
            <a:graphicFrameLocks noGrp="1"/>
          </p:cNvGraphicFramePr>
          <p:nvPr>
            <p:extLst>
              <p:ext uri="{D42A27DB-BD31-4B8C-83A1-F6EECF244321}">
                <p14:modId xmlns:p14="http://schemas.microsoft.com/office/powerpoint/2010/main" val="2489033367"/>
              </p:ext>
            </p:extLst>
          </p:nvPr>
        </p:nvGraphicFramePr>
        <p:xfrm>
          <a:off x="152400" y="381002"/>
          <a:ext cx="8991600" cy="6522718"/>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xmlns="" val="20000"/>
                    </a:ext>
                  </a:extLst>
                </a:gridCol>
                <a:gridCol w="147828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600200">
                  <a:extLst>
                    <a:ext uri="{9D8B030D-6E8A-4147-A177-3AD203B41FA5}">
                      <a16:colId xmlns:a16="http://schemas.microsoft.com/office/drawing/2014/main" xmlns="" val="20003"/>
                    </a:ext>
                  </a:extLst>
                </a:gridCol>
                <a:gridCol w="2743200">
                  <a:extLst>
                    <a:ext uri="{9D8B030D-6E8A-4147-A177-3AD203B41FA5}">
                      <a16:colId xmlns:a16="http://schemas.microsoft.com/office/drawing/2014/main" xmlns="" val="20004"/>
                    </a:ext>
                  </a:extLst>
                </a:gridCol>
              </a:tblGrid>
              <a:tr h="1008653">
                <a:tc>
                  <a:txBody>
                    <a:bodyPr/>
                    <a:lstStyle/>
                    <a:p>
                      <a:endParaRPr lang="en-US" dirty="0"/>
                    </a:p>
                  </a:txBody>
                  <a:tcPr/>
                </a:tc>
                <a:tc>
                  <a:txBody>
                    <a:bodyPr/>
                    <a:lstStyle/>
                    <a:p>
                      <a:r>
                        <a:rPr lang="en-US" dirty="0" smtClean="0"/>
                        <a:t>Main Study Data</a:t>
                      </a:r>
                      <a:endParaRPr lang="en-US" dirty="0"/>
                    </a:p>
                  </a:txBody>
                  <a:tcPr/>
                </a:tc>
                <a:tc>
                  <a:txBody>
                    <a:bodyPr/>
                    <a:lstStyle/>
                    <a:p>
                      <a:r>
                        <a:rPr lang="en-US" dirty="0" smtClean="0"/>
                        <a:t>Method  for dealing with ME</a:t>
                      </a:r>
                      <a:endParaRPr lang="en-US" dirty="0"/>
                    </a:p>
                  </a:txBody>
                  <a:tcPr/>
                </a:tc>
                <a:tc>
                  <a:txBody>
                    <a:bodyPr/>
                    <a:lstStyle/>
                    <a:p>
                      <a:r>
                        <a:rPr lang="en-US" dirty="0" smtClean="0"/>
                        <a:t>Measurement</a:t>
                      </a:r>
                      <a:r>
                        <a:rPr lang="en-US" baseline="0" dirty="0" smtClean="0"/>
                        <a:t> error  assumption</a:t>
                      </a:r>
                      <a:endParaRPr lang="en-US" dirty="0"/>
                    </a:p>
                  </a:txBody>
                  <a:tcPr/>
                </a:tc>
                <a:tc>
                  <a:txBody>
                    <a:bodyPr/>
                    <a:lstStyle/>
                    <a:p>
                      <a:r>
                        <a:rPr lang="en-US" dirty="0" smtClean="0"/>
                        <a:t>Criteria of optimal design</a:t>
                      </a:r>
                      <a:endParaRPr lang="en-US" dirty="0"/>
                    </a:p>
                  </a:txBody>
                  <a:tcPr/>
                </a:tc>
                <a:extLst>
                  <a:ext uri="{0D108BD9-81ED-4DB2-BD59-A6C34878D82A}">
                    <a16:rowId xmlns:a16="http://schemas.microsoft.com/office/drawing/2014/main" xmlns="" val="10000"/>
                  </a:ext>
                </a:extLst>
              </a:tr>
              <a:tr h="1008653">
                <a:tc>
                  <a:txBody>
                    <a:bodyPr/>
                    <a:lstStyle/>
                    <a:p>
                      <a:r>
                        <a:rPr lang="en-US" sz="1800" b="1" dirty="0" smtClean="0">
                          <a:solidFill>
                            <a:srgbClr val="FF0000"/>
                          </a:solidFill>
                          <a:latin typeface="Times New Roman" pitchFamily="18" charset="0"/>
                          <a:cs typeface="Times New Roman" pitchFamily="18" charset="0"/>
                        </a:rPr>
                        <a:t>Greenland (1988)</a:t>
                      </a:r>
                      <a:endParaRPr lang="en-US" b="1" dirty="0">
                        <a:solidFill>
                          <a:srgbClr val="FF0000"/>
                        </a:solidFill>
                      </a:endParaRPr>
                    </a:p>
                  </a:txBody>
                  <a:tcPr/>
                </a:tc>
                <a:tc>
                  <a:txBody>
                    <a:bodyPr/>
                    <a:lstStyle/>
                    <a:p>
                      <a:r>
                        <a:rPr lang="en-US" b="0" dirty="0" smtClean="0">
                          <a:solidFill>
                            <a:srgbClr val="FF0000"/>
                          </a:solidFill>
                          <a:latin typeface="+mn-lt"/>
                        </a:rPr>
                        <a:t>2X2</a:t>
                      </a:r>
                      <a:r>
                        <a:rPr lang="en-US" b="0" baseline="0" dirty="0" smtClean="0">
                          <a:solidFill>
                            <a:srgbClr val="FF0000"/>
                          </a:solidFill>
                          <a:latin typeface="+mn-lt"/>
                        </a:rPr>
                        <a:t> table</a:t>
                      </a:r>
                      <a:endParaRPr lang="en-US" b="0" dirty="0">
                        <a:solidFill>
                          <a:srgbClr val="FF0000"/>
                        </a:solidFill>
                        <a:latin typeface="+mn-lt"/>
                      </a:endParaRPr>
                    </a:p>
                  </a:txBody>
                  <a:tcPr/>
                </a:tc>
                <a:tc>
                  <a:txBody>
                    <a:bodyPr/>
                    <a:lstStyle/>
                    <a:p>
                      <a:r>
                        <a:rPr lang="en-US" sz="1800" b="0" dirty="0" smtClean="0">
                          <a:solidFill>
                            <a:srgbClr val="FF0000"/>
                          </a:solidFill>
                          <a:latin typeface="+mn-lt"/>
                          <a:cs typeface="Times New Roman" pitchFamily="18" charset="0"/>
                        </a:rPr>
                        <a:t>Matrix method</a:t>
                      </a:r>
                      <a:endParaRPr lang="en-US" b="0" dirty="0">
                        <a:solidFill>
                          <a:srgbClr val="FF0000"/>
                        </a:solidFill>
                        <a:latin typeface="+mn-lt"/>
                      </a:endParaRPr>
                    </a:p>
                  </a:txBody>
                  <a:tcPr/>
                </a:tc>
                <a:tc>
                  <a:txBody>
                    <a:bodyPr/>
                    <a:lstStyle/>
                    <a:p>
                      <a:r>
                        <a:rPr lang="en-US" b="0" dirty="0" smtClean="0">
                          <a:solidFill>
                            <a:srgbClr val="FF0000"/>
                          </a:solidFill>
                          <a:latin typeface="+mn-lt"/>
                        </a:rPr>
                        <a:t>Differential and non-differential</a:t>
                      </a:r>
                      <a:endParaRPr lang="en-US" b="0" dirty="0">
                        <a:solidFill>
                          <a:srgbClr val="FF0000"/>
                        </a:solidFill>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solidFill>
                            <a:srgbClr val="FF0000"/>
                          </a:solidFill>
                          <a:latin typeface="+mn-lt"/>
                          <a:cs typeface="Times New Roman" pitchFamily="18" charset="0"/>
                        </a:rPr>
                        <a:t>Minimum variance subject to cost considerations</a:t>
                      </a:r>
                      <a:endParaRPr lang="en-US" b="0" dirty="0">
                        <a:solidFill>
                          <a:srgbClr val="FF0000"/>
                        </a:solidFill>
                        <a:latin typeface="+mn-lt"/>
                      </a:endParaRPr>
                    </a:p>
                  </a:txBody>
                  <a:tcPr/>
                </a:tc>
                <a:extLst>
                  <a:ext uri="{0D108BD9-81ED-4DB2-BD59-A6C34878D82A}">
                    <a16:rowId xmlns:a16="http://schemas.microsoft.com/office/drawing/2014/main" xmlns="" val="10001"/>
                  </a:ext>
                </a:extLst>
              </a:tr>
              <a:tr h="1106892">
                <a:tc>
                  <a:txBody>
                    <a:bodyPr/>
                    <a:lstStyle/>
                    <a:p>
                      <a:r>
                        <a:rPr lang="en-US" sz="1800" b="1" dirty="0" smtClean="0">
                          <a:latin typeface="Times New Roman" pitchFamily="18" charset="0"/>
                          <a:cs typeface="Times New Roman" pitchFamily="18" charset="0"/>
                        </a:rPr>
                        <a:t>Reilly (1996)</a:t>
                      </a:r>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2X2</a:t>
                      </a:r>
                      <a:r>
                        <a:rPr lang="en-US" baseline="0" dirty="0" smtClean="0">
                          <a:solidFill>
                            <a:schemeClr val="tx1"/>
                          </a:solidFill>
                          <a:latin typeface="+mn-lt"/>
                        </a:rPr>
                        <a:t> table (and categorical exposure)</a:t>
                      </a:r>
                      <a:endParaRPr lang="en-US" dirty="0">
                        <a:latin typeface="+mn-lt"/>
                      </a:endParaRPr>
                    </a:p>
                  </a:txBody>
                  <a:tcPr/>
                </a:tc>
                <a:tc>
                  <a:txBody>
                    <a:bodyPr/>
                    <a:lstStyle/>
                    <a:p>
                      <a:r>
                        <a:rPr lang="en-US" dirty="0" smtClean="0">
                          <a:latin typeface="+mn-lt"/>
                        </a:rPr>
                        <a:t>MLE</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Differential and non-differential</a:t>
                      </a:r>
                    </a:p>
                    <a:p>
                      <a:endParaRPr lang="en-US" dirty="0">
                        <a:latin typeface="+mn-lt"/>
                      </a:endParaRPr>
                    </a:p>
                  </a:txBody>
                  <a:tcPr/>
                </a:tc>
                <a:tc>
                  <a:txBody>
                    <a:bodyPr/>
                    <a:lstStyle/>
                    <a:p>
                      <a:r>
                        <a:rPr lang="en-US" sz="1800" b="0" dirty="0" smtClean="0">
                          <a:solidFill>
                            <a:schemeClr val="tx1"/>
                          </a:solidFill>
                          <a:latin typeface="+mn-lt"/>
                          <a:cs typeface="Times New Roman" pitchFamily="18" charset="0"/>
                        </a:rPr>
                        <a:t>Maximize precision for a fixed total budget or minimize the study cost given a desired precision</a:t>
                      </a:r>
                      <a:endParaRPr lang="en-US" b="0" dirty="0">
                        <a:solidFill>
                          <a:schemeClr val="tx1"/>
                        </a:solidFill>
                        <a:latin typeface="+mn-lt"/>
                      </a:endParaRPr>
                    </a:p>
                  </a:txBody>
                  <a:tcPr/>
                </a:tc>
                <a:extLst>
                  <a:ext uri="{0D108BD9-81ED-4DB2-BD59-A6C34878D82A}">
                    <a16:rowId xmlns:a16="http://schemas.microsoft.com/office/drawing/2014/main" xmlns="" val="10002"/>
                  </a:ext>
                </a:extLst>
              </a:tr>
              <a:tr h="939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err="1" smtClean="0">
                          <a:latin typeface="Times New Roman" pitchFamily="18" charset="0"/>
                          <a:cs typeface="Times New Roman" pitchFamily="18" charset="0"/>
                        </a:rPr>
                        <a:t>Buonaccorsi</a:t>
                      </a:r>
                      <a:r>
                        <a:rPr lang="en-US" sz="1800" b="1" dirty="0" smtClean="0">
                          <a:latin typeface="Times New Roman" pitchFamily="18" charset="0"/>
                          <a:cs typeface="Times New Roman" pitchFamily="18" charset="0"/>
                        </a:rPr>
                        <a:t> (1990)</a:t>
                      </a:r>
                    </a:p>
                    <a:p>
                      <a:endParaRPr lang="en-US" b="1" dirty="0"/>
                    </a:p>
                  </a:txBody>
                  <a:tcPr/>
                </a:tc>
                <a:tc>
                  <a:txBody>
                    <a:bodyPr/>
                    <a:lstStyle/>
                    <a:p>
                      <a:r>
                        <a:rPr lang="en-US" dirty="0" smtClean="0">
                          <a:latin typeface="+mn-lt"/>
                        </a:rPr>
                        <a:t>Binary outcome,</a:t>
                      </a:r>
                      <a:r>
                        <a:rPr lang="en-US" baseline="0" dirty="0" smtClean="0">
                          <a:latin typeface="+mn-lt"/>
                        </a:rPr>
                        <a:t> continuous E</a:t>
                      </a:r>
                      <a:endParaRPr lang="en-US" dirty="0" smtClean="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txBody>
                  <a:tcPr/>
                </a:tc>
                <a:tc>
                  <a:txBody>
                    <a:bodyPr/>
                    <a:lstStyle/>
                    <a:p>
                      <a:pPr>
                        <a:buFont typeface="Arial" charset="0"/>
                        <a:buNone/>
                        <a:defRPr/>
                      </a:pPr>
                      <a:r>
                        <a:rPr lang="en-US" sz="1800" baseline="0" dirty="0" smtClean="0">
                          <a:latin typeface="+mn-lt"/>
                          <a:cs typeface="Times New Roman" pitchFamily="18" charset="0"/>
                        </a:rPr>
                        <a:t>                </a:t>
                      </a:r>
                      <a:r>
                        <a:rPr lang="en-US" sz="1800" dirty="0" smtClean="0">
                          <a:latin typeface="+mn-lt"/>
                          <a:cs typeface="Times New Roman" pitchFamily="18" charset="0"/>
                        </a:rPr>
                        <a:t>jointly </a:t>
                      </a:r>
                    </a:p>
                    <a:p>
                      <a:pPr>
                        <a:buFont typeface="Arial" charset="0"/>
                        <a:buNone/>
                        <a:defRPr/>
                      </a:pPr>
                      <a:r>
                        <a:rPr lang="en-US" sz="1800" dirty="0" smtClean="0">
                          <a:latin typeface="+mn-lt"/>
                          <a:cs typeface="Times New Roman" pitchFamily="18" charset="0"/>
                        </a:rPr>
                        <a:t>normal and homoscedastic</a:t>
                      </a:r>
                      <a:endParaRPr lang="en-US" dirty="0">
                        <a:latin typeface="+mn-lt"/>
                      </a:endParaRPr>
                    </a:p>
                  </a:txBody>
                  <a:tcPr/>
                </a:tc>
                <a:tc>
                  <a:txBody>
                    <a:bodyPr/>
                    <a:lstStyle/>
                    <a:p>
                      <a:r>
                        <a:rPr lang="en-US" sz="1800" b="0" dirty="0" smtClean="0">
                          <a:solidFill>
                            <a:schemeClr val="tx1"/>
                          </a:solidFill>
                          <a:latin typeface="+mn-lt"/>
                          <a:cs typeface="Times New Roman" pitchFamily="18" charset="0"/>
                        </a:rPr>
                        <a:t>Minimize the variance subject to cost considerations</a:t>
                      </a:r>
                      <a:endParaRPr lang="en-US" b="0" dirty="0">
                        <a:solidFill>
                          <a:schemeClr val="tx1"/>
                        </a:solidFill>
                        <a:latin typeface="+mn-lt"/>
                      </a:endParaRPr>
                    </a:p>
                  </a:txBody>
                  <a:tcPr/>
                </a:tc>
                <a:extLst>
                  <a:ext uri="{0D108BD9-81ED-4DB2-BD59-A6C34878D82A}">
                    <a16:rowId xmlns:a16="http://schemas.microsoft.com/office/drawing/2014/main" xmlns="" val="10003"/>
                  </a:ext>
                </a:extLst>
              </a:tr>
              <a:tr h="11081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itchFamily="18" charset="0"/>
                          <a:cs typeface="Times New Roman" pitchFamily="18" charset="0"/>
                        </a:rPr>
                        <a:t>Spiegelman and Gray (1991)</a:t>
                      </a:r>
                    </a:p>
                    <a:p>
                      <a:endParaRPr lang="en-US"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Binary outcome,</a:t>
                      </a:r>
                      <a:r>
                        <a:rPr lang="en-US" baseline="0" dirty="0" smtClean="0">
                          <a:latin typeface="+mn-lt"/>
                        </a:rPr>
                        <a:t> continuous E </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p>
                      <a:endParaRPr lang="en-US" dirty="0">
                        <a:latin typeface="+mn-lt"/>
                      </a:endParaRPr>
                    </a:p>
                  </a:txBody>
                  <a:tcPr/>
                </a:tc>
                <a:tc>
                  <a:txBody>
                    <a:bodyPr/>
                    <a:lstStyle/>
                    <a:p>
                      <a:pPr>
                        <a:buFont typeface="Arial" charset="0"/>
                        <a:buNone/>
                        <a:defRPr/>
                      </a:pPr>
                      <a:r>
                        <a:rPr lang="en-US" dirty="0" smtClean="0">
                          <a:latin typeface="+mn-lt"/>
                        </a:rPr>
                        <a:t>Classical additive ME</a:t>
                      </a:r>
                      <a:endParaRPr lang="en-US" dirty="0">
                        <a:latin typeface="+mn-lt"/>
                      </a:endParaRPr>
                    </a:p>
                  </a:txBody>
                  <a:tcPr/>
                </a:tc>
                <a:tc>
                  <a:txBody>
                    <a:bodyPr/>
                    <a:lstStyle/>
                    <a:p>
                      <a:r>
                        <a:rPr lang="en-US" b="0" dirty="0" smtClean="0">
                          <a:latin typeface="+mn-lt"/>
                        </a:rPr>
                        <a:t>Minimize cost, subject to a specified discriminatory power</a:t>
                      </a:r>
                      <a:endParaRPr lang="en-US" b="0" dirty="0">
                        <a:latin typeface="+mn-lt"/>
                      </a:endParaRPr>
                    </a:p>
                  </a:txBody>
                  <a:tcPr/>
                </a:tc>
                <a:extLst>
                  <a:ext uri="{0D108BD9-81ED-4DB2-BD59-A6C34878D82A}">
                    <a16:rowId xmlns:a16="http://schemas.microsoft.com/office/drawing/2014/main" xmlns="" val="10004"/>
                  </a:ext>
                </a:extLst>
              </a:tr>
              <a:tr h="775705">
                <a:tc>
                  <a:txBody>
                    <a:bodyPr/>
                    <a:lstStyle/>
                    <a:p>
                      <a:r>
                        <a:rPr lang="en-US" sz="1800" b="1" dirty="0" err="1" smtClean="0">
                          <a:solidFill>
                            <a:schemeClr val="tx1"/>
                          </a:solidFill>
                          <a:latin typeface="Times New Roman" pitchFamily="18" charset="0"/>
                          <a:cs typeface="Times New Roman" pitchFamily="18" charset="0"/>
                        </a:rPr>
                        <a:t>Rosner</a:t>
                      </a:r>
                      <a:r>
                        <a:rPr lang="en-US" sz="1800" b="1" dirty="0" smtClean="0">
                          <a:solidFill>
                            <a:schemeClr val="tx1"/>
                          </a:solidFill>
                          <a:latin typeface="Times New Roman" pitchFamily="18" charset="0"/>
                          <a:cs typeface="Times New Roman" pitchFamily="18" charset="0"/>
                        </a:rPr>
                        <a:t> et al. (1992)</a:t>
                      </a:r>
                      <a:endParaRPr lang="en-US" b="1" dirty="0">
                        <a:solidFill>
                          <a:schemeClr val="tx1"/>
                        </a:solidFill>
                      </a:endParaRPr>
                    </a:p>
                  </a:txBody>
                  <a:tcPr/>
                </a:tc>
                <a:tc>
                  <a:txBody>
                    <a:bodyPr/>
                    <a:lstStyle/>
                    <a:p>
                      <a:r>
                        <a:rPr lang="en-US" dirty="0" smtClean="0">
                          <a:solidFill>
                            <a:schemeClr val="tx1"/>
                          </a:solidFill>
                          <a:latin typeface="+mn-lt"/>
                        </a:rPr>
                        <a:t>Binary outcome,</a:t>
                      </a:r>
                      <a:r>
                        <a:rPr lang="en-US" baseline="0" dirty="0" smtClean="0">
                          <a:solidFill>
                            <a:schemeClr val="tx1"/>
                          </a:solidFill>
                          <a:latin typeface="+mn-lt"/>
                        </a:rPr>
                        <a:t> continuous exposure</a:t>
                      </a:r>
                      <a:endParaRPr lang="en-US" dirty="0" smtClean="0">
                        <a:solidFill>
                          <a:schemeClr val="tx1"/>
                        </a:solidFill>
                        <a:latin typeface="+mn-lt"/>
                      </a:endParaRPr>
                    </a:p>
                  </a:txBody>
                  <a:tcPr/>
                </a:tc>
                <a:tc>
                  <a:txBody>
                    <a:bodyPr/>
                    <a:lstStyle/>
                    <a:p>
                      <a:r>
                        <a:rPr lang="en-US" dirty="0" smtClean="0">
                          <a:solidFill>
                            <a:schemeClr val="tx1"/>
                          </a:solidFill>
                        </a:rPr>
                        <a:t>Logistic regression, Regression Calibration</a:t>
                      </a:r>
                      <a:endParaRPr 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Classical additive ME</a:t>
                      </a:r>
                    </a:p>
                    <a:p>
                      <a:endParaRPr lang="en-US" dirty="0">
                        <a:solidFill>
                          <a:schemeClr val="tx1"/>
                        </a:solidFill>
                      </a:endParaRPr>
                    </a:p>
                  </a:txBody>
                  <a:tcPr/>
                </a:tc>
                <a:tc>
                  <a:txBody>
                    <a:bodyPr/>
                    <a:lstStyle/>
                    <a:p>
                      <a:endParaRPr lang="en-US" dirty="0"/>
                    </a:p>
                  </a:txBody>
                  <a:tcPr/>
                </a:tc>
                <a:extLst>
                  <a:ext uri="{0D108BD9-81ED-4DB2-BD59-A6C34878D82A}">
                    <a16:rowId xmlns:a16="http://schemas.microsoft.com/office/drawing/2014/main" xmlns="" val="10005"/>
                  </a:ext>
                </a:extLst>
              </a:tr>
            </a:tbl>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4141676191"/>
              </p:ext>
            </p:extLst>
          </p:nvPr>
        </p:nvGraphicFramePr>
        <p:xfrm>
          <a:off x="4800600" y="3657600"/>
          <a:ext cx="860612" cy="304800"/>
        </p:xfrm>
        <a:graphic>
          <a:graphicData uri="http://schemas.openxmlformats.org/presentationml/2006/ole">
            <mc:AlternateContent xmlns:mc="http://schemas.openxmlformats.org/markup-compatibility/2006">
              <mc:Choice xmlns:v="urn:schemas-microsoft-com:vml" Requires="v">
                <p:oleObj spid="_x0000_s88139" name="Equation" r:id="rId3" imgW="609336" imgH="215806" progId="Equation.DSMT4">
                  <p:embed/>
                </p:oleObj>
              </mc:Choice>
              <mc:Fallback>
                <p:oleObj name="Equation" r:id="rId3" imgW="609336" imgH="21580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3657600"/>
                        <a:ext cx="860612" cy="304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8948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152400" y="152400"/>
            <a:ext cx="8610600" cy="6172200"/>
          </a:xfrm>
        </p:spPr>
        <p:txBody>
          <a:bodyPr lIns="92075" tIns="46038" rIns="92075" bIns="46038"/>
          <a:lstStyle/>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Note that                  can be rewritten as             ,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w</a:t>
            </a:r>
            <a:r>
              <a:rPr lang="en-US" sz="2400" dirty="0" smtClean="0">
                <a:latin typeface="Times New Roman" pitchFamily="18" charset="0"/>
                <a:cs typeface="Times New Roman" pitchFamily="18" charset="0"/>
              </a:rPr>
              <a:t>here                                   (proportion of validation study)  </a:t>
            </a: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Greenland (Greenland, 1988) addressed problem (</a:t>
            </a:r>
            <a:r>
              <a:rPr lang="en-US" sz="2400" dirty="0" smtClean="0">
                <a:solidFill>
                  <a:srgbClr val="0000FF"/>
                </a:solidFill>
                <a:latin typeface="Times New Roman" pitchFamily="18" charset="0"/>
                <a:cs typeface="Times New Roman" pitchFamily="18" charset="0"/>
              </a:rPr>
              <a:t>c</a:t>
            </a:r>
            <a:r>
              <a:rPr lang="en-US" sz="2400" dirty="0" smtClean="0">
                <a:latin typeface="Times New Roman" pitchFamily="18" charset="0"/>
                <a:cs typeface="Times New Roman" pitchFamily="18" charset="0"/>
              </a:rPr>
              <a:t>) in detail for </a:t>
            </a:r>
          </a:p>
          <a:p>
            <a:pPr marL="0" indent="0">
              <a:buFont typeface="Arial" charset="0"/>
              <a:buNone/>
              <a:defRPr/>
            </a:pPr>
            <a:r>
              <a:rPr lang="en-US" sz="2400" b="1" dirty="0" smtClean="0">
                <a:solidFill>
                  <a:srgbClr val="0000FF"/>
                </a:solidFill>
                <a:latin typeface="Times New Roman" pitchFamily="18" charset="0"/>
                <a:cs typeface="Times New Roman" pitchFamily="18" charset="0"/>
              </a:rPr>
              <a:t>case-control studies </a:t>
            </a:r>
            <a:r>
              <a:rPr lang="en-US" sz="2400" dirty="0" smtClean="0">
                <a:latin typeface="Times New Roman" pitchFamily="18" charset="0"/>
                <a:cs typeface="Times New Roman" pitchFamily="18" charset="0"/>
              </a:rPr>
              <a:t>on the</a:t>
            </a:r>
            <a:r>
              <a:rPr lang="en-US" sz="2400" b="1" dirty="0" smtClean="0">
                <a:latin typeface="Times New Roman" pitchFamily="18" charset="0"/>
                <a:cs typeface="Times New Roman" pitchFamily="18" charset="0"/>
              </a:rPr>
              <a:t> </a:t>
            </a:r>
            <a:r>
              <a:rPr lang="en-US" sz="2400" b="1" dirty="0" smtClean="0">
                <a:solidFill>
                  <a:srgbClr val="0000FF"/>
                </a:solidFill>
                <a:latin typeface="Times New Roman" pitchFamily="18" charset="0"/>
                <a:cs typeface="Times New Roman" pitchFamily="18" charset="0"/>
              </a:rPr>
              <a:t>matrix method </a:t>
            </a:r>
            <a:r>
              <a:rPr lang="en-US" sz="2400" dirty="0" smtClean="0">
                <a:latin typeface="Times New Roman" pitchFamily="18" charset="0"/>
                <a:cs typeface="Times New Roman" pitchFamily="18" charset="0"/>
              </a:rPr>
              <a:t>estimator, and, in his Appendix, provides the formulas to address problem (</a:t>
            </a:r>
            <a:r>
              <a:rPr lang="en-US" sz="2400" dirty="0" smtClean="0">
                <a:solidFill>
                  <a:srgbClr val="0000FF"/>
                </a:solidFill>
                <a:latin typeface="Times New Roman" pitchFamily="18" charset="0"/>
                <a:cs typeface="Times New Roman" pitchFamily="18" charset="0"/>
              </a:rPr>
              <a:t>c</a:t>
            </a:r>
            <a:r>
              <a:rPr lang="en-US" sz="2400" dirty="0" smtClean="0">
                <a:latin typeface="Times New Roman" pitchFamily="18" charset="0"/>
                <a:cs typeface="Times New Roman" pitchFamily="18" charset="0"/>
              </a:rPr>
              <a:t>) in </a:t>
            </a:r>
            <a:r>
              <a:rPr lang="en-US" sz="2400" b="1" dirty="0" smtClean="0">
                <a:solidFill>
                  <a:srgbClr val="0000FF"/>
                </a:solidFill>
                <a:latin typeface="Times New Roman" pitchFamily="18" charset="0"/>
                <a:cs typeface="Times New Roman" pitchFamily="18" charset="0"/>
              </a:rPr>
              <a:t>cohort studies</a:t>
            </a:r>
            <a:r>
              <a:rPr lang="en-US" sz="2400" dirty="0" smtClean="0">
                <a:solidFill>
                  <a:srgbClr val="0000FF"/>
                </a:solidFill>
                <a:latin typeface="Times New Roman" pitchFamily="18" charset="0"/>
                <a:cs typeface="Times New Roman" pitchFamily="18" charset="0"/>
              </a:rPr>
              <a:t>.</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1600" dirty="0" smtClean="0">
                <a:latin typeface="Times New Roman" pitchFamily="18" charset="0"/>
                <a:cs typeface="Times New Roman" pitchFamily="18" charset="0"/>
              </a:rPr>
              <a:t>Greenland S. (1988) Statistical uncertainty due to misclassification- implications for validation </a:t>
            </a:r>
          </a:p>
          <a:p>
            <a:pPr>
              <a:buFont typeface="Arial" charset="0"/>
              <a:buNone/>
              <a:defRPr/>
            </a:pPr>
            <a:r>
              <a:rPr lang="en-US" sz="1600" dirty="0" err="1" smtClean="0">
                <a:latin typeface="Times New Roman" pitchFamily="18" charset="0"/>
                <a:cs typeface="Times New Roman" pitchFamily="18" charset="0"/>
              </a:rPr>
              <a:t>substudies</a:t>
            </a:r>
            <a:r>
              <a:rPr lang="en-US" sz="1600" dirty="0" smtClean="0">
                <a:latin typeface="Times New Roman" pitchFamily="18" charset="0"/>
                <a:cs typeface="Times New Roman" pitchFamily="18" charset="0"/>
              </a:rPr>
              <a:t>. </a:t>
            </a:r>
            <a:r>
              <a:rPr lang="en-US" sz="1600" i="1" dirty="0" smtClean="0">
                <a:latin typeface="Times New Roman" pitchFamily="18" charset="0"/>
                <a:cs typeface="Times New Roman" pitchFamily="18" charset="0"/>
              </a:rPr>
              <a:t>Journal Of Clinical Epidemiology </a:t>
            </a:r>
            <a:r>
              <a:rPr lang="en-US" sz="1600" dirty="0" smtClean="0">
                <a:latin typeface="Times New Roman" pitchFamily="18" charset="0"/>
                <a:cs typeface="Times New Roman" pitchFamily="18" charset="0"/>
              </a:rPr>
              <a:t>41:1167-1174.</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8195"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819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8197"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61288"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8"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61289"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820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722360E9-9F4A-4A02-9D3E-33244382855C}" type="slidenum">
              <a:rPr lang="zh-CN" altLang="en-US" sz="1200">
                <a:solidFill>
                  <a:srgbClr val="898989"/>
                </a:solidFill>
              </a:rPr>
              <a:pPr algn="r" eaLnBrk="1" hangingPunct="1">
                <a:spcBef>
                  <a:spcPct val="0"/>
                </a:spcBef>
                <a:buFontTx/>
                <a:buNone/>
              </a:pPr>
              <a:t>7</a:t>
            </a:fld>
            <a:endParaRPr lang="en-US" altLang="zh-CN" sz="1200">
              <a:solidFill>
                <a:srgbClr val="898989"/>
              </a:solidFill>
            </a:endParaRPr>
          </a:p>
        </p:txBody>
      </p:sp>
      <p:graphicFrame>
        <p:nvGraphicFramePr>
          <p:cNvPr id="8201" name="Object 7"/>
          <p:cNvGraphicFramePr>
            <a:graphicFrameLocks noChangeAspect="1"/>
          </p:cNvGraphicFramePr>
          <p:nvPr/>
        </p:nvGraphicFramePr>
        <p:xfrm>
          <a:off x="1447800" y="609600"/>
          <a:ext cx="1155700" cy="457200"/>
        </p:xfrm>
        <a:graphic>
          <a:graphicData uri="http://schemas.openxmlformats.org/presentationml/2006/ole">
            <mc:AlternateContent xmlns:mc="http://schemas.openxmlformats.org/markup-compatibility/2006">
              <mc:Choice xmlns:v="urn:schemas-microsoft-com:vml" Requires="v">
                <p:oleObj spid="_x0000_s61290" name="Equation" r:id="rId7" imgW="609336" imgH="241195" progId="Equation.DSMT4">
                  <p:embed/>
                </p:oleObj>
              </mc:Choice>
              <mc:Fallback>
                <p:oleObj name="Equation" r:id="rId7" imgW="609336" imgH="241195"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609600"/>
                        <a:ext cx="115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2" name="Object 8"/>
          <p:cNvGraphicFramePr>
            <a:graphicFrameLocks noChangeAspect="1"/>
          </p:cNvGraphicFramePr>
          <p:nvPr/>
        </p:nvGraphicFramePr>
        <p:xfrm>
          <a:off x="5105400" y="609600"/>
          <a:ext cx="863600" cy="457200"/>
        </p:xfrm>
        <a:graphic>
          <a:graphicData uri="http://schemas.openxmlformats.org/presentationml/2006/ole">
            <mc:AlternateContent xmlns:mc="http://schemas.openxmlformats.org/markup-compatibility/2006">
              <mc:Choice xmlns:v="urn:schemas-microsoft-com:vml" Requires="v">
                <p:oleObj spid="_x0000_s61291" name="Equation" r:id="rId9" imgW="431613" imgH="228501" progId="Equation.DSMT4">
                  <p:embed/>
                </p:oleObj>
              </mc:Choice>
              <mc:Fallback>
                <p:oleObj name="Equation" r:id="rId9" imgW="431613" imgH="228501"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5400" y="609600"/>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3" name="Object 9"/>
          <p:cNvGraphicFramePr>
            <a:graphicFrameLocks noChangeAspect="1"/>
          </p:cNvGraphicFramePr>
          <p:nvPr/>
        </p:nvGraphicFramePr>
        <p:xfrm>
          <a:off x="1219200" y="1295400"/>
          <a:ext cx="2344738" cy="914400"/>
        </p:xfrm>
        <a:graphic>
          <a:graphicData uri="http://schemas.openxmlformats.org/presentationml/2006/ole">
            <mc:AlternateContent xmlns:mc="http://schemas.openxmlformats.org/markup-compatibility/2006">
              <mc:Choice xmlns:v="urn:schemas-microsoft-com:vml" Requires="v">
                <p:oleObj spid="_x0000_s61292" name="Equation" r:id="rId11" imgW="1269449" imgH="495085" progId="Equation.DSMT4">
                  <p:embed/>
                </p:oleObj>
              </mc:Choice>
              <mc:Fallback>
                <p:oleObj name="Equation" r:id="rId11" imgW="1269449" imgH="495085"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9200" y="1295400"/>
                        <a:ext cx="23447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152400" y="152400"/>
            <a:ext cx="8686800" cy="6386513"/>
          </a:xfrm>
        </p:spPr>
        <p:txBody>
          <a:bodyPr lIns="92075" tIns="46038" rIns="92075" bIns="46038"/>
          <a:lstStyle/>
          <a:p>
            <a:pPr>
              <a:buFont typeface="Arial" charset="0"/>
              <a:buNone/>
              <a:defRPr/>
            </a:pPr>
            <a:r>
              <a:rPr lang="en-US" sz="800" dirty="0" smtClean="0">
                <a:latin typeface="Times New Roman" pitchFamily="18" charset="0"/>
                <a:cs typeface="Times New Roman" pitchFamily="18" charset="0"/>
              </a:rPr>
              <a:t> </a:t>
            </a:r>
          </a:p>
          <a:p>
            <a:pPr>
              <a:buNone/>
              <a:defRPr/>
            </a:pPr>
            <a:r>
              <a:rPr lang="en-US" sz="2400" b="1" dirty="0" smtClean="0">
                <a:latin typeface="Times New Roman" pitchFamily="18" charset="0"/>
                <a:cs typeface="Times New Roman" pitchFamily="18" charset="0"/>
              </a:rPr>
              <a:t>                                    Greenland </a:t>
            </a:r>
            <a:r>
              <a:rPr lang="en-US" sz="2400" b="1" dirty="0">
                <a:latin typeface="Times New Roman" pitchFamily="18" charset="0"/>
                <a:cs typeface="Times New Roman" pitchFamily="18" charset="0"/>
              </a:rPr>
              <a:t>S. (1988)</a:t>
            </a:r>
          </a:p>
          <a:p>
            <a:pPr>
              <a:buFont typeface="Arial" charset="0"/>
              <a:buNone/>
              <a:defRPr/>
            </a:pPr>
            <a:r>
              <a:rPr lang="en-US" sz="2400" dirty="0" smtClean="0">
                <a:latin typeface="Times New Roman" pitchFamily="18" charset="0"/>
                <a:cs typeface="Times New Roman" pitchFamily="18" charset="0"/>
              </a:rPr>
              <a:t>To solve this problem for case-control studies, additional features of </a:t>
            </a:r>
          </a:p>
          <a:p>
            <a:pPr>
              <a:buFont typeface="Arial" charset="0"/>
              <a:buNone/>
              <a:defRPr/>
            </a:pPr>
            <a:r>
              <a:rPr lang="en-US" sz="2400" dirty="0" smtClean="0">
                <a:latin typeface="Times New Roman" pitchFamily="18" charset="0"/>
                <a:cs typeface="Times New Roman" pitchFamily="18" charset="0"/>
              </a:rPr>
              <a:t>the study </a:t>
            </a:r>
            <a:r>
              <a:rPr lang="en-US" sz="2400" dirty="0" smtClean="0">
                <a:solidFill>
                  <a:srgbClr val="0000FF"/>
                </a:solidFill>
                <a:latin typeface="Times New Roman" pitchFamily="18" charset="0"/>
                <a:cs typeface="Times New Roman" pitchFamily="18" charset="0"/>
              </a:rPr>
              <a:t>must be specified</a:t>
            </a:r>
            <a:r>
              <a:rPr lang="en-US" sz="2400" dirty="0" smtClean="0">
                <a:latin typeface="Times New Roman" pitchFamily="18" charset="0"/>
                <a:cs typeface="Times New Roman" pitchFamily="18" charset="0"/>
              </a:rPr>
              <a:t>. These include:</a:t>
            </a:r>
          </a:p>
          <a:p>
            <a:pPr>
              <a:buFont typeface="Arial" charset="0"/>
              <a:buNone/>
              <a:defRPr/>
            </a:pPr>
            <a:endParaRPr lang="en-US" sz="12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(Of course, it can be assumed that misclassification is</a:t>
            </a:r>
          </a:p>
          <a:p>
            <a:pPr>
              <a:buFont typeface="Arial" charset="0"/>
              <a:buNone/>
              <a:defRPr/>
            </a:pPr>
            <a:r>
              <a:rPr lang="en-US" sz="2400" dirty="0" smtClean="0">
                <a:latin typeface="Times New Roman" pitchFamily="18" charset="0"/>
                <a:cs typeface="Times New Roman" pitchFamily="18" charset="0"/>
              </a:rPr>
              <a:t>                       non-differential)</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400" b="1" dirty="0" smtClean="0">
                <a:solidFill>
                  <a:srgbClr val="0000FF"/>
                </a:solidFill>
                <a:latin typeface="Times New Roman" pitchFamily="18" charset="0"/>
                <a:cs typeface="Times New Roman" pitchFamily="18" charset="0"/>
              </a:rPr>
              <a:t>Or</a:t>
            </a:r>
            <a:r>
              <a:rPr lang="en-US" sz="2400" dirty="0" smtClean="0">
                <a:latin typeface="Times New Roman" pitchFamily="18" charset="0"/>
                <a:cs typeface="Times New Roman" pitchFamily="18" charset="0"/>
              </a:rPr>
              <a:t>, although Greenland didn’t provide the formulas in these terms,</a:t>
            </a:r>
          </a:p>
          <a:p>
            <a:pPr>
              <a:buFont typeface="Arial" charset="0"/>
              <a:buNone/>
              <a:defRPr/>
            </a:pPr>
            <a:r>
              <a:rPr lang="en-US" sz="2400" dirty="0" err="1" smtClean="0">
                <a:latin typeface="Times New Roman" pitchFamily="18" charset="0"/>
                <a:cs typeface="Times New Roman" pitchFamily="18" charset="0"/>
              </a:rPr>
              <a:t>Bayes</a:t>
            </a:r>
            <a:r>
              <a:rPr lang="en-US" sz="2400" dirty="0" smtClean="0">
                <a:latin typeface="Times New Roman" pitchFamily="18" charset="0"/>
                <a:cs typeface="Times New Roman" pitchFamily="18" charset="0"/>
              </a:rPr>
              <a:t> theorem can be used to solve for                              as a </a:t>
            </a:r>
          </a:p>
          <a:p>
            <a:pPr>
              <a:buFont typeface="Arial" charset="0"/>
              <a:buNone/>
              <a:defRPr/>
            </a:pPr>
            <a:r>
              <a:rPr lang="en-US" sz="2400" dirty="0" smtClean="0">
                <a:latin typeface="Times New Roman" pitchFamily="18" charset="0"/>
                <a:cs typeface="Times New Roman" pitchFamily="18" charset="0"/>
              </a:rPr>
              <a:t>function of                               ,       , and </a:t>
            </a:r>
          </a:p>
          <a:p>
            <a:pPr>
              <a:buFont typeface="Arial" charset="0"/>
              <a:buNone/>
              <a:defRPr/>
            </a:pPr>
            <a:endParaRPr lang="en-US" sz="1250" dirty="0">
              <a:latin typeface="Times New Roman" pitchFamily="18" charset="0"/>
              <a:cs typeface="Times New Roman" pitchFamily="18" charset="0"/>
            </a:endParaRPr>
          </a:p>
          <a:p>
            <a:pPr>
              <a:buFont typeface="Arial" charset="0"/>
              <a:buNone/>
              <a:defRPr/>
            </a:pPr>
            <a:r>
              <a:rPr lang="en-US" sz="2400" b="1" dirty="0" smtClean="0">
                <a:solidFill>
                  <a:srgbClr val="0000FF"/>
                </a:solidFill>
                <a:latin typeface="Times New Roman" pitchFamily="18" charset="0"/>
                <a:cs typeface="Times New Roman" pitchFamily="18" charset="0"/>
              </a:rPr>
              <a:t>Or</a:t>
            </a:r>
            <a:r>
              <a:rPr lang="en-US" sz="2400" dirty="0" smtClean="0">
                <a:solidFill>
                  <a:srgbClr val="0000FF"/>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the problem could be </a:t>
            </a:r>
            <a:r>
              <a:rPr lang="en-US" sz="2400" dirty="0" smtClean="0">
                <a:solidFill>
                  <a:srgbClr val="0000FF"/>
                </a:solidFill>
                <a:latin typeface="Times New Roman" pitchFamily="18" charset="0"/>
                <a:cs typeface="Times New Roman" pitchFamily="18" charset="0"/>
              </a:rPr>
              <a:t>re-parameterized </a:t>
            </a:r>
            <a:r>
              <a:rPr lang="en-US" sz="2400" dirty="0" smtClean="0">
                <a:latin typeface="Times New Roman" pitchFamily="18" charset="0"/>
                <a:cs typeface="Times New Roman" pitchFamily="18" charset="0"/>
              </a:rPr>
              <a:t>in terms of </a:t>
            </a:r>
          </a:p>
          <a:p>
            <a:pPr>
              <a:buNone/>
              <a:defRPr/>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and          </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and </a:t>
            </a: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r>
              <a:rPr lang="en-US" sz="2400" dirty="0" smtClean="0"/>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9219" name="AutoShape 3"/>
          <p:cNvCxnSpPr>
            <a:cxnSpLocks noChangeShapeType="1"/>
            <a:stCxn id="28676" idx="3"/>
            <a:endCxn id="28676" idx="3"/>
          </p:cNvCxnSpPr>
          <p:nvPr/>
        </p:nvCxnSpPr>
        <p:spPr bwMode="auto">
          <a:xfrm>
            <a:off x="8839200" y="3344863"/>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922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9221"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4786"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2"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4787"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922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4BBCDC2-3DAD-4B61-A0F8-EB7B0CFA1399}" type="slidenum">
              <a:rPr lang="zh-CN" altLang="en-US" sz="1200">
                <a:solidFill>
                  <a:srgbClr val="898989"/>
                </a:solidFill>
              </a:rPr>
              <a:pPr algn="r" eaLnBrk="1" hangingPunct="1">
                <a:spcBef>
                  <a:spcPct val="0"/>
                </a:spcBef>
                <a:buFontTx/>
                <a:buNone/>
              </a:pPr>
              <a:t>8</a:t>
            </a:fld>
            <a:endParaRPr lang="en-US" altLang="zh-CN" sz="1200">
              <a:solidFill>
                <a:srgbClr val="898989"/>
              </a:solidFill>
            </a:endParaRPr>
          </a:p>
        </p:txBody>
      </p:sp>
      <p:graphicFrame>
        <p:nvGraphicFramePr>
          <p:cNvPr id="9225" name="Object 7"/>
          <p:cNvGraphicFramePr>
            <a:graphicFrameLocks noChangeAspect="1"/>
          </p:cNvGraphicFramePr>
          <p:nvPr>
            <p:extLst>
              <p:ext uri="{D42A27DB-BD31-4B8C-83A1-F6EECF244321}">
                <p14:modId xmlns:p14="http://schemas.microsoft.com/office/powerpoint/2010/main" val="536298543"/>
              </p:ext>
            </p:extLst>
          </p:nvPr>
        </p:nvGraphicFramePr>
        <p:xfrm>
          <a:off x="228600" y="1752600"/>
          <a:ext cx="1468438" cy="457200"/>
        </p:xfrm>
        <a:graphic>
          <a:graphicData uri="http://schemas.openxmlformats.org/presentationml/2006/ole">
            <mc:AlternateContent xmlns:mc="http://schemas.openxmlformats.org/markup-compatibility/2006">
              <mc:Choice xmlns:v="urn:schemas-microsoft-com:vml" Requires="v">
                <p:oleObj spid="_x0000_s94788" name="Equation" r:id="rId7" imgW="774364" imgH="241195" progId="Equation.DSMT4">
                  <p:embed/>
                </p:oleObj>
              </mc:Choice>
              <mc:Fallback>
                <p:oleObj name="Equation" r:id="rId7" imgW="774364" imgH="241195"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1752600"/>
                        <a:ext cx="1468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6" name="Object 8"/>
          <p:cNvGraphicFramePr>
            <a:graphicFrameLocks noChangeAspect="1"/>
          </p:cNvGraphicFramePr>
          <p:nvPr>
            <p:extLst>
              <p:ext uri="{D42A27DB-BD31-4B8C-83A1-F6EECF244321}">
                <p14:modId xmlns:p14="http://schemas.microsoft.com/office/powerpoint/2010/main" val="1917192919"/>
              </p:ext>
            </p:extLst>
          </p:nvPr>
        </p:nvGraphicFramePr>
        <p:xfrm>
          <a:off x="304800" y="2362200"/>
          <a:ext cx="1443038" cy="457200"/>
        </p:xfrm>
        <a:graphic>
          <a:graphicData uri="http://schemas.openxmlformats.org/presentationml/2006/ole">
            <mc:AlternateContent xmlns:mc="http://schemas.openxmlformats.org/markup-compatibility/2006">
              <mc:Choice xmlns:v="urn:schemas-microsoft-com:vml" Requires="v">
                <p:oleObj spid="_x0000_s94789" name="Equation" r:id="rId9" imgW="787400" imgH="241300" progId="Equation.DSMT4">
                  <p:embed/>
                </p:oleObj>
              </mc:Choice>
              <mc:Fallback>
                <p:oleObj name="Equation" r:id="rId9" imgW="787400" imgH="2413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2362200"/>
                        <a:ext cx="1443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7" name="Object 9"/>
          <p:cNvGraphicFramePr>
            <a:graphicFrameLocks noChangeAspect="1"/>
          </p:cNvGraphicFramePr>
          <p:nvPr>
            <p:extLst>
              <p:ext uri="{D42A27DB-BD31-4B8C-83A1-F6EECF244321}">
                <p14:modId xmlns:p14="http://schemas.microsoft.com/office/powerpoint/2010/main" val="1342302600"/>
              </p:ext>
            </p:extLst>
          </p:nvPr>
        </p:nvGraphicFramePr>
        <p:xfrm>
          <a:off x="228600" y="3381750"/>
          <a:ext cx="4067175" cy="457200"/>
        </p:xfrm>
        <a:graphic>
          <a:graphicData uri="http://schemas.openxmlformats.org/presentationml/2006/ole">
            <mc:AlternateContent xmlns:mc="http://schemas.openxmlformats.org/markup-compatibility/2006">
              <mc:Choice xmlns:v="urn:schemas-microsoft-com:vml" Requires="v">
                <p:oleObj spid="_x0000_s94790" name="Equation" r:id="rId11" imgW="2146300" imgH="241300" progId="Equation.DSMT4">
                  <p:embed/>
                </p:oleObj>
              </mc:Choice>
              <mc:Fallback>
                <p:oleObj name="Equation" r:id="rId11" imgW="2146300" imgH="2413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 y="3381750"/>
                        <a:ext cx="4067175" cy="457200"/>
                      </a:xfrm>
                      <a:prstGeom prst="rect">
                        <a:avLst/>
                      </a:prstGeom>
                      <a:noFill/>
                      <a:ln>
                        <a:solidFill>
                          <a:srgbClr val="FF0000"/>
                        </a:solidFill>
                      </a:ln>
                      <a:effectLst/>
                      <a:extLst/>
                    </p:spPr>
                  </p:pic>
                </p:oleObj>
              </mc:Fallback>
            </mc:AlternateContent>
          </a:graphicData>
        </a:graphic>
      </p:graphicFrame>
      <p:graphicFrame>
        <p:nvGraphicFramePr>
          <p:cNvPr id="9228" name="Object 12"/>
          <p:cNvGraphicFramePr>
            <a:graphicFrameLocks noChangeAspect="1"/>
          </p:cNvGraphicFramePr>
          <p:nvPr>
            <p:extLst>
              <p:ext uri="{D42A27DB-BD31-4B8C-83A1-F6EECF244321}">
                <p14:modId xmlns:p14="http://schemas.microsoft.com/office/powerpoint/2010/main" val="1839309049"/>
              </p:ext>
            </p:extLst>
          </p:nvPr>
        </p:nvGraphicFramePr>
        <p:xfrm>
          <a:off x="5105400" y="4572000"/>
          <a:ext cx="2109788" cy="395288"/>
        </p:xfrm>
        <a:graphic>
          <a:graphicData uri="http://schemas.openxmlformats.org/presentationml/2006/ole">
            <mc:AlternateContent xmlns:mc="http://schemas.openxmlformats.org/markup-compatibility/2006">
              <mc:Choice xmlns:v="urn:schemas-microsoft-com:vml" Requires="v">
                <p:oleObj spid="_x0000_s94791" name="Equation" r:id="rId13" imgW="1219200" imgH="228600" progId="Equation.DSMT4">
                  <p:embed/>
                </p:oleObj>
              </mc:Choice>
              <mc:Fallback>
                <p:oleObj name="Equation" r:id="rId13" imgW="1219200" imgH="228600"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05400" y="4572000"/>
                        <a:ext cx="2109788"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9" name="Object 11"/>
          <p:cNvGraphicFramePr>
            <a:graphicFrameLocks noChangeAspect="1"/>
          </p:cNvGraphicFramePr>
          <p:nvPr>
            <p:extLst>
              <p:ext uri="{D42A27DB-BD31-4B8C-83A1-F6EECF244321}">
                <p14:modId xmlns:p14="http://schemas.microsoft.com/office/powerpoint/2010/main" val="4287881027"/>
              </p:ext>
            </p:extLst>
          </p:nvPr>
        </p:nvGraphicFramePr>
        <p:xfrm>
          <a:off x="1676400" y="4953000"/>
          <a:ext cx="2189163" cy="419100"/>
        </p:xfrm>
        <a:graphic>
          <a:graphicData uri="http://schemas.openxmlformats.org/presentationml/2006/ole">
            <mc:AlternateContent xmlns:mc="http://schemas.openxmlformats.org/markup-compatibility/2006">
              <mc:Choice xmlns:v="urn:schemas-microsoft-com:vml" Requires="v">
                <p:oleObj spid="_x0000_s94792" name="Equation" r:id="rId15" imgW="1193800" imgH="228600" progId="Equation.DSMT4">
                  <p:embed/>
                </p:oleObj>
              </mc:Choice>
              <mc:Fallback>
                <p:oleObj name="Equation" r:id="rId15" imgW="1193800" imgH="228600" progId="Equation.DSMT4">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4953000"/>
                        <a:ext cx="2189163" cy="419100"/>
                      </a:xfrm>
                      <a:prstGeom prst="rect">
                        <a:avLst/>
                      </a:prstGeom>
                      <a:noFill/>
                      <a:ln>
                        <a:solidFill>
                          <a:srgbClr val="FF0000"/>
                        </a:solidFill>
                      </a:ln>
                      <a:effectLst/>
                      <a:extLst/>
                    </p:spPr>
                  </p:pic>
                </p:oleObj>
              </mc:Fallback>
            </mc:AlternateContent>
          </a:graphicData>
        </a:graphic>
      </p:graphicFrame>
      <p:graphicFrame>
        <p:nvGraphicFramePr>
          <p:cNvPr id="9230" name="Object 12"/>
          <p:cNvGraphicFramePr>
            <a:graphicFrameLocks noChangeAspect="1"/>
          </p:cNvGraphicFramePr>
          <p:nvPr>
            <p:extLst>
              <p:ext uri="{D42A27DB-BD31-4B8C-83A1-F6EECF244321}">
                <p14:modId xmlns:p14="http://schemas.microsoft.com/office/powerpoint/2010/main" val="2202260940"/>
              </p:ext>
            </p:extLst>
          </p:nvPr>
        </p:nvGraphicFramePr>
        <p:xfrm>
          <a:off x="4184650" y="4918075"/>
          <a:ext cx="360363" cy="528638"/>
        </p:xfrm>
        <a:graphic>
          <a:graphicData uri="http://schemas.openxmlformats.org/presentationml/2006/ole">
            <mc:AlternateContent xmlns:mc="http://schemas.openxmlformats.org/markup-compatibility/2006">
              <mc:Choice xmlns:v="urn:schemas-microsoft-com:vml" Requires="v">
                <p:oleObj spid="_x0000_s94793" name="Equation" r:id="rId17" imgW="190500" imgH="279400" progId="Equation.3">
                  <p:embed/>
                </p:oleObj>
              </mc:Choice>
              <mc:Fallback>
                <p:oleObj name="Equation" r:id="rId17" imgW="190500" imgH="279400" progId="Equation.3">
                  <p:embed/>
                  <p:pic>
                    <p:nvPicPr>
                      <p:cNvPr id="0" name="Object 12"/>
                      <p:cNvPicPr>
                        <a:picLocks noChangeAspect="1" noChangeArrowheads="1"/>
                      </p:cNvPicPr>
                      <p:nvPr/>
                    </p:nvPicPr>
                    <p:blipFill>
                      <a:blip r:embed="rId18"/>
                      <a:srcRect/>
                      <a:stretch>
                        <a:fillRect/>
                      </a:stretch>
                    </p:blipFill>
                    <p:spPr bwMode="auto">
                      <a:xfrm>
                        <a:off x="4184650" y="4918075"/>
                        <a:ext cx="360363"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31" name="Object 15"/>
          <p:cNvGraphicFramePr>
            <a:graphicFrameLocks noChangeAspect="1"/>
          </p:cNvGraphicFramePr>
          <p:nvPr>
            <p:extLst>
              <p:ext uri="{D42A27DB-BD31-4B8C-83A1-F6EECF244321}">
                <p14:modId xmlns:p14="http://schemas.microsoft.com/office/powerpoint/2010/main" val="1651606331"/>
              </p:ext>
            </p:extLst>
          </p:nvPr>
        </p:nvGraphicFramePr>
        <p:xfrm>
          <a:off x="5334000" y="4953000"/>
          <a:ext cx="1343025" cy="425450"/>
        </p:xfrm>
        <a:graphic>
          <a:graphicData uri="http://schemas.openxmlformats.org/presentationml/2006/ole">
            <mc:AlternateContent xmlns:mc="http://schemas.openxmlformats.org/markup-compatibility/2006">
              <mc:Choice xmlns:v="urn:schemas-microsoft-com:vml" Requires="v">
                <p:oleObj spid="_x0000_s94794" name="Equation" r:id="rId19" imgW="761669" imgH="241195" progId="Equation.3">
                  <p:embed/>
                </p:oleObj>
              </mc:Choice>
              <mc:Fallback>
                <p:oleObj name="Equation" r:id="rId19" imgW="761669" imgH="241195"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334000" y="4953000"/>
                        <a:ext cx="134302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32" name="Object 1"/>
          <p:cNvGraphicFramePr>
            <a:graphicFrameLocks noChangeAspect="1"/>
          </p:cNvGraphicFramePr>
          <p:nvPr>
            <p:extLst>
              <p:ext uri="{D42A27DB-BD31-4B8C-83A1-F6EECF244321}">
                <p14:modId xmlns:p14="http://schemas.microsoft.com/office/powerpoint/2010/main" val="838517516"/>
              </p:ext>
            </p:extLst>
          </p:nvPr>
        </p:nvGraphicFramePr>
        <p:xfrm>
          <a:off x="152400" y="6119812"/>
          <a:ext cx="1304925" cy="419100"/>
        </p:xfrm>
        <a:graphic>
          <a:graphicData uri="http://schemas.openxmlformats.org/presentationml/2006/ole">
            <mc:AlternateContent xmlns:mc="http://schemas.openxmlformats.org/markup-compatibility/2006">
              <mc:Choice xmlns:v="urn:schemas-microsoft-com:vml" Requires="v">
                <p:oleObj spid="_x0000_s94795" name="Equation" r:id="rId21" imgW="711000" imgH="228600" progId="Equation.DSMT4">
                  <p:embed/>
                </p:oleObj>
              </mc:Choice>
              <mc:Fallback>
                <p:oleObj name="Equation" r:id="rId21" imgW="711000" imgH="228600" progId="Equation.DSMT4">
                  <p:embed/>
                  <p:pic>
                    <p:nvPicPr>
                      <p:cNvPr id="0" name="Object 1"/>
                      <p:cNvPicPr>
                        <a:picLocks noChangeAspect="1" noChangeArrowheads="1"/>
                      </p:cNvPicPr>
                      <p:nvPr/>
                    </p:nvPicPr>
                    <p:blipFill>
                      <a:blip r:embed="rId22"/>
                      <a:srcRect/>
                      <a:stretch>
                        <a:fillRect/>
                      </a:stretch>
                    </p:blipFill>
                    <p:spPr bwMode="auto">
                      <a:xfrm>
                        <a:off x="152400" y="6119812"/>
                        <a:ext cx="1304925" cy="419100"/>
                      </a:xfrm>
                      <a:prstGeom prst="rect">
                        <a:avLst/>
                      </a:prstGeom>
                      <a:noFill/>
                      <a:ln>
                        <a:solidFill>
                          <a:srgbClr val="FF0000"/>
                        </a:solidFill>
                      </a:ln>
                      <a:effectLst/>
                      <a:extLst/>
                    </p:spPr>
                  </p:pic>
                </p:oleObj>
              </mc:Fallback>
            </mc:AlternateContent>
          </a:graphicData>
        </a:graphic>
      </p:graphicFrame>
      <p:graphicFrame>
        <p:nvGraphicFramePr>
          <p:cNvPr id="9233" name="Object 2"/>
          <p:cNvGraphicFramePr>
            <a:graphicFrameLocks noChangeAspect="1"/>
          </p:cNvGraphicFramePr>
          <p:nvPr>
            <p:extLst>
              <p:ext uri="{D42A27DB-BD31-4B8C-83A1-F6EECF244321}">
                <p14:modId xmlns:p14="http://schemas.microsoft.com/office/powerpoint/2010/main" val="1092193617"/>
              </p:ext>
            </p:extLst>
          </p:nvPr>
        </p:nvGraphicFramePr>
        <p:xfrm>
          <a:off x="2057400" y="6125695"/>
          <a:ext cx="582613" cy="395288"/>
        </p:xfrm>
        <a:graphic>
          <a:graphicData uri="http://schemas.openxmlformats.org/presentationml/2006/ole">
            <mc:AlternateContent xmlns:mc="http://schemas.openxmlformats.org/markup-compatibility/2006">
              <mc:Choice xmlns:v="urn:schemas-microsoft-com:vml" Requires="v">
                <p:oleObj spid="_x0000_s94796" name="Equation" r:id="rId23" imgW="317087" imgH="215619" progId="Equation.DSMT4">
                  <p:embed/>
                </p:oleObj>
              </mc:Choice>
              <mc:Fallback>
                <p:oleObj name="Equation" r:id="rId23" imgW="317087" imgH="215619" progId="Equation.DSMT4">
                  <p:embed/>
                  <p:pic>
                    <p:nvPicPr>
                      <p:cNvPr id="0" name="Object 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57400" y="6125695"/>
                        <a:ext cx="582613" cy="395288"/>
                      </a:xfrm>
                      <a:prstGeom prst="rect">
                        <a:avLst/>
                      </a:prstGeom>
                      <a:noFill/>
                      <a:ln>
                        <a:solidFill>
                          <a:srgbClr val="FF0000"/>
                        </a:solidFill>
                      </a:ln>
                      <a:effectLst/>
                      <a:extLst/>
                    </p:spPr>
                  </p:pic>
                </p:oleObj>
              </mc:Fallback>
            </mc:AlternateContent>
          </a:graphicData>
        </a:graphic>
      </p:graphicFrame>
      <p:graphicFrame>
        <p:nvGraphicFramePr>
          <p:cNvPr id="19" name="Object 15"/>
          <p:cNvGraphicFramePr>
            <a:graphicFrameLocks noChangeAspect="1"/>
          </p:cNvGraphicFramePr>
          <p:nvPr>
            <p:extLst>
              <p:ext uri="{D42A27DB-BD31-4B8C-83A1-F6EECF244321}">
                <p14:modId xmlns:p14="http://schemas.microsoft.com/office/powerpoint/2010/main" val="3685066322"/>
              </p:ext>
            </p:extLst>
          </p:nvPr>
        </p:nvGraphicFramePr>
        <p:xfrm>
          <a:off x="3886200" y="6096000"/>
          <a:ext cx="1343025" cy="425450"/>
        </p:xfrm>
        <a:graphic>
          <a:graphicData uri="http://schemas.openxmlformats.org/presentationml/2006/ole">
            <mc:AlternateContent xmlns:mc="http://schemas.openxmlformats.org/markup-compatibility/2006">
              <mc:Choice xmlns:v="urn:schemas-microsoft-com:vml" Requires="v">
                <p:oleObj spid="_x0000_s94797" name="Equation" r:id="rId25" imgW="761669" imgH="241195" progId="Equation.3">
                  <p:embed/>
                </p:oleObj>
              </mc:Choice>
              <mc:Fallback>
                <p:oleObj name="Equation" r:id="rId25" imgW="761669" imgH="241195"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86200" y="6096000"/>
                        <a:ext cx="134302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2"/>
          <p:cNvGraphicFramePr>
            <a:graphicFrameLocks noChangeAspect="1"/>
          </p:cNvGraphicFramePr>
          <p:nvPr>
            <p:extLst>
              <p:ext uri="{D42A27DB-BD31-4B8C-83A1-F6EECF244321}">
                <p14:modId xmlns:p14="http://schemas.microsoft.com/office/powerpoint/2010/main" val="933271665"/>
              </p:ext>
            </p:extLst>
          </p:nvPr>
        </p:nvGraphicFramePr>
        <p:xfrm>
          <a:off x="2895600" y="6096000"/>
          <a:ext cx="360363" cy="528638"/>
        </p:xfrm>
        <a:graphic>
          <a:graphicData uri="http://schemas.openxmlformats.org/presentationml/2006/ole">
            <mc:AlternateContent xmlns:mc="http://schemas.openxmlformats.org/markup-compatibility/2006">
              <mc:Choice xmlns:v="urn:schemas-microsoft-com:vml" Requires="v">
                <p:oleObj spid="_x0000_s94798" name="Equation" r:id="rId26" imgW="190500" imgH="279400" progId="Equation.3">
                  <p:embed/>
                </p:oleObj>
              </mc:Choice>
              <mc:Fallback>
                <p:oleObj name="Equation" r:id="rId26" imgW="190500" imgH="279400" progId="Equation.3">
                  <p:embed/>
                  <p:pic>
                    <p:nvPicPr>
                      <p:cNvPr id="0" name=""/>
                      <p:cNvPicPr>
                        <a:picLocks noChangeAspect="1" noChangeArrowheads="1"/>
                      </p:cNvPicPr>
                      <p:nvPr/>
                    </p:nvPicPr>
                    <p:blipFill>
                      <a:blip r:embed="rId18"/>
                      <a:srcRect/>
                      <a:stretch>
                        <a:fillRect/>
                      </a:stretch>
                    </p:blipFill>
                    <p:spPr bwMode="auto">
                      <a:xfrm>
                        <a:off x="2895600" y="6096000"/>
                        <a:ext cx="360363"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Rot="1" noChangeAspect="1" noMove="1" noResize="1" noEditPoints="1" noAdjustHandles="1" noChangeArrowheads="1" noChangeShapeType="1" noTextEdit="1"/>
          </p:cNvSpPr>
          <p:nvPr>
            <p:ph type="body" sz="half" idx="4294967295"/>
          </p:nvPr>
        </p:nvSpPr>
        <p:spPr>
          <a:xfrm>
            <a:off x="152400" y="152400"/>
            <a:ext cx="8610600" cy="6172200"/>
          </a:xfrm>
          <a:blipFill rotWithShape="1">
            <a:blip r:embed="rId4"/>
            <a:stretch>
              <a:fillRect l="-1062" b="-987"/>
            </a:stretch>
          </a:blipFill>
          <a:extLst/>
        </p:spPr>
        <p:txBody>
          <a:bodyPr/>
          <a:lstStyle/>
          <a:p>
            <a:pPr>
              <a:defRPr/>
            </a:pPr>
            <a:r>
              <a:rPr lang="en-US" dirty="0">
                <a:noFill/>
              </a:rPr>
              <a:t> </a:t>
            </a:r>
          </a:p>
        </p:txBody>
      </p:sp>
      <p:cxnSp>
        <p:nvCxnSpPr>
          <p:cNvPr id="10243"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024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0245"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89794" name="Equation" r:id="rId5" imgW="114102" imgH="177492" progId="Equation.DSMT4">
                  <p:embed/>
                </p:oleObj>
              </mc:Choice>
              <mc:Fallback>
                <p:oleObj name="Equation" r:id="rId5" imgW="114102" imgH="177492"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6"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89795" name="Equation" r:id="rId7" imgW="114102" imgH="177492" progId="Equation.DSMT4">
                  <p:embed/>
                </p:oleObj>
              </mc:Choice>
              <mc:Fallback>
                <p:oleObj name="Equation" r:id="rId7" imgW="114102" imgH="177492"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0248" name="Slide Number Placeholder 18"/>
          <p:cNvSpPr txBox="1">
            <a:spLocks noGrp="1"/>
          </p:cNvSpPr>
          <p:nvPr/>
        </p:nvSpPr>
        <p:spPr bwMode="auto">
          <a:xfrm>
            <a:off x="2438400" y="5596969"/>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endParaRPr lang="en-US" altLang="zh-CN" sz="1400" dirty="0">
              <a:solidFill>
                <a:srgbClr val="898989"/>
              </a:solidFill>
            </a:endParaRPr>
          </a:p>
        </p:txBody>
      </p:sp>
      <p:graphicFrame>
        <p:nvGraphicFramePr>
          <p:cNvPr id="10249" name="Object 11"/>
          <p:cNvGraphicFramePr>
            <a:graphicFrameLocks noChangeAspect="1"/>
          </p:cNvGraphicFramePr>
          <p:nvPr/>
        </p:nvGraphicFramePr>
        <p:xfrm>
          <a:off x="1066800" y="457200"/>
          <a:ext cx="2022475" cy="857250"/>
        </p:xfrm>
        <a:graphic>
          <a:graphicData uri="http://schemas.openxmlformats.org/presentationml/2006/ole">
            <mc:AlternateContent xmlns:mc="http://schemas.openxmlformats.org/markup-compatibility/2006">
              <mc:Choice xmlns:v="urn:schemas-microsoft-com:vml" Requires="v">
                <p:oleObj spid="_x0000_s89796" name="Equation" r:id="rId8" imgW="1167893" imgH="495085" progId="Equation.DSMT4">
                  <p:embed/>
                </p:oleObj>
              </mc:Choice>
              <mc:Fallback>
                <p:oleObj name="Equation" r:id="rId8" imgW="1167893" imgH="495085"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457200"/>
                        <a:ext cx="202247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0" name="Object 12"/>
          <p:cNvGraphicFramePr>
            <a:graphicFrameLocks noChangeAspect="1"/>
          </p:cNvGraphicFramePr>
          <p:nvPr/>
        </p:nvGraphicFramePr>
        <p:xfrm>
          <a:off x="609600" y="1828800"/>
          <a:ext cx="496888" cy="471488"/>
        </p:xfrm>
        <a:graphic>
          <a:graphicData uri="http://schemas.openxmlformats.org/presentationml/2006/ole">
            <mc:AlternateContent xmlns:mc="http://schemas.openxmlformats.org/markup-compatibility/2006">
              <mc:Choice xmlns:v="urn:schemas-microsoft-com:vml" Requires="v">
                <p:oleObj spid="_x0000_s89797" name="Equation" r:id="rId10" imgW="253890" imgH="241195" progId="Equation.DSMT4">
                  <p:embed/>
                </p:oleObj>
              </mc:Choice>
              <mc:Fallback>
                <p:oleObj name="Equation" r:id="rId10" imgW="253890" imgH="241195"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1828800"/>
                        <a:ext cx="496888"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1" name="Object 6"/>
          <p:cNvGraphicFramePr>
            <a:graphicFrameLocks noChangeAspect="1"/>
          </p:cNvGraphicFramePr>
          <p:nvPr/>
        </p:nvGraphicFramePr>
        <p:xfrm>
          <a:off x="609600" y="2667000"/>
          <a:ext cx="444500" cy="496888"/>
        </p:xfrm>
        <a:graphic>
          <a:graphicData uri="http://schemas.openxmlformats.org/presentationml/2006/ole">
            <mc:AlternateContent xmlns:mc="http://schemas.openxmlformats.org/markup-compatibility/2006">
              <mc:Choice xmlns:v="urn:schemas-microsoft-com:vml" Requires="v">
                <p:oleObj spid="_x0000_s89798" name="Equation" r:id="rId12" imgW="215713" imgH="241091" progId="Equation.DSMT4">
                  <p:embed/>
                </p:oleObj>
              </mc:Choice>
              <mc:Fallback>
                <p:oleObj name="Equation" r:id="rId12" imgW="215713" imgH="241091"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9600" y="2667000"/>
                        <a:ext cx="4445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2" name="Object 14"/>
          <p:cNvGraphicFramePr>
            <a:graphicFrameLocks noChangeAspect="1"/>
          </p:cNvGraphicFramePr>
          <p:nvPr>
            <p:extLst>
              <p:ext uri="{D42A27DB-BD31-4B8C-83A1-F6EECF244321}">
                <p14:modId xmlns:p14="http://schemas.microsoft.com/office/powerpoint/2010/main" val="1371515016"/>
              </p:ext>
            </p:extLst>
          </p:nvPr>
        </p:nvGraphicFramePr>
        <p:xfrm>
          <a:off x="685800" y="3581400"/>
          <a:ext cx="366713" cy="496888"/>
        </p:xfrm>
        <a:graphic>
          <a:graphicData uri="http://schemas.openxmlformats.org/presentationml/2006/ole">
            <mc:AlternateContent xmlns:mc="http://schemas.openxmlformats.org/markup-compatibility/2006">
              <mc:Choice xmlns:v="urn:schemas-microsoft-com:vml" Requires="v">
                <p:oleObj spid="_x0000_s89799" name="Equation" r:id="rId14" imgW="177646" imgH="241091" progId="Equation.DSMT4">
                  <p:embed/>
                </p:oleObj>
              </mc:Choice>
              <mc:Fallback>
                <p:oleObj name="Equation" r:id="rId14" imgW="177646" imgH="241091" progId="Equation.DSMT4">
                  <p:embed/>
                  <p:pic>
                    <p:nvPicPr>
                      <p:cNvPr id="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5800" y="3581400"/>
                        <a:ext cx="36671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3" name="Object 15"/>
          <p:cNvGraphicFramePr>
            <a:graphicFrameLocks noChangeAspect="1"/>
          </p:cNvGraphicFramePr>
          <p:nvPr/>
        </p:nvGraphicFramePr>
        <p:xfrm>
          <a:off x="685800" y="4876800"/>
          <a:ext cx="392113" cy="496888"/>
        </p:xfrm>
        <a:graphic>
          <a:graphicData uri="http://schemas.openxmlformats.org/presentationml/2006/ole">
            <mc:AlternateContent xmlns:mc="http://schemas.openxmlformats.org/markup-compatibility/2006">
              <mc:Choice xmlns:v="urn:schemas-microsoft-com:vml" Requires="v">
                <p:oleObj spid="_x0000_s89800" name="Equation" r:id="rId16" imgW="190417" imgH="241195" progId="Equation.DSMT4">
                  <p:embed/>
                </p:oleObj>
              </mc:Choice>
              <mc:Fallback>
                <p:oleObj name="Equation" r:id="rId16" imgW="190417" imgH="241195" progId="Equation.DSMT4">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5800" y="4876800"/>
                        <a:ext cx="39211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4" name="Object 16"/>
          <p:cNvGraphicFramePr>
            <a:graphicFrameLocks noChangeAspect="1"/>
          </p:cNvGraphicFramePr>
          <p:nvPr>
            <p:extLst>
              <p:ext uri="{D42A27DB-BD31-4B8C-83A1-F6EECF244321}">
                <p14:modId xmlns:p14="http://schemas.microsoft.com/office/powerpoint/2010/main" val="1371908266"/>
              </p:ext>
            </p:extLst>
          </p:nvPr>
        </p:nvGraphicFramePr>
        <p:xfrm>
          <a:off x="2982913" y="3797300"/>
          <a:ext cx="293687" cy="317500"/>
        </p:xfrm>
        <a:graphic>
          <a:graphicData uri="http://schemas.openxmlformats.org/presentationml/2006/ole">
            <mc:AlternateContent xmlns:mc="http://schemas.openxmlformats.org/markup-compatibility/2006">
              <mc:Choice xmlns:v="urn:schemas-microsoft-com:vml" Requires="v">
                <p:oleObj spid="_x0000_s89801" name="Equation" r:id="rId18" imgW="164880" imgH="177480" progId="Equation.DSMT4">
                  <p:embed/>
                </p:oleObj>
              </mc:Choice>
              <mc:Fallback>
                <p:oleObj name="Equation" r:id="rId18" imgW="164880" imgH="177480" progId="Equation.DSMT4">
                  <p:embed/>
                  <p:pic>
                    <p:nvPicPr>
                      <p:cNvPr id="0" name="Object 16"/>
                      <p:cNvPicPr>
                        <a:picLocks noChangeAspect="1" noChangeArrowheads="1"/>
                      </p:cNvPicPr>
                      <p:nvPr/>
                    </p:nvPicPr>
                    <p:blipFill>
                      <a:blip r:embed="rId19"/>
                      <a:srcRect/>
                      <a:stretch>
                        <a:fillRect/>
                      </a:stretch>
                    </p:blipFill>
                    <p:spPr bwMode="auto">
                      <a:xfrm>
                        <a:off x="2982913" y="3797300"/>
                        <a:ext cx="2936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5" name="Object 1"/>
          <p:cNvGraphicFramePr>
            <a:graphicFrameLocks noChangeAspect="1"/>
          </p:cNvGraphicFramePr>
          <p:nvPr>
            <p:extLst>
              <p:ext uri="{D42A27DB-BD31-4B8C-83A1-F6EECF244321}">
                <p14:modId xmlns:p14="http://schemas.microsoft.com/office/powerpoint/2010/main" val="342383963"/>
              </p:ext>
            </p:extLst>
          </p:nvPr>
        </p:nvGraphicFramePr>
        <p:xfrm>
          <a:off x="4876800" y="5410200"/>
          <a:ext cx="339725" cy="317500"/>
        </p:xfrm>
        <a:graphic>
          <a:graphicData uri="http://schemas.openxmlformats.org/presentationml/2006/ole">
            <mc:AlternateContent xmlns:mc="http://schemas.openxmlformats.org/markup-compatibility/2006">
              <mc:Choice xmlns:v="urn:schemas-microsoft-com:vml" Requires="v">
                <p:oleObj spid="_x0000_s89802" name="Equation" r:id="rId20" imgW="190335" imgH="177646" progId="Equation.DSMT4">
                  <p:embed/>
                </p:oleObj>
              </mc:Choice>
              <mc:Fallback>
                <p:oleObj name="Equation" r:id="rId20" imgW="190335" imgH="177646" progId="Equation.DSMT4">
                  <p:embed/>
                  <p:pic>
                    <p:nvPicPr>
                      <p:cNvPr id="0" name="Object 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76800" y="5410200"/>
                        <a:ext cx="3397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6" name="Object 2"/>
          <p:cNvGraphicFramePr>
            <a:graphicFrameLocks noChangeAspect="1"/>
          </p:cNvGraphicFramePr>
          <p:nvPr>
            <p:extLst>
              <p:ext uri="{D42A27DB-BD31-4B8C-83A1-F6EECF244321}">
                <p14:modId xmlns:p14="http://schemas.microsoft.com/office/powerpoint/2010/main" val="3315594776"/>
              </p:ext>
            </p:extLst>
          </p:nvPr>
        </p:nvGraphicFramePr>
        <p:xfrm>
          <a:off x="3065462" y="5092700"/>
          <a:ext cx="363538" cy="317500"/>
        </p:xfrm>
        <a:graphic>
          <a:graphicData uri="http://schemas.openxmlformats.org/presentationml/2006/ole">
            <mc:AlternateContent xmlns:mc="http://schemas.openxmlformats.org/markup-compatibility/2006">
              <mc:Choice xmlns:v="urn:schemas-microsoft-com:vml" Requires="v">
                <p:oleObj spid="_x0000_s89803" name="Equation" r:id="rId22" imgW="203040" imgH="177480" progId="Equation.DSMT4">
                  <p:embed/>
                </p:oleObj>
              </mc:Choice>
              <mc:Fallback>
                <p:oleObj name="Equation" r:id="rId22" imgW="203040" imgH="177480" progId="Equation.DSMT4">
                  <p:embed/>
                  <p:pic>
                    <p:nvPicPr>
                      <p:cNvPr id="0" name="Object 2"/>
                      <p:cNvPicPr>
                        <a:picLocks noChangeAspect="1" noChangeArrowheads="1"/>
                      </p:cNvPicPr>
                      <p:nvPr/>
                    </p:nvPicPr>
                    <p:blipFill>
                      <a:blip r:embed="rId23"/>
                      <a:srcRect/>
                      <a:stretch>
                        <a:fillRect/>
                      </a:stretch>
                    </p:blipFill>
                    <p:spPr bwMode="auto">
                      <a:xfrm>
                        <a:off x="3065462" y="5092700"/>
                        <a:ext cx="363538"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3962400" y="5029200"/>
            <a:ext cx="3775393" cy="369332"/>
          </a:xfrm>
          <a:prstGeom prst="rect">
            <a:avLst/>
          </a:prstGeom>
          <a:solidFill>
            <a:schemeClr val="bg1"/>
          </a:solidFill>
        </p:spPr>
        <p:txBody>
          <a:bodyPr wrap="none" rtlCol="0">
            <a:spAutoFit/>
          </a:bodyPr>
          <a:lstStyle/>
          <a:p>
            <a:r>
              <a:rPr lang="en-US" dirty="0" smtClean="0"/>
              <a:t>                                                        </a:t>
            </a:r>
            <a:endParaRPr lang="en-US" dirty="0"/>
          </a:p>
        </p:txBody>
      </p:sp>
      <p:sp>
        <p:nvSpPr>
          <p:cNvPr id="4" name="TextBox 3"/>
          <p:cNvSpPr txBox="1"/>
          <p:nvPr/>
        </p:nvSpPr>
        <p:spPr>
          <a:xfrm>
            <a:off x="533400" y="5410200"/>
            <a:ext cx="5121915" cy="369332"/>
          </a:xfrm>
          <a:prstGeom prst="rect">
            <a:avLst/>
          </a:prstGeom>
          <a:solidFill>
            <a:schemeClr val="bg1"/>
          </a:solidFill>
        </p:spPr>
        <p:txBody>
          <a:bodyPr wrap="none" rtlCol="0">
            <a:spAutoFit/>
          </a:bodyPr>
          <a:lstStyle/>
          <a:p>
            <a:r>
              <a:rPr lang="en-US" dirty="0" smtClean="0"/>
              <a:t>                                                                             </a:t>
            </a:r>
            <a:endParaRPr lang="en-US" dirty="0"/>
          </a:p>
        </p:txBody>
      </p:sp>
      <p:pic>
        <p:nvPicPr>
          <p:cNvPr id="37368" name="Picture 15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9600" y="5943600"/>
            <a:ext cx="3886200" cy="437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676" name="Rectangle 2"/>
              <p:cNvSpPr>
                <a:spLocks noGrp="1" noChangeArrowheads="1"/>
              </p:cNvSpPr>
              <p:nvPr>
                <p:ph type="body" sz="half" idx="4294967295"/>
              </p:nvPr>
            </p:nvSpPr>
            <p:spPr>
              <a:xfrm>
                <a:off x="304800" y="152400"/>
                <a:ext cx="8458200" cy="6172200"/>
              </a:xfrm>
            </p:spPr>
            <p:txBody>
              <a:bodyPr lIns="92075" tIns="46038" rIns="92075" bIns="46038"/>
              <a:lstStyle/>
              <a:p>
                <a:pPr>
                  <a:buNone/>
                  <a:defRPr/>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Greenland </a:t>
                </a:r>
                <a:r>
                  <a:rPr lang="en-US" sz="2400" b="1" dirty="0">
                    <a:latin typeface="Times New Roman" pitchFamily="18" charset="0"/>
                    <a:cs typeface="Times New Roman" pitchFamily="18" charset="0"/>
                  </a:rPr>
                  <a:t>S. (1988)</a:t>
                </a:r>
              </a:p>
              <a:p>
                <a:pPr>
                  <a:buNone/>
                  <a:defRPr/>
                </a:pPr>
                <a:r>
                  <a:rPr lang="en-US" sz="2400" dirty="0">
                    <a:latin typeface="Times New Roman" pitchFamily="18" charset="0"/>
                    <a:cs typeface="Times New Roman" pitchFamily="18" charset="0"/>
                  </a:rPr>
                  <a:t>Recall that           is the odds </a:t>
                </a:r>
                <a:r>
                  <a:rPr lang="en-US" sz="2400" dirty="0" smtClean="0">
                    <a:latin typeface="Times New Roman" pitchFamily="18" charset="0"/>
                    <a:cs typeface="Times New Roman" pitchFamily="18" charset="0"/>
                  </a:rPr>
                  <a:t>ratio </a:t>
                </a:r>
                <a:r>
                  <a:rPr lang="en-US" sz="2400" dirty="0">
                    <a:latin typeface="Times New Roman" pitchFamily="18" charset="0"/>
                    <a:cs typeface="Times New Roman" pitchFamily="18" charset="0"/>
                  </a:rPr>
                  <a:t>from the </a:t>
                </a:r>
                <a:r>
                  <a:rPr lang="en-US" sz="2400" b="1" dirty="0">
                    <a:solidFill>
                      <a:srgbClr val="0000FF"/>
                    </a:solidFill>
                    <a:latin typeface="Times New Roman" pitchFamily="18" charset="0"/>
                    <a:cs typeface="Times New Roman" pitchFamily="18" charset="0"/>
                  </a:rPr>
                  <a:t>matrix</a:t>
                </a:r>
                <a:r>
                  <a:rPr lang="en-US" sz="2400" b="1" dirty="0">
                    <a:latin typeface="Times New Roman" pitchFamily="18" charset="0"/>
                    <a:cs typeface="Times New Roman" pitchFamily="18" charset="0"/>
                  </a:rPr>
                  <a:t> </a:t>
                </a:r>
                <a:r>
                  <a:rPr lang="en-US" sz="2400" b="1" dirty="0">
                    <a:solidFill>
                      <a:srgbClr val="0000FF"/>
                    </a:solidFill>
                    <a:latin typeface="Times New Roman" pitchFamily="18" charset="0"/>
                    <a:cs typeface="Times New Roman" pitchFamily="18" charset="0"/>
                  </a:rPr>
                  <a:t>method</a:t>
                </a:r>
                <a:r>
                  <a:rPr lang="en-US" sz="2400" dirty="0">
                    <a:latin typeface="Times New Roman" pitchFamily="18" charset="0"/>
                    <a:cs typeface="Times New Roman" pitchFamily="18" charset="0"/>
                  </a:rPr>
                  <a:t>. Then, in a </a:t>
                </a:r>
                <a:r>
                  <a:rPr lang="en-US" sz="2400" b="1" dirty="0">
                    <a:solidFill>
                      <a:srgbClr val="0000FF"/>
                    </a:solidFill>
                    <a:latin typeface="Times New Roman" pitchFamily="18" charset="0"/>
                    <a:cs typeface="Times New Roman" pitchFamily="18" charset="0"/>
                  </a:rPr>
                  <a:t>MS/IVS</a:t>
                </a:r>
                <a:r>
                  <a:rPr lang="en-US" sz="2400" dirty="0">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a:t>
                </a:r>
                <a14:m>
                  <m:oMath xmlns:m="http://schemas.openxmlformats.org/officeDocument/2006/math" xmlns="">
                    <m:r>
                      <m:rPr>
                        <m:sty m:val="p"/>
                      </m:rPr>
                      <a:rPr lang="el-GR" sz="2400" i="1">
                        <a:solidFill>
                          <a:srgbClr val="0000FF"/>
                        </a:solidFill>
                        <a:latin typeface="Cambria Math" panose="02040503050406030204" pitchFamily="18" charset="0"/>
                        <a:cs typeface="Times New Roman" pitchFamily="18" charset="0"/>
                      </a:rPr>
                      <m:t>λ</m:t>
                    </m:r>
                  </m:oMath>
                </a14:m>
                <a:r>
                  <a:rPr lang="en-US" sz="2400" dirty="0">
                    <a:solidFill>
                      <a:srgbClr val="0000FF"/>
                    </a:solidFill>
                    <a:latin typeface="Times New Roman" pitchFamily="18" charset="0"/>
                    <a:cs typeface="Times New Roman" pitchFamily="18" charset="0"/>
                  </a:rPr>
                  <a:t>, </a:t>
                </a:r>
                <a14:m>
                  <m:oMath xmlns:m="http://schemas.openxmlformats.org/officeDocument/2006/math" xmlns="">
                    <m:r>
                      <a:rPr lang="en-US" sz="2400" i="1">
                        <a:solidFill>
                          <a:srgbClr val="0000FF"/>
                        </a:solidFill>
                        <a:latin typeface="Cambria Math" panose="02040503050406030204" pitchFamily="18" charset="0"/>
                        <a:cs typeface="Times New Roman" pitchFamily="18" charset="0"/>
                      </a:rPr>
                      <m:t>𝑛</m:t>
                    </m:r>
                  </m:oMath>
                </a14:m>
                <a:r>
                  <a:rPr lang="en-US" sz="2400" dirty="0">
                    <a:solidFill>
                      <a:srgbClr val="0000FF"/>
                    </a:solidFill>
                    <a:latin typeface="Times New Roman" pitchFamily="18" charset="0"/>
                    <a:cs typeface="Times New Roman" pitchFamily="18" charset="0"/>
                  </a:rPr>
                  <a:t>) </a:t>
                </a:r>
                <a:r>
                  <a:rPr lang="en-US" sz="2400" dirty="0">
                    <a:latin typeface="Times New Roman" pitchFamily="18" charset="0"/>
                    <a:cs typeface="Times New Roman" pitchFamily="18" charset="0"/>
                  </a:rPr>
                  <a:t>can be obtained </a:t>
                </a:r>
                <a:r>
                  <a:rPr lang="en-US" sz="2400" dirty="0" smtClean="0">
                    <a:latin typeface="Times New Roman" pitchFamily="18" charset="0"/>
                    <a:cs typeface="Times New Roman" pitchFamily="18" charset="0"/>
                  </a:rPr>
                  <a:t>by solving</a:t>
                </a:r>
                <a:endParaRPr lang="en-US" sz="2400" dirty="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a:latin typeface="Times New Roman" pitchFamily="18" charset="0"/>
                  <a:cs typeface="Times New Roman" pitchFamily="18" charset="0"/>
                </a:endParaRPr>
              </a:p>
              <a:p>
                <a:pPr>
                  <a:buNone/>
                  <a:defRPr/>
                </a:pPr>
                <a:r>
                  <a:rPr lang="en-US" sz="2400" dirty="0">
                    <a:solidFill>
                      <a:srgbClr val="0000FF"/>
                    </a:solidFill>
                    <a:latin typeface="Times New Roman" pitchFamily="18" charset="0"/>
                    <a:cs typeface="Times New Roman" pitchFamily="18" charset="0"/>
                  </a:rPr>
                  <a:t>subject to the constraint </a:t>
                </a:r>
                <a:r>
                  <a:rPr lang="en-US" sz="2400" dirty="0">
                    <a:latin typeface="Times New Roman" pitchFamily="18" charset="0"/>
                    <a:cs typeface="Times New Roman" pitchFamily="18" charset="0"/>
                  </a:rPr>
                  <a:t>that                                       </a:t>
                </a:r>
                <a:r>
                  <a:rPr lang="en-US" sz="2400" dirty="0" smtClean="0">
                    <a:latin typeface="Times New Roman" pitchFamily="18" charset="0"/>
                    <a:cs typeface="Times New Roman" pitchFamily="18" charset="0"/>
                  </a:rPr>
                  <a:t>=</a:t>
                </a:r>
                <a:r>
                  <a:rPr lang="en-US" sz="2400" dirty="0">
                    <a:latin typeface="Times New Roman" pitchFamily="18" charset="0"/>
                    <a:cs typeface="Times New Roman" pitchFamily="18" charset="0"/>
                  </a:rPr>
                  <a:t>a given $, </a:t>
                </a:r>
              </a:p>
              <a:p>
                <a:pPr>
                  <a:buNone/>
                  <a:defRPr/>
                </a:pPr>
                <a:endParaRPr lang="en-US" sz="800" dirty="0">
                  <a:latin typeface="Times New Roman" pitchFamily="18" charset="0"/>
                  <a:cs typeface="Times New Roman" pitchFamily="18" charset="0"/>
                </a:endParaRPr>
              </a:p>
              <a:p>
                <a:pPr>
                  <a:buNone/>
                  <a:defRPr/>
                </a:pPr>
                <a:r>
                  <a:rPr lang="en-US" sz="2400" dirty="0" smtClean="0">
                    <a:latin typeface="Times New Roman" pitchFamily="18" charset="0"/>
                    <a:cs typeface="Times New Roman" pitchFamily="18" charset="0"/>
                  </a:rPr>
                  <a:t>where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We  have assumed that</a:t>
                </a:r>
                <a:r>
                  <a:rPr lang="en-US" sz="2400" b="1" dirty="0" smtClean="0">
                    <a:solidFill>
                      <a:srgbClr val="0000FF"/>
                    </a:solidFill>
                    <a:latin typeface="Times New Roman" pitchFamily="18" charset="0"/>
                    <a:cs typeface="Times New Roman" pitchFamily="18" charset="0"/>
                  </a:rPr>
                  <a:t> the fully validated design (         ) isn’t an option</a:t>
                </a:r>
                <a:r>
                  <a:rPr lang="en-US" sz="2400" dirty="0" smtClean="0">
                    <a:solidFill>
                      <a:srgbClr val="0000FF"/>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for ethical or feasibility reasons, the problem </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r>
                  <a:rPr lang="en-US"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mc:Choice>
        <mc:Fallback xmlns="">
          <p:sp>
            <p:nvSpPr>
              <p:cNvPr id="28676" name="Rectangle 2"/>
              <p:cNvSpPr>
                <a:spLocks noGrp="1" noRot="1" noChangeAspect="1" noMove="1" noResize="1" noEditPoints="1" noAdjustHandles="1" noChangeArrowheads="1" noChangeShapeType="1" noTextEdit="1"/>
              </p:cNvSpPr>
              <p:nvPr>
                <p:ph type="body" sz="half" idx="4294967295"/>
              </p:nvPr>
            </p:nvSpPr>
            <p:spPr>
              <a:xfrm>
                <a:off x="304800" y="152400"/>
                <a:ext cx="8458200" cy="6172200"/>
              </a:xfrm>
              <a:blipFill>
                <a:blip r:embed="rId4"/>
                <a:stretch>
                  <a:fillRect l="-1081" t="-790" r="-1153"/>
                </a:stretch>
              </a:blipFill>
            </p:spPr>
            <p:txBody>
              <a:bodyPr/>
              <a:lstStyle/>
              <a:p>
                <a:r>
                  <a:rPr lang="en-US">
                    <a:noFill/>
                  </a:rPr>
                  <a:t> </a:t>
                </a:r>
              </a:p>
            </p:txBody>
          </p:sp>
        </mc:Fallback>
      </mc:AlternateContent>
      <p:cxnSp>
        <p:nvCxnSpPr>
          <p:cNvPr id="12291"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229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2293"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2648" name="Equation" r:id="rId5" imgW="114102" imgH="177492" progId="Equation.DSMT4">
                  <p:embed/>
                </p:oleObj>
              </mc:Choice>
              <mc:Fallback>
                <p:oleObj name="Equation" r:id="rId5" imgW="114102" imgH="177492" progId="Equation.DSMT4">
                  <p:embed/>
                  <p:pic>
                    <p:nvPicPr>
                      <p:cNvPr id="12293"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4"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2649" name="Equation" r:id="rId7" imgW="114102" imgH="177492" progId="Equation.DSMT4">
                  <p:embed/>
                </p:oleObj>
              </mc:Choice>
              <mc:Fallback>
                <p:oleObj name="Equation" r:id="rId7" imgW="114102" imgH="177492" progId="Equation.DSMT4">
                  <p:embed/>
                  <p:pic>
                    <p:nvPicPr>
                      <p:cNvPr id="12294"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229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1F88D8FA-C3B0-441D-84B6-D24F4FA9A2B6}" type="slidenum">
              <a:rPr lang="zh-CN" altLang="en-US" sz="1200">
                <a:solidFill>
                  <a:srgbClr val="898989"/>
                </a:solidFill>
              </a:rPr>
              <a:pPr algn="r" eaLnBrk="1" hangingPunct="1">
                <a:spcBef>
                  <a:spcPct val="0"/>
                </a:spcBef>
                <a:buFontTx/>
                <a:buNone/>
              </a:pPr>
              <a:t>10</a:t>
            </a:fld>
            <a:endParaRPr lang="en-US" altLang="zh-CN" sz="1200">
              <a:solidFill>
                <a:srgbClr val="898989"/>
              </a:solidFill>
            </a:endParaRPr>
          </a:p>
        </p:txBody>
      </p:sp>
      <p:graphicFrame>
        <p:nvGraphicFramePr>
          <p:cNvPr id="12297" name="Object 12"/>
          <p:cNvGraphicFramePr>
            <a:graphicFrameLocks noChangeAspect="1"/>
          </p:cNvGraphicFramePr>
          <p:nvPr>
            <p:extLst>
              <p:ext uri="{D42A27DB-BD31-4B8C-83A1-F6EECF244321}">
                <p14:modId xmlns:p14="http://schemas.microsoft.com/office/powerpoint/2010/main" val="1225986210"/>
              </p:ext>
            </p:extLst>
          </p:nvPr>
        </p:nvGraphicFramePr>
        <p:xfrm>
          <a:off x="6748734" y="4227467"/>
          <a:ext cx="762000" cy="381000"/>
        </p:xfrm>
        <a:graphic>
          <a:graphicData uri="http://schemas.openxmlformats.org/presentationml/2006/ole">
            <mc:AlternateContent xmlns:mc="http://schemas.openxmlformats.org/markup-compatibility/2006">
              <mc:Choice xmlns:v="urn:schemas-microsoft-com:vml" Requires="v">
                <p:oleObj spid="_x0000_s102650" name="Equation" r:id="rId8" imgW="380835" imgH="190417" progId="Equation.DSMT4">
                  <p:embed/>
                </p:oleObj>
              </mc:Choice>
              <mc:Fallback>
                <p:oleObj name="Equation" r:id="rId8" imgW="380835" imgH="190417" progId="Equation.DSMT4">
                  <p:embed/>
                  <p:pic>
                    <p:nvPicPr>
                      <p:cNvPr id="12297"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48734" y="4227467"/>
                        <a:ext cx="762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8" name="Object 5"/>
          <p:cNvGraphicFramePr>
            <a:graphicFrameLocks noChangeAspect="1"/>
          </p:cNvGraphicFramePr>
          <p:nvPr>
            <p:extLst>
              <p:ext uri="{D42A27DB-BD31-4B8C-83A1-F6EECF244321}">
                <p14:modId xmlns:p14="http://schemas.microsoft.com/office/powerpoint/2010/main" val="618141957"/>
              </p:ext>
            </p:extLst>
          </p:nvPr>
        </p:nvGraphicFramePr>
        <p:xfrm>
          <a:off x="422275" y="1524000"/>
          <a:ext cx="7232650" cy="836612"/>
        </p:xfrm>
        <a:graphic>
          <a:graphicData uri="http://schemas.openxmlformats.org/presentationml/2006/ole">
            <mc:AlternateContent xmlns:mc="http://schemas.openxmlformats.org/markup-compatibility/2006">
              <mc:Choice xmlns:v="urn:schemas-microsoft-com:vml" Requires="v">
                <p:oleObj spid="_x0000_s102651" name="Equation" r:id="rId10" imgW="3403600" imgH="393700" progId="Equation.3">
                  <p:embed/>
                </p:oleObj>
              </mc:Choice>
              <mc:Fallback>
                <p:oleObj name="Equation" r:id="rId10" imgW="3403600" imgH="393700" progId="Equation.3">
                  <p:embed/>
                  <p:pic>
                    <p:nvPicPr>
                      <p:cNvPr id="12298" name="Object 5"/>
                      <p:cNvPicPr>
                        <a:picLocks noChangeAspect="1" noChangeArrowheads="1"/>
                      </p:cNvPicPr>
                      <p:nvPr/>
                    </p:nvPicPr>
                    <p:blipFill>
                      <a:blip r:embed="rId11"/>
                      <a:srcRect/>
                      <a:stretch>
                        <a:fillRect/>
                      </a:stretch>
                    </p:blipFill>
                    <p:spPr bwMode="auto">
                      <a:xfrm>
                        <a:off x="422275" y="1524000"/>
                        <a:ext cx="7232650" cy="836612"/>
                      </a:xfrm>
                      <a:prstGeom prst="rect">
                        <a:avLst/>
                      </a:prstGeom>
                      <a:noFill/>
                      <a:ln>
                        <a:solidFill>
                          <a:srgbClr val="FF0000"/>
                        </a:solidFill>
                      </a:ln>
                      <a:effectLst/>
                      <a:extLst/>
                    </p:spPr>
                  </p:pic>
                </p:oleObj>
              </mc:Fallback>
            </mc:AlternateContent>
          </a:graphicData>
        </a:graphic>
      </p:graphicFrame>
      <p:graphicFrame>
        <p:nvGraphicFramePr>
          <p:cNvPr id="12299" name="Object 14"/>
          <p:cNvGraphicFramePr>
            <a:graphicFrameLocks noChangeAspect="1"/>
          </p:cNvGraphicFramePr>
          <p:nvPr>
            <p:extLst>
              <p:ext uri="{D42A27DB-BD31-4B8C-83A1-F6EECF244321}">
                <p14:modId xmlns:p14="http://schemas.microsoft.com/office/powerpoint/2010/main" val="2758239877"/>
              </p:ext>
            </p:extLst>
          </p:nvPr>
        </p:nvGraphicFramePr>
        <p:xfrm>
          <a:off x="3886200" y="2705100"/>
          <a:ext cx="2890837" cy="533400"/>
        </p:xfrm>
        <a:graphic>
          <a:graphicData uri="http://schemas.openxmlformats.org/presentationml/2006/ole">
            <mc:AlternateContent xmlns:mc="http://schemas.openxmlformats.org/markup-compatibility/2006">
              <mc:Choice xmlns:v="urn:schemas-microsoft-com:vml" Requires="v">
                <p:oleObj spid="_x0000_s102652" name="Equation" r:id="rId12" imgW="1307880" imgH="241200" progId="Equation.DSMT4">
                  <p:embed/>
                </p:oleObj>
              </mc:Choice>
              <mc:Fallback>
                <p:oleObj name="Equation" r:id="rId12" imgW="1307880" imgH="241200" progId="Equation.DSMT4">
                  <p:embed/>
                  <p:pic>
                    <p:nvPicPr>
                      <p:cNvPr id="12299" name="Object 14"/>
                      <p:cNvPicPr>
                        <a:picLocks noChangeAspect="1" noChangeArrowheads="1"/>
                      </p:cNvPicPr>
                      <p:nvPr/>
                    </p:nvPicPr>
                    <p:blipFill>
                      <a:blip r:embed="rId13"/>
                      <a:srcRect/>
                      <a:stretch>
                        <a:fillRect/>
                      </a:stretch>
                    </p:blipFill>
                    <p:spPr bwMode="auto">
                      <a:xfrm>
                        <a:off x="3886200" y="2705100"/>
                        <a:ext cx="289083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300" name="Object 15"/>
          <p:cNvGraphicFramePr>
            <a:graphicFrameLocks noChangeAspect="1"/>
          </p:cNvGraphicFramePr>
          <p:nvPr>
            <p:extLst>
              <p:ext uri="{D42A27DB-BD31-4B8C-83A1-F6EECF244321}">
                <p14:modId xmlns:p14="http://schemas.microsoft.com/office/powerpoint/2010/main" val="709381556"/>
              </p:ext>
            </p:extLst>
          </p:nvPr>
        </p:nvGraphicFramePr>
        <p:xfrm>
          <a:off x="1295400" y="3275806"/>
          <a:ext cx="1295400" cy="457200"/>
        </p:xfrm>
        <a:graphic>
          <a:graphicData uri="http://schemas.openxmlformats.org/presentationml/2006/ole">
            <mc:AlternateContent xmlns:mc="http://schemas.openxmlformats.org/markup-compatibility/2006">
              <mc:Choice xmlns:v="urn:schemas-microsoft-com:vml" Requires="v">
                <p:oleObj spid="_x0000_s102653" name="Equation" r:id="rId14" imgW="647700" imgH="228600" progId="Equation.DSMT4">
                  <p:embed/>
                </p:oleObj>
              </mc:Choice>
              <mc:Fallback>
                <p:oleObj name="Equation" r:id="rId14" imgW="647700" imgH="228600" progId="Equation.DSMT4">
                  <p:embed/>
                  <p:pic>
                    <p:nvPicPr>
                      <p:cNvPr id="1230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95400" y="3275806"/>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5"/>
          <p:cNvGraphicFramePr>
            <a:graphicFrameLocks noChangeAspect="1"/>
          </p:cNvGraphicFramePr>
          <p:nvPr>
            <p:extLst>
              <p:ext uri="{D42A27DB-BD31-4B8C-83A1-F6EECF244321}">
                <p14:modId xmlns:p14="http://schemas.microsoft.com/office/powerpoint/2010/main" val="2218379271"/>
              </p:ext>
            </p:extLst>
          </p:nvPr>
        </p:nvGraphicFramePr>
        <p:xfrm>
          <a:off x="1829889" y="572589"/>
          <a:ext cx="590550" cy="433388"/>
        </p:xfrm>
        <a:graphic>
          <a:graphicData uri="http://schemas.openxmlformats.org/presentationml/2006/ole">
            <mc:AlternateContent xmlns:mc="http://schemas.openxmlformats.org/markup-compatibility/2006">
              <mc:Choice xmlns:v="urn:schemas-microsoft-com:vml" Requires="v">
                <p:oleObj spid="_x0000_s102654" name="Equation" r:id="rId16" imgW="381000" imgH="279400" progId="Equation.3">
                  <p:embed/>
                </p:oleObj>
              </mc:Choice>
              <mc:Fallback>
                <p:oleObj name="Equation" r:id="rId16" imgW="381000" imgH="279400" progId="Equation.3">
                  <p:embed/>
                  <p:pic>
                    <p:nvPicPr>
                      <p:cNvPr id="11275" name="Object 15"/>
                      <p:cNvPicPr>
                        <a:picLocks noChangeAspect="1" noChangeArrowheads="1"/>
                      </p:cNvPicPr>
                      <p:nvPr/>
                    </p:nvPicPr>
                    <p:blipFill>
                      <a:blip r:embed="rId17"/>
                      <a:srcRect/>
                      <a:stretch>
                        <a:fillRect/>
                      </a:stretch>
                    </p:blipFill>
                    <p:spPr bwMode="auto">
                      <a:xfrm>
                        <a:off x="1829889" y="572589"/>
                        <a:ext cx="590550" cy="43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86125139"/>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676" name="Rectangle 2"/>
              <p:cNvSpPr>
                <a:spLocks noGrp="1" noChangeArrowheads="1"/>
              </p:cNvSpPr>
              <p:nvPr>
                <p:ph type="body" sz="half" idx="4294967295"/>
              </p:nvPr>
            </p:nvSpPr>
            <p:spPr>
              <a:xfrm>
                <a:off x="152400" y="152400"/>
                <a:ext cx="8610600" cy="6172200"/>
              </a:xfrm>
            </p:spPr>
            <p:txBody>
              <a:bodyPr lIns="92075" tIns="46038" rIns="92075" bIns="46038"/>
              <a:lstStyle/>
              <a:p>
                <a:pPr>
                  <a:buNone/>
                  <a:defRPr/>
                </a:pPr>
                <a:r>
                  <a:rPr lang="en-US" sz="2200"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Greenland </a:t>
                </a:r>
                <a:r>
                  <a:rPr lang="en-US" sz="2800" b="1" dirty="0">
                    <a:latin typeface="Times New Roman" pitchFamily="18" charset="0"/>
                    <a:cs typeface="Times New Roman" pitchFamily="18" charset="0"/>
                  </a:rPr>
                  <a:t>S. (1988)</a:t>
                </a:r>
              </a:p>
              <a:p>
                <a:pPr>
                  <a:buFont typeface="Arial" charset="0"/>
                  <a:buNone/>
                  <a:defRPr/>
                </a:pPr>
                <a:r>
                  <a:rPr lang="en-US" sz="2200" dirty="0" smtClean="0">
                    <a:latin typeface="Times New Roman" pitchFamily="18" charset="0"/>
                    <a:cs typeface="Times New Roman" pitchFamily="18" charset="0"/>
                  </a:rPr>
                  <a:t>Recall that           is the odds ratio estimated in the validation study </a:t>
                </a:r>
              </a:p>
              <a:p>
                <a:pPr>
                  <a:buFont typeface="Arial" charset="0"/>
                  <a:buNone/>
                  <a:defRPr/>
                </a:pPr>
                <a:r>
                  <a:rPr lang="en-US" sz="2200" dirty="0" smtClean="0">
                    <a:latin typeface="Times New Roman" pitchFamily="18" charset="0"/>
                    <a:cs typeface="Times New Roman" pitchFamily="18" charset="0"/>
                  </a:rPr>
                  <a:t>without bias using data on                                                 . Then, in a </a:t>
                </a:r>
                <a:r>
                  <a:rPr lang="en-US" sz="2200" b="1" dirty="0" smtClean="0">
                    <a:solidFill>
                      <a:srgbClr val="0000FF"/>
                    </a:solidFill>
                    <a:latin typeface="Times New Roman" pitchFamily="18" charset="0"/>
                    <a:cs typeface="Times New Roman" pitchFamily="18" charset="0"/>
                  </a:rPr>
                  <a:t>MS/IVS</a:t>
                </a:r>
                <a:r>
                  <a:rPr lang="en-US" sz="2200" dirty="0" smtClean="0">
                    <a:latin typeface="Times New Roman" pitchFamily="18" charset="0"/>
                    <a:cs typeface="Times New Roman" pitchFamily="18" charset="0"/>
                  </a:rPr>
                  <a:t>, </a:t>
                </a:r>
                <a:r>
                  <a:rPr lang="en-US" sz="2200" dirty="0" smtClean="0">
                    <a:solidFill>
                      <a:srgbClr val="0000FF"/>
                    </a:solidFill>
                    <a:latin typeface="Times New Roman" pitchFamily="18" charset="0"/>
                    <a:cs typeface="Times New Roman" pitchFamily="18" charset="0"/>
                  </a:rPr>
                  <a:t>(</a:t>
                </a:r>
                <a14:m>
                  <m:oMath xmlns:m="http://schemas.openxmlformats.org/officeDocument/2006/math" xmlns="">
                    <m:r>
                      <m:rPr>
                        <m:sty m:val="p"/>
                      </m:rPr>
                      <a:rPr lang="el-GR" sz="2000" i="1">
                        <a:solidFill>
                          <a:srgbClr val="0000FF"/>
                        </a:solidFill>
                        <a:latin typeface="Cambria Math" panose="02040503050406030204" pitchFamily="18" charset="0"/>
                        <a:cs typeface="Times New Roman" pitchFamily="18" charset="0"/>
                      </a:rPr>
                      <m:t>λ</m:t>
                    </m:r>
                  </m:oMath>
                </a14:m>
                <a:r>
                  <a:rPr lang="en-US" sz="2200" dirty="0" smtClean="0">
                    <a:solidFill>
                      <a:srgbClr val="0000FF"/>
                    </a:solidFill>
                    <a:latin typeface="Times New Roman" pitchFamily="18" charset="0"/>
                    <a:cs typeface="Times New Roman" pitchFamily="18" charset="0"/>
                  </a:rPr>
                  <a:t>, </a:t>
                </a:r>
                <a14:m>
                  <m:oMath xmlns:m="http://schemas.openxmlformats.org/officeDocument/2006/math" xmlns="">
                    <m:r>
                      <a:rPr lang="en-US" sz="2000" i="1" smtClean="0">
                        <a:solidFill>
                          <a:srgbClr val="0000FF"/>
                        </a:solidFill>
                        <a:latin typeface="Cambria Math" panose="02040503050406030204" pitchFamily="18" charset="0"/>
                        <a:cs typeface="Times New Roman" pitchFamily="18" charset="0"/>
                      </a:rPr>
                      <m:t>𝑛</m:t>
                    </m:r>
                  </m:oMath>
                </a14:m>
                <a:r>
                  <a:rPr lang="en-US" sz="2200" dirty="0" smtClean="0">
                    <a:solidFill>
                      <a:srgbClr val="0000FF"/>
                    </a:solidFill>
                    <a:latin typeface="Times New Roman" pitchFamily="18" charset="0"/>
                    <a:cs typeface="Times New Roman" pitchFamily="18" charset="0"/>
                  </a:rPr>
                  <a:t>) </a:t>
                </a:r>
                <a:r>
                  <a:rPr lang="en-US" sz="2200" dirty="0" smtClean="0">
                    <a:latin typeface="Times New Roman" pitchFamily="18" charset="0"/>
                    <a:cs typeface="Times New Roman" pitchFamily="18" charset="0"/>
                  </a:rPr>
                  <a:t>can be obtained </a:t>
                </a:r>
                <a:r>
                  <a:rPr lang="en-US" sz="2200" dirty="0" err="1" smtClean="0">
                    <a:latin typeface="Times New Roman" pitchFamily="18" charset="0"/>
                    <a:cs typeface="Times New Roman" pitchFamily="18" charset="0"/>
                  </a:rPr>
                  <a:t>s.t.</a:t>
                </a:r>
                <a:endParaRPr lang="en-US" sz="22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endParaRPr lang="en-US" sz="10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200" dirty="0" smtClean="0">
                    <a:latin typeface="Times New Roman" pitchFamily="18" charset="0"/>
                    <a:cs typeface="Times New Roman" pitchFamily="18" charset="0"/>
                  </a:rPr>
                  <a:t> </a:t>
                </a:r>
                <a:r>
                  <a:rPr lang="en-US" sz="2200" dirty="0" smtClean="0">
                    <a:solidFill>
                      <a:srgbClr val="0000FF"/>
                    </a:solidFill>
                    <a:latin typeface="Times New Roman" pitchFamily="18" charset="0"/>
                    <a:cs typeface="Times New Roman" pitchFamily="18" charset="0"/>
                  </a:rPr>
                  <a:t>subject to the constraint</a:t>
                </a:r>
                <a:r>
                  <a:rPr lang="en-US" sz="2200" dirty="0" smtClean="0">
                    <a:latin typeface="Times New Roman" pitchFamily="18" charset="0"/>
                    <a:cs typeface="Times New Roman" pitchFamily="18" charset="0"/>
                  </a:rPr>
                  <a:t> that  </a:t>
                </a:r>
                <a:r>
                  <a:rPr lang="en-US" sz="2200" i="1" dirty="0" smtClean="0">
                    <a:latin typeface="Times New Roman" pitchFamily="18" charset="0"/>
                    <a:cs typeface="Times New Roman" pitchFamily="18" charset="0"/>
                  </a:rPr>
                  <a:t>Cost</a:t>
                </a:r>
                <a:r>
                  <a:rPr lang="en-US" sz="2200" dirty="0" smtClean="0">
                    <a:latin typeface="Times New Roman" pitchFamily="18" charset="0"/>
                    <a:cs typeface="Times New Roman" pitchFamily="18" charset="0"/>
                  </a:rPr>
                  <a:t> = a given $, where  </a:t>
                </a: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endParaRPr lang="en-US" sz="1200" dirty="0" smtClean="0">
                  <a:latin typeface="Times New Roman" pitchFamily="18" charset="0"/>
                  <a:cs typeface="Times New Roman" pitchFamily="18" charset="0"/>
                </a:endParaRPr>
              </a:p>
              <a:p>
                <a:pPr>
                  <a:buNone/>
                  <a:defRPr/>
                </a:pPr>
                <a:r>
                  <a:rPr lang="en-US" sz="2200" dirty="0" smtClean="0">
                    <a:latin typeface="Times New Roman" pitchFamily="18" charset="0"/>
                    <a:cs typeface="Times New Roman" pitchFamily="18" charset="0"/>
                  </a:rPr>
                  <a:t>                                                             </a:t>
                </a:r>
                <a:r>
                  <a:rPr lang="en-US" sz="2200" dirty="0" smtClean="0">
                    <a:solidFill>
                      <a:srgbClr val="0000FF"/>
                    </a:solidFill>
                    <a:latin typeface="Times New Roman" pitchFamily="18" charset="0"/>
                    <a:cs typeface="Times New Roman" pitchFamily="18" charset="0"/>
                  </a:rPr>
                  <a:t>f</a:t>
                </a:r>
                <a:r>
                  <a:rPr lang="en-US" sz="2400" dirty="0" smtClean="0">
                    <a:solidFill>
                      <a:srgbClr val="0000FF"/>
                    </a:solidFill>
                    <a:latin typeface="Times New Roman" pitchFamily="18" charset="0"/>
                    <a:cs typeface="Times New Roman" pitchFamily="18" charset="0"/>
                  </a:rPr>
                  <a:t>or </a:t>
                </a:r>
                <a14:m>
                  <m:oMath xmlns:m="http://schemas.openxmlformats.org/officeDocument/2006/math" xmlns="">
                    <m:r>
                      <m:rPr>
                        <m:sty m:val="p"/>
                      </m:rPr>
                      <a:rPr lang="el-GR" sz="2400" i="1">
                        <a:solidFill>
                          <a:srgbClr val="0000FF"/>
                        </a:solidFill>
                        <a:latin typeface="Cambria Math" panose="02040503050406030204" pitchFamily="18" charset="0"/>
                        <a:cs typeface="Times New Roman" pitchFamily="18" charset="0"/>
                      </a:rPr>
                      <m:t>λ</m:t>
                    </m:r>
                    <m:r>
                      <a:rPr lang="en-US" sz="2400" b="0" i="1" smtClean="0">
                        <a:solidFill>
                          <a:srgbClr val="0000FF"/>
                        </a:solidFill>
                        <a:latin typeface="Cambria Math" panose="02040503050406030204" pitchFamily="18" charset="0"/>
                        <a:cs typeface="Times New Roman" pitchFamily="18" charset="0"/>
                      </a:rPr>
                      <m:t>&lt;</m:t>
                    </m:r>
                    <m:r>
                      <a:rPr lang="en-US" sz="2400" i="1">
                        <a:solidFill>
                          <a:srgbClr val="0000FF"/>
                        </a:solidFill>
                        <a:latin typeface="Cambria Math" panose="02040503050406030204" pitchFamily="18" charset="0"/>
                        <a:cs typeface="Times New Roman" pitchFamily="18" charset="0"/>
                      </a:rPr>
                      <m:t>1</m:t>
                    </m:r>
                  </m:oMath>
                </a14:m>
                <a:endParaRPr lang="en-US" sz="2200" dirty="0" smtClean="0">
                  <a:latin typeface="Times New Roman" pitchFamily="18" charset="0"/>
                  <a:cs typeface="Times New Roman" pitchFamily="18" charset="0"/>
                </a:endParaRP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2200" dirty="0" smtClean="0">
                    <a:solidFill>
                      <a:srgbClr val="0000FF"/>
                    </a:solidFill>
                    <a:latin typeface="Times New Roman" pitchFamily="18" charset="0"/>
                    <a:cs typeface="Times New Roman" pitchFamily="18" charset="0"/>
                  </a:rPr>
                  <a:t>     F</a:t>
                </a:r>
                <a:r>
                  <a:rPr lang="en-US" sz="2800" dirty="0" smtClean="0">
                    <a:solidFill>
                      <a:srgbClr val="0000FF"/>
                    </a:solidFill>
                    <a:latin typeface="Times New Roman" pitchFamily="18" charset="0"/>
                    <a:cs typeface="Times New Roman" pitchFamily="18" charset="0"/>
                  </a:rPr>
                  <a:t>or </a:t>
                </a:r>
                <a14:m>
                  <m:oMath xmlns:m="http://schemas.openxmlformats.org/officeDocument/2006/math" xmlns="">
                    <m:r>
                      <m:rPr>
                        <m:sty m:val="p"/>
                      </m:rPr>
                      <a:rPr lang="el-GR" sz="2800" i="1">
                        <a:solidFill>
                          <a:srgbClr val="0000FF"/>
                        </a:solidFill>
                        <a:latin typeface="Cambria Math" panose="02040503050406030204" pitchFamily="18" charset="0"/>
                        <a:cs typeface="Times New Roman" pitchFamily="18" charset="0"/>
                      </a:rPr>
                      <m:t>λ</m:t>
                    </m:r>
                    <m:r>
                      <a:rPr lang="en-US" sz="2800" i="1">
                        <a:solidFill>
                          <a:srgbClr val="0000FF"/>
                        </a:solidFill>
                        <a:latin typeface="Cambria Math" panose="02040503050406030204" pitchFamily="18" charset="0"/>
                        <a:cs typeface="Times New Roman" pitchFamily="18" charset="0"/>
                      </a:rPr>
                      <m:t>=1</m:t>
                    </m:r>
                  </m:oMath>
                </a14:m>
                <a:r>
                  <a:rPr lang="en-US" sz="2800" dirty="0" smtClean="0">
                    <a:latin typeface="Times New Roman" pitchFamily="18" charset="0"/>
                    <a:cs typeface="Times New Roman" pitchFamily="18" charset="0"/>
                  </a:rPr>
                  <a:t>, </a:t>
                </a:r>
                <a:r>
                  <a:rPr lang="en-US" sz="2800" i="1" dirty="0" smtClean="0">
                    <a:latin typeface="Times New Roman" pitchFamily="18" charset="0"/>
                    <a:cs typeface="Times New Roman" pitchFamily="18" charset="0"/>
                  </a:rPr>
                  <a:t>Cost </a:t>
                </a:r>
                <a:r>
                  <a:rPr lang="en-US" sz="2800" dirty="0" smtClean="0">
                    <a:latin typeface="Times New Roman" pitchFamily="18" charset="0"/>
                    <a:cs typeface="Times New Roman" pitchFamily="18" charset="0"/>
                  </a:rPr>
                  <a:t>= </a:t>
                </a:r>
                <a14:m>
                  <m:oMath xmlns:m="http://schemas.openxmlformats.org/officeDocument/2006/math" xmlns="">
                    <m:sSub>
                      <m:sSubPr>
                        <m:ctrlPr>
                          <a:rPr lang="en-US" sz="2800" i="1">
                            <a:latin typeface="Cambria Math" panose="02040503050406030204" pitchFamily="18" charset="0"/>
                            <a:cs typeface="Times New Roman" pitchFamily="18" charset="0"/>
                          </a:rPr>
                        </m:ctrlPr>
                      </m:sSubPr>
                      <m:e>
                        <m:r>
                          <a:rPr lang="en-US" sz="2800" b="0" i="1" smtClean="0">
                            <a:latin typeface="Cambria Math" panose="02040503050406030204" pitchFamily="18" charset="0"/>
                            <a:cs typeface="Times New Roman" pitchFamily="18" charset="0"/>
                          </a:rPr>
                          <m:t>𝑛</m:t>
                        </m:r>
                        <m:r>
                          <a:rPr lang="en-US" sz="2800" i="1">
                            <a:latin typeface="Cambria Math" panose="02040503050406030204" pitchFamily="18" charset="0"/>
                            <a:cs typeface="Times New Roman" pitchFamily="18" charset="0"/>
                          </a:rPr>
                          <m:t>𝑟</m:t>
                        </m:r>
                      </m:e>
                      <m:sub>
                        <m:r>
                          <a:rPr lang="en-US" sz="2800" b="0" i="1" smtClean="0">
                            <a:latin typeface="Cambria Math" panose="02040503050406030204" pitchFamily="18" charset="0"/>
                            <a:cs typeface="Times New Roman" pitchFamily="18" charset="0"/>
                          </a:rPr>
                          <m:t>𝑋</m:t>
                        </m:r>
                      </m:sub>
                    </m:sSub>
                  </m:oMath>
                </a14:m>
                <a:r>
                  <a:rPr lang="en-US" sz="2200" dirty="0" smtClean="0">
                    <a:solidFill>
                      <a:srgbClr val="0000FF"/>
                    </a:solidFill>
                    <a:latin typeface="Times New Roman" pitchFamily="18" charset="0"/>
                    <a:cs typeface="Times New Roman" pitchFamily="18" charset="0"/>
                  </a:rPr>
                  <a:t> if</a:t>
                </a:r>
                <a:r>
                  <a:rPr lang="en-US" sz="2200" dirty="0" smtClean="0">
                    <a:latin typeface="Times New Roman" pitchFamily="18" charset="0"/>
                    <a:cs typeface="Times New Roman" pitchFamily="18" charset="0"/>
                  </a:rPr>
                  <a:t>   Z </a:t>
                </a:r>
                <a:r>
                  <a:rPr lang="en-US" sz="2200" dirty="0" smtClean="0">
                    <a:solidFill>
                      <a:srgbClr val="FF0000"/>
                    </a:solidFill>
                    <a:latin typeface="Times New Roman" pitchFamily="18" charset="0"/>
                    <a:cs typeface="Times New Roman" pitchFamily="18" charset="0"/>
                  </a:rPr>
                  <a:t>can be eliminated </a:t>
                </a:r>
                <a:r>
                  <a:rPr lang="en-US" sz="2200" dirty="0" smtClean="0">
                    <a:latin typeface="Times New Roman" pitchFamily="18" charset="0"/>
                    <a:cs typeface="Times New Roman" pitchFamily="18" charset="0"/>
                  </a:rPr>
                  <a:t>in fully validated design;  </a:t>
                </a:r>
                <a:r>
                  <a:rPr lang="en-US" sz="2800" i="1" dirty="0" smtClean="0">
                    <a:latin typeface="Times New Roman" pitchFamily="18" charset="0"/>
                    <a:cs typeface="Times New Roman" pitchFamily="18" charset="0"/>
                  </a:rPr>
                  <a:t>Cost </a:t>
                </a:r>
                <a:r>
                  <a:rPr lang="en-US" sz="2800" dirty="0" smtClean="0">
                    <a:latin typeface="Times New Roman" pitchFamily="18" charset="0"/>
                    <a:cs typeface="Times New Roman" pitchFamily="18" charset="0"/>
                  </a:rPr>
                  <a:t>= </a:t>
                </a:r>
                <a14:m>
                  <m:oMath xmlns:m="http://schemas.openxmlformats.org/officeDocument/2006/math" xmlns="">
                    <m:sSub>
                      <m:sSubPr>
                        <m:ctrlPr>
                          <a:rPr lang="en-US" sz="2800" i="1">
                            <a:latin typeface="Cambria Math" panose="02040503050406030204" pitchFamily="18" charset="0"/>
                            <a:cs typeface="Times New Roman" pitchFamily="18" charset="0"/>
                          </a:rPr>
                        </m:ctrlPr>
                      </m:sSubPr>
                      <m:e>
                        <m:r>
                          <a:rPr lang="en-US" sz="2800" i="1">
                            <a:latin typeface="Cambria Math" panose="02040503050406030204" pitchFamily="18" charset="0"/>
                            <a:cs typeface="Times New Roman" pitchFamily="18" charset="0"/>
                          </a:rPr>
                          <m:t>𝑛</m:t>
                        </m:r>
                        <m:r>
                          <a:rPr lang="en-US" sz="2800" b="0" i="1" smtClean="0">
                            <a:latin typeface="Cambria Math" panose="02040503050406030204" pitchFamily="18" charset="0"/>
                            <a:cs typeface="Times New Roman" pitchFamily="18" charset="0"/>
                          </a:rPr>
                          <m:t>(</m:t>
                        </m:r>
                        <m:r>
                          <a:rPr lang="en-US" sz="2800" i="1">
                            <a:latin typeface="Cambria Math" panose="02040503050406030204" pitchFamily="18" charset="0"/>
                            <a:cs typeface="Times New Roman" pitchFamily="18" charset="0"/>
                          </a:rPr>
                          <m:t>𝑟</m:t>
                        </m:r>
                      </m:e>
                      <m:sub>
                        <m:r>
                          <a:rPr lang="en-US" sz="2800" i="1">
                            <a:latin typeface="Cambria Math" panose="02040503050406030204" pitchFamily="18" charset="0"/>
                            <a:cs typeface="Times New Roman" pitchFamily="18" charset="0"/>
                          </a:rPr>
                          <m:t>𝑋</m:t>
                        </m:r>
                      </m:sub>
                    </m:sSub>
                    <m:r>
                      <a:rPr lang="en-US" sz="2800" b="0" i="1" smtClean="0">
                        <a:latin typeface="Cambria Math" panose="02040503050406030204" pitchFamily="18" charset="0"/>
                        <a:cs typeface="Times New Roman" pitchFamily="18" charset="0"/>
                      </a:rPr>
                      <m:t>+</m:t>
                    </m:r>
                    <m:sSub>
                      <m:sSubPr>
                        <m:ctrlPr>
                          <a:rPr lang="en-US" sz="2800" i="1">
                            <a:latin typeface="Cambria Math" panose="02040503050406030204" pitchFamily="18" charset="0"/>
                            <a:cs typeface="Times New Roman" pitchFamily="18" charset="0"/>
                          </a:rPr>
                        </m:ctrlPr>
                      </m:sSubPr>
                      <m:e>
                        <m:r>
                          <a:rPr lang="en-US" sz="2800" i="1">
                            <a:latin typeface="Cambria Math" panose="02040503050406030204" pitchFamily="18" charset="0"/>
                            <a:cs typeface="Times New Roman" pitchFamily="18" charset="0"/>
                          </a:rPr>
                          <m:t>𝑟</m:t>
                        </m:r>
                      </m:e>
                      <m:sub>
                        <m:r>
                          <a:rPr lang="en-US" sz="2800" b="0" i="1" smtClean="0">
                            <a:latin typeface="Cambria Math" panose="02040503050406030204" pitchFamily="18" charset="0"/>
                            <a:cs typeface="Times New Roman" pitchFamily="18" charset="0"/>
                          </a:rPr>
                          <m:t>𝑍</m:t>
                        </m:r>
                      </m:sub>
                    </m:sSub>
                    <m:r>
                      <a:rPr lang="en-US" sz="2800" b="0" i="1" smtClean="0">
                        <a:latin typeface="Cambria Math" panose="02040503050406030204" pitchFamily="18" charset="0"/>
                        <a:cs typeface="Times New Roman" pitchFamily="18" charset="0"/>
                      </a:rPr>
                      <m:t>)</m:t>
                    </m:r>
                  </m:oMath>
                </a14:m>
                <a:r>
                  <a:rPr lang="en-US" sz="2800" dirty="0" smtClean="0">
                    <a:latin typeface="Times New Roman" pitchFamily="18" charset="0"/>
                    <a:cs typeface="Times New Roman" pitchFamily="18" charset="0"/>
                  </a:rPr>
                  <a:t> </a:t>
                </a:r>
                <a:r>
                  <a:rPr lang="en-US" sz="2200" dirty="0">
                    <a:solidFill>
                      <a:srgbClr val="0000FF"/>
                    </a:solidFill>
                    <a:latin typeface="Times New Roman" pitchFamily="18" charset="0"/>
                    <a:cs typeface="Times New Roman" pitchFamily="18" charset="0"/>
                  </a:rPr>
                  <a:t>if </a:t>
                </a:r>
                <a:r>
                  <a:rPr lang="en-US" sz="2200" dirty="0">
                    <a:latin typeface="Times New Roman" pitchFamily="18" charset="0"/>
                    <a:cs typeface="Times New Roman" pitchFamily="18" charset="0"/>
                  </a:rPr>
                  <a:t> </a:t>
                </a:r>
                <a:r>
                  <a:rPr lang="en-US" sz="2200" dirty="0">
                    <a:solidFill>
                      <a:srgbClr val="000000"/>
                    </a:solidFill>
                    <a:latin typeface="Times New Roman" pitchFamily="18" charset="0"/>
                    <a:cs typeface="Times New Roman" pitchFamily="18" charset="0"/>
                  </a:rPr>
                  <a:t>primary measurement </a:t>
                </a:r>
                <a:r>
                  <a:rPr lang="en-US" sz="2200" dirty="0" smtClean="0">
                    <a:solidFill>
                      <a:srgbClr val="000000"/>
                    </a:solidFill>
                    <a:latin typeface="Times New Roman" pitchFamily="18" charset="0"/>
                    <a:cs typeface="Times New Roman" pitchFamily="18" charset="0"/>
                  </a:rPr>
                  <a:t>Z </a:t>
                </a:r>
                <a:r>
                  <a:rPr lang="en-US" sz="2200" dirty="0">
                    <a:solidFill>
                      <a:srgbClr val="FF0000"/>
                    </a:solidFill>
                    <a:latin typeface="Times New Roman" pitchFamily="18" charset="0"/>
                    <a:cs typeface="Times New Roman" pitchFamily="18" charset="0"/>
                  </a:rPr>
                  <a:t>always </a:t>
                </a:r>
                <a:r>
                  <a:rPr lang="en-US" sz="2200" dirty="0" smtClean="0">
                    <a:solidFill>
                      <a:srgbClr val="FF0000"/>
                    </a:solidFill>
                    <a:latin typeface="Times New Roman" pitchFamily="18" charset="0"/>
                    <a:cs typeface="Times New Roman" pitchFamily="18" charset="0"/>
                  </a:rPr>
                  <a:t>necessary.</a:t>
                </a:r>
                <a:r>
                  <a:rPr lang="en-US" sz="22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mc:Choice>
        <mc:Fallback xmlns="">
          <p:sp>
            <p:nvSpPr>
              <p:cNvPr id="28676" name="Rectangle 2"/>
              <p:cNvSpPr>
                <a:spLocks noGrp="1" noRot="1" noChangeAspect="1" noMove="1" noResize="1" noEditPoints="1" noAdjustHandles="1" noChangeArrowheads="1" noChangeShapeType="1" noTextEdit="1"/>
              </p:cNvSpPr>
              <p:nvPr>
                <p:ph type="body" sz="half" idx="4294967295"/>
              </p:nvPr>
            </p:nvSpPr>
            <p:spPr>
              <a:xfrm>
                <a:off x="152400" y="152400"/>
                <a:ext cx="8610600" cy="6172200"/>
              </a:xfrm>
              <a:blipFill>
                <a:blip r:embed="rId4"/>
                <a:stretch>
                  <a:fillRect l="-920" t="-987"/>
                </a:stretch>
              </a:blipFill>
            </p:spPr>
            <p:txBody>
              <a:bodyPr/>
              <a:lstStyle/>
              <a:p>
                <a:r>
                  <a:rPr lang="en-US">
                    <a:noFill/>
                  </a:rPr>
                  <a:t> </a:t>
                </a:r>
              </a:p>
            </p:txBody>
          </p:sp>
        </mc:Fallback>
      </mc:AlternateContent>
      <p:cxnSp>
        <p:nvCxnSpPr>
          <p:cNvPr id="11267"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126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solidFill>
                <a:prstClr val="black"/>
              </a:solidFill>
              <a:latin typeface="Arial" charset="0"/>
            </a:endParaRPr>
          </a:p>
        </p:txBody>
      </p:sp>
      <p:graphicFrame>
        <p:nvGraphicFramePr>
          <p:cNvPr id="11269"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4528" name="Equation" r:id="rId5" imgW="114102" imgH="177492" progId="Equation.DSMT4">
                  <p:embed/>
                </p:oleObj>
              </mc:Choice>
              <mc:Fallback>
                <p:oleObj name="Equation" r:id="rId5" imgW="114102" imgH="17749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0"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4529" name="Equation" r:id="rId7" imgW="114102" imgH="177492" progId="Equation.DSMT4">
                  <p:embed/>
                </p:oleObj>
              </mc:Choice>
              <mc:Fallback>
                <p:oleObj name="Equation" r:id="rId7" imgW="114102" imgH="177492"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solidFill>
                <a:prstClr val="black"/>
              </a:solidFill>
              <a:latin typeface="Arial" charset="0"/>
            </a:endParaRPr>
          </a:p>
        </p:txBody>
      </p:sp>
      <p:sp>
        <p:nvSpPr>
          <p:cNvPr id="1127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74EB778A-333F-47BA-8209-3CE2F9E92BFC}" type="slidenum">
              <a:rPr lang="zh-CN" altLang="en-US" sz="1200">
                <a:solidFill>
                  <a:srgbClr val="898989"/>
                </a:solidFill>
              </a:rPr>
              <a:pPr algn="r" eaLnBrk="1" hangingPunct="1">
                <a:spcBef>
                  <a:spcPct val="0"/>
                </a:spcBef>
                <a:buFontTx/>
                <a:buNone/>
              </a:pPr>
              <a:t>11</a:t>
            </a:fld>
            <a:endParaRPr lang="en-US" altLang="zh-CN" sz="1200">
              <a:solidFill>
                <a:srgbClr val="898989"/>
              </a:solidFill>
            </a:endParaRPr>
          </a:p>
        </p:txBody>
      </p:sp>
      <p:graphicFrame>
        <p:nvGraphicFramePr>
          <p:cNvPr id="11273" name="Object 4"/>
          <p:cNvGraphicFramePr>
            <a:graphicFrameLocks noChangeAspect="1"/>
          </p:cNvGraphicFramePr>
          <p:nvPr>
            <p:extLst>
              <p:ext uri="{D42A27DB-BD31-4B8C-83A1-F6EECF244321}">
                <p14:modId xmlns:p14="http://schemas.microsoft.com/office/powerpoint/2010/main" val="1901314220"/>
              </p:ext>
            </p:extLst>
          </p:nvPr>
        </p:nvGraphicFramePr>
        <p:xfrm>
          <a:off x="1568450" y="657497"/>
          <a:ext cx="533400" cy="419100"/>
        </p:xfrm>
        <a:graphic>
          <a:graphicData uri="http://schemas.openxmlformats.org/presentationml/2006/ole">
            <mc:AlternateContent xmlns:mc="http://schemas.openxmlformats.org/markup-compatibility/2006">
              <mc:Choice xmlns:v="urn:schemas-microsoft-com:vml" Requires="v">
                <p:oleObj spid="_x0000_s104530" name="Equation" r:id="rId8" imgW="355600" imgH="279400" progId="Equation.3">
                  <p:embed/>
                </p:oleObj>
              </mc:Choice>
              <mc:Fallback>
                <p:oleObj name="Equation" r:id="rId8" imgW="355600" imgH="279400" progId="Equation.3">
                  <p:embed/>
                  <p:pic>
                    <p:nvPicPr>
                      <p:cNvPr id="0" name=""/>
                      <p:cNvPicPr>
                        <a:picLocks noChangeAspect="1" noChangeArrowheads="1"/>
                      </p:cNvPicPr>
                      <p:nvPr/>
                    </p:nvPicPr>
                    <p:blipFill>
                      <a:blip r:embed="rId9"/>
                      <a:srcRect/>
                      <a:stretch>
                        <a:fillRect/>
                      </a:stretch>
                    </p:blipFill>
                    <p:spPr bwMode="auto">
                      <a:xfrm>
                        <a:off x="1568450" y="657497"/>
                        <a:ext cx="5334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4" name="Object 14"/>
          <p:cNvGraphicFramePr>
            <a:graphicFrameLocks noChangeAspect="1"/>
          </p:cNvGraphicFramePr>
          <p:nvPr>
            <p:extLst>
              <p:ext uri="{D42A27DB-BD31-4B8C-83A1-F6EECF244321}">
                <p14:modId xmlns:p14="http://schemas.microsoft.com/office/powerpoint/2010/main" val="2432820701"/>
              </p:ext>
            </p:extLst>
          </p:nvPr>
        </p:nvGraphicFramePr>
        <p:xfrm>
          <a:off x="3276600" y="1092733"/>
          <a:ext cx="3398838" cy="393700"/>
        </p:xfrm>
        <a:graphic>
          <a:graphicData uri="http://schemas.openxmlformats.org/presentationml/2006/ole">
            <mc:AlternateContent xmlns:mc="http://schemas.openxmlformats.org/markup-compatibility/2006">
              <mc:Choice xmlns:v="urn:schemas-microsoft-com:vml" Requires="v">
                <p:oleObj spid="_x0000_s104531" name="Equation" r:id="rId10" imgW="2082800" imgH="241300" progId="Equation.DSMT4">
                  <p:embed/>
                </p:oleObj>
              </mc:Choice>
              <mc:Fallback>
                <p:oleObj name="Equation" r:id="rId10" imgW="2082800" imgH="2413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6600" y="1092733"/>
                        <a:ext cx="339883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6" name="Object 16"/>
          <p:cNvGraphicFramePr>
            <a:graphicFrameLocks noChangeAspect="1"/>
          </p:cNvGraphicFramePr>
          <p:nvPr>
            <p:extLst>
              <p:ext uri="{D42A27DB-BD31-4B8C-83A1-F6EECF244321}">
                <p14:modId xmlns:p14="http://schemas.microsoft.com/office/powerpoint/2010/main" val="2542465744"/>
              </p:ext>
            </p:extLst>
          </p:nvPr>
        </p:nvGraphicFramePr>
        <p:xfrm>
          <a:off x="320675" y="1896269"/>
          <a:ext cx="8366125" cy="652462"/>
        </p:xfrm>
        <a:graphic>
          <a:graphicData uri="http://schemas.openxmlformats.org/presentationml/2006/ole">
            <mc:AlternateContent xmlns:mc="http://schemas.openxmlformats.org/markup-compatibility/2006">
              <mc:Choice xmlns:v="urn:schemas-microsoft-com:vml" Requires="v">
                <p:oleObj spid="_x0000_s104532" name="Equation" r:id="rId12" imgW="5054600" imgH="393700" progId="Equation.3">
                  <p:embed/>
                </p:oleObj>
              </mc:Choice>
              <mc:Fallback>
                <p:oleObj name="Equation" r:id="rId12" imgW="5054600" imgH="393700" progId="Equation.3">
                  <p:embed/>
                  <p:pic>
                    <p:nvPicPr>
                      <p:cNvPr id="0" name=""/>
                      <p:cNvPicPr>
                        <a:picLocks noChangeAspect="1" noChangeArrowheads="1"/>
                      </p:cNvPicPr>
                      <p:nvPr/>
                    </p:nvPicPr>
                    <p:blipFill>
                      <a:blip r:embed="rId13"/>
                      <a:srcRect/>
                      <a:stretch>
                        <a:fillRect/>
                      </a:stretch>
                    </p:blipFill>
                    <p:spPr bwMode="auto">
                      <a:xfrm>
                        <a:off x="320675" y="1896269"/>
                        <a:ext cx="8366125" cy="652462"/>
                      </a:xfrm>
                      <a:prstGeom prst="rect">
                        <a:avLst/>
                      </a:prstGeom>
                      <a:noFill/>
                      <a:ln>
                        <a:solidFill>
                          <a:srgbClr val="FF0000"/>
                        </a:solidFill>
                      </a:ln>
                      <a:effectLst/>
                      <a:ex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3153535886"/>
              </p:ext>
            </p:extLst>
          </p:nvPr>
        </p:nvGraphicFramePr>
        <p:xfrm>
          <a:off x="1720516" y="3740150"/>
          <a:ext cx="2737184" cy="495300"/>
        </p:xfrm>
        <a:graphic>
          <a:graphicData uri="http://schemas.openxmlformats.org/presentationml/2006/ole">
            <mc:AlternateContent xmlns:mc="http://schemas.openxmlformats.org/markup-compatibility/2006">
              <mc:Choice xmlns:v="urn:schemas-microsoft-com:vml" Requires="v">
                <p:oleObj spid="_x0000_s104533" name="Equation" r:id="rId14" imgW="1333440" imgH="241200" progId="Equation.DSMT4">
                  <p:embed/>
                </p:oleObj>
              </mc:Choice>
              <mc:Fallback>
                <p:oleObj name="Equation" r:id="rId14" imgW="1333440" imgH="241200" progId="Equation.DSMT4">
                  <p:embed/>
                  <p:pic>
                    <p:nvPicPr>
                      <p:cNvPr id="0" name=""/>
                      <p:cNvPicPr/>
                      <p:nvPr/>
                    </p:nvPicPr>
                    <p:blipFill>
                      <a:blip r:embed="rId15"/>
                      <a:stretch>
                        <a:fillRect/>
                      </a:stretch>
                    </p:blipFill>
                    <p:spPr>
                      <a:xfrm>
                        <a:off x="1720516" y="3740150"/>
                        <a:ext cx="2737184" cy="495300"/>
                      </a:xfrm>
                      <a:prstGeom prst="rect">
                        <a:avLst/>
                      </a:prstGeom>
                    </p:spPr>
                  </p:pic>
                </p:oleObj>
              </mc:Fallback>
            </mc:AlternateContent>
          </a:graphicData>
        </a:graphic>
      </p:graphicFrame>
    </p:spTree>
    <p:extLst>
      <p:ext uri="{BB962C8B-B14F-4D97-AF65-F5344CB8AC3E}">
        <p14:creationId xmlns:p14="http://schemas.microsoft.com/office/powerpoint/2010/main" val="190698689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sz="half" idx="4294967295"/>
          </p:nvPr>
        </p:nvSpPr>
        <p:spPr>
          <a:xfrm>
            <a:off x="228600" y="0"/>
            <a:ext cx="8534400" cy="6324600"/>
          </a:xfrm>
        </p:spPr>
        <p:txBody>
          <a:bodyPr lIns="92075" tIns="46038" rIns="92075" bIns="46038"/>
          <a:lstStyle/>
          <a:p>
            <a:pPr marL="0">
              <a:spcBef>
                <a:spcPts val="300"/>
              </a:spcBef>
              <a:spcAft>
                <a:spcPts val="300"/>
              </a:spcAft>
              <a:buFont typeface="Arial" charset="0"/>
              <a:buNone/>
            </a:pPr>
            <a:r>
              <a:rPr lang="en-US" altLang="en-US" sz="1600" b="1" dirty="0" smtClean="0">
                <a:solidFill>
                  <a:srgbClr val="000000"/>
                </a:solidFill>
                <a:latin typeface="Times New Roman" pitchFamily="18" charset="0"/>
                <a:cs typeface="Times New Roman" pitchFamily="18" charset="0"/>
              </a:rPr>
              <a:t>Table 4: </a:t>
            </a:r>
            <a:r>
              <a:rPr lang="en-US" altLang="en-US" sz="1600" dirty="0" smtClean="0">
                <a:solidFill>
                  <a:srgbClr val="FF3300"/>
                </a:solidFill>
                <a:latin typeface="Times New Roman" pitchFamily="18" charset="0"/>
                <a:cs typeface="Times New Roman" pitchFamily="18" charset="0"/>
              </a:rPr>
              <a:t>Optimal proportion</a:t>
            </a:r>
            <a:r>
              <a:rPr lang="en-US" altLang="en-US" sz="1600" dirty="0" smtClean="0">
                <a:solidFill>
                  <a:srgbClr val="000000"/>
                </a:solidFill>
                <a:latin typeface="Times New Roman" pitchFamily="18" charset="0"/>
                <a:cs typeface="Times New Roman" pitchFamily="18" charset="0"/>
              </a:rPr>
              <a:t>          for validation </a:t>
            </a:r>
            <a:r>
              <a:rPr lang="en-US" altLang="en-US" sz="1600" dirty="0" err="1" smtClean="0">
                <a:solidFill>
                  <a:srgbClr val="000000"/>
                </a:solidFill>
                <a:latin typeface="Times New Roman" pitchFamily="18" charset="0"/>
                <a:cs typeface="Times New Roman" pitchFamily="18" charset="0"/>
              </a:rPr>
              <a:t>substudy</a:t>
            </a:r>
            <a:r>
              <a:rPr lang="en-US" altLang="en-US" sz="1600" dirty="0" smtClean="0">
                <a:solidFill>
                  <a:srgbClr val="000000"/>
                </a:solidFill>
                <a:latin typeface="Times New Roman" pitchFamily="18" charset="0"/>
                <a:cs typeface="Times New Roman" pitchFamily="18" charset="0"/>
              </a:rPr>
              <a:t> </a:t>
            </a:r>
            <a:r>
              <a:rPr lang="en-US" altLang="en-US" sz="1600" dirty="0" smtClean="0">
                <a:solidFill>
                  <a:srgbClr val="0000FF"/>
                </a:solidFill>
                <a:latin typeface="Times New Roman" pitchFamily="18" charset="0"/>
                <a:cs typeface="Times New Roman" pitchFamily="18" charset="0"/>
              </a:rPr>
              <a:t>as a function of the </a:t>
            </a:r>
            <a:r>
              <a:rPr lang="en-US" altLang="en-US" sz="1600" b="1" dirty="0" smtClean="0">
                <a:solidFill>
                  <a:srgbClr val="0000FF"/>
                </a:solidFill>
                <a:latin typeface="Times New Roman" pitchFamily="18" charset="0"/>
                <a:cs typeface="Times New Roman" pitchFamily="18" charset="0"/>
              </a:rPr>
              <a:t>cost ratio         </a:t>
            </a:r>
          </a:p>
          <a:p>
            <a:pPr marL="0">
              <a:spcBef>
                <a:spcPts val="300"/>
              </a:spcBef>
              <a:spcAft>
                <a:spcPts val="300"/>
              </a:spcAft>
              <a:buFont typeface="Arial" charset="0"/>
              <a:buNone/>
            </a:pPr>
            <a:r>
              <a:rPr lang="en-US" altLang="en-US" sz="1600" b="1" dirty="0" smtClean="0">
                <a:solidFill>
                  <a:srgbClr val="000000"/>
                </a:solidFill>
                <a:latin typeface="Times New Roman" pitchFamily="18" charset="0"/>
                <a:cs typeface="Times New Roman" pitchFamily="18" charset="0"/>
              </a:rPr>
              <a:t>                                     </a:t>
            </a:r>
            <a:r>
              <a:rPr lang="en-US" altLang="en-US" sz="1600" dirty="0" smtClean="0">
                <a:solidFill>
                  <a:srgbClr val="000000"/>
                </a:solidFill>
                <a:latin typeface="Times New Roman" pitchFamily="18" charset="0"/>
                <a:cs typeface="Times New Roman" pitchFamily="18" charset="0"/>
              </a:rPr>
              <a:t>   (assuming parameter values equal values observed in the SIDS data)</a:t>
            </a:r>
          </a:p>
        </p:txBody>
      </p:sp>
      <p:cxnSp>
        <p:nvCxnSpPr>
          <p:cNvPr id="13315" name="AutoShape 3"/>
          <p:cNvCxnSpPr>
            <a:cxnSpLocks noChangeShapeType="1"/>
            <a:stCxn id="13314" idx="3"/>
            <a:endCxn id="13314" idx="3"/>
          </p:cNvCxnSpPr>
          <p:nvPr/>
        </p:nvCxnSpPr>
        <p:spPr bwMode="auto">
          <a:xfrm>
            <a:off x="8763000" y="3162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331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3317"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4050"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8"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4051"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332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E0E7570-00A5-491E-A103-A84831D508B2}" type="slidenum">
              <a:rPr lang="zh-CN" altLang="en-US" sz="1200">
                <a:solidFill>
                  <a:srgbClr val="898989"/>
                </a:solidFill>
              </a:rPr>
              <a:pPr algn="r" eaLnBrk="1" hangingPunct="1">
                <a:spcBef>
                  <a:spcPct val="0"/>
                </a:spcBef>
                <a:buFontTx/>
                <a:buNone/>
              </a:pPr>
              <a:t>12</a:t>
            </a:fld>
            <a:endParaRPr lang="en-US" altLang="zh-CN" sz="1200">
              <a:solidFill>
                <a:srgbClr val="898989"/>
              </a:solidFill>
            </a:endParaRPr>
          </a:p>
        </p:txBody>
      </p:sp>
      <p:sp>
        <p:nvSpPr>
          <p:cNvPr id="13321" name="TextBox 13"/>
          <p:cNvSpPr txBox="1">
            <a:spLocks noChangeArrowheads="1"/>
          </p:cNvSpPr>
          <p:nvPr/>
        </p:nvSpPr>
        <p:spPr bwMode="auto">
          <a:xfrm>
            <a:off x="304800" y="5741707"/>
            <a:ext cx="82296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400" dirty="0">
              <a:latin typeface="Times New Roman" pitchFamily="18" charset="0"/>
              <a:cs typeface="Times New Roman" pitchFamily="18" charset="0"/>
            </a:endParaRPr>
          </a:p>
          <a:p>
            <a:pPr eaLnBrk="1" hangingPunct="1">
              <a:spcBef>
                <a:spcPct val="0"/>
              </a:spcBef>
              <a:buFontTx/>
              <a:buNone/>
            </a:pPr>
            <a:r>
              <a:rPr lang="en-US" altLang="en-US" sz="1800" dirty="0" smtClean="0">
                <a:latin typeface="Times New Roman" pitchFamily="18" charset="0"/>
                <a:cs typeface="Times New Roman" pitchFamily="18" charset="0"/>
              </a:rPr>
              <a:t>What </a:t>
            </a:r>
            <a:r>
              <a:rPr lang="en-US" altLang="en-US" sz="1800" dirty="0">
                <a:latin typeface="Times New Roman" pitchFamily="18" charset="0"/>
                <a:cs typeface="Times New Roman" pitchFamily="18" charset="0"/>
              </a:rPr>
              <a:t>is </a:t>
            </a:r>
            <a:r>
              <a:rPr lang="en-US" altLang="en-US" sz="1800" dirty="0" smtClean="0">
                <a:latin typeface="Times New Roman" pitchFamily="18" charset="0"/>
                <a:cs typeface="Times New Roman" pitchFamily="18" charset="0"/>
              </a:rPr>
              <a:t>the relative cost of the measurement,    , </a:t>
            </a:r>
            <a:r>
              <a:rPr lang="en-US" altLang="en-US" sz="1800" dirty="0">
                <a:latin typeface="Times New Roman" pitchFamily="18" charset="0"/>
                <a:cs typeface="Times New Roman" pitchFamily="18" charset="0"/>
              </a:rPr>
              <a:t>for your study?  </a:t>
            </a:r>
          </a:p>
          <a:p>
            <a:pPr eaLnBrk="1" hangingPunct="1">
              <a:spcBef>
                <a:spcPct val="0"/>
              </a:spcBef>
              <a:buFontTx/>
              <a:buNone/>
            </a:pPr>
            <a:r>
              <a:rPr lang="en-US" altLang="en-US" sz="1800" dirty="0">
                <a:latin typeface="Times New Roman" pitchFamily="18" charset="0"/>
                <a:cs typeface="Times New Roman" pitchFamily="18" charset="0"/>
              </a:rPr>
              <a:t>For NHS, it has been estimated at 500. </a:t>
            </a:r>
            <a:endParaRPr lang="en-US" altLang="en-US" sz="1800" dirty="0" smtClean="0">
              <a:latin typeface="Times New Roman" pitchFamily="18" charset="0"/>
              <a:cs typeface="Times New Roman" pitchFamily="18" charset="0"/>
            </a:endParaRPr>
          </a:p>
          <a:p>
            <a:pPr eaLnBrk="1" hangingPunct="1">
              <a:spcBef>
                <a:spcPct val="0"/>
              </a:spcBef>
              <a:buFontTx/>
              <a:buNone/>
            </a:pPr>
            <a:endParaRPr lang="en-US" altLang="en-US" sz="1800" dirty="0">
              <a:latin typeface="Times New Roman" pitchFamily="18" charset="0"/>
              <a:cs typeface="Times New Roman" pitchFamily="18" charset="0"/>
            </a:endParaRPr>
          </a:p>
        </p:txBody>
      </p:sp>
      <p:graphicFrame>
        <p:nvGraphicFramePr>
          <p:cNvPr id="13322" name="Object 22"/>
          <p:cNvGraphicFramePr>
            <a:graphicFrameLocks noChangeAspect="1"/>
          </p:cNvGraphicFramePr>
          <p:nvPr>
            <p:extLst>
              <p:ext uri="{D42A27DB-BD31-4B8C-83A1-F6EECF244321}">
                <p14:modId xmlns:p14="http://schemas.microsoft.com/office/powerpoint/2010/main" val="351049592"/>
              </p:ext>
            </p:extLst>
          </p:nvPr>
        </p:nvGraphicFramePr>
        <p:xfrm>
          <a:off x="4530725" y="5841650"/>
          <a:ext cx="234950" cy="254000"/>
        </p:xfrm>
        <a:graphic>
          <a:graphicData uri="http://schemas.openxmlformats.org/presentationml/2006/ole">
            <mc:AlternateContent xmlns:mc="http://schemas.openxmlformats.org/markup-compatibility/2006">
              <mc:Choice xmlns:v="urn:schemas-microsoft-com:vml" Requires="v">
                <p:oleObj spid="_x0000_s104052" name="Equation" r:id="rId7" imgW="164814" imgH="177492" progId="Equation.DSMT4">
                  <p:embed/>
                </p:oleObj>
              </mc:Choice>
              <mc:Fallback>
                <p:oleObj name="Equation" r:id="rId7" imgW="164814" imgH="177492" progId="Equation.DSMT4">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0725" y="5841650"/>
                        <a:ext cx="2349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216429062"/>
              </p:ext>
            </p:extLst>
          </p:nvPr>
        </p:nvGraphicFramePr>
        <p:xfrm>
          <a:off x="152400" y="914400"/>
          <a:ext cx="8748712" cy="4861320"/>
        </p:xfrm>
        <a:graphic>
          <a:graphicData uri="http://schemas.openxmlformats.org/drawingml/2006/table">
            <a:tbl>
              <a:tblPr/>
              <a:tblGrid>
                <a:gridCol w="4343670">
                  <a:extLst>
                    <a:ext uri="{9D8B030D-6E8A-4147-A177-3AD203B41FA5}">
                      <a16:colId xmlns:a16="http://schemas.microsoft.com/office/drawing/2014/main" xmlns="" val="20000"/>
                    </a:ext>
                  </a:extLst>
                </a:gridCol>
                <a:gridCol w="762047">
                  <a:extLst>
                    <a:ext uri="{9D8B030D-6E8A-4147-A177-3AD203B41FA5}">
                      <a16:colId xmlns:a16="http://schemas.microsoft.com/office/drawing/2014/main" xmlns="" val="20001"/>
                    </a:ext>
                  </a:extLst>
                </a:gridCol>
                <a:gridCol w="762047">
                  <a:extLst>
                    <a:ext uri="{9D8B030D-6E8A-4147-A177-3AD203B41FA5}">
                      <a16:colId xmlns:a16="http://schemas.microsoft.com/office/drawing/2014/main" xmlns="" val="20002"/>
                    </a:ext>
                  </a:extLst>
                </a:gridCol>
                <a:gridCol w="762047">
                  <a:extLst>
                    <a:ext uri="{9D8B030D-6E8A-4147-A177-3AD203B41FA5}">
                      <a16:colId xmlns:a16="http://schemas.microsoft.com/office/drawing/2014/main" xmlns="" val="20003"/>
                    </a:ext>
                  </a:extLst>
                </a:gridCol>
                <a:gridCol w="762047">
                  <a:extLst>
                    <a:ext uri="{9D8B030D-6E8A-4147-A177-3AD203B41FA5}">
                      <a16:colId xmlns:a16="http://schemas.microsoft.com/office/drawing/2014/main" xmlns="" val="20004"/>
                    </a:ext>
                  </a:extLst>
                </a:gridCol>
                <a:gridCol w="685842">
                  <a:extLst>
                    <a:ext uri="{9D8B030D-6E8A-4147-A177-3AD203B41FA5}">
                      <a16:colId xmlns:a16="http://schemas.microsoft.com/office/drawing/2014/main" xmlns="" val="20005"/>
                    </a:ext>
                  </a:extLst>
                </a:gridCol>
                <a:gridCol w="535725">
                  <a:extLst>
                    <a:ext uri="{9D8B030D-6E8A-4147-A177-3AD203B41FA5}">
                      <a16:colId xmlns:a16="http://schemas.microsoft.com/office/drawing/2014/main" xmlns="" val="20006"/>
                    </a:ext>
                  </a:extLst>
                </a:gridCol>
                <a:gridCol w="48224">
                  <a:extLst>
                    <a:ext uri="{9D8B030D-6E8A-4147-A177-3AD203B41FA5}">
                      <a16:colId xmlns:a16="http://schemas.microsoft.com/office/drawing/2014/main" xmlns="" val="20007"/>
                    </a:ext>
                  </a:extLst>
                </a:gridCol>
                <a:gridCol w="87063">
                  <a:extLst>
                    <a:ext uri="{9D8B030D-6E8A-4147-A177-3AD203B41FA5}">
                      <a16:colId xmlns:a16="http://schemas.microsoft.com/office/drawing/2014/main" xmlns="" val="20008"/>
                    </a:ext>
                  </a:extLst>
                </a:gridCol>
              </a:tblGrid>
              <a:tr h="243818">
                <a:tc>
                  <a:txBody>
                    <a:bodyPr/>
                    <a:lstStyle/>
                    <a:p>
                      <a:pPr marL="0" marR="0">
                        <a:spcBef>
                          <a:spcPts val="300"/>
                        </a:spcBef>
                        <a:spcAft>
                          <a:spcPts val="300"/>
                        </a:spcAft>
                      </a:pPr>
                      <a:endParaRPr lang="en-US" sz="16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smtClean="0">
                          <a:latin typeface="Times New Roman" pitchFamily="18" charset="0"/>
                          <a:ea typeface="Times New Roman"/>
                          <a:cs typeface="Times New Roman" pitchFamily="18" charset="0"/>
                        </a:rPr>
                        <a:t>&lt;=3</a:t>
                      </a:r>
                      <a:endParaRPr lang="en-US" sz="16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smtClean="0">
                          <a:solidFill>
                            <a:srgbClr val="000000"/>
                          </a:solidFill>
                          <a:latin typeface="Times New Roman" pitchFamily="18" charset="0"/>
                          <a:ea typeface="Times New Roman"/>
                          <a:cs typeface="Times New Roman" pitchFamily="18" charset="0"/>
                        </a:rPr>
                        <a:t>4</a:t>
                      </a:r>
                      <a:endParaRPr lang="en-US" sz="16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smtClean="0">
                          <a:solidFill>
                            <a:srgbClr val="000000"/>
                          </a:solidFill>
                          <a:latin typeface="Times New Roman" pitchFamily="18" charset="0"/>
                          <a:ea typeface="Times New Roman"/>
                          <a:cs typeface="Times New Roman" pitchFamily="18" charset="0"/>
                        </a:rPr>
                        <a:t>5</a:t>
                      </a:r>
                      <a:endParaRPr lang="en-US" sz="16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smtClean="0">
                          <a:solidFill>
                            <a:srgbClr val="000000"/>
                          </a:solidFill>
                          <a:latin typeface="Times New Roman" pitchFamily="18" charset="0"/>
                          <a:ea typeface="Times New Roman"/>
                          <a:cs typeface="Times New Roman" pitchFamily="18" charset="0"/>
                        </a:rPr>
                        <a:t>6</a:t>
                      </a:r>
                      <a:endParaRPr lang="en-US" sz="16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600" dirty="0" smtClean="0">
                          <a:solidFill>
                            <a:srgbClr val="000000"/>
                          </a:solidFill>
                          <a:latin typeface="Times New Roman" pitchFamily="18" charset="0"/>
                          <a:ea typeface="Times New Roman"/>
                          <a:cs typeface="Times New Roman" pitchFamily="18" charset="0"/>
                        </a:rPr>
                        <a:t>8</a:t>
                      </a:r>
                      <a:endParaRPr lang="en-US" sz="16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600" dirty="0" smtClean="0">
                          <a:solidFill>
                            <a:srgbClr val="000000"/>
                          </a:solidFill>
                          <a:latin typeface="Times New Roman" pitchFamily="18" charset="0"/>
                          <a:ea typeface="Times New Roman"/>
                          <a:cs typeface="Times New Roman" pitchFamily="18" charset="0"/>
                        </a:rPr>
                        <a:t>10</a:t>
                      </a:r>
                      <a:endParaRPr lang="en-US" sz="16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228580">
                <a:tc>
                  <a:txBody>
                    <a:bodyPr/>
                    <a:lstStyle/>
                    <a:p>
                      <a:pPr marL="0" marR="0">
                        <a:spcBef>
                          <a:spcPts val="300"/>
                        </a:spcBef>
                        <a:spcAft>
                          <a:spcPts val="300"/>
                        </a:spcAft>
                      </a:pPr>
                      <a:r>
                        <a:rPr lang="en-US" sz="1300" b="1" i="1" dirty="0" smtClean="0">
                          <a:latin typeface="Times New Roman" pitchFamily="18" charset="0"/>
                          <a:ea typeface="Times New Roman"/>
                          <a:cs typeface="Times New Roman" pitchFamily="18" charset="0"/>
                        </a:rPr>
                        <a:t>I.</a:t>
                      </a:r>
                      <a:r>
                        <a:rPr lang="en-US" sz="1300" b="1" i="1" baseline="0" dirty="0" smtClean="0">
                          <a:latin typeface="Times New Roman" pitchFamily="18" charset="0"/>
                          <a:ea typeface="Times New Roman"/>
                          <a:cs typeface="Times New Roman" pitchFamily="18" charset="0"/>
                        </a:rPr>
                        <a:t> Assuming </a:t>
                      </a:r>
                      <a:r>
                        <a:rPr lang="en-US" sz="1300" b="1" i="1" baseline="0" dirty="0" smtClean="0">
                          <a:solidFill>
                            <a:srgbClr val="FF3300"/>
                          </a:solidFill>
                          <a:latin typeface="Times New Roman" pitchFamily="18" charset="0"/>
                          <a:ea typeface="Times New Roman"/>
                          <a:cs typeface="Times New Roman" pitchFamily="18" charset="0"/>
                        </a:rPr>
                        <a:t>differential</a:t>
                      </a:r>
                      <a:r>
                        <a:rPr lang="en-US" sz="1300" b="1" i="1" baseline="0" dirty="0" smtClean="0">
                          <a:latin typeface="Times New Roman" pitchFamily="18" charset="0"/>
                          <a:ea typeface="Times New Roman"/>
                          <a:cs typeface="Times New Roman" pitchFamily="18" charset="0"/>
                        </a:rPr>
                        <a:t> misclassification </a:t>
                      </a:r>
                      <a:r>
                        <a:rPr lang="en-US" sz="1300" b="1" i="1" baseline="0" dirty="0" smtClean="0">
                          <a:solidFill>
                            <a:schemeClr val="tx1"/>
                          </a:solidFill>
                          <a:latin typeface="Times New Roman" pitchFamily="18" charset="0"/>
                          <a:ea typeface="Times New Roman"/>
                          <a:cs typeface="Times New Roman" pitchFamily="18" charset="0"/>
                        </a:rPr>
                        <a:t>!!!</a:t>
                      </a:r>
                      <a:endParaRPr lang="en-US" sz="1300" b="1" i="1" dirty="0">
                        <a:solidFill>
                          <a:schemeClr val="tx1"/>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gridSpan="3">
                  <a:txBody>
                    <a:bodyPr/>
                    <a:lstStyle/>
                    <a:p>
                      <a:pPr algn="ctr"/>
                      <a:endParaRPr lang="en-US" sz="1500" dirty="0"/>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1"/>
                  </a:ext>
                </a:extLst>
              </a:tr>
              <a:tr h="228580">
                <a:tc>
                  <a:txBody>
                    <a:bodyPr/>
                    <a:lstStyle/>
                    <a:p>
                      <a:pPr marL="0" marR="0">
                        <a:spcBef>
                          <a:spcPts val="300"/>
                        </a:spcBef>
                        <a:spcAft>
                          <a:spcPts val="300"/>
                        </a:spcAft>
                      </a:pPr>
                      <a:r>
                        <a:rPr lang="en-US" sz="130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FF"/>
                          </a:solidFill>
                          <a:latin typeface="Times New Roman" pitchFamily="18" charset="0"/>
                          <a:ea typeface="Times New Roman"/>
                          <a:cs typeface="Times New Roman" pitchFamily="18" charset="0"/>
                        </a:rPr>
                        <a:t>A. Assuming primary measurement always necessary</a:t>
                      </a:r>
                      <a:endParaRPr lang="en-US" sz="1300" dirty="0">
                        <a:solidFill>
                          <a:srgbClr val="0000FF"/>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a:txBody>
                    <a:bodyPr/>
                    <a:lstStyle/>
                    <a:p>
                      <a:pPr algn="ctr"/>
                      <a:endParaRPr lang="en-US" sz="1500" dirty="0"/>
                    </a:p>
                  </a:txBody>
                  <a:tcPr marL="38102" marR="38102" marT="0" marB="0">
                    <a:lnL>
                      <a:noFill/>
                    </a:lnL>
                    <a:lnR>
                      <a:noFill/>
                    </a:lnR>
                    <a:lnT>
                      <a:noFill/>
                    </a:lnT>
                    <a:lnB>
                      <a:noFill/>
                    </a:lnB>
                    <a:solidFill>
                      <a:srgbClr val="FFFFFF"/>
                    </a:solidFill>
                  </a:tcPr>
                </a:tc>
                <a:tc gridSpan="3">
                  <a:txBody>
                    <a:bodyPr/>
                    <a:lstStyle/>
                    <a:p>
                      <a:pPr algn="ctr"/>
                      <a:endParaRPr lang="en-US" sz="1500" dirty="0"/>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2"/>
                  </a:ext>
                </a:extLst>
              </a:tr>
              <a:tr h="228580">
                <a:tc>
                  <a:txBody>
                    <a:bodyPr/>
                    <a:lstStyle/>
                    <a:p>
                      <a:pPr marL="0" marR="0">
                        <a:spcBef>
                          <a:spcPts val="300"/>
                        </a:spcBef>
                        <a:spcAft>
                          <a:spcPts val="300"/>
                        </a:spcAft>
                      </a:pPr>
                      <a:endParaRPr lang="en-US" sz="14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0.87</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0.77</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0.71</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0.61</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algn="ctr"/>
                      <a:r>
                        <a:rPr lang="en-US" sz="1500" smtClean="0">
                          <a:latin typeface="Times New Roman" pitchFamily="18" charset="0"/>
                          <a:cs typeface="Times New Roman" pitchFamily="18" charset="0"/>
                        </a:rPr>
                        <a:t>0.55</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3"/>
                  </a:ext>
                </a:extLst>
              </a:tr>
              <a:tr h="228580">
                <a:tc>
                  <a:txBody>
                    <a:bodyPr/>
                    <a:lstStyle/>
                    <a:p>
                      <a:pPr marL="0" marR="0">
                        <a:spcBef>
                          <a:spcPts val="300"/>
                        </a:spcBef>
                        <a:spcAft>
                          <a:spcPts val="300"/>
                        </a:spcAft>
                      </a:pPr>
                      <a:r>
                        <a:rPr lang="en-US" sz="1400" dirty="0" smtClean="0">
                          <a:latin typeface="Times New Roman" pitchFamily="18" charset="0"/>
                          <a:ea typeface="Times New Roman"/>
                          <a:cs typeface="Times New Roman" pitchFamily="18" charset="0"/>
                        </a:rPr>
                        <a:t>          </a:t>
                      </a:r>
                      <a:r>
                        <a:rPr lang="en-US" sz="1300" dirty="0" smtClean="0">
                          <a:latin typeface="Times New Roman" pitchFamily="18" charset="0"/>
                          <a:ea typeface="Times New Roman"/>
                          <a:cs typeface="Times New Roman" pitchFamily="18" charset="0"/>
                        </a:rPr>
                        <a:t>ARE at </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0.99</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0.98</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0.97</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0.95</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4"/>
                  </a:ext>
                </a:extLst>
              </a:tr>
              <a:tr h="228580">
                <a:tc>
                  <a:txBody>
                    <a:bodyPr/>
                    <a:lstStyle/>
                    <a:p>
                      <a:pPr marL="0" marR="0">
                        <a:spcBef>
                          <a:spcPts val="300"/>
                        </a:spcBef>
                        <a:spcAft>
                          <a:spcPts val="300"/>
                        </a:spcAft>
                      </a:pPr>
                      <a:r>
                        <a:rPr lang="en-US" sz="1400" dirty="0" smtClean="0">
                          <a:latin typeface="Times New Roman" pitchFamily="18" charset="0"/>
                          <a:ea typeface="Times New Roman"/>
                          <a:cs typeface="Times New Roman" pitchFamily="18" charset="0"/>
                        </a:rPr>
                        <a:t>          </a:t>
                      </a:r>
                      <a:r>
                        <a:rPr lang="en-US" sz="1300" dirty="0" smtClean="0">
                          <a:latin typeface="Times New Roman" pitchFamily="18" charset="0"/>
                          <a:ea typeface="Times New Roman"/>
                          <a:cs typeface="Times New Roman" pitchFamily="18" charset="0"/>
                        </a:rPr>
                        <a:t>Relative </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0.90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0.81</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0.75</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0.65</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0.59</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xmlns="" val="10005"/>
                  </a:ext>
                </a:extLst>
              </a:tr>
              <a:tr h="228580">
                <a:tc>
                  <a:txBody>
                    <a:bodyPr/>
                    <a:lstStyle/>
                    <a:p>
                      <a:pPr marL="0" marR="0">
                        <a:spcBef>
                          <a:spcPts val="300"/>
                        </a:spcBef>
                        <a:spcAft>
                          <a:spcPts val="300"/>
                        </a:spcAft>
                      </a:pPr>
                      <a:r>
                        <a:rPr lang="en-US" sz="1300" baseline="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FF"/>
                          </a:solidFill>
                          <a:latin typeface="Times New Roman" pitchFamily="18" charset="0"/>
                          <a:ea typeface="Times New Roman"/>
                          <a:cs typeface="Times New Roman" pitchFamily="18" charset="0"/>
                        </a:rPr>
                        <a:t>B.</a:t>
                      </a:r>
                      <a:r>
                        <a:rPr lang="en-US" sz="1300" baseline="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FF"/>
                          </a:solidFill>
                          <a:latin typeface="Times New Roman" pitchFamily="18" charset="0"/>
                          <a:ea typeface="Times New Roman"/>
                          <a:cs typeface="Times New Roman" pitchFamily="18" charset="0"/>
                        </a:rPr>
                        <a:t>Assuming primary measurement can be eliminated if</a:t>
                      </a:r>
                      <a:endParaRPr lang="en-US" sz="1300" dirty="0">
                        <a:solidFill>
                          <a:srgbClr val="0000FF"/>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6"/>
                  </a:ext>
                </a:extLst>
              </a:tr>
              <a:tr h="441720">
                <a:tc>
                  <a:txBody>
                    <a:bodyPr/>
                    <a:lstStyle/>
                    <a:p>
                      <a:pPr marL="0" marR="0">
                        <a:spcBef>
                          <a:spcPts val="300"/>
                        </a:spcBef>
                        <a:spcAft>
                          <a:spcPts val="300"/>
                        </a:spcAft>
                      </a:pPr>
                      <a:r>
                        <a:rPr lang="en-US" sz="1400" dirty="0" smtClean="0">
                          <a:latin typeface="Times New Roman" pitchFamily="18" charset="0"/>
                          <a:ea typeface="Times New Roman"/>
                          <a:cs typeface="Times New Roman" pitchFamily="18" charset="0"/>
                        </a:rPr>
                        <a:t>                               and ARE=1.00 for all</a:t>
                      </a:r>
                      <a:r>
                        <a:rPr lang="en-US" sz="1400" i="1" dirty="0" smtClean="0">
                          <a:latin typeface="Times New Roman" pitchFamily="18" charset="0"/>
                          <a:ea typeface="Times New Roman"/>
                          <a:cs typeface="Times New Roman" pitchFamily="18" charset="0"/>
                        </a:rPr>
                        <a:t> R </a:t>
                      </a:r>
                      <a:r>
                        <a:rPr lang="en-US" sz="1400" dirty="0" smtClean="0">
                          <a:latin typeface="Times New Roman" pitchFamily="18" charset="0"/>
                          <a:ea typeface="Times New Roman"/>
                          <a:cs typeface="Times New Roman" pitchFamily="18" charset="0"/>
                        </a:rPr>
                        <a:t>&lt;=14</a:t>
                      </a:r>
                      <a:endParaRPr lang="en-US" sz="14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7"/>
                  </a:ext>
                </a:extLst>
              </a:tr>
              <a:tr h="228580">
                <a:tc>
                  <a:txBody>
                    <a:bodyPr/>
                    <a:lstStyle/>
                    <a:p>
                      <a:pPr marL="0" marR="0">
                        <a:spcBef>
                          <a:spcPts val="300"/>
                        </a:spcBef>
                        <a:spcAft>
                          <a:spcPts val="300"/>
                        </a:spcAft>
                      </a:pPr>
                      <a:r>
                        <a:rPr lang="en-US" sz="1300" b="1" i="1" baseline="0" dirty="0" smtClean="0">
                          <a:latin typeface="Times New Roman" pitchFamily="18" charset="0"/>
                          <a:ea typeface="Times New Roman"/>
                          <a:cs typeface="Times New Roman" pitchFamily="18" charset="0"/>
                        </a:rPr>
                        <a:t>II.  Assuming </a:t>
                      </a:r>
                      <a:r>
                        <a:rPr lang="en-US" sz="1300" b="1" i="1" baseline="0" dirty="0" err="1" smtClean="0">
                          <a:solidFill>
                            <a:srgbClr val="FF3300"/>
                          </a:solidFill>
                          <a:latin typeface="Times New Roman" pitchFamily="18" charset="0"/>
                          <a:ea typeface="Times New Roman"/>
                          <a:cs typeface="Times New Roman" pitchFamily="18" charset="0"/>
                        </a:rPr>
                        <a:t>nondifferential</a:t>
                      </a:r>
                      <a:r>
                        <a:rPr lang="en-US" sz="1300" b="1" i="1" baseline="0" dirty="0" smtClean="0">
                          <a:solidFill>
                            <a:srgbClr val="FF3300"/>
                          </a:solidFill>
                          <a:latin typeface="Times New Roman" pitchFamily="18" charset="0"/>
                          <a:ea typeface="Times New Roman"/>
                          <a:cs typeface="Times New Roman" pitchFamily="18" charset="0"/>
                        </a:rPr>
                        <a:t> </a:t>
                      </a:r>
                      <a:r>
                        <a:rPr lang="en-US" sz="1300" b="1" i="1" baseline="0" dirty="0" smtClean="0">
                          <a:latin typeface="Times New Roman" pitchFamily="18" charset="0"/>
                          <a:ea typeface="Times New Roman"/>
                          <a:cs typeface="Times New Roman" pitchFamily="18" charset="0"/>
                        </a:rPr>
                        <a:t>misclassification</a:t>
                      </a:r>
                      <a:endParaRPr lang="en-US" sz="1300" b="1" i="1"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8"/>
                  </a:ext>
                </a:extLst>
              </a:tr>
              <a:tr h="228580">
                <a:tc>
                  <a:txBody>
                    <a:bodyPr/>
                    <a:lstStyle/>
                    <a:p>
                      <a:pPr marL="0" marR="0">
                        <a:spcBef>
                          <a:spcPts val="300"/>
                        </a:spcBef>
                        <a:spcAft>
                          <a:spcPts val="300"/>
                        </a:spcAft>
                      </a:pPr>
                      <a:r>
                        <a:rPr lang="en-US" sz="1300" baseline="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FF"/>
                          </a:solidFill>
                          <a:latin typeface="Times New Roman" pitchFamily="18" charset="0"/>
                          <a:ea typeface="Times New Roman"/>
                          <a:cs typeface="Times New Roman" pitchFamily="18" charset="0"/>
                        </a:rPr>
                        <a:t> A. Assuming primary measurement always necessary</a:t>
                      </a:r>
                      <a:endParaRPr lang="en-US" sz="1300" dirty="0">
                        <a:solidFill>
                          <a:srgbClr val="0000FF"/>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9"/>
                  </a:ext>
                </a:extLst>
              </a:tr>
              <a:tr h="228580">
                <a:tc>
                  <a:txBody>
                    <a:bodyPr/>
                    <a:lstStyle/>
                    <a:p>
                      <a:pPr marL="0" marR="0">
                        <a:spcBef>
                          <a:spcPts val="300"/>
                        </a:spcBef>
                        <a:spcAft>
                          <a:spcPts val="300"/>
                        </a:spcAft>
                      </a:pP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0.11</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0.07</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0.06</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0.04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smtClean="0">
                          <a:solidFill>
                            <a:srgbClr val="000000"/>
                          </a:solidFill>
                          <a:latin typeface="Times New Roman" pitchFamily="18" charset="0"/>
                          <a:ea typeface="Times New Roman"/>
                          <a:cs typeface="Times New Roman" pitchFamily="18" charset="0"/>
                        </a:rPr>
                        <a:t>0.04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10"/>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dirty="0" smtClean="0">
                          <a:latin typeface="Times New Roman" pitchFamily="18" charset="0"/>
                          <a:ea typeface="Times New Roman"/>
                          <a:cs typeface="Times New Roman" pitchFamily="18" charset="0"/>
                        </a:rPr>
                        <a:t>           ARE at </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solidFill>
                            <a:srgbClr val="000000"/>
                          </a:solidFill>
                          <a:latin typeface="Times New Roman" pitchFamily="18" charset="0"/>
                          <a:ea typeface="Times New Roman"/>
                          <a:cs typeface="Times New Roman" pitchFamily="18" charset="0"/>
                        </a:rPr>
                        <a:t>0.90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0.80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0.72</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0.60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0.52</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11"/>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dirty="0" smtClean="0">
                          <a:latin typeface="Times New Roman" pitchFamily="18" charset="0"/>
                          <a:ea typeface="Times New Roman"/>
                          <a:cs typeface="Times New Roman" pitchFamily="18" charset="0"/>
                        </a:rPr>
                        <a:t>           Relative </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0.27</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0.22</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0.19</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0.15</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0.13</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xmlns="" val="10012"/>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baseline="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FF"/>
                          </a:solidFill>
                          <a:latin typeface="Times New Roman" pitchFamily="18" charset="0"/>
                          <a:ea typeface="Times New Roman"/>
                          <a:cs typeface="Times New Roman" pitchFamily="18" charset="0"/>
                        </a:rPr>
                        <a:t> B.</a:t>
                      </a:r>
                      <a:r>
                        <a:rPr lang="en-US" sz="1300" baseline="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FF"/>
                          </a:solidFill>
                          <a:latin typeface="Times New Roman" pitchFamily="18" charset="0"/>
                          <a:ea typeface="Times New Roman"/>
                          <a:cs typeface="Times New Roman" pitchFamily="18" charset="0"/>
                        </a:rPr>
                        <a:t>Assuming primary measurement</a:t>
                      </a:r>
                      <a:r>
                        <a:rPr lang="en-US" sz="1300" baseline="0" dirty="0" smtClean="0">
                          <a:solidFill>
                            <a:srgbClr val="000000"/>
                          </a:solidFill>
                          <a:latin typeface="Times New Roman" pitchFamily="18" charset="0"/>
                          <a:ea typeface="Times New Roman"/>
                          <a:cs typeface="Times New Roman" pitchFamily="18" charset="0"/>
                        </a:rPr>
                        <a:t> </a:t>
                      </a:r>
                      <a:r>
                        <a:rPr lang="en-US" sz="1300" baseline="0" dirty="0" smtClean="0">
                          <a:solidFill>
                            <a:srgbClr val="0000FF"/>
                          </a:solidFill>
                          <a:latin typeface="Times New Roman" pitchFamily="18" charset="0"/>
                          <a:ea typeface="Times New Roman"/>
                          <a:cs typeface="Times New Roman" pitchFamily="18" charset="0"/>
                        </a:rPr>
                        <a:t>can be eliminated if</a:t>
                      </a:r>
                      <a:endParaRPr lang="en-US" sz="1300" dirty="0">
                        <a:solidFill>
                          <a:srgbClr val="0000FF"/>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endParaRPr lang="en-US" sz="1500" dirty="0">
                        <a:solidFill>
                          <a:srgbClr val="000000"/>
                        </a:solidFill>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13"/>
                  </a:ext>
                </a:extLst>
              </a:tr>
              <a:tr h="228580">
                <a:tc>
                  <a:txBody>
                    <a:bodyPr/>
                    <a:lstStyle/>
                    <a:p>
                      <a:pPr marL="0" marR="0">
                        <a:spcBef>
                          <a:spcPts val="300"/>
                        </a:spcBef>
                        <a:spcAft>
                          <a:spcPts val="300"/>
                        </a:spcAft>
                      </a:pP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1.00</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dirty="0" smtClean="0">
                          <a:latin typeface="Times New Roman" pitchFamily="18" charset="0"/>
                          <a:cs typeface="Times New Roman" pitchFamily="18" charset="0"/>
                        </a:rPr>
                        <a:t>0.07</a:t>
                      </a:r>
                      <a:endParaRPr lang="en-US" sz="150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algn="ctr"/>
                      <a:r>
                        <a:rPr lang="en-US" sz="1500" b="0" dirty="0" smtClean="0">
                          <a:latin typeface="Times New Roman" pitchFamily="18" charset="0"/>
                          <a:cs typeface="Times New Roman" pitchFamily="18" charset="0"/>
                        </a:rPr>
                        <a:t>0.06</a:t>
                      </a:r>
                      <a:endParaRPr lang="en-US" sz="1500" b="0" dirty="0">
                        <a:latin typeface="Times New Roman" pitchFamily="18" charset="0"/>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smtClean="0">
                          <a:latin typeface="Times New Roman" pitchFamily="18" charset="0"/>
                          <a:ea typeface="Times New Roman"/>
                          <a:cs typeface="Times New Roman" pitchFamily="18" charset="0"/>
                        </a:rPr>
                        <a:t>0.04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0.04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14"/>
                  </a:ext>
                </a:extLst>
              </a:tr>
              <a:tr h="228580">
                <a:tc>
                  <a:txBody>
                    <a:bodyPr/>
                    <a:lstStyle/>
                    <a:p>
                      <a:pPr marL="0" marR="0" indent="0" algn="l" defTabSz="914400" rtl="0" eaLnBrk="1" fontAlgn="auto" latinLnBrk="0" hangingPunct="1">
                        <a:lnSpc>
                          <a:spcPct val="100000"/>
                        </a:lnSpc>
                        <a:spcBef>
                          <a:spcPts val="300"/>
                        </a:spcBef>
                        <a:spcAft>
                          <a:spcPts val="300"/>
                        </a:spcAft>
                        <a:buClrTx/>
                        <a:buSzTx/>
                        <a:buFontTx/>
                        <a:buNone/>
                        <a:tabLst/>
                        <a:defRPr/>
                      </a:pPr>
                      <a:r>
                        <a:rPr lang="en-US" sz="1300" dirty="0" smtClean="0">
                          <a:latin typeface="Times New Roman" pitchFamily="18" charset="0"/>
                          <a:ea typeface="Times New Roman"/>
                          <a:cs typeface="Times New Roman" pitchFamily="18" charset="0"/>
                        </a:rPr>
                        <a:t>           ARE at</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0.96</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b="0" dirty="0" smtClean="0">
                          <a:latin typeface="Times New Roman" pitchFamily="18" charset="0"/>
                          <a:ea typeface="Times New Roman"/>
                          <a:cs typeface="Times New Roman" pitchFamily="18" charset="0"/>
                        </a:rPr>
                        <a:t>0.84</a:t>
                      </a:r>
                      <a:endParaRPr lang="en-US" sz="1500" b="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0.68</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gridSpan="3">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0.57</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15"/>
                  </a:ext>
                </a:extLst>
              </a:tr>
              <a:tr h="228580">
                <a:tc>
                  <a:txBody>
                    <a:bodyPr/>
                    <a:lstStyle/>
                    <a:p>
                      <a:pPr marL="0" marR="0">
                        <a:spcBef>
                          <a:spcPts val="300"/>
                        </a:spcBef>
                        <a:spcAft>
                          <a:spcPts val="300"/>
                        </a:spcAft>
                      </a:pPr>
                      <a:r>
                        <a:rPr lang="en-US" sz="1300" dirty="0" smtClean="0">
                          <a:latin typeface="Times New Roman" pitchFamily="18" charset="0"/>
                          <a:ea typeface="Times New Roman"/>
                          <a:cs typeface="Times New Roman" pitchFamily="18" charset="0"/>
                        </a:rPr>
                        <a:t>           Relative </a:t>
                      </a:r>
                      <a:endParaRPr lang="en-US" sz="13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defTabSz="914400" rtl="0" eaLnBrk="1" fontAlgn="auto" latinLnBrk="0" hangingPunct="1">
                        <a:lnSpc>
                          <a:spcPct val="100000"/>
                        </a:lnSpc>
                        <a:spcBef>
                          <a:spcPts val="300"/>
                        </a:spcBef>
                        <a:spcAft>
                          <a:spcPts val="300"/>
                        </a:spcAft>
                        <a:buClrTx/>
                        <a:buSzTx/>
                        <a:buFontTx/>
                        <a:buNone/>
                        <a:tabLst/>
                        <a:defRPr/>
                      </a:pPr>
                      <a:r>
                        <a:rPr lang="en-US" sz="1500" dirty="0" smtClean="0">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1.00</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0.27</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b="0" dirty="0" smtClean="0">
                          <a:latin typeface="Times New Roman" pitchFamily="18" charset="0"/>
                          <a:ea typeface="Times New Roman"/>
                          <a:cs typeface="Times New Roman" pitchFamily="18" charset="0"/>
                        </a:rPr>
                        <a:t>0.23</a:t>
                      </a:r>
                      <a:endParaRPr lang="en-US" sz="1500" b="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spcBef>
                          <a:spcPts val="300"/>
                        </a:spcBef>
                        <a:spcAft>
                          <a:spcPts val="300"/>
                        </a:spcAft>
                      </a:pPr>
                      <a:r>
                        <a:rPr lang="en-US" sz="1500" dirty="0" smtClean="0">
                          <a:latin typeface="Times New Roman" pitchFamily="18" charset="0"/>
                          <a:ea typeface="Times New Roman"/>
                          <a:cs typeface="Times New Roman" pitchFamily="18" charset="0"/>
                        </a:rPr>
                        <a:t>0.16</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gridSpan="3">
                  <a:txBody>
                    <a:bodyPr/>
                    <a:lstStyle/>
                    <a:p>
                      <a:pPr marL="0" marR="0" algn="ctr">
                        <a:spcBef>
                          <a:spcPts val="300"/>
                        </a:spcBef>
                        <a:spcAft>
                          <a:spcPts val="300"/>
                        </a:spcAft>
                      </a:pPr>
                      <a:r>
                        <a:rPr lang="en-US" sz="1500" dirty="0" smtClean="0">
                          <a:solidFill>
                            <a:srgbClr val="000000"/>
                          </a:solidFill>
                          <a:latin typeface="Times New Roman" pitchFamily="18" charset="0"/>
                          <a:ea typeface="Times New Roman"/>
                          <a:cs typeface="Times New Roman" pitchFamily="18" charset="0"/>
                        </a:rPr>
                        <a:t>0.14</a:t>
                      </a:r>
                      <a:endParaRPr lang="en-US" sz="1500" dirty="0">
                        <a:latin typeface="Times New Roman" pitchFamily="18" charset="0"/>
                        <a:ea typeface="Times New Roman"/>
                        <a:cs typeface="Times New Roman" pitchFamily="18" charset="0"/>
                      </a:endParaRPr>
                    </a:p>
                  </a:txBody>
                  <a:tcPr marL="38102" marR="38102"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xmlns="" val="10016"/>
                  </a:ext>
                </a:extLst>
              </a:tr>
              <a:tr h="746693">
                <a:tc gridSpan="7">
                  <a:txBody>
                    <a:bodyPr/>
                    <a:lstStyle/>
                    <a:p>
                      <a:pPr marL="0" marR="0" algn="l">
                        <a:spcBef>
                          <a:spcPts val="0"/>
                        </a:spcBef>
                        <a:spcAft>
                          <a:spcPts val="0"/>
                        </a:spcAft>
                        <a:buFont typeface="Arial" charset="0"/>
                        <a:buNone/>
                      </a:pPr>
                      <a:endParaRPr lang="en-US" sz="200" baseline="0" dirty="0" smtClean="0">
                        <a:solidFill>
                          <a:srgbClr val="000000"/>
                        </a:solidFill>
                        <a:latin typeface="Times New Roman" pitchFamily="18" charset="0"/>
                        <a:ea typeface="Times New Roman"/>
                        <a:cs typeface="Times New Roman" pitchFamily="18" charset="0"/>
                      </a:endParaRPr>
                    </a:p>
                    <a:p>
                      <a:pPr marL="0" marR="0" algn="l">
                        <a:spcBef>
                          <a:spcPts val="0"/>
                        </a:spcBef>
                        <a:spcAft>
                          <a:spcPts val="0"/>
                        </a:spcAft>
                        <a:buFont typeface="Arial" charset="0"/>
                        <a:buNone/>
                      </a:pPr>
                      <a:r>
                        <a:rPr lang="en-US" sz="1400" baseline="0" dirty="0" smtClean="0">
                          <a:solidFill>
                            <a:srgbClr val="000000"/>
                          </a:solidFill>
                          <a:latin typeface="Times New Roman" pitchFamily="18" charset="0"/>
                          <a:ea typeface="Times New Roman"/>
                          <a:cs typeface="Times New Roman" pitchFamily="18" charset="0"/>
                        </a:rPr>
                        <a:t>* </a:t>
                      </a:r>
                      <a:r>
                        <a:rPr lang="en-US" sz="1500" baseline="0" dirty="0" smtClean="0">
                          <a:solidFill>
                            <a:srgbClr val="000000"/>
                          </a:solidFill>
                          <a:latin typeface="Times New Roman" pitchFamily="18" charset="0"/>
                          <a:ea typeface="Times New Roman"/>
                          <a:cs typeface="Times New Roman" pitchFamily="18" charset="0"/>
                        </a:rPr>
                        <a:t>Asymptotic efficiency of design with </a:t>
                      </a:r>
                      <a:r>
                        <a:rPr lang="en-US" sz="1500" i="1" baseline="0" dirty="0" smtClean="0">
                          <a:solidFill>
                            <a:srgbClr val="000000"/>
                          </a:solidFill>
                          <a:latin typeface="Times New Roman" pitchFamily="18" charset="0"/>
                          <a:ea typeface="Times New Roman"/>
                          <a:cs typeface="Times New Roman" pitchFamily="18" charset="0"/>
                        </a:rPr>
                        <a:t>               </a:t>
                      </a:r>
                      <a:r>
                        <a:rPr lang="en-US" sz="1500" baseline="0" dirty="0" smtClean="0">
                          <a:solidFill>
                            <a:srgbClr val="000000"/>
                          </a:solidFill>
                          <a:latin typeface="Times New Roman" pitchFamily="18" charset="0"/>
                          <a:ea typeface="Times New Roman"/>
                          <a:cs typeface="Times New Roman" pitchFamily="18" charset="0"/>
                        </a:rPr>
                        <a:t>, relative to design with             . </a:t>
                      </a:r>
                    </a:p>
                    <a:p>
                      <a:pPr marL="0" marR="0" algn="l">
                        <a:spcBef>
                          <a:spcPts val="0"/>
                        </a:spcBef>
                        <a:spcAft>
                          <a:spcPts val="0"/>
                        </a:spcAft>
                        <a:buFont typeface="Arial" charset="0"/>
                        <a:buNone/>
                      </a:pPr>
                      <a:endParaRPr lang="en-US" sz="200" dirty="0" smtClean="0">
                        <a:solidFill>
                          <a:srgbClr val="000000"/>
                        </a:solidFill>
                        <a:latin typeface="Times New Roman" pitchFamily="18" charset="0"/>
                        <a:ea typeface="Times New Roman"/>
                        <a:cs typeface="Times New Roman" pitchFamily="18" charset="0"/>
                      </a:endParaRPr>
                    </a:p>
                    <a:p>
                      <a:pPr algn="l">
                        <a:buFont typeface="Arial" charset="0"/>
                        <a:buNone/>
                      </a:pPr>
                      <a:r>
                        <a:rPr lang="en-US" sz="1400" kern="1200" dirty="0" smtClean="0">
                          <a:solidFill>
                            <a:schemeClr val="tx1"/>
                          </a:solidFill>
                          <a:latin typeface="Times New Roman" pitchFamily="18" charset="0"/>
                          <a:ea typeface="+mn-ea"/>
                          <a:cs typeface="Times New Roman" pitchFamily="18" charset="0"/>
                        </a:rPr>
                        <a:t>   </a:t>
                      </a:r>
                      <a:r>
                        <a:rPr lang="en-US" sz="1500" kern="1200" dirty="0" smtClean="0">
                          <a:solidFill>
                            <a:schemeClr val="tx1"/>
                          </a:solidFill>
                          <a:latin typeface="Times New Roman" pitchFamily="18" charset="0"/>
                          <a:ea typeface="+mn-ea"/>
                          <a:cs typeface="Times New Roman" pitchFamily="18" charset="0"/>
                        </a:rPr>
                        <a:t>Ratio of study size when               to study size when               (assuming</a:t>
                      </a:r>
                      <a:r>
                        <a:rPr lang="en-US" sz="1500" kern="1200" baseline="0" dirty="0" smtClean="0">
                          <a:solidFill>
                            <a:schemeClr val="tx1"/>
                          </a:solidFill>
                          <a:latin typeface="Times New Roman" pitchFamily="18" charset="0"/>
                          <a:ea typeface="+mn-ea"/>
                          <a:cs typeface="Times New Roman" pitchFamily="18" charset="0"/>
                        </a:rPr>
                        <a:t> the same expenditure for </a:t>
                      </a:r>
                    </a:p>
                    <a:p>
                      <a:pPr algn="l">
                        <a:buFont typeface="Arial" charset="0"/>
                        <a:buNone/>
                      </a:pPr>
                      <a:r>
                        <a:rPr lang="en-US" sz="1500" kern="1200" baseline="0" dirty="0" smtClean="0">
                          <a:solidFill>
                            <a:schemeClr val="tx1"/>
                          </a:solidFill>
                          <a:latin typeface="Times New Roman" pitchFamily="18" charset="0"/>
                          <a:ea typeface="+mn-ea"/>
                          <a:cs typeface="Times New Roman" pitchFamily="18" charset="0"/>
                        </a:rPr>
                        <a:t>  measurement in both designs).</a:t>
                      </a:r>
                      <a:endParaRPr lang="en-US" sz="1500" kern="1200" dirty="0" smtClean="0">
                        <a:solidFill>
                          <a:schemeClr val="tx1"/>
                        </a:solidFill>
                        <a:latin typeface="Times New Roman" pitchFamily="18" charset="0"/>
                        <a:ea typeface="+mn-ea"/>
                        <a:cs typeface="Times New Roman" pitchFamily="18" charset="0"/>
                      </a:endParaRPr>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endParaRPr lang="en-US" sz="1800"/>
                    </a:p>
                  </a:txBody>
                  <a:tcPr marL="0" marR="0" marT="0" marB="0">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marL="0" marR="0">
                        <a:spcBef>
                          <a:spcPts val="0"/>
                        </a:spcBef>
                        <a:spcAft>
                          <a:spcPts val="0"/>
                        </a:spcAft>
                      </a:pPr>
                      <a:r>
                        <a:rPr lang="en-US" sz="1600" dirty="0">
                          <a:latin typeface="Times New Roman" pitchFamily="18" charset="0"/>
                          <a:ea typeface="Times New Roman"/>
                          <a:cs typeface="Times New Roman" pitchFamily="18" charset="0"/>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xmlns="" val="10017"/>
                  </a:ext>
                </a:extLst>
              </a:tr>
            </a:tbl>
          </a:graphicData>
        </a:graphic>
      </p:graphicFrame>
      <p:graphicFrame>
        <p:nvGraphicFramePr>
          <p:cNvPr id="13448" name="Object 6"/>
          <p:cNvGraphicFramePr>
            <a:graphicFrameLocks noChangeAspect="1"/>
          </p:cNvGraphicFramePr>
          <p:nvPr/>
        </p:nvGraphicFramePr>
        <p:xfrm>
          <a:off x="2667000" y="0"/>
          <a:ext cx="417513" cy="398463"/>
        </p:xfrm>
        <a:graphic>
          <a:graphicData uri="http://schemas.openxmlformats.org/presentationml/2006/ole">
            <mc:AlternateContent xmlns:mc="http://schemas.openxmlformats.org/markup-compatibility/2006">
              <mc:Choice xmlns:v="urn:schemas-microsoft-com:vml" Requires="v">
                <p:oleObj spid="_x0000_s104053" name="Equation" r:id="rId9" imgW="279279" imgH="266584" progId="Equation.DSMT4">
                  <p:embed/>
                </p:oleObj>
              </mc:Choice>
              <mc:Fallback>
                <p:oleObj name="Equation" r:id="rId9" imgW="279279" imgH="266584"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0"/>
                        <a:ext cx="417513"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49" name="Object 7"/>
          <p:cNvGraphicFramePr>
            <a:graphicFrameLocks noChangeAspect="1"/>
          </p:cNvGraphicFramePr>
          <p:nvPr>
            <p:extLst>
              <p:ext uri="{D42A27DB-BD31-4B8C-83A1-F6EECF244321}">
                <p14:modId xmlns:p14="http://schemas.microsoft.com/office/powerpoint/2010/main" val="1258356591"/>
              </p:ext>
            </p:extLst>
          </p:nvPr>
        </p:nvGraphicFramePr>
        <p:xfrm>
          <a:off x="1177925" y="276225"/>
          <a:ext cx="1119188" cy="360363"/>
        </p:xfrm>
        <a:graphic>
          <a:graphicData uri="http://schemas.openxmlformats.org/presentationml/2006/ole">
            <mc:AlternateContent xmlns:mc="http://schemas.openxmlformats.org/markup-compatibility/2006">
              <mc:Choice xmlns:v="urn:schemas-microsoft-com:vml" Requires="v">
                <p:oleObj spid="_x0000_s104054" name="Equation" r:id="rId11" imgW="749160" imgH="241200" progId="Equation.DSMT4">
                  <p:embed/>
                </p:oleObj>
              </mc:Choice>
              <mc:Fallback>
                <p:oleObj name="Equation" r:id="rId11" imgW="749160" imgH="241200" progId="Equation.DSMT4">
                  <p:embed/>
                  <p:pic>
                    <p:nvPicPr>
                      <p:cNvPr id="0" name="Object 7"/>
                      <p:cNvPicPr>
                        <a:picLocks noChangeAspect="1" noChangeArrowheads="1"/>
                      </p:cNvPicPr>
                      <p:nvPr/>
                    </p:nvPicPr>
                    <p:blipFill>
                      <a:blip r:embed="rId12"/>
                      <a:srcRect/>
                      <a:stretch>
                        <a:fillRect/>
                      </a:stretch>
                    </p:blipFill>
                    <p:spPr bwMode="auto">
                      <a:xfrm>
                        <a:off x="1177925" y="276225"/>
                        <a:ext cx="1119188" cy="360363"/>
                      </a:xfrm>
                      <a:prstGeom prst="rect">
                        <a:avLst/>
                      </a:prstGeom>
                      <a:noFill/>
                      <a:ln>
                        <a:solidFill>
                          <a:srgbClr val="0000FF"/>
                        </a:solidFill>
                      </a:ln>
                      <a:effectLst/>
                      <a:extLst/>
                    </p:spPr>
                  </p:pic>
                </p:oleObj>
              </mc:Fallback>
            </mc:AlternateContent>
          </a:graphicData>
        </a:graphic>
      </p:graphicFrame>
      <p:graphicFrame>
        <p:nvGraphicFramePr>
          <p:cNvPr id="13450" name="Object 8"/>
          <p:cNvGraphicFramePr>
            <a:graphicFrameLocks noChangeAspect="1"/>
          </p:cNvGraphicFramePr>
          <p:nvPr>
            <p:extLst>
              <p:ext uri="{D42A27DB-BD31-4B8C-83A1-F6EECF244321}">
                <p14:modId xmlns:p14="http://schemas.microsoft.com/office/powerpoint/2010/main" val="2108921885"/>
              </p:ext>
            </p:extLst>
          </p:nvPr>
        </p:nvGraphicFramePr>
        <p:xfrm>
          <a:off x="6705600" y="628650"/>
          <a:ext cx="228600" cy="246063"/>
        </p:xfrm>
        <a:graphic>
          <a:graphicData uri="http://schemas.openxmlformats.org/presentationml/2006/ole">
            <mc:AlternateContent xmlns:mc="http://schemas.openxmlformats.org/markup-compatibility/2006">
              <mc:Choice xmlns:v="urn:schemas-microsoft-com:vml" Requires="v">
                <p:oleObj spid="_x0000_s104055" name="Equation" r:id="rId13" imgW="164814" imgH="177492" progId="Equation.DSMT4">
                  <p:embed/>
                </p:oleObj>
              </mc:Choice>
              <mc:Fallback>
                <p:oleObj name="Equation" r:id="rId13" imgW="164814" imgH="177492"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05600" y="628650"/>
                        <a:ext cx="228600" cy="246063"/>
                      </a:xfrm>
                      <a:prstGeom prst="rect">
                        <a:avLst/>
                      </a:prstGeom>
                      <a:noFill/>
                      <a:ln>
                        <a:solidFill>
                          <a:srgbClr val="0000FF"/>
                        </a:solidFill>
                      </a:ln>
                      <a:effectLst/>
                      <a:extLst/>
                    </p:spPr>
                  </p:pic>
                </p:oleObj>
              </mc:Fallback>
            </mc:AlternateContent>
          </a:graphicData>
        </a:graphic>
      </p:graphicFrame>
      <p:cxnSp>
        <p:nvCxnSpPr>
          <p:cNvPr id="27" name="Straight Connector 26"/>
          <p:cNvCxnSpPr/>
          <p:nvPr/>
        </p:nvCxnSpPr>
        <p:spPr>
          <a:xfrm>
            <a:off x="4648200" y="914400"/>
            <a:ext cx="4114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52400" y="1143000"/>
            <a:ext cx="8610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52400" y="609600"/>
            <a:ext cx="8610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454" name="Object 9"/>
          <p:cNvGraphicFramePr>
            <a:graphicFrameLocks noChangeAspect="1"/>
          </p:cNvGraphicFramePr>
          <p:nvPr/>
        </p:nvGraphicFramePr>
        <p:xfrm>
          <a:off x="609600" y="1600200"/>
          <a:ext cx="319088" cy="304800"/>
        </p:xfrm>
        <a:graphic>
          <a:graphicData uri="http://schemas.openxmlformats.org/presentationml/2006/ole">
            <mc:AlternateContent xmlns:mc="http://schemas.openxmlformats.org/markup-compatibility/2006">
              <mc:Choice xmlns:v="urn:schemas-microsoft-com:vml" Requires="v">
                <p:oleObj spid="_x0000_s104056" name="Equation" r:id="rId15" imgW="279279" imgH="266584" progId="Equation.DSMT4">
                  <p:embed/>
                </p:oleObj>
              </mc:Choice>
              <mc:Fallback>
                <p:oleObj name="Equation" r:id="rId15" imgW="279279" imgH="266584"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1600200"/>
                        <a:ext cx="3190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55" name="Object 10"/>
          <p:cNvGraphicFramePr>
            <a:graphicFrameLocks noChangeAspect="1"/>
          </p:cNvGraphicFramePr>
          <p:nvPr>
            <p:extLst>
              <p:ext uri="{D42A27DB-BD31-4B8C-83A1-F6EECF244321}">
                <p14:modId xmlns:p14="http://schemas.microsoft.com/office/powerpoint/2010/main" val="404484903"/>
              </p:ext>
            </p:extLst>
          </p:nvPr>
        </p:nvGraphicFramePr>
        <p:xfrm>
          <a:off x="5715000" y="5029200"/>
          <a:ext cx="708025" cy="338137"/>
        </p:xfrm>
        <a:graphic>
          <a:graphicData uri="http://schemas.openxmlformats.org/presentationml/2006/ole">
            <mc:AlternateContent xmlns:mc="http://schemas.openxmlformats.org/markup-compatibility/2006">
              <mc:Choice xmlns:v="urn:schemas-microsoft-com:vml" Requires="v">
                <p:oleObj spid="_x0000_s104057" name="Equation" r:id="rId17" imgW="558558" imgH="266584" progId="Equation.DSMT4">
                  <p:embed/>
                </p:oleObj>
              </mc:Choice>
              <mc:Fallback>
                <p:oleObj name="Equation" r:id="rId17" imgW="558558" imgH="266584"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15000" y="5029200"/>
                        <a:ext cx="70802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56" name="Object 11"/>
          <p:cNvGraphicFramePr>
            <a:graphicFrameLocks noChangeAspect="1"/>
          </p:cNvGraphicFramePr>
          <p:nvPr>
            <p:extLst>
              <p:ext uri="{D42A27DB-BD31-4B8C-83A1-F6EECF244321}">
                <p14:modId xmlns:p14="http://schemas.microsoft.com/office/powerpoint/2010/main" val="2462749866"/>
              </p:ext>
            </p:extLst>
          </p:nvPr>
        </p:nvGraphicFramePr>
        <p:xfrm>
          <a:off x="3203575" y="5105400"/>
          <a:ext cx="606425" cy="215900"/>
        </p:xfrm>
        <a:graphic>
          <a:graphicData uri="http://schemas.openxmlformats.org/presentationml/2006/ole">
            <mc:AlternateContent xmlns:mc="http://schemas.openxmlformats.org/markup-compatibility/2006">
              <mc:Choice xmlns:v="urn:schemas-microsoft-com:vml" Requires="v">
                <p:oleObj spid="_x0000_s104058" name="Equation" r:id="rId19" imgW="533169" imgH="190417" progId="Equation.DSMT4">
                  <p:embed/>
                </p:oleObj>
              </mc:Choice>
              <mc:Fallback>
                <p:oleObj name="Equation" r:id="rId19" imgW="533169" imgH="190417"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3575" y="5105400"/>
                        <a:ext cx="6064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57" name="Object 12"/>
          <p:cNvGraphicFramePr>
            <a:graphicFrameLocks noChangeAspect="1"/>
          </p:cNvGraphicFramePr>
          <p:nvPr/>
        </p:nvGraphicFramePr>
        <p:xfrm>
          <a:off x="2214563" y="5334000"/>
          <a:ext cx="604837" cy="215900"/>
        </p:xfrm>
        <a:graphic>
          <a:graphicData uri="http://schemas.openxmlformats.org/presentationml/2006/ole">
            <mc:AlternateContent xmlns:mc="http://schemas.openxmlformats.org/markup-compatibility/2006">
              <mc:Choice xmlns:v="urn:schemas-microsoft-com:vml" Requires="v">
                <p:oleObj spid="_x0000_s104059" name="Equation" r:id="rId21" imgW="533169" imgH="190417" progId="Equation.DSMT4">
                  <p:embed/>
                </p:oleObj>
              </mc:Choice>
              <mc:Fallback>
                <p:oleObj name="Equation" r:id="rId21" imgW="533169" imgH="190417"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14563" y="5334000"/>
                        <a:ext cx="604837"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58" name="Object 13"/>
          <p:cNvGraphicFramePr>
            <a:graphicFrameLocks noChangeAspect="1"/>
          </p:cNvGraphicFramePr>
          <p:nvPr>
            <p:extLst>
              <p:ext uri="{D42A27DB-BD31-4B8C-83A1-F6EECF244321}">
                <p14:modId xmlns:p14="http://schemas.microsoft.com/office/powerpoint/2010/main" val="143515802"/>
              </p:ext>
            </p:extLst>
          </p:nvPr>
        </p:nvGraphicFramePr>
        <p:xfrm>
          <a:off x="4319587" y="5334000"/>
          <a:ext cx="633413" cy="303213"/>
        </p:xfrm>
        <a:graphic>
          <a:graphicData uri="http://schemas.openxmlformats.org/presentationml/2006/ole">
            <mc:AlternateContent xmlns:mc="http://schemas.openxmlformats.org/markup-compatibility/2006">
              <mc:Choice xmlns:v="urn:schemas-microsoft-com:vml" Requires="v">
                <p:oleObj spid="_x0000_s104060" name="Equation" r:id="rId23" imgW="558558" imgH="266584" progId="Equation.DSMT4">
                  <p:embed/>
                </p:oleObj>
              </mc:Choice>
              <mc:Fallback>
                <p:oleObj name="Equation" r:id="rId23" imgW="558558" imgH="266584" progId="Equation.DSMT4">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19587" y="5334000"/>
                        <a:ext cx="633413"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59" name="Object 14"/>
          <p:cNvGraphicFramePr>
            <a:graphicFrameLocks noChangeAspect="1"/>
          </p:cNvGraphicFramePr>
          <p:nvPr/>
        </p:nvGraphicFramePr>
        <p:xfrm>
          <a:off x="152400" y="5334000"/>
          <a:ext cx="115888" cy="195263"/>
        </p:xfrm>
        <a:graphic>
          <a:graphicData uri="http://schemas.openxmlformats.org/presentationml/2006/ole">
            <mc:AlternateContent xmlns:mc="http://schemas.openxmlformats.org/markup-compatibility/2006">
              <mc:Choice xmlns:v="urn:schemas-microsoft-com:vml" Requires="v">
                <p:oleObj spid="_x0000_s104061" name="Equation" r:id="rId25" imgW="126780" imgH="215526" progId="Equation.DSMT4">
                  <p:embed/>
                </p:oleObj>
              </mc:Choice>
              <mc:Fallback>
                <p:oleObj name="Equation" r:id="rId25" imgW="126780" imgH="215526" progId="Equation.DSMT4">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2400" y="5334000"/>
                        <a:ext cx="115888" cy="19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0" name="Object 15"/>
          <p:cNvGraphicFramePr>
            <a:graphicFrameLocks noChangeAspect="1"/>
          </p:cNvGraphicFramePr>
          <p:nvPr/>
        </p:nvGraphicFramePr>
        <p:xfrm>
          <a:off x="1222375" y="2057400"/>
          <a:ext cx="303213" cy="228600"/>
        </p:xfrm>
        <a:graphic>
          <a:graphicData uri="http://schemas.openxmlformats.org/presentationml/2006/ole">
            <mc:AlternateContent xmlns:mc="http://schemas.openxmlformats.org/markup-compatibility/2006">
              <mc:Choice xmlns:v="urn:schemas-microsoft-com:vml" Requires="v">
                <p:oleObj spid="_x0000_s104062" name="Equation" r:id="rId27" imgW="291847" imgH="215713" progId="Equation.DSMT4">
                  <p:embed/>
                </p:oleObj>
              </mc:Choice>
              <mc:Fallback>
                <p:oleObj name="Equation" r:id="rId27" imgW="291847" imgH="215713" progId="Equation.DSMT4">
                  <p:embed/>
                  <p:pic>
                    <p:nvPicPr>
                      <p:cNvPr id="0" name="Object 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222375" y="2057400"/>
                        <a:ext cx="303213"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1" name="Object 16"/>
          <p:cNvGraphicFramePr>
            <a:graphicFrameLocks noChangeAspect="1"/>
          </p:cNvGraphicFramePr>
          <p:nvPr/>
        </p:nvGraphicFramePr>
        <p:xfrm>
          <a:off x="4114800" y="2286000"/>
          <a:ext cx="606425" cy="215900"/>
        </p:xfrm>
        <a:graphic>
          <a:graphicData uri="http://schemas.openxmlformats.org/presentationml/2006/ole">
            <mc:AlternateContent xmlns:mc="http://schemas.openxmlformats.org/markup-compatibility/2006">
              <mc:Choice xmlns:v="urn:schemas-microsoft-com:vml" Requires="v">
                <p:oleObj spid="_x0000_s104063" name="Equation" r:id="rId29" imgW="533169" imgH="190417" progId="Equation.DSMT4">
                  <p:embed/>
                </p:oleObj>
              </mc:Choice>
              <mc:Fallback>
                <p:oleObj name="Equation" r:id="rId29" imgW="533169" imgH="190417" progId="Equation.DSMT4">
                  <p:embed/>
                  <p:pic>
                    <p:nvPicPr>
                      <p:cNvPr id="0" name="Object 1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114800" y="2286000"/>
                        <a:ext cx="6064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2" name="Object 17"/>
          <p:cNvGraphicFramePr>
            <a:graphicFrameLocks noChangeAspect="1"/>
          </p:cNvGraphicFramePr>
          <p:nvPr/>
        </p:nvGraphicFramePr>
        <p:xfrm>
          <a:off x="4114800" y="4114800"/>
          <a:ext cx="606425" cy="215900"/>
        </p:xfrm>
        <a:graphic>
          <a:graphicData uri="http://schemas.openxmlformats.org/presentationml/2006/ole">
            <mc:AlternateContent xmlns:mc="http://schemas.openxmlformats.org/markup-compatibility/2006">
              <mc:Choice xmlns:v="urn:schemas-microsoft-com:vml" Requires="v">
                <p:oleObj spid="_x0000_s104064" name="Equation" r:id="rId31" imgW="533169" imgH="190417" progId="Equation.DSMT4">
                  <p:embed/>
                </p:oleObj>
              </mc:Choice>
              <mc:Fallback>
                <p:oleObj name="Equation" r:id="rId31" imgW="533169" imgH="190417" progId="Equation.DSMT4">
                  <p:embed/>
                  <p:pic>
                    <p:nvPicPr>
                      <p:cNvPr id="0" name="Object 1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114800" y="4114800"/>
                        <a:ext cx="6064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3" name="Object 18"/>
          <p:cNvGraphicFramePr>
            <a:graphicFrameLocks noChangeAspect="1"/>
          </p:cNvGraphicFramePr>
          <p:nvPr/>
        </p:nvGraphicFramePr>
        <p:xfrm>
          <a:off x="1162050" y="1828800"/>
          <a:ext cx="722313" cy="215900"/>
        </p:xfrm>
        <a:graphic>
          <a:graphicData uri="http://schemas.openxmlformats.org/presentationml/2006/ole">
            <mc:AlternateContent xmlns:mc="http://schemas.openxmlformats.org/markup-compatibility/2006">
              <mc:Choice xmlns:v="urn:schemas-microsoft-com:vml" Requires="v">
                <p:oleObj spid="_x0000_s104065" name="Equation" r:id="rId32" imgW="634725" imgH="190417" progId="Equation.DSMT4">
                  <p:embed/>
                </p:oleObj>
              </mc:Choice>
              <mc:Fallback>
                <p:oleObj name="Equation" r:id="rId32" imgW="634725" imgH="190417" progId="Equation.DSMT4">
                  <p:embed/>
                  <p:pic>
                    <p:nvPicPr>
                      <p:cNvPr id="0" name="Object 18"/>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162050" y="1828800"/>
                        <a:ext cx="722313"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4" name="Object 19"/>
          <p:cNvGraphicFramePr>
            <a:graphicFrameLocks noChangeAspect="1"/>
          </p:cNvGraphicFramePr>
          <p:nvPr/>
        </p:nvGraphicFramePr>
        <p:xfrm>
          <a:off x="609600" y="2514600"/>
          <a:ext cx="869950" cy="304800"/>
        </p:xfrm>
        <a:graphic>
          <a:graphicData uri="http://schemas.openxmlformats.org/presentationml/2006/ole">
            <mc:AlternateContent xmlns:mc="http://schemas.openxmlformats.org/markup-compatibility/2006">
              <mc:Choice xmlns:v="urn:schemas-microsoft-com:vml" Requires="v">
                <p:oleObj spid="_x0000_s104066" name="Equation" r:id="rId34" imgW="761669" imgH="266584" progId="Equation.DSMT4">
                  <p:embed/>
                </p:oleObj>
              </mc:Choice>
              <mc:Fallback>
                <p:oleObj name="Equation" r:id="rId34" imgW="761669" imgH="266584" progId="Equation.DSMT4">
                  <p:embed/>
                  <p:pic>
                    <p:nvPicPr>
                      <p:cNvPr id="0" name="Object 1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609600" y="2514600"/>
                        <a:ext cx="869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5" name="Object 20"/>
          <p:cNvGraphicFramePr>
            <a:graphicFrameLocks noChangeAspect="1"/>
          </p:cNvGraphicFramePr>
          <p:nvPr/>
        </p:nvGraphicFramePr>
        <p:xfrm>
          <a:off x="609600" y="3352800"/>
          <a:ext cx="319088" cy="304800"/>
        </p:xfrm>
        <a:graphic>
          <a:graphicData uri="http://schemas.openxmlformats.org/presentationml/2006/ole">
            <mc:AlternateContent xmlns:mc="http://schemas.openxmlformats.org/markup-compatibility/2006">
              <mc:Choice xmlns:v="urn:schemas-microsoft-com:vml" Requires="v">
                <p:oleObj spid="_x0000_s104067" name="Equation" r:id="rId36" imgW="279279" imgH="266584" progId="Equation.DSMT4">
                  <p:embed/>
                </p:oleObj>
              </mc:Choice>
              <mc:Fallback>
                <p:oleObj name="Equation" r:id="rId36" imgW="279279" imgH="266584" progId="Equation.DSMT4">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3352800"/>
                        <a:ext cx="3190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6" name="Object 21"/>
          <p:cNvGraphicFramePr>
            <a:graphicFrameLocks noChangeAspect="1"/>
          </p:cNvGraphicFramePr>
          <p:nvPr/>
        </p:nvGraphicFramePr>
        <p:xfrm>
          <a:off x="1200150" y="3657600"/>
          <a:ext cx="606425" cy="215900"/>
        </p:xfrm>
        <a:graphic>
          <a:graphicData uri="http://schemas.openxmlformats.org/presentationml/2006/ole">
            <mc:AlternateContent xmlns:mc="http://schemas.openxmlformats.org/markup-compatibility/2006">
              <mc:Choice xmlns:v="urn:schemas-microsoft-com:vml" Requires="v">
                <p:oleObj spid="_x0000_s104068" name="Equation" r:id="rId37" imgW="533169" imgH="190417" progId="Equation.DSMT4">
                  <p:embed/>
                </p:oleObj>
              </mc:Choice>
              <mc:Fallback>
                <p:oleObj name="Equation" r:id="rId37" imgW="533169" imgH="190417" progId="Equation.DSMT4">
                  <p:embed/>
                  <p:pic>
                    <p:nvPicPr>
                      <p:cNvPr id="0" name="Object 2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200150" y="3657600"/>
                        <a:ext cx="6064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7" name="Object 22"/>
          <p:cNvGraphicFramePr>
            <a:graphicFrameLocks noChangeAspect="1"/>
          </p:cNvGraphicFramePr>
          <p:nvPr/>
        </p:nvGraphicFramePr>
        <p:xfrm>
          <a:off x="1271588" y="3898900"/>
          <a:ext cx="196850" cy="201613"/>
        </p:xfrm>
        <a:graphic>
          <a:graphicData uri="http://schemas.openxmlformats.org/presentationml/2006/ole">
            <mc:AlternateContent xmlns:mc="http://schemas.openxmlformats.org/markup-compatibility/2006">
              <mc:Choice xmlns:v="urn:schemas-microsoft-com:vml" Requires="v">
                <p:oleObj spid="_x0000_s104069" name="Equation" r:id="rId39" imgW="190417" imgH="190417" progId="Equation.DSMT4">
                  <p:embed/>
                </p:oleObj>
              </mc:Choice>
              <mc:Fallback>
                <p:oleObj name="Equation" r:id="rId39" imgW="190417" imgH="190417" progId="Equation.DSMT4">
                  <p:embed/>
                  <p:pic>
                    <p:nvPicPr>
                      <p:cNvPr id="0" name="Object 2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271588" y="3898900"/>
                        <a:ext cx="196850"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8" name="Object 23"/>
          <p:cNvGraphicFramePr>
            <a:graphicFrameLocks noChangeAspect="1"/>
          </p:cNvGraphicFramePr>
          <p:nvPr/>
        </p:nvGraphicFramePr>
        <p:xfrm>
          <a:off x="1295400" y="4800600"/>
          <a:ext cx="196850" cy="201613"/>
        </p:xfrm>
        <a:graphic>
          <a:graphicData uri="http://schemas.openxmlformats.org/presentationml/2006/ole">
            <mc:AlternateContent xmlns:mc="http://schemas.openxmlformats.org/markup-compatibility/2006">
              <mc:Choice xmlns:v="urn:schemas-microsoft-com:vml" Requires="v">
                <p:oleObj spid="_x0000_s104070" name="Equation" r:id="rId41" imgW="190417" imgH="190417" progId="Equation.DSMT4">
                  <p:embed/>
                </p:oleObj>
              </mc:Choice>
              <mc:Fallback>
                <p:oleObj name="Equation" r:id="rId41" imgW="190417" imgH="190417" progId="Equation.DSMT4">
                  <p:embed/>
                  <p:pic>
                    <p:nvPicPr>
                      <p:cNvPr id="0" name="Object 23"/>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295400" y="4800600"/>
                        <a:ext cx="196850" cy="20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69" name="Object 24"/>
          <p:cNvGraphicFramePr>
            <a:graphicFrameLocks noChangeAspect="1"/>
          </p:cNvGraphicFramePr>
          <p:nvPr/>
        </p:nvGraphicFramePr>
        <p:xfrm>
          <a:off x="1143000" y="4572000"/>
          <a:ext cx="606425" cy="215900"/>
        </p:xfrm>
        <a:graphic>
          <a:graphicData uri="http://schemas.openxmlformats.org/presentationml/2006/ole">
            <mc:AlternateContent xmlns:mc="http://schemas.openxmlformats.org/markup-compatibility/2006">
              <mc:Choice xmlns:v="urn:schemas-microsoft-com:vml" Requires="v">
                <p:oleObj spid="_x0000_s104071" name="Equation" r:id="rId42" imgW="533169" imgH="190417" progId="Equation.DSMT4">
                  <p:embed/>
                </p:oleObj>
              </mc:Choice>
              <mc:Fallback>
                <p:oleObj name="Equation" r:id="rId42" imgW="533169" imgH="190417" progId="Equation.DSMT4">
                  <p:embed/>
                  <p:pic>
                    <p:nvPicPr>
                      <p:cNvPr id="0" name="Object 2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143000" y="4572000"/>
                        <a:ext cx="606425"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70" name="Object 25"/>
          <p:cNvGraphicFramePr>
            <a:graphicFrameLocks noChangeAspect="1"/>
          </p:cNvGraphicFramePr>
          <p:nvPr/>
        </p:nvGraphicFramePr>
        <p:xfrm>
          <a:off x="609600" y="4267200"/>
          <a:ext cx="319088" cy="304800"/>
        </p:xfrm>
        <a:graphic>
          <a:graphicData uri="http://schemas.openxmlformats.org/presentationml/2006/ole">
            <mc:AlternateContent xmlns:mc="http://schemas.openxmlformats.org/markup-compatibility/2006">
              <mc:Choice xmlns:v="urn:schemas-microsoft-com:vml" Requires="v">
                <p:oleObj spid="_x0000_s104072" name="Equation" r:id="rId43" imgW="279279" imgH="266584" progId="Equation.DSMT4">
                  <p:embed/>
                </p:oleObj>
              </mc:Choice>
              <mc:Fallback>
                <p:oleObj name="Equation" r:id="rId43" imgW="279279" imgH="266584" progId="Equation.DSMT4">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4267200"/>
                        <a:ext cx="3190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152400"/>
            <a:ext cx="4267200" cy="304800"/>
          </a:xfrm>
        </p:spPr>
        <p:txBody>
          <a:bodyPr lIns="92075" tIns="46038" rIns="92075" bIns="46038"/>
          <a:lstStyle/>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14339" name="AutoShape 3"/>
          <p:cNvCxnSpPr>
            <a:cxnSpLocks noChangeShapeType="1"/>
            <a:stCxn id="28676" idx="3"/>
            <a:endCxn id="28676" idx="3"/>
          </p:cNvCxnSpPr>
          <p:nvPr/>
        </p:nvCxnSpPr>
        <p:spPr bwMode="auto">
          <a:xfrm>
            <a:off x="4572000" y="304800"/>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434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4341"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72295"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2"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72296"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434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03DCFA90-4AD0-4185-A9BB-EC3ADAFCE9F8}" type="slidenum">
              <a:rPr lang="zh-CN" altLang="en-US" sz="1200">
                <a:solidFill>
                  <a:srgbClr val="898989"/>
                </a:solidFill>
              </a:rPr>
              <a:pPr algn="r" eaLnBrk="1" hangingPunct="1">
                <a:spcBef>
                  <a:spcPct val="0"/>
                </a:spcBef>
                <a:buFontTx/>
                <a:buNone/>
              </a:pPr>
              <a:t>13</a:t>
            </a:fld>
            <a:endParaRPr lang="en-US" altLang="zh-CN" sz="1200">
              <a:solidFill>
                <a:srgbClr val="898989"/>
              </a:solidFill>
            </a:endParaRPr>
          </a:p>
        </p:txBody>
      </p:sp>
      <p:sp>
        <p:nvSpPr>
          <p:cNvPr id="14345" name="TextBox 13"/>
          <p:cNvSpPr txBox="1">
            <a:spLocks noChangeArrowheads="1"/>
          </p:cNvSpPr>
          <p:nvPr/>
        </p:nvSpPr>
        <p:spPr bwMode="auto">
          <a:xfrm>
            <a:off x="228600" y="5334000"/>
            <a:ext cx="8915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en-US" altLang="en-US" sz="600" dirty="0">
              <a:latin typeface="Times New Roman" pitchFamily="18" charset="0"/>
              <a:cs typeface="Times New Roman" pitchFamily="18" charset="0"/>
            </a:endParaRPr>
          </a:p>
          <a:p>
            <a:pPr eaLnBrk="1" hangingPunct="1">
              <a:spcBef>
                <a:spcPct val="0"/>
              </a:spcBef>
              <a:buFontTx/>
              <a:buNone/>
            </a:pPr>
            <a:r>
              <a:rPr lang="en-US" altLang="en-US" sz="1800" dirty="0">
                <a:latin typeface="Times New Roman" pitchFamily="18" charset="0"/>
                <a:cs typeface="Times New Roman" pitchFamily="18" charset="0"/>
              </a:rPr>
              <a:t> </a:t>
            </a:r>
          </a:p>
        </p:txBody>
      </p:sp>
      <p:sp>
        <p:nvSpPr>
          <p:cNvPr id="16" name="Rectangle 15"/>
          <p:cNvSpPr/>
          <p:nvPr/>
        </p:nvSpPr>
        <p:spPr>
          <a:xfrm>
            <a:off x="7010400" y="4876800"/>
            <a:ext cx="3048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Rectangle 20"/>
          <p:cNvSpPr/>
          <p:nvPr/>
        </p:nvSpPr>
        <p:spPr>
          <a:xfrm>
            <a:off x="4191000" y="3200400"/>
            <a:ext cx="1524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p:cNvSpPr/>
          <p:nvPr/>
        </p:nvSpPr>
        <p:spPr>
          <a:xfrm>
            <a:off x="4038600" y="19050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4038600" y="40386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ectangle 27"/>
          <p:cNvSpPr/>
          <p:nvPr/>
        </p:nvSpPr>
        <p:spPr>
          <a:xfrm>
            <a:off x="4038600" y="22860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ectangle 28"/>
          <p:cNvSpPr/>
          <p:nvPr/>
        </p:nvSpPr>
        <p:spPr>
          <a:xfrm>
            <a:off x="4038600" y="26670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4038600" y="36576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4038600" y="4419600"/>
            <a:ext cx="228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457200" y="1524000"/>
            <a:ext cx="8229600" cy="3108543"/>
          </a:xfrm>
          <a:prstGeom prst="rect">
            <a:avLst/>
          </a:prstGeom>
        </p:spPr>
        <p:txBody>
          <a:bodyPr wrap="square">
            <a:spAutoFit/>
          </a:bodyPr>
          <a:lstStyle/>
          <a:p>
            <a:r>
              <a:rPr lang="en-US" altLang="en-US" sz="2800" dirty="0">
                <a:latin typeface="Times New Roman" pitchFamily="18" charset="0"/>
                <a:cs typeface="Times New Roman" pitchFamily="18" charset="0"/>
              </a:rPr>
              <a:t>In </a:t>
            </a:r>
            <a:r>
              <a:rPr lang="en-US" altLang="en-US" sz="2800" dirty="0">
                <a:solidFill>
                  <a:srgbClr val="0000FF"/>
                </a:solidFill>
                <a:latin typeface="Times New Roman" pitchFamily="18" charset="0"/>
                <a:cs typeface="Times New Roman" pitchFamily="18" charset="0"/>
              </a:rPr>
              <a:t>case-control </a:t>
            </a:r>
            <a:r>
              <a:rPr lang="en-US" altLang="en-US" sz="2800" dirty="0" smtClean="0">
                <a:solidFill>
                  <a:srgbClr val="0000FF"/>
                </a:solidFill>
                <a:latin typeface="Times New Roman" pitchFamily="18" charset="0"/>
                <a:cs typeface="Times New Roman" pitchFamily="18" charset="0"/>
              </a:rPr>
              <a:t>studies</a:t>
            </a:r>
            <a:r>
              <a:rPr lang="en-US" altLang="en-US" sz="2800" dirty="0" smtClean="0">
                <a:latin typeface="Times New Roman" pitchFamily="18" charset="0"/>
                <a:cs typeface="Times New Roman" pitchFamily="18" charset="0"/>
              </a:rPr>
              <a:t>, </a:t>
            </a:r>
            <a:r>
              <a:rPr lang="en-US" altLang="en-US" sz="2800" dirty="0">
                <a:solidFill>
                  <a:srgbClr val="FF0000"/>
                </a:solidFill>
                <a:latin typeface="Times New Roman" pitchFamily="18" charset="0"/>
                <a:cs typeface="Times New Roman" pitchFamily="18" charset="0"/>
              </a:rPr>
              <a:t>with relatively low cost ratios</a:t>
            </a:r>
            <a:r>
              <a:rPr lang="en-US" altLang="en-US" sz="2800" dirty="0">
                <a:latin typeface="Times New Roman" pitchFamily="18" charset="0"/>
                <a:cs typeface="Times New Roman" pitchFamily="18" charset="0"/>
              </a:rPr>
              <a:t> (medical records vs. self-report), the </a:t>
            </a:r>
            <a:r>
              <a:rPr lang="en-US" altLang="en-US" sz="2800" dirty="0">
                <a:solidFill>
                  <a:srgbClr val="FF3300"/>
                </a:solidFill>
                <a:latin typeface="Times New Roman" pitchFamily="18" charset="0"/>
                <a:cs typeface="Times New Roman" pitchFamily="18" charset="0"/>
              </a:rPr>
              <a:t>fully validated design is often </a:t>
            </a:r>
            <a:r>
              <a:rPr lang="en-US" altLang="en-US" sz="2800" dirty="0" smtClean="0">
                <a:solidFill>
                  <a:srgbClr val="FF3300"/>
                </a:solidFill>
                <a:latin typeface="Times New Roman" pitchFamily="18" charset="0"/>
                <a:cs typeface="Times New Roman" pitchFamily="18" charset="0"/>
              </a:rPr>
              <a:t>optimal</a:t>
            </a:r>
          </a:p>
          <a:p>
            <a:endParaRPr lang="en-US" altLang="en-US" sz="2800" dirty="0">
              <a:solidFill>
                <a:srgbClr val="FF3300"/>
              </a:solidFill>
              <a:latin typeface="Times New Roman" pitchFamily="18" charset="0"/>
              <a:cs typeface="Times New Roman" pitchFamily="18" charset="0"/>
            </a:endParaRPr>
          </a:p>
          <a:p>
            <a:endParaRPr lang="en-US" altLang="en-US" sz="2800" dirty="0">
              <a:latin typeface="Times New Roman" pitchFamily="18" charset="0"/>
              <a:cs typeface="Times New Roman" pitchFamily="18" charset="0"/>
            </a:endParaRPr>
          </a:p>
          <a:p>
            <a:r>
              <a:rPr lang="en-US" altLang="en-US" sz="2800" dirty="0">
                <a:solidFill>
                  <a:srgbClr val="0000FF"/>
                </a:solidFill>
                <a:latin typeface="Times New Roman" pitchFamily="18" charset="0"/>
                <a:cs typeface="Times New Roman" pitchFamily="18" charset="0"/>
              </a:rPr>
              <a:t>Differential vs. non-differential </a:t>
            </a:r>
            <a:r>
              <a:rPr lang="en-US" altLang="en-US" sz="2800" dirty="0">
                <a:latin typeface="Times New Roman" pitchFamily="18" charset="0"/>
                <a:cs typeface="Times New Roman" pitchFamily="18" charset="0"/>
              </a:rPr>
              <a:t>misclassification assumption has a </a:t>
            </a:r>
            <a:r>
              <a:rPr lang="en-US" altLang="en-US" sz="2800" dirty="0">
                <a:solidFill>
                  <a:srgbClr val="0000FF"/>
                </a:solidFill>
                <a:latin typeface="Times New Roman" pitchFamily="18" charset="0"/>
                <a:cs typeface="Times New Roman" pitchFamily="18" charset="0"/>
              </a:rPr>
              <a:t>big impact </a:t>
            </a:r>
            <a:r>
              <a:rPr lang="en-US" altLang="en-US" sz="2800" dirty="0">
                <a:latin typeface="Times New Roman" pitchFamily="18" charset="0"/>
                <a:cs typeface="Times New Roman" pitchFamily="18" charset="0"/>
              </a:rPr>
              <a:t>on the design. </a:t>
            </a: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14</a:t>
            </a:fld>
            <a:endParaRPr lang="en-US" altLang="zh-CN"/>
          </a:p>
        </p:txBody>
      </p:sp>
      <p:graphicFrame>
        <p:nvGraphicFramePr>
          <p:cNvPr id="3" name="Table 2"/>
          <p:cNvGraphicFramePr>
            <a:graphicFrameLocks noGrp="1"/>
          </p:cNvGraphicFramePr>
          <p:nvPr>
            <p:extLst>
              <p:ext uri="{D42A27DB-BD31-4B8C-83A1-F6EECF244321}">
                <p14:modId xmlns:p14="http://schemas.microsoft.com/office/powerpoint/2010/main" val="2458563463"/>
              </p:ext>
            </p:extLst>
          </p:nvPr>
        </p:nvGraphicFramePr>
        <p:xfrm>
          <a:off x="152400" y="381002"/>
          <a:ext cx="8991600" cy="6522718"/>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xmlns="" val="20000"/>
                    </a:ext>
                  </a:extLst>
                </a:gridCol>
                <a:gridCol w="147828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600200">
                  <a:extLst>
                    <a:ext uri="{9D8B030D-6E8A-4147-A177-3AD203B41FA5}">
                      <a16:colId xmlns:a16="http://schemas.microsoft.com/office/drawing/2014/main" xmlns="" val="20003"/>
                    </a:ext>
                  </a:extLst>
                </a:gridCol>
                <a:gridCol w="2743200">
                  <a:extLst>
                    <a:ext uri="{9D8B030D-6E8A-4147-A177-3AD203B41FA5}">
                      <a16:colId xmlns:a16="http://schemas.microsoft.com/office/drawing/2014/main" xmlns="" val="20004"/>
                    </a:ext>
                  </a:extLst>
                </a:gridCol>
              </a:tblGrid>
              <a:tr h="1008653">
                <a:tc>
                  <a:txBody>
                    <a:bodyPr/>
                    <a:lstStyle/>
                    <a:p>
                      <a:endParaRPr lang="en-US" dirty="0"/>
                    </a:p>
                  </a:txBody>
                  <a:tcPr/>
                </a:tc>
                <a:tc>
                  <a:txBody>
                    <a:bodyPr/>
                    <a:lstStyle/>
                    <a:p>
                      <a:r>
                        <a:rPr lang="en-US" dirty="0" smtClean="0"/>
                        <a:t>MS Data</a:t>
                      </a:r>
                      <a:endParaRPr lang="en-US" dirty="0"/>
                    </a:p>
                  </a:txBody>
                  <a:tcPr/>
                </a:tc>
                <a:tc>
                  <a:txBody>
                    <a:bodyPr/>
                    <a:lstStyle/>
                    <a:p>
                      <a:r>
                        <a:rPr lang="en-US" dirty="0" smtClean="0"/>
                        <a:t>Method  for dealing with ME</a:t>
                      </a:r>
                      <a:endParaRPr lang="en-US" dirty="0"/>
                    </a:p>
                  </a:txBody>
                  <a:tcPr/>
                </a:tc>
                <a:tc>
                  <a:txBody>
                    <a:bodyPr/>
                    <a:lstStyle/>
                    <a:p>
                      <a:r>
                        <a:rPr lang="en-US" dirty="0" smtClean="0"/>
                        <a:t>Measurement</a:t>
                      </a:r>
                      <a:r>
                        <a:rPr lang="en-US" baseline="0" dirty="0" smtClean="0"/>
                        <a:t> error  assumption</a:t>
                      </a:r>
                      <a:endParaRPr lang="en-US" dirty="0"/>
                    </a:p>
                  </a:txBody>
                  <a:tcPr/>
                </a:tc>
                <a:tc>
                  <a:txBody>
                    <a:bodyPr/>
                    <a:lstStyle/>
                    <a:p>
                      <a:r>
                        <a:rPr lang="en-US" dirty="0" smtClean="0"/>
                        <a:t>Criteria of optimal design</a:t>
                      </a:r>
                      <a:endParaRPr lang="en-US" dirty="0"/>
                    </a:p>
                  </a:txBody>
                  <a:tcPr/>
                </a:tc>
                <a:extLst>
                  <a:ext uri="{0D108BD9-81ED-4DB2-BD59-A6C34878D82A}">
                    <a16:rowId xmlns:a16="http://schemas.microsoft.com/office/drawing/2014/main" xmlns="" val="10000"/>
                  </a:ext>
                </a:extLst>
              </a:tr>
              <a:tr h="1008653">
                <a:tc>
                  <a:txBody>
                    <a:bodyPr/>
                    <a:lstStyle/>
                    <a:p>
                      <a:r>
                        <a:rPr lang="en-US" sz="1800" b="1" dirty="0" smtClean="0">
                          <a:latin typeface="Times New Roman" pitchFamily="18" charset="0"/>
                          <a:cs typeface="Times New Roman" pitchFamily="18" charset="0"/>
                        </a:rPr>
                        <a:t>Greenland (1988)</a:t>
                      </a:r>
                      <a:endParaRPr lang="en-US" b="1" dirty="0"/>
                    </a:p>
                  </a:txBody>
                  <a:tcPr/>
                </a:tc>
                <a:tc>
                  <a:txBody>
                    <a:bodyPr/>
                    <a:lstStyle/>
                    <a:p>
                      <a:r>
                        <a:rPr lang="en-US" dirty="0" smtClean="0">
                          <a:solidFill>
                            <a:schemeClr val="tx1"/>
                          </a:solidFill>
                          <a:latin typeface="+mn-lt"/>
                        </a:rPr>
                        <a:t>2X2</a:t>
                      </a:r>
                      <a:r>
                        <a:rPr lang="en-US" baseline="0" dirty="0" smtClean="0">
                          <a:solidFill>
                            <a:schemeClr val="tx1"/>
                          </a:solidFill>
                          <a:latin typeface="+mn-lt"/>
                        </a:rPr>
                        <a:t> table</a:t>
                      </a:r>
                      <a:endParaRPr lang="en-US" dirty="0">
                        <a:solidFill>
                          <a:schemeClr val="tx1"/>
                        </a:solidFill>
                        <a:latin typeface="+mn-lt"/>
                      </a:endParaRPr>
                    </a:p>
                  </a:txBody>
                  <a:tcPr/>
                </a:tc>
                <a:tc>
                  <a:txBody>
                    <a:bodyPr/>
                    <a:lstStyle/>
                    <a:p>
                      <a:r>
                        <a:rPr lang="en-US" sz="1800" b="0" dirty="0" smtClean="0">
                          <a:solidFill>
                            <a:schemeClr val="tx1"/>
                          </a:solidFill>
                          <a:latin typeface="+mn-lt"/>
                          <a:cs typeface="Times New Roman" pitchFamily="18" charset="0"/>
                        </a:rPr>
                        <a:t>Matrix method</a:t>
                      </a:r>
                      <a:endParaRPr lang="en-US" b="0" dirty="0">
                        <a:solidFill>
                          <a:schemeClr val="tx1"/>
                        </a:solidFill>
                        <a:latin typeface="+mn-lt"/>
                      </a:endParaRPr>
                    </a:p>
                  </a:txBody>
                  <a:tcPr/>
                </a:tc>
                <a:tc>
                  <a:txBody>
                    <a:bodyPr/>
                    <a:lstStyle/>
                    <a:p>
                      <a:r>
                        <a:rPr lang="en-US" dirty="0" smtClean="0">
                          <a:latin typeface="+mn-lt"/>
                        </a:rPr>
                        <a:t>Differential and non-differential</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latin typeface="+mn-lt"/>
                          <a:cs typeface="Times New Roman" pitchFamily="18" charset="0"/>
                        </a:rPr>
                        <a:t>Minimum variance subject to cost considerations</a:t>
                      </a:r>
                      <a:endParaRPr lang="en-US" dirty="0">
                        <a:solidFill>
                          <a:schemeClr val="tx1"/>
                        </a:solidFill>
                        <a:latin typeface="+mn-lt"/>
                      </a:endParaRPr>
                    </a:p>
                  </a:txBody>
                  <a:tcPr/>
                </a:tc>
                <a:extLst>
                  <a:ext uri="{0D108BD9-81ED-4DB2-BD59-A6C34878D82A}">
                    <a16:rowId xmlns:a16="http://schemas.microsoft.com/office/drawing/2014/main" xmlns="" val="10001"/>
                  </a:ext>
                </a:extLst>
              </a:tr>
              <a:tr h="1106892">
                <a:tc>
                  <a:txBody>
                    <a:bodyPr/>
                    <a:lstStyle/>
                    <a:p>
                      <a:r>
                        <a:rPr lang="en-US" sz="1800" b="1" dirty="0" smtClean="0">
                          <a:solidFill>
                            <a:srgbClr val="FF0000"/>
                          </a:solidFill>
                          <a:latin typeface="Times New Roman" pitchFamily="18" charset="0"/>
                          <a:cs typeface="Times New Roman" pitchFamily="18" charset="0"/>
                        </a:rPr>
                        <a:t>Reilly (1996)</a:t>
                      </a:r>
                      <a:endParaRPr lang="en-US"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latin typeface="+mn-lt"/>
                        </a:rPr>
                        <a:t>2X2</a:t>
                      </a:r>
                      <a:r>
                        <a:rPr lang="en-US" baseline="0" dirty="0" smtClean="0">
                          <a:solidFill>
                            <a:srgbClr val="FF0000"/>
                          </a:solidFill>
                          <a:latin typeface="+mn-lt"/>
                        </a:rPr>
                        <a:t> table (and categorical exposure)</a:t>
                      </a:r>
                      <a:endParaRPr lang="en-US" dirty="0">
                        <a:solidFill>
                          <a:srgbClr val="FF0000"/>
                        </a:solidFill>
                        <a:latin typeface="+mn-lt"/>
                      </a:endParaRPr>
                    </a:p>
                  </a:txBody>
                  <a:tcPr/>
                </a:tc>
                <a:tc>
                  <a:txBody>
                    <a:bodyPr/>
                    <a:lstStyle/>
                    <a:p>
                      <a:r>
                        <a:rPr lang="en-US" dirty="0" smtClean="0">
                          <a:solidFill>
                            <a:srgbClr val="FF0000"/>
                          </a:solidFill>
                          <a:latin typeface="+mn-lt"/>
                        </a:rPr>
                        <a:t>MLE</a:t>
                      </a:r>
                      <a:endParaRPr lang="en-US" dirty="0">
                        <a:solidFill>
                          <a:srgbClr val="FF0000"/>
                        </a:solidFill>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latin typeface="+mn-lt"/>
                        </a:rPr>
                        <a:t>Differential and non-differential</a:t>
                      </a:r>
                    </a:p>
                    <a:p>
                      <a:endParaRPr lang="en-US" dirty="0">
                        <a:solidFill>
                          <a:srgbClr val="FF0000"/>
                        </a:solidFill>
                        <a:latin typeface="+mn-lt"/>
                      </a:endParaRPr>
                    </a:p>
                  </a:txBody>
                  <a:tcPr/>
                </a:tc>
                <a:tc>
                  <a:txBody>
                    <a:bodyPr/>
                    <a:lstStyle/>
                    <a:p>
                      <a:r>
                        <a:rPr lang="en-US" sz="1800" b="1" dirty="0" smtClean="0">
                          <a:solidFill>
                            <a:srgbClr val="FF0000"/>
                          </a:solidFill>
                          <a:latin typeface="+mn-lt"/>
                          <a:cs typeface="Times New Roman" pitchFamily="18" charset="0"/>
                        </a:rPr>
                        <a:t>Maximize precision for a fixed total budget or minimize the study cost given a desired precision</a:t>
                      </a:r>
                      <a:endParaRPr lang="en-US" dirty="0">
                        <a:solidFill>
                          <a:srgbClr val="FF0000"/>
                        </a:solidFill>
                        <a:latin typeface="+mn-lt"/>
                      </a:endParaRPr>
                    </a:p>
                  </a:txBody>
                  <a:tcPr/>
                </a:tc>
                <a:extLst>
                  <a:ext uri="{0D108BD9-81ED-4DB2-BD59-A6C34878D82A}">
                    <a16:rowId xmlns:a16="http://schemas.microsoft.com/office/drawing/2014/main" xmlns="" val="10002"/>
                  </a:ext>
                </a:extLst>
              </a:tr>
              <a:tr h="939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err="1" smtClean="0">
                          <a:latin typeface="Times New Roman" pitchFamily="18" charset="0"/>
                          <a:cs typeface="Times New Roman" pitchFamily="18" charset="0"/>
                        </a:rPr>
                        <a:t>Buonaccorsi</a:t>
                      </a:r>
                      <a:r>
                        <a:rPr lang="en-US" sz="1800" b="1" dirty="0" smtClean="0">
                          <a:latin typeface="Times New Roman" pitchFamily="18" charset="0"/>
                          <a:cs typeface="Times New Roman" pitchFamily="18" charset="0"/>
                        </a:rPr>
                        <a:t> (1990)</a:t>
                      </a:r>
                    </a:p>
                    <a:p>
                      <a:endParaRPr lang="en-US" dirty="0"/>
                    </a:p>
                  </a:txBody>
                  <a:tcPr/>
                </a:tc>
                <a:tc>
                  <a:txBody>
                    <a:bodyPr/>
                    <a:lstStyle/>
                    <a:p>
                      <a:r>
                        <a:rPr lang="en-US" dirty="0" smtClean="0">
                          <a:latin typeface="+mn-lt"/>
                        </a:rPr>
                        <a:t>Binary outcome,</a:t>
                      </a:r>
                      <a:r>
                        <a:rPr lang="en-US" baseline="0" dirty="0" smtClean="0">
                          <a:latin typeface="+mn-lt"/>
                        </a:rPr>
                        <a:t> continuous E</a:t>
                      </a:r>
                      <a:endParaRPr lang="en-US" dirty="0" smtClean="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txBody>
                  <a:tcPr/>
                </a:tc>
                <a:tc>
                  <a:txBody>
                    <a:bodyPr/>
                    <a:lstStyle/>
                    <a:p>
                      <a:pPr>
                        <a:buFont typeface="Arial" charset="0"/>
                        <a:buNone/>
                        <a:defRPr/>
                      </a:pPr>
                      <a:r>
                        <a:rPr lang="en-US" sz="1800" baseline="0" dirty="0" smtClean="0">
                          <a:latin typeface="+mn-lt"/>
                          <a:cs typeface="Times New Roman" pitchFamily="18" charset="0"/>
                        </a:rPr>
                        <a:t>                </a:t>
                      </a:r>
                      <a:r>
                        <a:rPr lang="en-US" sz="1800" dirty="0" smtClean="0">
                          <a:latin typeface="+mn-lt"/>
                          <a:cs typeface="Times New Roman" pitchFamily="18" charset="0"/>
                        </a:rPr>
                        <a:t>jointly </a:t>
                      </a:r>
                    </a:p>
                    <a:p>
                      <a:pPr>
                        <a:buFont typeface="Arial" charset="0"/>
                        <a:buNone/>
                        <a:defRPr/>
                      </a:pPr>
                      <a:r>
                        <a:rPr lang="en-US" sz="1800" dirty="0" smtClean="0">
                          <a:latin typeface="+mn-lt"/>
                          <a:cs typeface="Times New Roman" pitchFamily="18" charset="0"/>
                        </a:rPr>
                        <a:t>normal and homoscedastic</a:t>
                      </a:r>
                      <a:endParaRPr lang="en-US" dirty="0">
                        <a:latin typeface="+mn-lt"/>
                      </a:endParaRPr>
                    </a:p>
                  </a:txBody>
                  <a:tcPr/>
                </a:tc>
                <a:tc>
                  <a:txBody>
                    <a:bodyPr/>
                    <a:lstStyle/>
                    <a:p>
                      <a:r>
                        <a:rPr lang="en-US" sz="1800" b="1" dirty="0" smtClean="0">
                          <a:solidFill>
                            <a:schemeClr val="tx1"/>
                          </a:solidFill>
                          <a:latin typeface="+mn-lt"/>
                          <a:cs typeface="Times New Roman" pitchFamily="18" charset="0"/>
                        </a:rPr>
                        <a:t>Minimize the variance subject to cost considerations</a:t>
                      </a:r>
                      <a:endParaRPr lang="en-US" dirty="0">
                        <a:solidFill>
                          <a:schemeClr val="tx1"/>
                        </a:solidFill>
                        <a:latin typeface="+mn-lt"/>
                      </a:endParaRPr>
                    </a:p>
                  </a:txBody>
                  <a:tcPr/>
                </a:tc>
                <a:extLst>
                  <a:ext uri="{0D108BD9-81ED-4DB2-BD59-A6C34878D82A}">
                    <a16:rowId xmlns:a16="http://schemas.microsoft.com/office/drawing/2014/main" xmlns="" val="10003"/>
                  </a:ext>
                </a:extLst>
              </a:tr>
              <a:tr h="11081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itchFamily="18" charset="0"/>
                          <a:cs typeface="Times New Roman" pitchFamily="18" charset="0"/>
                        </a:rPr>
                        <a:t>Spiegelman and Gray (1991)</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Binary outcome,</a:t>
                      </a:r>
                      <a:r>
                        <a:rPr lang="en-US" baseline="0" dirty="0" smtClean="0">
                          <a:latin typeface="+mn-lt"/>
                        </a:rPr>
                        <a:t> continuous E </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p>
                      <a:endParaRPr lang="en-US" dirty="0">
                        <a:latin typeface="+mn-lt"/>
                      </a:endParaRPr>
                    </a:p>
                  </a:txBody>
                  <a:tcPr/>
                </a:tc>
                <a:tc>
                  <a:txBody>
                    <a:bodyPr/>
                    <a:lstStyle/>
                    <a:p>
                      <a:pPr>
                        <a:buFont typeface="Arial" charset="0"/>
                        <a:buNone/>
                        <a:defRPr/>
                      </a:pPr>
                      <a:r>
                        <a:rPr lang="en-US" dirty="0" smtClean="0">
                          <a:latin typeface="+mn-lt"/>
                        </a:rPr>
                        <a:t>Classical additive ME</a:t>
                      </a:r>
                      <a:endParaRPr lang="en-US" dirty="0">
                        <a:latin typeface="+mn-lt"/>
                      </a:endParaRPr>
                    </a:p>
                  </a:txBody>
                  <a:tcPr/>
                </a:tc>
                <a:tc>
                  <a:txBody>
                    <a:bodyPr/>
                    <a:lstStyle/>
                    <a:p>
                      <a:r>
                        <a:rPr lang="en-US" b="1" dirty="0" smtClean="0">
                          <a:latin typeface="+mn-lt"/>
                        </a:rPr>
                        <a:t>Minimize cost, subject to a specified discriminatory power</a:t>
                      </a:r>
                      <a:endParaRPr lang="en-US" dirty="0">
                        <a:latin typeface="+mn-lt"/>
                      </a:endParaRPr>
                    </a:p>
                  </a:txBody>
                  <a:tcPr/>
                </a:tc>
                <a:extLst>
                  <a:ext uri="{0D108BD9-81ED-4DB2-BD59-A6C34878D82A}">
                    <a16:rowId xmlns:a16="http://schemas.microsoft.com/office/drawing/2014/main" xmlns="" val="10004"/>
                  </a:ext>
                </a:extLst>
              </a:tr>
              <a:tr h="775705">
                <a:tc>
                  <a:txBody>
                    <a:bodyPr/>
                    <a:lstStyle/>
                    <a:p>
                      <a:r>
                        <a:rPr lang="en-US" sz="1800" b="1" dirty="0" err="1" smtClean="0">
                          <a:solidFill>
                            <a:schemeClr val="tx1"/>
                          </a:solidFill>
                          <a:latin typeface="Times New Roman" pitchFamily="18" charset="0"/>
                          <a:cs typeface="Times New Roman" pitchFamily="18" charset="0"/>
                        </a:rPr>
                        <a:t>Rosner</a:t>
                      </a:r>
                      <a:r>
                        <a:rPr lang="en-US" sz="1800" b="1" dirty="0" smtClean="0">
                          <a:solidFill>
                            <a:schemeClr val="tx1"/>
                          </a:solidFill>
                          <a:latin typeface="Times New Roman" pitchFamily="18" charset="0"/>
                          <a:cs typeface="Times New Roman" pitchFamily="18" charset="0"/>
                        </a:rPr>
                        <a:t> et al. (1992)</a:t>
                      </a:r>
                      <a:endParaRPr lang="en-US" dirty="0">
                        <a:solidFill>
                          <a:schemeClr val="tx1"/>
                        </a:solidFill>
                      </a:endParaRPr>
                    </a:p>
                  </a:txBody>
                  <a:tcPr/>
                </a:tc>
                <a:tc>
                  <a:txBody>
                    <a:bodyPr/>
                    <a:lstStyle/>
                    <a:p>
                      <a:r>
                        <a:rPr lang="en-US" dirty="0" smtClean="0">
                          <a:solidFill>
                            <a:schemeClr val="tx1"/>
                          </a:solidFill>
                          <a:latin typeface="+mn-lt"/>
                        </a:rPr>
                        <a:t>Binary outcome,</a:t>
                      </a:r>
                      <a:r>
                        <a:rPr lang="en-US" baseline="0" dirty="0" smtClean="0">
                          <a:solidFill>
                            <a:schemeClr val="tx1"/>
                          </a:solidFill>
                          <a:latin typeface="+mn-lt"/>
                        </a:rPr>
                        <a:t> continuous exposure</a:t>
                      </a:r>
                      <a:endParaRPr lang="en-US" dirty="0" smtClean="0">
                        <a:solidFill>
                          <a:schemeClr val="tx1"/>
                        </a:solidFill>
                        <a:latin typeface="+mn-lt"/>
                      </a:endParaRPr>
                    </a:p>
                  </a:txBody>
                  <a:tcPr/>
                </a:tc>
                <a:tc>
                  <a:txBody>
                    <a:bodyPr/>
                    <a:lstStyle/>
                    <a:p>
                      <a:r>
                        <a:rPr lang="en-US" dirty="0" smtClean="0">
                          <a:solidFill>
                            <a:schemeClr val="tx1"/>
                          </a:solidFill>
                        </a:rPr>
                        <a:t>Logistic regression, Regression Calibration</a:t>
                      </a:r>
                      <a:endParaRPr 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Classical additive ME</a:t>
                      </a:r>
                    </a:p>
                    <a:p>
                      <a:endParaRPr lang="en-US" dirty="0">
                        <a:solidFill>
                          <a:schemeClr val="tx1"/>
                        </a:solidFill>
                      </a:endParaRPr>
                    </a:p>
                  </a:txBody>
                  <a:tcPr/>
                </a:tc>
                <a:tc>
                  <a:txBody>
                    <a:bodyPr/>
                    <a:lstStyle/>
                    <a:p>
                      <a:endParaRPr lang="en-US" dirty="0"/>
                    </a:p>
                  </a:txBody>
                  <a:tcPr/>
                </a:tc>
                <a:extLst>
                  <a:ext uri="{0D108BD9-81ED-4DB2-BD59-A6C34878D82A}">
                    <a16:rowId xmlns:a16="http://schemas.microsoft.com/office/drawing/2014/main" xmlns="" val="10005"/>
                  </a:ext>
                </a:extLst>
              </a:tr>
            </a:tbl>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4141676191"/>
              </p:ext>
            </p:extLst>
          </p:nvPr>
        </p:nvGraphicFramePr>
        <p:xfrm>
          <a:off x="4800600" y="3657600"/>
          <a:ext cx="860612" cy="304800"/>
        </p:xfrm>
        <a:graphic>
          <a:graphicData uri="http://schemas.openxmlformats.org/presentationml/2006/ole">
            <mc:AlternateContent xmlns:mc="http://schemas.openxmlformats.org/markup-compatibility/2006">
              <mc:Choice xmlns:v="urn:schemas-microsoft-com:vml" Requires="v">
                <p:oleObj spid="_x0000_s90187" name="Equation" r:id="rId3" imgW="609336" imgH="215806" progId="Equation.DSMT4">
                  <p:embed/>
                </p:oleObj>
              </mc:Choice>
              <mc:Fallback>
                <p:oleObj name="Equation" r:id="rId3" imgW="609336" imgH="21580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3657600"/>
                        <a:ext cx="860612" cy="304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89480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152400"/>
            <a:ext cx="8458200" cy="6172200"/>
          </a:xfrm>
        </p:spPr>
        <p:txBody>
          <a:bodyPr lIns="92075" tIns="46038" rIns="92075" bIns="46038"/>
          <a:lstStyle/>
          <a:p>
            <a:pPr>
              <a:buNone/>
              <a:defRPr/>
            </a:pPr>
            <a:r>
              <a:rPr lang="en-US" sz="2400" b="1" dirty="0" smtClean="0">
                <a:latin typeface="Times New Roman" pitchFamily="18" charset="0"/>
                <a:cs typeface="Times New Roman" pitchFamily="18" charset="0"/>
              </a:rPr>
              <a:t>                                      Reilly </a:t>
            </a:r>
            <a:r>
              <a:rPr lang="en-US" sz="2400" b="1" dirty="0">
                <a:latin typeface="Times New Roman" pitchFamily="18" charset="0"/>
                <a:cs typeface="Times New Roman" pitchFamily="18" charset="0"/>
              </a:rPr>
              <a:t>M. (1996)</a:t>
            </a:r>
            <a:endParaRPr lang="en-US" sz="2200" b="1" dirty="0" smtClean="0">
              <a:latin typeface="Times New Roman" pitchFamily="18" charset="0"/>
              <a:cs typeface="Times New Roman" pitchFamily="18" charset="0"/>
            </a:endParaRPr>
          </a:p>
          <a:p>
            <a:pPr>
              <a:buFont typeface="Arial" charset="0"/>
              <a:buNone/>
              <a:defRPr/>
            </a:pPr>
            <a:r>
              <a:rPr lang="en-US" sz="2200" dirty="0" smtClean="0">
                <a:solidFill>
                  <a:srgbClr val="0000FF"/>
                </a:solidFill>
                <a:latin typeface="Times New Roman" pitchFamily="18" charset="0"/>
                <a:cs typeface="Times New Roman" pitchFamily="18" charset="0"/>
              </a:rPr>
              <a:t>Software</a:t>
            </a:r>
            <a:r>
              <a:rPr lang="en-US" sz="2200" dirty="0" smtClean="0">
                <a:latin typeface="Times New Roman" pitchFamily="18" charset="0"/>
                <a:cs typeface="Times New Roman" pitchFamily="18" charset="0"/>
              </a:rPr>
              <a:t> for optimal study design for a binary outcome variable and a</a:t>
            </a:r>
          </a:p>
          <a:p>
            <a:pPr>
              <a:buFont typeface="Arial" charset="0"/>
              <a:buNone/>
              <a:defRPr/>
            </a:pPr>
            <a:r>
              <a:rPr lang="en-US" sz="2200" dirty="0" smtClean="0">
                <a:latin typeface="Times New Roman" pitchFamily="18" charset="0"/>
                <a:cs typeface="Times New Roman" pitchFamily="18" charset="0"/>
              </a:rPr>
              <a:t>binary misclassified exposure is available here </a:t>
            </a:r>
          </a:p>
          <a:p>
            <a:pPr>
              <a:buFont typeface="Arial" charset="0"/>
              <a:buNone/>
              <a:defRPr/>
            </a:pPr>
            <a:r>
              <a:rPr lang="en-US" sz="2200" u="sng" dirty="0" smtClean="0">
                <a:latin typeface="Times New Roman" pitchFamily="18" charset="0"/>
                <a:cs typeface="Times New Roman" pitchFamily="18" charset="0"/>
                <a:hlinkClick r:id="rId4"/>
              </a:rPr>
              <a:t>http://www.meb.ki.se/~marrei/software/</a:t>
            </a:r>
            <a:r>
              <a:rPr lang="en-US" sz="2200" dirty="0" smtClean="0">
                <a:latin typeface="Times New Roman" pitchFamily="18" charset="0"/>
                <a:cs typeface="Times New Roman" pitchFamily="18" charset="0"/>
              </a:rPr>
              <a:t> (Reilly, 1996). </a:t>
            </a:r>
          </a:p>
          <a:p>
            <a:pPr>
              <a:buFont typeface="Arial" charset="0"/>
              <a:buNone/>
              <a:defRPr/>
            </a:pPr>
            <a:r>
              <a:rPr lang="en-US" sz="2200" dirty="0" smtClean="0">
                <a:latin typeface="Times New Roman" pitchFamily="18" charset="0"/>
                <a:cs typeface="Times New Roman" pitchFamily="18" charset="0"/>
              </a:rPr>
              <a:t> </a:t>
            </a:r>
            <a:endParaRPr lang="en-US" sz="1200" dirty="0" smtClean="0">
              <a:latin typeface="Times New Roman" pitchFamily="18" charset="0"/>
              <a:cs typeface="Times New Roman" pitchFamily="18" charset="0"/>
            </a:endParaRPr>
          </a:p>
          <a:p>
            <a:pPr>
              <a:buFont typeface="Arial" charset="0"/>
              <a:buNone/>
              <a:defRPr/>
            </a:pPr>
            <a:r>
              <a:rPr lang="en-US" sz="2200" b="1" dirty="0" smtClean="0">
                <a:latin typeface="Times New Roman" pitchFamily="18" charset="0"/>
                <a:cs typeface="Times New Roman" pitchFamily="18" charset="0"/>
              </a:rPr>
              <a:t>This software </a:t>
            </a:r>
            <a:r>
              <a:rPr lang="en-US" sz="2200" b="1" dirty="0" smtClean="0">
                <a:solidFill>
                  <a:srgbClr val="0000FF"/>
                </a:solidFill>
                <a:latin typeface="Times New Roman" pitchFamily="18" charset="0"/>
                <a:cs typeface="Times New Roman" pitchFamily="18" charset="0"/>
              </a:rPr>
              <a:t>uses the MLE</a:t>
            </a:r>
            <a:r>
              <a:rPr lang="en-US" sz="2200" dirty="0" smtClean="0">
                <a:latin typeface="Times New Roman" pitchFamily="18" charset="0"/>
                <a:cs typeface="Times New Roman" pitchFamily="18" charset="0"/>
              </a:rPr>
              <a:t>, for the </a:t>
            </a:r>
            <a:r>
              <a:rPr lang="en-US" sz="2200" b="1" dirty="0" smtClean="0">
                <a:solidFill>
                  <a:srgbClr val="0000FF"/>
                </a:solidFill>
                <a:latin typeface="Times New Roman" pitchFamily="18" charset="0"/>
                <a:cs typeface="Times New Roman" pitchFamily="18" charset="0"/>
              </a:rPr>
              <a:t>MS/IVS</a:t>
            </a:r>
            <a:r>
              <a:rPr lang="en-US" sz="2200" dirty="0" smtClean="0">
                <a:latin typeface="Times New Roman" pitchFamily="18" charset="0"/>
                <a:cs typeface="Times New Roman" pitchFamily="18" charset="0"/>
              </a:rPr>
              <a:t> design for both the case control and cohort studies. The criterion is </a:t>
            </a:r>
            <a:r>
              <a:rPr lang="en-US" sz="2200" b="1" dirty="0" smtClean="0">
                <a:solidFill>
                  <a:srgbClr val="FF0000"/>
                </a:solidFill>
                <a:latin typeface="Times New Roman" pitchFamily="18" charset="0"/>
                <a:cs typeface="Times New Roman" pitchFamily="18" charset="0"/>
              </a:rPr>
              <a:t>to</a:t>
            </a:r>
            <a:r>
              <a:rPr lang="en-US" sz="2200" dirty="0" smtClean="0">
                <a:solidFill>
                  <a:srgbClr val="FF0000"/>
                </a:solidFill>
                <a:latin typeface="Times New Roman" pitchFamily="18" charset="0"/>
                <a:cs typeface="Times New Roman" pitchFamily="18" charset="0"/>
              </a:rPr>
              <a:t> </a:t>
            </a:r>
            <a:r>
              <a:rPr lang="en-US" sz="2200" b="1" dirty="0" smtClean="0">
                <a:solidFill>
                  <a:srgbClr val="FF0000"/>
                </a:solidFill>
                <a:latin typeface="Times New Roman" pitchFamily="18" charset="0"/>
                <a:cs typeface="Times New Roman" pitchFamily="18" charset="0"/>
              </a:rPr>
              <a:t>maximize precision for a fixed total budget</a:t>
            </a:r>
            <a:r>
              <a:rPr lang="en-US" sz="2200" b="1" dirty="0" smtClean="0">
                <a:latin typeface="Times New Roman" pitchFamily="18" charset="0"/>
                <a:cs typeface="Times New Roman" pitchFamily="18" charset="0"/>
              </a:rPr>
              <a:t> </a:t>
            </a:r>
            <a:r>
              <a:rPr lang="en-US" sz="2200" b="1" dirty="0" smtClean="0">
                <a:solidFill>
                  <a:srgbClr val="0000FF"/>
                </a:solidFill>
                <a:latin typeface="Times New Roman" pitchFamily="18" charset="0"/>
                <a:cs typeface="Times New Roman" pitchFamily="18" charset="0"/>
              </a:rPr>
              <a:t>or</a:t>
            </a:r>
            <a:r>
              <a:rPr lang="en-US" sz="2200" b="1" dirty="0" smtClean="0">
                <a:latin typeface="Times New Roman" pitchFamily="18" charset="0"/>
                <a:cs typeface="Times New Roman" pitchFamily="18" charset="0"/>
              </a:rPr>
              <a:t> </a:t>
            </a:r>
            <a:r>
              <a:rPr lang="en-US" sz="2200" b="1" dirty="0" smtClean="0">
                <a:solidFill>
                  <a:srgbClr val="FF0000"/>
                </a:solidFill>
                <a:latin typeface="Times New Roman" pitchFamily="18" charset="0"/>
                <a:cs typeface="Times New Roman" pitchFamily="18" charset="0"/>
              </a:rPr>
              <a:t>minimize the study cost given a desired precision</a:t>
            </a:r>
            <a:r>
              <a:rPr lang="en-US" sz="2200" dirty="0" smtClean="0">
                <a:latin typeface="Times New Roman" pitchFamily="18" charset="0"/>
                <a:cs typeface="Times New Roman" pitchFamily="18" charset="0"/>
              </a:rPr>
              <a:t>. </a:t>
            </a:r>
          </a:p>
          <a:p>
            <a:pPr>
              <a:buFont typeface="Arial" charset="0"/>
              <a:buNone/>
              <a:defRPr/>
            </a:pPr>
            <a:r>
              <a:rPr lang="en-US" sz="2200" dirty="0" smtClean="0">
                <a:latin typeface="Times New Roman" pitchFamily="18" charset="0"/>
                <a:cs typeface="Times New Roman" pitchFamily="18" charset="0"/>
              </a:rPr>
              <a:t>We know from Lecture 2 that in the MS/IVS under differential misclassification assumption, the MLE is the inverse matrix method (Lyles, 2002) and that the efficiency loss from using the matrix method can be considerable.</a:t>
            </a: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1600" dirty="0" smtClean="0">
                <a:latin typeface="Times New Roman" pitchFamily="18" charset="0"/>
                <a:cs typeface="Times New Roman" pitchFamily="18" charset="0"/>
              </a:rPr>
              <a:t>Reilly M. (1996) Optimal sampling strategies for two-stage studies. </a:t>
            </a:r>
            <a:r>
              <a:rPr lang="en-US" sz="1600" i="1" dirty="0" smtClean="0">
                <a:latin typeface="Times New Roman" pitchFamily="18" charset="0"/>
                <a:cs typeface="Times New Roman" pitchFamily="18" charset="0"/>
              </a:rPr>
              <a:t>American Journal of </a:t>
            </a:r>
          </a:p>
          <a:p>
            <a:pPr>
              <a:buFont typeface="Arial" charset="0"/>
              <a:buNone/>
              <a:defRPr/>
            </a:pPr>
            <a:r>
              <a:rPr lang="en-US" sz="1600" i="1" dirty="0" smtClean="0">
                <a:latin typeface="Times New Roman" pitchFamily="18" charset="0"/>
                <a:cs typeface="Times New Roman" pitchFamily="18" charset="0"/>
              </a:rPr>
              <a:t>Epidemiology</a:t>
            </a:r>
            <a:r>
              <a:rPr lang="en-US" sz="1600" dirty="0" smtClean="0">
                <a:latin typeface="Times New Roman" pitchFamily="18" charset="0"/>
                <a:cs typeface="Times New Roman" pitchFamily="18" charset="0"/>
              </a:rPr>
              <a:t> 143:92-100.</a:t>
            </a:r>
          </a:p>
          <a:p>
            <a:pPr>
              <a:buFont typeface="Arial" charset="0"/>
              <a:buNone/>
              <a:defRPr/>
            </a:pPr>
            <a:r>
              <a:rPr lang="en-US" sz="1600" dirty="0" smtClean="0">
                <a:latin typeface="Times New Roman" pitchFamily="18" charset="0"/>
                <a:cs typeface="Times New Roman" pitchFamily="18" charset="0"/>
              </a:rPr>
              <a:t>Lyles R.H. (2002) A note on estimating crude odds ratios in case-control studies with differentially </a:t>
            </a:r>
          </a:p>
          <a:p>
            <a:pPr>
              <a:buFont typeface="Arial" charset="0"/>
              <a:buNone/>
              <a:defRPr/>
            </a:pPr>
            <a:r>
              <a:rPr lang="en-US" sz="1600" dirty="0" smtClean="0">
                <a:latin typeface="Times New Roman" pitchFamily="18" charset="0"/>
                <a:cs typeface="Times New Roman" pitchFamily="18" charset="0"/>
              </a:rPr>
              <a:t>misclassified exposure. </a:t>
            </a:r>
            <a:r>
              <a:rPr lang="en-US" sz="1600" i="1" dirty="0" smtClean="0">
                <a:latin typeface="Times New Roman" pitchFamily="18" charset="0"/>
                <a:cs typeface="Times New Roman" pitchFamily="18" charset="0"/>
              </a:rPr>
              <a:t>Biometrics</a:t>
            </a:r>
            <a:r>
              <a:rPr lang="en-US" sz="1600" dirty="0" smtClean="0">
                <a:latin typeface="Times New Roman" pitchFamily="18" charset="0"/>
                <a:cs typeface="Times New Roman" pitchFamily="18" charset="0"/>
              </a:rPr>
              <a:t> 58:1034-1036.</a:t>
            </a: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15363" name="AutoShape 3"/>
          <p:cNvCxnSpPr>
            <a:cxnSpLocks noChangeShapeType="1"/>
            <a:stCxn id="28676" idx="3"/>
            <a:endCxn id="28676" idx="3"/>
          </p:cNvCxnSpPr>
          <p:nvPr/>
        </p:nvCxnSpPr>
        <p:spPr bwMode="auto">
          <a:xfrm>
            <a:off x="88392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536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5365"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6126" name="Equation" r:id="rId5" imgW="114102" imgH="177492" progId="Equation.DSMT4">
                  <p:embed/>
                </p:oleObj>
              </mc:Choice>
              <mc:Fallback>
                <p:oleObj name="Equation" r:id="rId5" imgW="114102" imgH="177492"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6"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6127" name="Equation" r:id="rId7" imgW="114102" imgH="177492" progId="Equation.DSMT4">
                  <p:embed/>
                </p:oleObj>
              </mc:Choice>
              <mc:Fallback>
                <p:oleObj name="Equation" r:id="rId7" imgW="114102" imgH="177492"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536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6F997291-9A42-4093-A14B-3AE95DE61746}" type="slidenum">
              <a:rPr lang="zh-CN" altLang="en-US" sz="1200">
                <a:solidFill>
                  <a:srgbClr val="898989"/>
                </a:solidFill>
              </a:rPr>
              <a:pPr algn="r" eaLnBrk="1" hangingPunct="1">
                <a:spcBef>
                  <a:spcPct val="0"/>
                </a:spcBef>
                <a:buFontTx/>
                <a:buNone/>
              </a:pPr>
              <a:t>15</a:t>
            </a:fld>
            <a:endParaRPr lang="en-US" altLang="zh-CN" sz="1200">
              <a:solidFill>
                <a:srgbClr val="898989"/>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152400"/>
            <a:ext cx="8458200" cy="6172200"/>
          </a:xfrm>
        </p:spPr>
        <p:txBody>
          <a:bodyPr lIns="92075" tIns="46038" rIns="92075" bIns="46038"/>
          <a:lstStyle/>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400" dirty="0" smtClean="0">
                <a:solidFill>
                  <a:srgbClr val="0000FF"/>
                </a:solidFill>
                <a:latin typeface="Times New Roman" pitchFamily="18" charset="0"/>
                <a:cs typeface="Times New Roman" pitchFamily="18" charset="0"/>
              </a:rPr>
              <a:t>More complex designs </a:t>
            </a:r>
            <a:r>
              <a:rPr lang="en-US" sz="2400" dirty="0" smtClean="0">
                <a:latin typeface="Times New Roman" pitchFamily="18" charset="0"/>
                <a:cs typeface="Times New Roman" pitchFamily="18" charset="0"/>
              </a:rPr>
              <a:t>have been developed in which the </a:t>
            </a:r>
          </a:p>
          <a:p>
            <a:pPr>
              <a:buFont typeface="Arial" charset="0"/>
              <a:buNone/>
              <a:defRPr/>
            </a:pPr>
            <a:r>
              <a:rPr lang="en-US" sz="2400" dirty="0" smtClean="0">
                <a:latin typeface="Times New Roman" pitchFamily="18" charset="0"/>
                <a:cs typeface="Times New Roman" pitchFamily="18" charset="0"/>
              </a:rPr>
              <a:t>validation study  proportions vary by     ,      , and even </a:t>
            </a:r>
          </a:p>
          <a:p>
            <a:pPr>
              <a:buFont typeface="Arial" charset="0"/>
              <a:buNone/>
              <a:defRPr/>
            </a:pPr>
            <a:r>
              <a:rPr lang="en-US" sz="2400" dirty="0" smtClean="0">
                <a:latin typeface="Times New Roman" pitchFamily="18" charset="0"/>
                <a:cs typeface="Times New Roman" pitchFamily="18" charset="0"/>
              </a:rPr>
              <a:t>(Reilly, 1996; </a:t>
            </a:r>
            <a:r>
              <a:rPr lang="en-US" sz="2400" dirty="0" err="1" smtClean="0">
                <a:latin typeface="Times New Roman" pitchFamily="18" charset="0"/>
                <a:cs typeface="Times New Roman" pitchFamily="18" charset="0"/>
              </a:rPr>
              <a:t>Tosteson</a:t>
            </a:r>
            <a:r>
              <a:rPr lang="en-US" sz="2400" dirty="0" smtClean="0">
                <a:latin typeface="Times New Roman" pitchFamily="18" charset="0"/>
                <a:cs typeface="Times New Roman" pitchFamily="18" charset="0"/>
              </a:rPr>
              <a:t> and Ware, 1990) and others.</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They have rarely if ever been used in practice.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1600" dirty="0" err="1" smtClean="0">
                <a:latin typeface="Times New Roman" pitchFamily="18" charset="0"/>
                <a:cs typeface="Times New Roman" pitchFamily="18" charset="0"/>
              </a:rPr>
              <a:t>Tosteson</a:t>
            </a:r>
            <a:r>
              <a:rPr lang="en-US" sz="1600" dirty="0" smtClean="0">
                <a:latin typeface="Times New Roman" pitchFamily="18" charset="0"/>
                <a:cs typeface="Times New Roman" pitchFamily="18" charset="0"/>
              </a:rPr>
              <a:t> T.D., Ware J.H. (1990) Designing a </a:t>
            </a:r>
            <a:r>
              <a:rPr lang="en-US" sz="1600" b="1" dirty="0" smtClean="0">
                <a:latin typeface="Times New Roman" pitchFamily="18" charset="0"/>
                <a:cs typeface="Times New Roman" pitchFamily="18" charset="0"/>
              </a:rPr>
              <a:t>logistic regression </a:t>
            </a:r>
            <a:r>
              <a:rPr lang="en-US" sz="1600" dirty="0" smtClean="0">
                <a:latin typeface="Times New Roman" pitchFamily="18" charset="0"/>
                <a:cs typeface="Times New Roman" pitchFamily="18" charset="0"/>
              </a:rPr>
              <a:t>study using surrogate measures for </a:t>
            </a:r>
          </a:p>
          <a:p>
            <a:pPr>
              <a:buFont typeface="Arial" charset="0"/>
              <a:buNone/>
              <a:defRPr/>
            </a:pPr>
            <a:r>
              <a:rPr lang="en-US" sz="1600" dirty="0" smtClean="0">
                <a:latin typeface="Times New Roman" pitchFamily="18" charset="0"/>
                <a:cs typeface="Times New Roman" pitchFamily="18" charset="0"/>
              </a:rPr>
              <a:t>exposure and outcome. </a:t>
            </a:r>
            <a:r>
              <a:rPr lang="en-US" sz="1600" i="1" dirty="0" err="1" smtClean="0">
                <a:latin typeface="Times New Roman" pitchFamily="18" charset="0"/>
                <a:cs typeface="Times New Roman" pitchFamily="18" charset="0"/>
              </a:rPr>
              <a:t>Biometrika</a:t>
            </a:r>
            <a:r>
              <a:rPr lang="en-US" sz="1600" dirty="0" smtClean="0">
                <a:latin typeface="Times New Roman" pitchFamily="18" charset="0"/>
                <a:cs typeface="Times New Roman" pitchFamily="18" charset="0"/>
              </a:rPr>
              <a:t> 77:11-21.</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16387"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638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6389"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63331"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0"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63332"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639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8BA1D87A-9DE0-4AB4-A535-36DE628311B6}" type="slidenum">
              <a:rPr lang="zh-CN" altLang="en-US" sz="1200">
                <a:solidFill>
                  <a:srgbClr val="898989"/>
                </a:solidFill>
              </a:rPr>
              <a:pPr algn="r" eaLnBrk="1" hangingPunct="1">
                <a:spcBef>
                  <a:spcPct val="0"/>
                </a:spcBef>
                <a:buFontTx/>
                <a:buNone/>
              </a:pPr>
              <a:t>16</a:t>
            </a:fld>
            <a:endParaRPr lang="en-US" altLang="zh-CN" sz="1200">
              <a:solidFill>
                <a:srgbClr val="898989"/>
              </a:solidFill>
            </a:endParaRPr>
          </a:p>
        </p:txBody>
      </p:sp>
      <p:graphicFrame>
        <p:nvGraphicFramePr>
          <p:cNvPr id="16393" name="Object 4"/>
          <p:cNvGraphicFramePr>
            <a:graphicFrameLocks noChangeAspect="1"/>
          </p:cNvGraphicFramePr>
          <p:nvPr/>
        </p:nvGraphicFramePr>
        <p:xfrm>
          <a:off x="4953000" y="1447800"/>
          <a:ext cx="330200" cy="355600"/>
        </p:xfrm>
        <a:graphic>
          <a:graphicData uri="http://schemas.openxmlformats.org/presentationml/2006/ole">
            <mc:AlternateContent xmlns:mc="http://schemas.openxmlformats.org/markup-compatibility/2006">
              <mc:Choice xmlns:v="urn:schemas-microsoft-com:vml" Requires="v">
                <p:oleObj spid="_x0000_s63333" name="Equation" r:id="rId7" imgW="164814" imgH="177492" progId="Equation.DSMT4">
                  <p:embed/>
                </p:oleObj>
              </mc:Choice>
              <mc:Fallback>
                <p:oleObj name="Equation" r:id="rId7" imgW="164814" imgH="177492"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1447800"/>
                        <a:ext cx="3302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4" name="Object 5"/>
          <p:cNvGraphicFramePr>
            <a:graphicFrameLocks noChangeAspect="1"/>
          </p:cNvGraphicFramePr>
          <p:nvPr/>
        </p:nvGraphicFramePr>
        <p:xfrm>
          <a:off x="5410200" y="1447800"/>
          <a:ext cx="381000" cy="355600"/>
        </p:xfrm>
        <a:graphic>
          <a:graphicData uri="http://schemas.openxmlformats.org/presentationml/2006/ole">
            <mc:AlternateContent xmlns:mc="http://schemas.openxmlformats.org/markup-compatibility/2006">
              <mc:Choice xmlns:v="urn:schemas-microsoft-com:vml" Requires="v">
                <p:oleObj spid="_x0000_s63334" name="Equation" r:id="rId9" imgW="190335" imgH="177646" progId="Equation.DSMT4">
                  <p:embed/>
                </p:oleObj>
              </mc:Choice>
              <mc:Fallback>
                <p:oleObj name="Equation" r:id="rId9" imgW="190335" imgH="177646"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10200" y="1447800"/>
                        <a:ext cx="3810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6"/>
          <p:cNvGraphicFramePr>
            <a:graphicFrameLocks noChangeAspect="1"/>
          </p:cNvGraphicFramePr>
          <p:nvPr/>
        </p:nvGraphicFramePr>
        <p:xfrm>
          <a:off x="7162800" y="1447800"/>
          <a:ext cx="965200" cy="457200"/>
        </p:xfrm>
        <a:graphic>
          <a:graphicData uri="http://schemas.openxmlformats.org/presentationml/2006/ole">
            <mc:AlternateContent xmlns:mc="http://schemas.openxmlformats.org/markup-compatibility/2006">
              <mc:Choice xmlns:v="urn:schemas-microsoft-com:vml" Requires="v">
                <p:oleObj spid="_x0000_s63335" name="Equation" r:id="rId11" imgW="482391" imgH="228501" progId="Equation.DSMT4">
                  <p:embed/>
                </p:oleObj>
              </mc:Choice>
              <mc:Fallback>
                <p:oleObj name="Equation" r:id="rId11" imgW="482391" imgH="228501"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2800" y="1447800"/>
                        <a:ext cx="96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17</a:t>
            </a:fld>
            <a:endParaRPr lang="en-US" altLang="zh-CN"/>
          </a:p>
        </p:txBody>
      </p:sp>
      <p:graphicFrame>
        <p:nvGraphicFramePr>
          <p:cNvPr id="3" name="Table 2"/>
          <p:cNvGraphicFramePr>
            <a:graphicFrameLocks noGrp="1"/>
          </p:cNvGraphicFramePr>
          <p:nvPr>
            <p:extLst>
              <p:ext uri="{D42A27DB-BD31-4B8C-83A1-F6EECF244321}">
                <p14:modId xmlns:p14="http://schemas.microsoft.com/office/powerpoint/2010/main" val="2629772585"/>
              </p:ext>
            </p:extLst>
          </p:nvPr>
        </p:nvGraphicFramePr>
        <p:xfrm>
          <a:off x="152400" y="381002"/>
          <a:ext cx="8991600" cy="6522718"/>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xmlns="" val="20000"/>
                    </a:ext>
                  </a:extLst>
                </a:gridCol>
                <a:gridCol w="147828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600200">
                  <a:extLst>
                    <a:ext uri="{9D8B030D-6E8A-4147-A177-3AD203B41FA5}">
                      <a16:colId xmlns:a16="http://schemas.microsoft.com/office/drawing/2014/main" xmlns="" val="20003"/>
                    </a:ext>
                  </a:extLst>
                </a:gridCol>
                <a:gridCol w="2743200">
                  <a:extLst>
                    <a:ext uri="{9D8B030D-6E8A-4147-A177-3AD203B41FA5}">
                      <a16:colId xmlns:a16="http://schemas.microsoft.com/office/drawing/2014/main" xmlns="" val="20004"/>
                    </a:ext>
                  </a:extLst>
                </a:gridCol>
              </a:tblGrid>
              <a:tr h="1008653">
                <a:tc>
                  <a:txBody>
                    <a:bodyPr/>
                    <a:lstStyle/>
                    <a:p>
                      <a:endParaRPr lang="en-US" dirty="0"/>
                    </a:p>
                  </a:txBody>
                  <a:tcPr/>
                </a:tc>
                <a:tc>
                  <a:txBody>
                    <a:bodyPr/>
                    <a:lstStyle/>
                    <a:p>
                      <a:r>
                        <a:rPr lang="en-US" dirty="0" smtClean="0"/>
                        <a:t>MS Data</a:t>
                      </a:r>
                      <a:endParaRPr lang="en-US" dirty="0"/>
                    </a:p>
                  </a:txBody>
                  <a:tcPr/>
                </a:tc>
                <a:tc>
                  <a:txBody>
                    <a:bodyPr/>
                    <a:lstStyle/>
                    <a:p>
                      <a:r>
                        <a:rPr lang="en-US" dirty="0" smtClean="0"/>
                        <a:t>Method  for dealing with ME</a:t>
                      </a:r>
                      <a:endParaRPr lang="en-US" dirty="0"/>
                    </a:p>
                  </a:txBody>
                  <a:tcPr/>
                </a:tc>
                <a:tc>
                  <a:txBody>
                    <a:bodyPr/>
                    <a:lstStyle/>
                    <a:p>
                      <a:r>
                        <a:rPr lang="en-US" dirty="0" smtClean="0"/>
                        <a:t>Measurement</a:t>
                      </a:r>
                      <a:r>
                        <a:rPr lang="en-US" baseline="0" dirty="0" smtClean="0"/>
                        <a:t> error  assumption</a:t>
                      </a:r>
                      <a:endParaRPr lang="en-US" dirty="0"/>
                    </a:p>
                  </a:txBody>
                  <a:tcPr/>
                </a:tc>
                <a:tc>
                  <a:txBody>
                    <a:bodyPr/>
                    <a:lstStyle/>
                    <a:p>
                      <a:r>
                        <a:rPr lang="en-US" dirty="0" smtClean="0"/>
                        <a:t>Criteria of optimal design</a:t>
                      </a:r>
                      <a:endParaRPr lang="en-US" dirty="0"/>
                    </a:p>
                  </a:txBody>
                  <a:tcPr/>
                </a:tc>
                <a:extLst>
                  <a:ext uri="{0D108BD9-81ED-4DB2-BD59-A6C34878D82A}">
                    <a16:rowId xmlns:a16="http://schemas.microsoft.com/office/drawing/2014/main" xmlns="" val="10000"/>
                  </a:ext>
                </a:extLst>
              </a:tr>
              <a:tr h="1008653">
                <a:tc>
                  <a:txBody>
                    <a:bodyPr/>
                    <a:lstStyle/>
                    <a:p>
                      <a:r>
                        <a:rPr lang="en-US" sz="1800" b="1" dirty="0" smtClean="0">
                          <a:latin typeface="Times New Roman" pitchFamily="18" charset="0"/>
                          <a:cs typeface="Times New Roman" pitchFamily="18" charset="0"/>
                        </a:rPr>
                        <a:t>Greenland (1988)</a:t>
                      </a:r>
                      <a:endParaRPr lang="en-US" b="1" dirty="0"/>
                    </a:p>
                  </a:txBody>
                  <a:tcPr/>
                </a:tc>
                <a:tc>
                  <a:txBody>
                    <a:bodyPr/>
                    <a:lstStyle/>
                    <a:p>
                      <a:r>
                        <a:rPr lang="en-US" dirty="0" smtClean="0">
                          <a:solidFill>
                            <a:schemeClr val="tx1"/>
                          </a:solidFill>
                          <a:latin typeface="+mn-lt"/>
                        </a:rPr>
                        <a:t>2X2</a:t>
                      </a:r>
                      <a:r>
                        <a:rPr lang="en-US" baseline="0" dirty="0" smtClean="0">
                          <a:solidFill>
                            <a:schemeClr val="tx1"/>
                          </a:solidFill>
                          <a:latin typeface="+mn-lt"/>
                        </a:rPr>
                        <a:t> table</a:t>
                      </a:r>
                      <a:endParaRPr lang="en-US" dirty="0">
                        <a:solidFill>
                          <a:schemeClr val="tx1"/>
                        </a:solidFill>
                        <a:latin typeface="+mn-lt"/>
                      </a:endParaRPr>
                    </a:p>
                  </a:txBody>
                  <a:tcPr/>
                </a:tc>
                <a:tc>
                  <a:txBody>
                    <a:bodyPr/>
                    <a:lstStyle/>
                    <a:p>
                      <a:r>
                        <a:rPr lang="en-US" sz="1800" b="0" dirty="0" smtClean="0">
                          <a:solidFill>
                            <a:schemeClr val="tx1"/>
                          </a:solidFill>
                          <a:latin typeface="+mn-lt"/>
                          <a:cs typeface="Times New Roman" pitchFamily="18" charset="0"/>
                        </a:rPr>
                        <a:t>Matrix method</a:t>
                      </a:r>
                      <a:endParaRPr lang="en-US" b="0" dirty="0">
                        <a:solidFill>
                          <a:schemeClr val="tx1"/>
                        </a:solidFill>
                        <a:latin typeface="+mn-lt"/>
                      </a:endParaRPr>
                    </a:p>
                  </a:txBody>
                  <a:tcPr/>
                </a:tc>
                <a:tc>
                  <a:txBody>
                    <a:bodyPr/>
                    <a:lstStyle/>
                    <a:p>
                      <a:r>
                        <a:rPr lang="en-US" dirty="0" smtClean="0">
                          <a:latin typeface="+mn-lt"/>
                        </a:rPr>
                        <a:t>Differential and non-differential</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latin typeface="+mn-lt"/>
                          <a:cs typeface="Times New Roman" pitchFamily="18" charset="0"/>
                        </a:rPr>
                        <a:t>Minimum variance subject to cost considerations</a:t>
                      </a:r>
                      <a:endParaRPr lang="en-US" dirty="0">
                        <a:solidFill>
                          <a:schemeClr val="tx1"/>
                        </a:solidFill>
                        <a:latin typeface="+mn-lt"/>
                      </a:endParaRPr>
                    </a:p>
                  </a:txBody>
                  <a:tcPr/>
                </a:tc>
                <a:extLst>
                  <a:ext uri="{0D108BD9-81ED-4DB2-BD59-A6C34878D82A}">
                    <a16:rowId xmlns:a16="http://schemas.microsoft.com/office/drawing/2014/main" xmlns="" val="10001"/>
                  </a:ext>
                </a:extLst>
              </a:tr>
              <a:tr h="1106892">
                <a:tc>
                  <a:txBody>
                    <a:bodyPr/>
                    <a:lstStyle/>
                    <a:p>
                      <a:r>
                        <a:rPr lang="en-US" sz="1800" b="1" dirty="0" smtClean="0">
                          <a:latin typeface="Times New Roman" pitchFamily="18" charset="0"/>
                          <a:cs typeface="Times New Roman" pitchFamily="18" charset="0"/>
                        </a:rPr>
                        <a:t>Reilly (1996)</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2X2</a:t>
                      </a:r>
                      <a:r>
                        <a:rPr lang="en-US" baseline="0" dirty="0" smtClean="0">
                          <a:solidFill>
                            <a:schemeClr val="tx1"/>
                          </a:solidFill>
                          <a:latin typeface="+mn-lt"/>
                        </a:rPr>
                        <a:t> table (and categorical exposure)</a:t>
                      </a:r>
                      <a:endParaRPr lang="en-US" dirty="0">
                        <a:latin typeface="+mn-lt"/>
                      </a:endParaRPr>
                    </a:p>
                  </a:txBody>
                  <a:tcPr/>
                </a:tc>
                <a:tc>
                  <a:txBody>
                    <a:bodyPr/>
                    <a:lstStyle/>
                    <a:p>
                      <a:r>
                        <a:rPr lang="en-US" dirty="0" smtClean="0">
                          <a:latin typeface="+mn-lt"/>
                        </a:rPr>
                        <a:t>MLE</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Differential and non-differential</a:t>
                      </a:r>
                    </a:p>
                    <a:p>
                      <a:endParaRPr lang="en-US" dirty="0">
                        <a:latin typeface="+mn-lt"/>
                      </a:endParaRPr>
                    </a:p>
                  </a:txBody>
                  <a:tcPr/>
                </a:tc>
                <a:tc>
                  <a:txBody>
                    <a:bodyPr/>
                    <a:lstStyle/>
                    <a:p>
                      <a:r>
                        <a:rPr lang="en-US" sz="1800" b="1" dirty="0" smtClean="0">
                          <a:solidFill>
                            <a:schemeClr val="tx1"/>
                          </a:solidFill>
                          <a:latin typeface="+mn-lt"/>
                          <a:cs typeface="Times New Roman" pitchFamily="18" charset="0"/>
                        </a:rPr>
                        <a:t>Maximize precision for a fixed total budget or minimize the study cost given a desired precision</a:t>
                      </a:r>
                      <a:endParaRPr lang="en-US" dirty="0">
                        <a:solidFill>
                          <a:schemeClr val="tx1"/>
                        </a:solidFill>
                        <a:latin typeface="+mn-lt"/>
                      </a:endParaRPr>
                    </a:p>
                  </a:txBody>
                  <a:tcPr/>
                </a:tc>
                <a:extLst>
                  <a:ext uri="{0D108BD9-81ED-4DB2-BD59-A6C34878D82A}">
                    <a16:rowId xmlns:a16="http://schemas.microsoft.com/office/drawing/2014/main" xmlns="" val="10002"/>
                  </a:ext>
                </a:extLst>
              </a:tr>
              <a:tr h="939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err="1" smtClean="0">
                          <a:solidFill>
                            <a:srgbClr val="FF0000"/>
                          </a:solidFill>
                          <a:latin typeface="Times New Roman" pitchFamily="18" charset="0"/>
                          <a:cs typeface="Times New Roman" pitchFamily="18" charset="0"/>
                        </a:rPr>
                        <a:t>Buonaccorsi</a:t>
                      </a:r>
                      <a:r>
                        <a:rPr lang="en-US" sz="1800" b="1" dirty="0" smtClean="0">
                          <a:solidFill>
                            <a:srgbClr val="FF0000"/>
                          </a:solidFill>
                          <a:latin typeface="Times New Roman" pitchFamily="18" charset="0"/>
                          <a:cs typeface="Times New Roman" pitchFamily="18" charset="0"/>
                        </a:rPr>
                        <a:t> (1990)</a:t>
                      </a:r>
                    </a:p>
                    <a:p>
                      <a:endParaRPr lang="en-US" dirty="0">
                        <a:solidFill>
                          <a:srgbClr val="FF0000"/>
                        </a:solidFill>
                      </a:endParaRPr>
                    </a:p>
                  </a:txBody>
                  <a:tcPr/>
                </a:tc>
                <a:tc>
                  <a:txBody>
                    <a:bodyPr/>
                    <a:lstStyle/>
                    <a:p>
                      <a:r>
                        <a:rPr lang="en-US" dirty="0" smtClean="0">
                          <a:solidFill>
                            <a:srgbClr val="FF0000"/>
                          </a:solidFill>
                          <a:latin typeface="+mn-lt"/>
                        </a:rPr>
                        <a:t>Binary outcome,</a:t>
                      </a:r>
                      <a:r>
                        <a:rPr lang="en-US" baseline="0" dirty="0" smtClean="0">
                          <a:solidFill>
                            <a:srgbClr val="FF0000"/>
                          </a:solidFill>
                          <a:latin typeface="+mn-lt"/>
                        </a:rPr>
                        <a:t> continuous E</a:t>
                      </a:r>
                      <a:endParaRPr lang="en-US" dirty="0" smtClean="0">
                        <a:solidFill>
                          <a:srgbClr val="FF0000"/>
                        </a:solidFill>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latin typeface="+mn-lt"/>
                        </a:rPr>
                        <a:t>MLE (Logistic regression)</a:t>
                      </a:r>
                    </a:p>
                  </a:txBody>
                  <a:tcPr/>
                </a:tc>
                <a:tc>
                  <a:txBody>
                    <a:bodyPr/>
                    <a:lstStyle/>
                    <a:p>
                      <a:pPr>
                        <a:buFont typeface="Arial" charset="0"/>
                        <a:buNone/>
                        <a:defRPr/>
                      </a:pPr>
                      <a:r>
                        <a:rPr lang="en-US" sz="1800" baseline="0" dirty="0" smtClean="0">
                          <a:solidFill>
                            <a:srgbClr val="FF0000"/>
                          </a:solidFill>
                          <a:latin typeface="+mn-lt"/>
                          <a:cs typeface="Times New Roman" pitchFamily="18" charset="0"/>
                        </a:rPr>
                        <a:t>                </a:t>
                      </a:r>
                      <a:r>
                        <a:rPr lang="en-US" sz="1800" dirty="0" smtClean="0">
                          <a:solidFill>
                            <a:srgbClr val="FF0000"/>
                          </a:solidFill>
                          <a:latin typeface="+mn-lt"/>
                          <a:cs typeface="Times New Roman" pitchFamily="18" charset="0"/>
                        </a:rPr>
                        <a:t>jointly </a:t>
                      </a:r>
                    </a:p>
                    <a:p>
                      <a:pPr>
                        <a:buFont typeface="Arial" charset="0"/>
                        <a:buNone/>
                        <a:defRPr/>
                      </a:pPr>
                      <a:r>
                        <a:rPr lang="en-US" sz="1800" dirty="0" smtClean="0">
                          <a:solidFill>
                            <a:srgbClr val="FF0000"/>
                          </a:solidFill>
                          <a:latin typeface="+mn-lt"/>
                          <a:cs typeface="Times New Roman" pitchFamily="18" charset="0"/>
                        </a:rPr>
                        <a:t>normal and homoscedastic</a:t>
                      </a:r>
                      <a:endParaRPr lang="en-US" dirty="0">
                        <a:solidFill>
                          <a:srgbClr val="FF0000"/>
                        </a:solidFill>
                        <a:latin typeface="+mn-lt"/>
                      </a:endParaRPr>
                    </a:p>
                  </a:txBody>
                  <a:tcPr/>
                </a:tc>
                <a:tc>
                  <a:txBody>
                    <a:bodyPr/>
                    <a:lstStyle/>
                    <a:p>
                      <a:r>
                        <a:rPr lang="en-US" sz="1800" b="1" dirty="0" smtClean="0">
                          <a:solidFill>
                            <a:srgbClr val="FF0000"/>
                          </a:solidFill>
                          <a:latin typeface="+mn-lt"/>
                          <a:cs typeface="Times New Roman" pitchFamily="18" charset="0"/>
                        </a:rPr>
                        <a:t>Minimize the variance subject to cost considerations</a:t>
                      </a:r>
                      <a:endParaRPr lang="en-US" dirty="0">
                        <a:solidFill>
                          <a:srgbClr val="FF0000"/>
                        </a:solidFill>
                        <a:latin typeface="+mn-lt"/>
                      </a:endParaRPr>
                    </a:p>
                  </a:txBody>
                  <a:tcPr/>
                </a:tc>
                <a:extLst>
                  <a:ext uri="{0D108BD9-81ED-4DB2-BD59-A6C34878D82A}">
                    <a16:rowId xmlns:a16="http://schemas.microsoft.com/office/drawing/2014/main" xmlns="" val="10003"/>
                  </a:ext>
                </a:extLst>
              </a:tr>
              <a:tr h="11081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itchFamily="18" charset="0"/>
                          <a:cs typeface="Times New Roman" pitchFamily="18" charset="0"/>
                        </a:rPr>
                        <a:t>Spiegelman and Gray (1991)</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Binary outcome,</a:t>
                      </a:r>
                      <a:r>
                        <a:rPr lang="en-US" baseline="0" dirty="0" smtClean="0">
                          <a:latin typeface="+mn-lt"/>
                        </a:rPr>
                        <a:t> continuous E </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p>
                      <a:endParaRPr lang="en-US" dirty="0">
                        <a:latin typeface="+mn-lt"/>
                      </a:endParaRPr>
                    </a:p>
                  </a:txBody>
                  <a:tcPr/>
                </a:tc>
                <a:tc>
                  <a:txBody>
                    <a:bodyPr/>
                    <a:lstStyle/>
                    <a:p>
                      <a:pPr>
                        <a:buFont typeface="Arial" charset="0"/>
                        <a:buNone/>
                        <a:defRPr/>
                      </a:pPr>
                      <a:r>
                        <a:rPr lang="en-US" dirty="0" smtClean="0">
                          <a:latin typeface="+mn-lt"/>
                        </a:rPr>
                        <a:t>Classical additive ME</a:t>
                      </a:r>
                      <a:endParaRPr lang="en-US" dirty="0">
                        <a:latin typeface="+mn-lt"/>
                      </a:endParaRPr>
                    </a:p>
                  </a:txBody>
                  <a:tcPr/>
                </a:tc>
                <a:tc>
                  <a:txBody>
                    <a:bodyPr/>
                    <a:lstStyle/>
                    <a:p>
                      <a:r>
                        <a:rPr lang="en-US" b="1" dirty="0" smtClean="0">
                          <a:latin typeface="+mn-lt"/>
                        </a:rPr>
                        <a:t>Minimize cost, subject to a specified discriminatory power</a:t>
                      </a:r>
                      <a:endParaRPr lang="en-US" dirty="0">
                        <a:latin typeface="+mn-lt"/>
                      </a:endParaRPr>
                    </a:p>
                  </a:txBody>
                  <a:tcPr/>
                </a:tc>
                <a:extLst>
                  <a:ext uri="{0D108BD9-81ED-4DB2-BD59-A6C34878D82A}">
                    <a16:rowId xmlns:a16="http://schemas.microsoft.com/office/drawing/2014/main" xmlns="" val="10004"/>
                  </a:ext>
                </a:extLst>
              </a:tr>
              <a:tr h="775705">
                <a:tc>
                  <a:txBody>
                    <a:bodyPr/>
                    <a:lstStyle/>
                    <a:p>
                      <a:r>
                        <a:rPr lang="en-US" sz="1800" b="1" dirty="0" err="1" smtClean="0">
                          <a:solidFill>
                            <a:schemeClr val="tx1"/>
                          </a:solidFill>
                          <a:latin typeface="Times New Roman" pitchFamily="18" charset="0"/>
                          <a:cs typeface="Times New Roman" pitchFamily="18" charset="0"/>
                        </a:rPr>
                        <a:t>Rosner</a:t>
                      </a:r>
                      <a:r>
                        <a:rPr lang="en-US" sz="1800" b="1" dirty="0" smtClean="0">
                          <a:solidFill>
                            <a:schemeClr val="tx1"/>
                          </a:solidFill>
                          <a:latin typeface="Times New Roman" pitchFamily="18" charset="0"/>
                          <a:cs typeface="Times New Roman" pitchFamily="18" charset="0"/>
                        </a:rPr>
                        <a:t> et al. (1992)</a:t>
                      </a:r>
                      <a:endParaRPr lang="en-US" dirty="0">
                        <a:solidFill>
                          <a:schemeClr val="tx1"/>
                        </a:solidFill>
                      </a:endParaRPr>
                    </a:p>
                  </a:txBody>
                  <a:tcPr/>
                </a:tc>
                <a:tc>
                  <a:txBody>
                    <a:bodyPr/>
                    <a:lstStyle/>
                    <a:p>
                      <a:r>
                        <a:rPr lang="en-US" dirty="0" smtClean="0">
                          <a:solidFill>
                            <a:schemeClr val="tx1"/>
                          </a:solidFill>
                          <a:latin typeface="+mn-lt"/>
                        </a:rPr>
                        <a:t>Binary outcome,</a:t>
                      </a:r>
                      <a:r>
                        <a:rPr lang="en-US" baseline="0" dirty="0" smtClean="0">
                          <a:solidFill>
                            <a:schemeClr val="tx1"/>
                          </a:solidFill>
                          <a:latin typeface="+mn-lt"/>
                        </a:rPr>
                        <a:t> continuous exposure</a:t>
                      </a:r>
                      <a:endParaRPr lang="en-US" dirty="0" smtClean="0">
                        <a:solidFill>
                          <a:schemeClr val="tx1"/>
                        </a:solidFill>
                        <a:latin typeface="+mn-lt"/>
                      </a:endParaRPr>
                    </a:p>
                  </a:txBody>
                  <a:tcPr/>
                </a:tc>
                <a:tc>
                  <a:txBody>
                    <a:bodyPr/>
                    <a:lstStyle/>
                    <a:p>
                      <a:r>
                        <a:rPr lang="en-US" dirty="0" smtClean="0">
                          <a:solidFill>
                            <a:schemeClr val="tx1"/>
                          </a:solidFill>
                        </a:rPr>
                        <a:t>Logistic regression, Regression Calibration</a:t>
                      </a:r>
                      <a:endParaRPr 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Classical additive ME</a:t>
                      </a:r>
                    </a:p>
                    <a:p>
                      <a:endParaRPr lang="en-US" dirty="0">
                        <a:solidFill>
                          <a:schemeClr val="tx1"/>
                        </a:solidFill>
                      </a:endParaRPr>
                    </a:p>
                  </a:txBody>
                  <a:tcPr/>
                </a:tc>
                <a:tc>
                  <a:txBody>
                    <a:bodyPr/>
                    <a:lstStyle/>
                    <a:p>
                      <a:endParaRPr lang="en-US" dirty="0"/>
                    </a:p>
                  </a:txBody>
                  <a:tcPr/>
                </a:tc>
                <a:extLst>
                  <a:ext uri="{0D108BD9-81ED-4DB2-BD59-A6C34878D82A}">
                    <a16:rowId xmlns:a16="http://schemas.microsoft.com/office/drawing/2014/main" xmlns="" val="10005"/>
                  </a:ext>
                </a:extLst>
              </a:tr>
            </a:tbl>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1779910458"/>
              </p:ext>
            </p:extLst>
          </p:nvPr>
        </p:nvGraphicFramePr>
        <p:xfrm>
          <a:off x="4800600" y="3657600"/>
          <a:ext cx="860612" cy="304800"/>
        </p:xfrm>
        <a:graphic>
          <a:graphicData uri="http://schemas.openxmlformats.org/presentationml/2006/ole">
            <mc:AlternateContent xmlns:mc="http://schemas.openxmlformats.org/markup-compatibility/2006">
              <mc:Choice xmlns:v="urn:schemas-microsoft-com:vml" Requires="v">
                <p:oleObj spid="_x0000_s92231" name="Equation" r:id="rId3" imgW="609336" imgH="215806" progId="Equation.DSMT4">
                  <p:embed/>
                </p:oleObj>
              </mc:Choice>
              <mc:Fallback>
                <p:oleObj name="Equation" r:id="rId3" imgW="609336" imgH="21580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3657600"/>
                        <a:ext cx="860612" cy="304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99970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0"/>
            <a:ext cx="8839200" cy="6477000"/>
          </a:xfrm>
        </p:spPr>
        <p:txBody>
          <a:bodyPr lIns="92075" tIns="46038" rIns="92075" bIns="46038"/>
          <a:lstStyle/>
          <a:p>
            <a:pPr>
              <a:buNone/>
              <a:defRPr/>
            </a:pPr>
            <a:r>
              <a:rPr lang="en-US" sz="2200" dirty="0" smtClean="0">
                <a:latin typeface="Times New Roman" pitchFamily="18" charset="0"/>
                <a:cs typeface="Times New Roman" pitchFamily="18" charset="0"/>
              </a:rPr>
              <a:t>                                             </a:t>
            </a:r>
            <a:r>
              <a:rPr lang="en-US" sz="2200" b="1" dirty="0" err="1" smtClean="0">
                <a:latin typeface="Times New Roman" pitchFamily="18" charset="0"/>
                <a:cs typeface="Times New Roman" pitchFamily="18" charset="0"/>
              </a:rPr>
              <a:t>Buonaccorsi</a:t>
            </a:r>
            <a:r>
              <a:rPr lang="en-US" sz="2200" b="1" dirty="0" smtClean="0">
                <a:latin typeface="Times New Roman" pitchFamily="18" charset="0"/>
                <a:cs typeface="Times New Roman" pitchFamily="18" charset="0"/>
              </a:rPr>
              <a:t> (1990)</a:t>
            </a:r>
          </a:p>
          <a:p>
            <a:pPr>
              <a:buFont typeface="Arial" charset="0"/>
              <a:buNone/>
              <a:defRPr/>
            </a:pPr>
            <a:r>
              <a:rPr lang="en-US" sz="2200" u="sng" dirty="0" smtClean="0">
                <a:latin typeface="Times New Roman" pitchFamily="18" charset="0"/>
                <a:cs typeface="Times New Roman" pitchFamily="18" charset="0"/>
              </a:rPr>
              <a:t>Design for </a:t>
            </a:r>
            <a:r>
              <a:rPr lang="en-US" sz="2200" b="1" u="sng" dirty="0" smtClean="0">
                <a:solidFill>
                  <a:srgbClr val="0000FF"/>
                </a:solidFill>
                <a:latin typeface="Times New Roman" pitchFamily="18" charset="0"/>
                <a:cs typeface="Times New Roman" pitchFamily="18" charset="0"/>
              </a:rPr>
              <a:t>logistic regression </a:t>
            </a:r>
          </a:p>
          <a:p>
            <a:pPr>
              <a:buFont typeface="Arial" charset="0"/>
              <a:buNone/>
              <a:defRPr/>
            </a:pPr>
            <a:endParaRPr lang="en-US" sz="2200" b="1" u="sng" dirty="0">
              <a:solidFill>
                <a:srgbClr val="0000FF"/>
              </a:solidFill>
              <a:latin typeface="Times New Roman" pitchFamily="18" charset="0"/>
              <a:cs typeface="Times New Roman" pitchFamily="18" charset="0"/>
            </a:endParaRPr>
          </a:p>
          <a:p>
            <a:pPr>
              <a:buFont typeface="Arial" charset="0"/>
              <a:buNone/>
              <a:defRPr/>
            </a:pPr>
            <a:r>
              <a:rPr lang="en-US" sz="2200" dirty="0" err="1" smtClean="0">
                <a:latin typeface="Times New Roman" pitchFamily="18" charset="0"/>
                <a:cs typeface="Times New Roman" pitchFamily="18" charset="0"/>
              </a:rPr>
              <a:t>Buonaccorsi</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Buonaccorsi</a:t>
            </a:r>
            <a:r>
              <a:rPr lang="en-US" sz="2200" dirty="0" smtClean="0">
                <a:latin typeface="Times New Roman" pitchFamily="18" charset="0"/>
                <a:cs typeface="Times New Roman" pitchFamily="18" charset="0"/>
              </a:rPr>
              <a:t>, 1990) derived a </a:t>
            </a:r>
            <a:r>
              <a:rPr lang="en-US" sz="2200" b="1" dirty="0" smtClean="0">
                <a:latin typeface="Times New Roman" pitchFamily="18" charset="0"/>
                <a:cs typeface="Times New Roman" pitchFamily="18" charset="0"/>
              </a:rPr>
              <a:t>closed form expression </a:t>
            </a:r>
            <a:r>
              <a:rPr lang="en-US" sz="2200" dirty="0" smtClean="0">
                <a:latin typeface="Times New Roman" pitchFamily="18" charset="0"/>
                <a:cs typeface="Times New Roman" pitchFamily="18" charset="0"/>
              </a:rPr>
              <a:t>for the </a:t>
            </a:r>
          </a:p>
          <a:p>
            <a:pPr>
              <a:buFont typeface="Arial" charset="0"/>
              <a:buNone/>
              <a:defRPr/>
            </a:pPr>
            <a:r>
              <a:rPr lang="en-US" sz="2200" b="1" dirty="0" smtClean="0">
                <a:latin typeface="Times New Roman" pitchFamily="18" charset="0"/>
                <a:cs typeface="Times New Roman" pitchFamily="18" charset="0"/>
              </a:rPr>
              <a:t>optimal</a:t>
            </a:r>
            <a:r>
              <a:rPr lang="en-US" sz="2200" dirty="0" smtClean="0">
                <a:latin typeface="Times New Roman" pitchFamily="18" charset="0"/>
                <a:cs typeface="Times New Roman" pitchFamily="18" charset="0"/>
              </a:rPr>
              <a:t> validation study proportion,          , in the </a:t>
            </a:r>
            <a:r>
              <a:rPr lang="en-US" sz="2200" b="1" dirty="0" smtClean="0">
                <a:solidFill>
                  <a:srgbClr val="0000FF"/>
                </a:solidFill>
                <a:latin typeface="Times New Roman" pitchFamily="18" charset="0"/>
                <a:cs typeface="Times New Roman" pitchFamily="18" charset="0"/>
              </a:rPr>
              <a:t>MS/IVS design</a:t>
            </a:r>
            <a:r>
              <a:rPr lang="en-US" sz="2200" dirty="0" smtClean="0">
                <a:latin typeface="Times New Roman" pitchFamily="18" charset="0"/>
                <a:cs typeface="Times New Roman" pitchFamily="18" charset="0"/>
              </a:rPr>
              <a:t> for a logistic regression model where                  is </a:t>
            </a:r>
            <a:r>
              <a:rPr lang="en-US" sz="2200" dirty="0" smtClean="0">
                <a:solidFill>
                  <a:srgbClr val="0000FF"/>
                </a:solidFill>
                <a:latin typeface="Times New Roman" pitchFamily="18" charset="0"/>
                <a:cs typeface="Times New Roman" pitchFamily="18" charset="0"/>
              </a:rPr>
              <a:t>normally distributed with constant variances</a:t>
            </a:r>
            <a:r>
              <a:rPr lang="en-US" sz="2200" dirty="0" smtClean="0">
                <a:latin typeface="Times New Roman" pitchFamily="18" charset="0"/>
                <a:cs typeface="Times New Roman" pitchFamily="18" charset="0"/>
              </a:rPr>
              <a:t>. Then,</a:t>
            </a: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which is the optimal validation study proportion assuming that at least some </a:t>
            </a:r>
          </a:p>
          <a:p>
            <a:pPr>
              <a:buFont typeface="Arial" charset="0"/>
              <a:buNone/>
              <a:defRPr/>
            </a:pPr>
            <a:r>
              <a:rPr lang="en-US" sz="2200" dirty="0" smtClean="0">
                <a:latin typeface="Times New Roman" pitchFamily="18" charset="0"/>
                <a:cs typeface="Times New Roman" pitchFamily="18" charset="0"/>
              </a:rPr>
              <a:t>participants will be validated, where       is the unit cost of measuring the </a:t>
            </a:r>
          </a:p>
          <a:p>
            <a:pPr>
              <a:buFont typeface="Arial" charset="0"/>
              <a:buNone/>
              <a:defRPr/>
            </a:pPr>
            <a:r>
              <a:rPr lang="en-US" sz="2200" dirty="0">
                <a:latin typeface="Times New Roman" pitchFamily="18" charset="0"/>
                <a:cs typeface="Times New Roman" pitchFamily="18" charset="0"/>
              </a:rPr>
              <a:t>o</a:t>
            </a:r>
            <a:r>
              <a:rPr lang="en-US" sz="2200" dirty="0" smtClean="0">
                <a:latin typeface="Times New Roman" pitchFamily="18" charset="0"/>
                <a:cs typeface="Times New Roman" pitchFamily="18" charset="0"/>
              </a:rPr>
              <a:t>utcome. It is based on the </a:t>
            </a:r>
            <a:r>
              <a:rPr lang="en-US" sz="2200" b="1" dirty="0" smtClean="0">
                <a:solidFill>
                  <a:srgbClr val="0000FF"/>
                </a:solidFill>
                <a:latin typeface="Times New Roman" pitchFamily="18" charset="0"/>
                <a:cs typeface="Times New Roman" pitchFamily="18" charset="0"/>
              </a:rPr>
              <a:t>MLE</a:t>
            </a:r>
            <a:r>
              <a:rPr lang="en-US" sz="2200" dirty="0" smtClean="0">
                <a:latin typeface="Times New Roman" pitchFamily="18" charset="0"/>
                <a:cs typeface="Times New Roman" pitchFamily="18" charset="0"/>
              </a:rPr>
              <a:t>. The criterion is to </a:t>
            </a:r>
            <a:r>
              <a:rPr lang="en-US" sz="2200" b="1" dirty="0" smtClean="0">
                <a:solidFill>
                  <a:srgbClr val="FF3300"/>
                </a:solidFill>
                <a:latin typeface="Times New Roman" pitchFamily="18" charset="0"/>
                <a:cs typeface="Times New Roman" pitchFamily="18" charset="0"/>
              </a:rPr>
              <a:t>minimize the variance </a:t>
            </a:r>
            <a:r>
              <a:rPr lang="en-US" sz="2200" dirty="0" smtClean="0">
                <a:latin typeface="Times New Roman" pitchFamily="18" charset="0"/>
                <a:cs typeface="Times New Roman" pitchFamily="18" charset="0"/>
              </a:rPr>
              <a:t>of the log(OR) estimator </a:t>
            </a:r>
            <a:r>
              <a:rPr lang="en-US" sz="2200" b="1" dirty="0" smtClean="0">
                <a:solidFill>
                  <a:srgbClr val="FF3300"/>
                </a:solidFill>
                <a:latin typeface="Times New Roman" pitchFamily="18" charset="0"/>
                <a:cs typeface="Times New Roman" pitchFamily="18" charset="0"/>
              </a:rPr>
              <a:t>subject to cost considerations</a:t>
            </a:r>
            <a:r>
              <a:rPr lang="en-US" sz="2200" dirty="0" smtClean="0">
                <a:latin typeface="Times New Roman" pitchFamily="18" charset="0"/>
                <a:cs typeface="Times New Roman" pitchFamily="18" charset="0"/>
              </a:rPr>
              <a:t>.</a:t>
            </a:r>
          </a:p>
          <a:p>
            <a:pPr>
              <a:buFont typeface="Arial" charset="0"/>
              <a:buNone/>
              <a:defRPr/>
            </a:pPr>
            <a:endParaRPr lang="en-US" sz="1600" dirty="0" smtClean="0">
              <a:latin typeface="Times New Roman" pitchFamily="18" charset="0"/>
              <a:cs typeface="Times New Roman" pitchFamily="18" charset="0"/>
            </a:endParaRPr>
          </a:p>
          <a:p>
            <a:pPr>
              <a:buFont typeface="Arial" charset="0"/>
              <a:buNone/>
              <a:defRPr/>
            </a:pPr>
            <a:r>
              <a:rPr lang="en-US" sz="1600" dirty="0" err="1" smtClean="0">
                <a:latin typeface="Times New Roman" pitchFamily="18" charset="0"/>
                <a:cs typeface="Times New Roman" pitchFamily="18" charset="0"/>
              </a:rPr>
              <a:t>Buonaccorsi</a:t>
            </a:r>
            <a:r>
              <a:rPr lang="en-US" sz="1600" dirty="0" smtClean="0">
                <a:latin typeface="Times New Roman" pitchFamily="18" charset="0"/>
                <a:cs typeface="Times New Roman" pitchFamily="18" charset="0"/>
              </a:rPr>
              <a:t> J.P. (1990) Double sampling for exact values in the normal </a:t>
            </a:r>
            <a:r>
              <a:rPr lang="en-US" sz="1600" dirty="0" err="1" smtClean="0">
                <a:latin typeface="Times New Roman" pitchFamily="18" charset="0"/>
                <a:cs typeface="Times New Roman" pitchFamily="18" charset="0"/>
              </a:rPr>
              <a:t>discriminant</a:t>
            </a:r>
            <a:r>
              <a:rPr lang="en-US" sz="1600" dirty="0" smtClean="0">
                <a:latin typeface="Times New Roman" pitchFamily="18" charset="0"/>
                <a:cs typeface="Times New Roman" pitchFamily="18" charset="0"/>
              </a:rPr>
              <a:t> model with </a:t>
            </a:r>
          </a:p>
          <a:p>
            <a:pPr>
              <a:buFont typeface="Arial" charset="0"/>
              <a:buNone/>
              <a:defRPr/>
            </a:pPr>
            <a:r>
              <a:rPr lang="en-US" sz="1600" dirty="0" smtClean="0">
                <a:latin typeface="Times New Roman" pitchFamily="18" charset="0"/>
                <a:cs typeface="Times New Roman" pitchFamily="18" charset="0"/>
              </a:rPr>
              <a:t>application to binary regression. </a:t>
            </a:r>
            <a:r>
              <a:rPr lang="en-US" sz="1600" i="1" dirty="0" smtClean="0">
                <a:latin typeface="Times New Roman" pitchFamily="18" charset="0"/>
                <a:cs typeface="Times New Roman" pitchFamily="18" charset="0"/>
              </a:rPr>
              <a:t>Communications in Statistics-Theory and Methods </a:t>
            </a:r>
            <a:r>
              <a:rPr lang="en-US" sz="1600" dirty="0" smtClean="0">
                <a:latin typeface="Times New Roman" pitchFamily="18" charset="0"/>
                <a:cs typeface="Times New Roman" pitchFamily="18" charset="0"/>
              </a:rPr>
              <a:t>19:4569-4586.</a:t>
            </a:r>
          </a:p>
          <a:p>
            <a:pPr>
              <a:buFont typeface="Arial" charset="0"/>
              <a:buNone/>
              <a:defRPr/>
            </a:pPr>
            <a:r>
              <a:rPr lang="en-US" sz="16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17411" name="AutoShape 3"/>
          <p:cNvCxnSpPr>
            <a:cxnSpLocks noChangeShapeType="1"/>
            <a:stCxn id="28676" idx="3"/>
            <a:endCxn id="28676" idx="3"/>
          </p:cNvCxnSpPr>
          <p:nvPr/>
        </p:nvCxnSpPr>
        <p:spPr bwMode="auto">
          <a:xfrm>
            <a:off x="9144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741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7413"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3457"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4"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3458"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741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5370152A-86E1-4C5F-B912-DEC0F1E695DB}" type="slidenum">
              <a:rPr lang="zh-CN" altLang="en-US" sz="1200">
                <a:solidFill>
                  <a:srgbClr val="898989"/>
                </a:solidFill>
              </a:rPr>
              <a:pPr algn="r" eaLnBrk="1" hangingPunct="1">
                <a:spcBef>
                  <a:spcPct val="0"/>
                </a:spcBef>
                <a:buFontTx/>
                <a:buNone/>
              </a:pPr>
              <a:t>18</a:t>
            </a:fld>
            <a:endParaRPr lang="en-US" altLang="zh-CN" sz="1200">
              <a:solidFill>
                <a:srgbClr val="898989"/>
              </a:solidFill>
            </a:endParaRPr>
          </a:p>
        </p:txBody>
      </p:sp>
      <p:graphicFrame>
        <p:nvGraphicFramePr>
          <p:cNvPr id="17417" name="Object 8"/>
          <p:cNvGraphicFramePr>
            <a:graphicFrameLocks noChangeAspect="1"/>
          </p:cNvGraphicFramePr>
          <p:nvPr>
            <p:extLst>
              <p:ext uri="{D42A27DB-BD31-4B8C-83A1-F6EECF244321}">
                <p14:modId xmlns:p14="http://schemas.microsoft.com/office/powerpoint/2010/main" val="2107630027"/>
              </p:ext>
            </p:extLst>
          </p:nvPr>
        </p:nvGraphicFramePr>
        <p:xfrm>
          <a:off x="66675" y="2895600"/>
          <a:ext cx="8842375" cy="1060450"/>
        </p:xfrm>
        <a:graphic>
          <a:graphicData uri="http://schemas.openxmlformats.org/presentationml/2006/ole">
            <mc:AlternateContent xmlns:mc="http://schemas.openxmlformats.org/markup-compatibility/2006">
              <mc:Choice xmlns:v="urn:schemas-microsoft-com:vml" Requires="v">
                <p:oleObj spid="_x0000_s93459" name="Equation" r:id="rId7" imgW="5079960" imgH="609480" progId="Equation.DSMT4">
                  <p:embed/>
                </p:oleObj>
              </mc:Choice>
              <mc:Fallback>
                <p:oleObj name="Equation" r:id="rId7" imgW="5079960" imgH="609480" progId="Equation.DSMT4">
                  <p:embed/>
                  <p:pic>
                    <p:nvPicPr>
                      <p:cNvPr id="0" name="Object 8"/>
                      <p:cNvPicPr>
                        <a:picLocks noChangeAspect="1" noChangeArrowheads="1"/>
                      </p:cNvPicPr>
                      <p:nvPr/>
                    </p:nvPicPr>
                    <p:blipFill>
                      <a:blip r:embed="rId8"/>
                      <a:srcRect/>
                      <a:stretch>
                        <a:fillRect/>
                      </a:stretch>
                    </p:blipFill>
                    <p:spPr bwMode="auto">
                      <a:xfrm>
                        <a:off x="66675" y="2895600"/>
                        <a:ext cx="8842375" cy="1060450"/>
                      </a:xfrm>
                      <a:prstGeom prst="rect">
                        <a:avLst/>
                      </a:prstGeom>
                      <a:noFill/>
                      <a:ln>
                        <a:solidFill>
                          <a:srgbClr val="FF3300"/>
                        </a:solidFill>
                      </a:ln>
                      <a:extLst/>
                    </p:spPr>
                  </p:pic>
                </p:oleObj>
              </mc:Fallback>
            </mc:AlternateContent>
          </a:graphicData>
        </a:graphic>
      </p:graphicFrame>
      <p:graphicFrame>
        <p:nvGraphicFramePr>
          <p:cNvPr id="17418" name="Object 1"/>
          <p:cNvGraphicFramePr>
            <a:graphicFrameLocks noChangeAspect="1"/>
          </p:cNvGraphicFramePr>
          <p:nvPr/>
        </p:nvGraphicFramePr>
        <p:xfrm>
          <a:off x="4552950" y="1524000"/>
          <a:ext cx="558800" cy="533400"/>
        </p:xfrm>
        <a:graphic>
          <a:graphicData uri="http://schemas.openxmlformats.org/presentationml/2006/ole">
            <mc:AlternateContent xmlns:mc="http://schemas.openxmlformats.org/markup-compatibility/2006">
              <mc:Choice xmlns:v="urn:schemas-microsoft-com:vml" Requires="v">
                <p:oleObj spid="_x0000_s93460" name="Equation" r:id="rId9" imgW="279279" imgH="266584" progId="Equation.DSMT4">
                  <p:embed/>
                </p:oleObj>
              </mc:Choice>
              <mc:Fallback>
                <p:oleObj name="Equation" r:id="rId9" imgW="279279" imgH="266584"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2950" y="1524000"/>
                        <a:ext cx="558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9" name="Object 2"/>
          <p:cNvGraphicFramePr>
            <a:graphicFrameLocks noChangeAspect="1"/>
          </p:cNvGraphicFramePr>
          <p:nvPr>
            <p:extLst>
              <p:ext uri="{D42A27DB-BD31-4B8C-83A1-F6EECF244321}">
                <p14:modId xmlns:p14="http://schemas.microsoft.com/office/powerpoint/2010/main" val="2424765482"/>
              </p:ext>
            </p:extLst>
          </p:nvPr>
        </p:nvGraphicFramePr>
        <p:xfrm>
          <a:off x="4343400" y="1981200"/>
          <a:ext cx="1143000" cy="404812"/>
        </p:xfrm>
        <a:graphic>
          <a:graphicData uri="http://schemas.openxmlformats.org/presentationml/2006/ole">
            <mc:AlternateContent xmlns:mc="http://schemas.openxmlformats.org/markup-compatibility/2006">
              <mc:Choice xmlns:v="urn:schemas-microsoft-com:vml" Requires="v">
                <p:oleObj spid="_x0000_s93461" name="Equation" r:id="rId11" imgW="609480" imgH="215640" progId="Equation.DSMT4">
                  <p:embed/>
                </p:oleObj>
              </mc:Choice>
              <mc:Fallback>
                <p:oleObj name="Equation" r:id="rId11" imgW="609480" imgH="215640" progId="Equation.DSMT4">
                  <p:embed/>
                  <p:pic>
                    <p:nvPicPr>
                      <p:cNvPr id="0" name="Object 2"/>
                      <p:cNvPicPr>
                        <a:picLocks noChangeAspect="1" noChangeArrowheads="1"/>
                      </p:cNvPicPr>
                      <p:nvPr/>
                    </p:nvPicPr>
                    <p:blipFill>
                      <a:blip r:embed="rId12"/>
                      <a:srcRect/>
                      <a:stretch>
                        <a:fillRect/>
                      </a:stretch>
                    </p:blipFill>
                    <p:spPr bwMode="auto">
                      <a:xfrm>
                        <a:off x="4343400" y="1981200"/>
                        <a:ext cx="11430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569422019"/>
              </p:ext>
            </p:extLst>
          </p:nvPr>
        </p:nvGraphicFramePr>
        <p:xfrm>
          <a:off x="4504765" y="4267200"/>
          <a:ext cx="393700" cy="533400"/>
        </p:xfrm>
        <a:graphic>
          <a:graphicData uri="http://schemas.openxmlformats.org/presentationml/2006/ole">
            <mc:AlternateContent xmlns:mc="http://schemas.openxmlformats.org/markup-compatibility/2006">
              <mc:Choice xmlns:v="urn:schemas-microsoft-com:vml" Requires="v">
                <p:oleObj spid="_x0000_s93462" name="Equation" r:id="rId13" imgW="177480" imgH="241200" progId="Equation.DSMT4">
                  <p:embed/>
                </p:oleObj>
              </mc:Choice>
              <mc:Fallback>
                <p:oleObj name="Equation" r:id="rId13" imgW="177480" imgH="241200" progId="Equation.DSMT4">
                  <p:embed/>
                  <p:pic>
                    <p:nvPicPr>
                      <p:cNvPr id="0" name=""/>
                      <p:cNvPicPr/>
                      <p:nvPr/>
                    </p:nvPicPr>
                    <p:blipFill>
                      <a:blip r:embed="rId14"/>
                      <a:stretch>
                        <a:fillRect/>
                      </a:stretch>
                    </p:blipFill>
                    <p:spPr>
                      <a:xfrm>
                        <a:off x="4504765" y="4267200"/>
                        <a:ext cx="393700" cy="533400"/>
                      </a:xfrm>
                      <a:prstGeom prst="rect">
                        <a:avLst/>
                      </a:prstGeom>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0"/>
            <a:ext cx="8839200" cy="6477000"/>
          </a:xfrm>
        </p:spPr>
        <p:txBody>
          <a:bodyPr lIns="92075" tIns="46038" rIns="92075" bIns="46038"/>
          <a:lstStyle/>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Note that                                                                                            ,</a:t>
            </a:r>
          </a:p>
          <a:p>
            <a:pPr>
              <a:buFont typeface="Arial" charset="0"/>
              <a:buNone/>
              <a:defRPr/>
            </a:pPr>
            <a:r>
              <a:rPr lang="en-US" sz="2400" dirty="0" smtClean="0">
                <a:latin typeface="Times New Roman" pitchFamily="18" charset="0"/>
                <a:cs typeface="Times New Roman" pitchFamily="18" charset="0"/>
              </a:rPr>
              <a:t>if it is easier to supply values for these parameters which might often </a:t>
            </a:r>
          </a:p>
          <a:p>
            <a:pPr>
              <a:buFont typeface="Arial" charset="0"/>
              <a:buNone/>
              <a:defRPr/>
            </a:pPr>
            <a:r>
              <a:rPr lang="en-US" sz="2400" dirty="0" smtClean="0">
                <a:latin typeface="Times New Roman" pitchFamily="18" charset="0"/>
                <a:cs typeface="Times New Roman" pitchFamily="18" charset="0"/>
              </a:rPr>
              <a:t>be the case. </a:t>
            </a:r>
          </a:p>
          <a:p>
            <a:pPr>
              <a:buFont typeface="Arial" charset="0"/>
              <a:buNone/>
              <a:defRPr/>
            </a:pPr>
            <a:endParaRPr lang="en-US" sz="21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Now the variance of                  corrected for measurement error in the</a:t>
            </a:r>
          </a:p>
          <a:p>
            <a:pPr>
              <a:buFont typeface="Arial" charset="0"/>
              <a:buNone/>
              <a:defRPr/>
            </a:pPr>
            <a:r>
              <a:rPr lang="en-US" sz="2400" dirty="0" smtClean="0">
                <a:latin typeface="Times New Roman" pitchFamily="18" charset="0"/>
                <a:cs typeface="Times New Roman" pitchFamily="18" charset="0"/>
              </a:rPr>
              <a:t>MS/IVS design given by      needs to be compared to the variance of </a:t>
            </a:r>
          </a:p>
          <a:p>
            <a:pPr>
              <a:buFont typeface="Arial" charset="0"/>
              <a:buNone/>
              <a:defRPr/>
            </a:pPr>
            <a:r>
              <a:rPr lang="en-US" sz="2400" dirty="0" smtClean="0">
                <a:latin typeface="Times New Roman" pitchFamily="18" charset="0"/>
                <a:cs typeface="Times New Roman" pitchFamily="18" charset="0"/>
              </a:rPr>
              <a:t>                from the fully validated design</a:t>
            </a:r>
            <a:r>
              <a:rPr lang="en-US" sz="2400" dirty="0" smtClean="0">
                <a:solidFill>
                  <a:srgbClr val="0000FF"/>
                </a:solidFill>
                <a:latin typeface="Times New Roman" pitchFamily="18" charset="0"/>
                <a:cs typeface="Times New Roman" pitchFamily="18" charset="0"/>
              </a:rPr>
              <a:t>.  For            </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Buonacorrsi</a:t>
            </a:r>
            <a:r>
              <a:rPr lang="en-US" sz="24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gives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31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where                                   , with Cost = a given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18435" name="AutoShape 3"/>
          <p:cNvCxnSpPr>
            <a:cxnSpLocks noChangeShapeType="1"/>
            <a:stCxn id="28676" idx="3"/>
            <a:endCxn id="28676" idx="3"/>
          </p:cNvCxnSpPr>
          <p:nvPr/>
        </p:nvCxnSpPr>
        <p:spPr bwMode="auto">
          <a:xfrm>
            <a:off x="9144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843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8437"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9650"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8"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9651"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844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FBDEA9E3-4682-468D-BE91-6F853214F3FB}" type="slidenum">
              <a:rPr lang="zh-CN" altLang="en-US" sz="1200">
                <a:solidFill>
                  <a:srgbClr val="898989"/>
                </a:solidFill>
              </a:rPr>
              <a:pPr algn="r" eaLnBrk="1" hangingPunct="1">
                <a:spcBef>
                  <a:spcPct val="0"/>
                </a:spcBef>
                <a:buFontTx/>
                <a:buNone/>
              </a:pPr>
              <a:t>19</a:t>
            </a:fld>
            <a:endParaRPr lang="en-US" altLang="zh-CN" sz="1200">
              <a:solidFill>
                <a:srgbClr val="898989"/>
              </a:solidFill>
            </a:endParaRPr>
          </a:p>
        </p:txBody>
      </p:sp>
      <p:graphicFrame>
        <p:nvGraphicFramePr>
          <p:cNvPr id="18441" name="Object 5"/>
          <p:cNvGraphicFramePr>
            <a:graphicFrameLocks noChangeAspect="1"/>
          </p:cNvGraphicFramePr>
          <p:nvPr/>
        </p:nvGraphicFramePr>
        <p:xfrm>
          <a:off x="1600200" y="381000"/>
          <a:ext cx="6867525" cy="533400"/>
        </p:xfrm>
        <a:graphic>
          <a:graphicData uri="http://schemas.openxmlformats.org/presentationml/2006/ole">
            <mc:AlternateContent xmlns:mc="http://schemas.openxmlformats.org/markup-compatibility/2006">
              <mc:Choice xmlns:v="urn:schemas-microsoft-com:vml" Requires="v">
                <p:oleObj spid="_x0000_s99652" name="Equation" r:id="rId7" imgW="3924300" imgH="304800" progId="Equation.DSMT4">
                  <p:embed/>
                </p:oleObj>
              </mc:Choice>
              <mc:Fallback>
                <p:oleObj name="Equation" r:id="rId7" imgW="3924300" imgH="3048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381000"/>
                        <a:ext cx="68675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2" name="Object 6"/>
          <p:cNvGraphicFramePr>
            <a:graphicFrameLocks noChangeAspect="1"/>
          </p:cNvGraphicFramePr>
          <p:nvPr/>
        </p:nvGraphicFramePr>
        <p:xfrm>
          <a:off x="2971800" y="2057400"/>
          <a:ext cx="1158875" cy="533400"/>
        </p:xfrm>
        <a:graphic>
          <a:graphicData uri="http://schemas.openxmlformats.org/presentationml/2006/ole">
            <mc:AlternateContent xmlns:mc="http://schemas.openxmlformats.org/markup-compatibility/2006">
              <mc:Choice xmlns:v="urn:schemas-microsoft-com:vml" Requires="v">
                <p:oleObj spid="_x0000_s99653" name="Equation" r:id="rId9" imgW="634725" imgH="291973" progId="Equation.DSMT4">
                  <p:embed/>
                </p:oleObj>
              </mc:Choice>
              <mc:Fallback>
                <p:oleObj name="Equation" r:id="rId9" imgW="634725" imgH="291973"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2057400"/>
                        <a:ext cx="11588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3" name="Object 7"/>
          <p:cNvGraphicFramePr>
            <a:graphicFrameLocks noChangeAspect="1"/>
          </p:cNvGraphicFramePr>
          <p:nvPr/>
        </p:nvGraphicFramePr>
        <p:xfrm>
          <a:off x="3429000" y="2514600"/>
          <a:ext cx="406400" cy="457200"/>
        </p:xfrm>
        <a:graphic>
          <a:graphicData uri="http://schemas.openxmlformats.org/presentationml/2006/ole">
            <mc:AlternateContent xmlns:mc="http://schemas.openxmlformats.org/markup-compatibility/2006">
              <mc:Choice xmlns:v="urn:schemas-microsoft-com:vml" Requires="v">
                <p:oleObj spid="_x0000_s99654" name="Equation" r:id="rId11" imgW="203112" imgH="228501" progId="Equation.DSMT4">
                  <p:embed/>
                </p:oleObj>
              </mc:Choice>
              <mc:Fallback>
                <p:oleObj name="Equation" r:id="rId11" imgW="203112" imgH="228501"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9000" y="2514600"/>
                        <a:ext cx="40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4" name="Object 8"/>
          <p:cNvGraphicFramePr>
            <a:graphicFrameLocks noChangeAspect="1"/>
          </p:cNvGraphicFramePr>
          <p:nvPr/>
        </p:nvGraphicFramePr>
        <p:xfrm>
          <a:off x="381000" y="2971800"/>
          <a:ext cx="1158875" cy="533400"/>
        </p:xfrm>
        <a:graphic>
          <a:graphicData uri="http://schemas.openxmlformats.org/presentationml/2006/ole">
            <mc:AlternateContent xmlns:mc="http://schemas.openxmlformats.org/markup-compatibility/2006">
              <mc:Choice xmlns:v="urn:schemas-microsoft-com:vml" Requires="v">
                <p:oleObj spid="_x0000_s99655" name="Equation" r:id="rId13" imgW="634725" imgH="291973" progId="Equation.DSMT4">
                  <p:embed/>
                </p:oleObj>
              </mc:Choice>
              <mc:Fallback>
                <p:oleObj name="Equation" r:id="rId13" imgW="634725" imgH="291973"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2971800"/>
                        <a:ext cx="11588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5" name="Object 9"/>
          <p:cNvGraphicFramePr>
            <a:graphicFrameLocks noChangeAspect="1"/>
          </p:cNvGraphicFramePr>
          <p:nvPr>
            <p:extLst>
              <p:ext uri="{D42A27DB-BD31-4B8C-83A1-F6EECF244321}">
                <p14:modId xmlns:p14="http://schemas.microsoft.com/office/powerpoint/2010/main" val="3818943929"/>
              </p:ext>
            </p:extLst>
          </p:nvPr>
        </p:nvGraphicFramePr>
        <p:xfrm>
          <a:off x="6096000" y="3048000"/>
          <a:ext cx="722313" cy="360363"/>
        </p:xfrm>
        <a:graphic>
          <a:graphicData uri="http://schemas.openxmlformats.org/presentationml/2006/ole">
            <mc:AlternateContent xmlns:mc="http://schemas.openxmlformats.org/markup-compatibility/2006">
              <mc:Choice xmlns:v="urn:schemas-microsoft-com:vml" Requires="v">
                <p:oleObj spid="_x0000_s99656" name="Equation" r:id="rId14" imgW="380835" imgH="190417" progId="Equation.DSMT4">
                  <p:embed/>
                </p:oleObj>
              </mc:Choice>
              <mc:Fallback>
                <p:oleObj name="Equation" r:id="rId14" imgW="380835" imgH="190417"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96000" y="3048000"/>
                        <a:ext cx="722313" cy="360363"/>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6" name="Object 14"/>
          <p:cNvGraphicFramePr>
            <a:graphicFrameLocks noChangeAspect="1"/>
          </p:cNvGraphicFramePr>
          <p:nvPr/>
        </p:nvGraphicFramePr>
        <p:xfrm>
          <a:off x="161925" y="3886200"/>
          <a:ext cx="8982075" cy="520700"/>
        </p:xfrm>
        <a:graphic>
          <a:graphicData uri="http://schemas.openxmlformats.org/presentationml/2006/ole">
            <mc:AlternateContent xmlns:mc="http://schemas.openxmlformats.org/markup-compatibility/2006">
              <mc:Choice xmlns:v="urn:schemas-microsoft-com:vml" Requires="v">
                <p:oleObj spid="_x0000_s99657" name="Equation" r:id="rId16" imgW="8750300" imgH="508000" progId="Equation.DSMT4">
                  <p:embed/>
                </p:oleObj>
              </mc:Choice>
              <mc:Fallback>
                <p:oleObj name="Equation" r:id="rId16" imgW="8750300" imgH="508000" progId="Equation.DSMT4">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1925" y="3886200"/>
                        <a:ext cx="898207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47" name="Object 11"/>
          <p:cNvGraphicFramePr>
            <a:graphicFrameLocks noChangeAspect="1"/>
          </p:cNvGraphicFramePr>
          <p:nvPr/>
        </p:nvGraphicFramePr>
        <p:xfrm>
          <a:off x="1295400" y="4724400"/>
          <a:ext cx="2270125" cy="876300"/>
        </p:xfrm>
        <a:graphic>
          <a:graphicData uri="http://schemas.openxmlformats.org/presentationml/2006/ole">
            <mc:AlternateContent xmlns:mc="http://schemas.openxmlformats.org/markup-compatibility/2006">
              <mc:Choice xmlns:v="urn:schemas-microsoft-com:vml" Requires="v">
                <p:oleObj spid="_x0000_s99658" name="Equation" r:id="rId18" imgW="1282700" imgH="495300" progId="Equation.DSMT4">
                  <p:embed/>
                </p:oleObj>
              </mc:Choice>
              <mc:Fallback>
                <p:oleObj name="Equation" r:id="rId18" imgW="1282700" imgH="495300" progId="Equation.DSMT4">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95400" y="4724400"/>
                        <a:ext cx="227012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8448" name="Picture 16" descr="C:\Documents and Settings\ABERKELE\Desktop\Picture9.jpg"/>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71800" y="2057400"/>
            <a:ext cx="1169988"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9" name="Picture 16" descr="C:\Documents and Settings\ABERKELE\Desktop\Picture9.jpg"/>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1000" y="2971800"/>
            <a:ext cx="1169988"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0" name="Picture 17" descr="C:\Documents and Settings\ABERKELE\Desktop\Picture10.jpg"/>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2400" y="3886200"/>
            <a:ext cx="8991600" cy="530225"/>
          </a:xfrm>
          <a:prstGeom prst="rect">
            <a:avLst/>
          </a:prstGeom>
          <a:noFill/>
          <a:ln>
            <a:solidFill>
              <a:schemeClr val="accent2"/>
            </a:solidFill>
          </a:ln>
          <a:extLst>
            <a:ext uri="{909E8E84-426E-40dd-AFC4-6F175D3DCCD1}">
              <a14:hiddenFill xmlns:a14="http://schemas.microsoft.com/office/drawing/2010/main">
                <a:solidFill>
                  <a:srgbClr val="FFFFFF"/>
                </a:solidFill>
              </a14:hiddenFill>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0"/>
            <a:ext cx="8839200" cy="6477000"/>
          </a:xfrm>
        </p:spPr>
        <p:txBody>
          <a:bodyPr lIns="92075" tIns="46038" rIns="92075" bIns="46038"/>
          <a:lstStyle/>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For             , the optimal MS/IVS needs to be compared to </a:t>
            </a:r>
            <a:r>
              <a:rPr lang="en-US" sz="2400" dirty="0" smtClean="0">
                <a:solidFill>
                  <a:srgbClr val="0000FF"/>
                </a:solidFill>
                <a:latin typeface="Times New Roman" pitchFamily="18" charset="0"/>
                <a:cs typeface="Times New Roman" pitchFamily="18" charset="0"/>
              </a:rPr>
              <a:t>the fully</a:t>
            </a:r>
          </a:p>
          <a:p>
            <a:pPr>
              <a:buFont typeface="Arial" charset="0"/>
              <a:buNone/>
              <a:defRPr/>
            </a:pPr>
            <a:r>
              <a:rPr lang="en-US" sz="2400" dirty="0" smtClean="0">
                <a:solidFill>
                  <a:srgbClr val="0000FF"/>
                </a:solidFill>
                <a:latin typeface="Times New Roman" pitchFamily="18" charset="0"/>
                <a:cs typeface="Times New Roman" pitchFamily="18" charset="0"/>
              </a:rPr>
              <a:t>validated design</a:t>
            </a:r>
            <a:r>
              <a:rPr lang="en-US" sz="2400" dirty="0" smtClean="0">
                <a:latin typeface="Times New Roman" pitchFamily="18" charset="0"/>
                <a:cs typeface="Times New Roman" pitchFamily="18" charset="0"/>
              </a:rPr>
              <a:t> to find the final         .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6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and then          is 1 if                                     &lt;                                ,</a:t>
            </a:r>
          </a:p>
          <a:p>
            <a:pPr>
              <a:buFont typeface="Arial" charset="0"/>
              <a:buNone/>
              <a:defRPr/>
            </a:pPr>
            <a:r>
              <a:rPr lang="en-US" sz="2400" dirty="0" smtClean="0">
                <a:latin typeface="Times New Roman" pitchFamily="18" charset="0"/>
                <a:cs typeface="Times New Roman" pitchFamily="18" charset="0"/>
              </a:rPr>
              <a:t>otherwise                 .</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Software is not available but perhaps we will write it for next year!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19459" name="AutoShape 3"/>
          <p:cNvCxnSpPr>
            <a:cxnSpLocks noChangeShapeType="1"/>
            <a:stCxn id="28676" idx="3"/>
            <a:endCxn id="28676" idx="3"/>
          </p:cNvCxnSpPr>
          <p:nvPr/>
        </p:nvCxnSpPr>
        <p:spPr bwMode="auto">
          <a:xfrm>
            <a:off x="9144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946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19461"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0671"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2"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0672"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1946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3F5AC23A-5E30-4DEE-89DD-E59C3CC7BE5A}" type="slidenum">
              <a:rPr lang="zh-CN" altLang="en-US" sz="1200">
                <a:solidFill>
                  <a:srgbClr val="898989"/>
                </a:solidFill>
              </a:rPr>
              <a:pPr algn="r" eaLnBrk="1" hangingPunct="1">
                <a:spcBef>
                  <a:spcPct val="0"/>
                </a:spcBef>
                <a:buFontTx/>
                <a:buNone/>
              </a:pPr>
              <a:t>20</a:t>
            </a:fld>
            <a:endParaRPr lang="en-US" altLang="zh-CN" sz="1200">
              <a:solidFill>
                <a:srgbClr val="898989"/>
              </a:solidFill>
            </a:endParaRPr>
          </a:p>
        </p:txBody>
      </p:sp>
      <p:graphicFrame>
        <p:nvGraphicFramePr>
          <p:cNvPr id="19465" name="Object 11"/>
          <p:cNvGraphicFramePr>
            <a:graphicFrameLocks noChangeAspect="1"/>
          </p:cNvGraphicFramePr>
          <p:nvPr/>
        </p:nvGraphicFramePr>
        <p:xfrm>
          <a:off x="901700" y="381000"/>
          <a:ext cx="863600" cy="431800"/>
        </p:xfrm>
        <a:graphic>
          <a:graphicData uri="http://schemas.openxmlformats.org/presentationml/2006/ole">
            <mc:AlternateContent xmlns:mc="http://schemas.openxmlformats.org/markup-compatibility/2006">
              <mc:Choice xmlns:v="urn:schemas-microsoft-com:vml" Requires="v">
                <p:oleObj spid="_x0000_s100673" name="Equation" r:id="rId7" imgW="457200" imgH="228600" progId="Equation.DSMT4">
                  <p:embed/>
                </p:oleObj>
              </mc:Choice>
              <mc:Fallback>
                <p:oleObj name="Equation" r:id="rId7" imgW="457200" imgH="2286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1700" y="381000"/>
                        <a:ext cx="8636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6" name="Object 12"/>
          <p:cNvGraphicFramePr>
            <a:graphicFrameLocks noChangeAspect="1"/>
          </p:cNvGraphicFramePr>
          <p:nvPr/>
        </p:nvGraphicFramePr>
        <p:xfrm>
          <a:off x="4419600" y="838200"/>
          <a:ext cx="596900" cy="569913"/>
        </p:xfrm>
        <a:graphic>
          <a:graphicData uri="http://schemas.openxmlformats.org/presentationml/2006/ole">
            <mc:AlternateContent xmlns:mc="http://schemas.openxmlformats.org/markup-compatibility/2006">
              <mc:Choice xmlns:v="urn:schemas-microsoft-com:vml" Requires="v">
                <p:oleObj spid="_x0000_s100674" name="Equation" r:id="rId9" imgW="279279" imgH="266584" progId="Equation.DSMT4">
                  <p:embed/>
                </p:oleObj>
              </mc:Choice>
              <mc:Fallback>
                <p:oleObj name="Equation" r:id="rId9" imgW="279279" imgH="266584"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9600" y="838200"/>
                        <a:ext cx="596900"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7" name="Object 6"/>
          <p:cNvGraphicFramePr>
            <a:graphicFrameLocks noChangeAspect="1"/>
          </p:cNvGraphicFramePr>
          <p:nvPr>
            <p:extLst>
              <p:ext uri="{D42A27DB-BD31-4B8C-83A1-F6EECF244321}">
                <p14:modId xmlns:p14="http://schemas.microsoft.com/office/powerpoint/2010/main" val="1226552997"/>
              </p:ext>
            </p:extLst>
          </p:nvPr>
        </p:nvGraphicFramePr>
        <p:xfrm>
          <a:off x="530225" y="1646238"/>
          <a:ext cx="6748463" cy="1281112"/>
        </p:xfrm>
        <a:graphic>
          <a:graphicData uri="http://schemas.openxmlformats.org/presentationml/2006/ole">
            <mc:AlternateContent xmlns:mc="http://schemas.openxmlformats.org/markup-compatibility/2006">
              <mc:Choice xmlns:v="urn:schemas-microsoft-com:vml" Requires="v">
                <p:oleObj spid="_x0000_s100675" name="Equation" r:id="rId11" imgW="4076700" imgH="774700" progId="Equation.3">
                  <p:embed/>
                </p:oleObj>
              </mc:Choice>
              <mc:Fallback>
                <p:oleObj name="Equation" r:id="rId11" imgW="4076700" imgH="774700" progId="Equation.3">
                  <p:embed/>
                  <p:pic>
                    <p:nvPicPr>
                      <p:cNvPr id="0" name="Object 6"/>
                      <p:cNvPicPr>
                        <a:picLocks noChangeAspect="1" noChangeArrowheads="1"/>
                      </p:cNvPicPr>
                      <p:nvPr/>
                    </p:nvPicPr>
                    <p:blipFill>
                      <a:blip r:embed="rId12"/>
                      <a:srcRect/>
                      <a:stretch>
                        <a:fillRect/>
                      </a:stretch>
                    </p:blipFill>
                    <p:spPr bwMode="auto">
                      <a:xfrm>
                        <a:off x="530225" y="1646238"/>
                        <a:ext cx="6748463" cy="1281112"/>
                      </a:xfrm>
                      <a:prstGeom prst="rect">
                        <a:avLst/>
                      </a:prstGeom>
                      <a:noFill/>
                      <a:ln>
                        <a:solidFill>
                          <a:schemeClr val="accent2"/>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8" name="Object 14"/>
          <p:cNvGraphicFramePr>
            <a:graphicFrameLocks noChangeAspect="1"/>
          </p:cNvGraphicFramePr>
          <p:nvPr/>
        </p:nvGraphicFramePr>
        <p:xfrm>
          <a:off x="1524000" y="3048000"/>
          <a:ext cx="596900" cy="569913"/>
        </p:xfrm>
        <a:graphic>
          <a:graphicData uri="http://schemas.openxmlformats.org/presentationml/2006/ole">
            <mc:AlternateContent xmlns:mc="http://schemas.openxmlformats.org/markup-compatibility/2006">
              <mc:Choice xmlns:v="urn:schemas-microsoft-com:vml" Requires="v">
                <p:oleObj spid="_x0000_s100676" name="Equation" r:id="rId13" imgW="279279" imgH="266584" progId="Equation.DSMT4">
                  <p:embed/>
                </p:oleObj>
              </mc:Choice>
              <mc:Fallback>
                <p:oleObj name="Equation" r:id="rId13" imgW="279279" imgH="266584"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0" y="3048000"/>
                        <a:ext cx="596900"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9" name="Object 15"/>
          <p:cNvGraphicFramePr>
            <a:graphicFrameLocks noChangeAspect="1"/>
          </p:cNvGraphicFramePr>
          <p:nvPr>
            <p:extLst>
              <p:ext uri="{D42A27DB-BD31-4B8C-83A1-F6EECF244321}">
                <p14:modId xmlns:p14="http://schemas.microsoft.com/office/powerpoint/2010/main" val="1599659319"/>
              </p:ext>
            </p:extLst>
          </p:nvPr>
        </p:nvGraphicFramePr>
        <p:xfrm>
          <a:off x="3092450" y="3036888"/>
          <a:ext cx="2520950" cy="550862"/>
        </p:xfrm>
        <a:graphic>
          <a:graphicData uri="http://schemas.openxmlformats.org/presentationml/2006/ole">
            <mc:AlternateContent xmlns:mc="http://schemas.openxmlformats.org/markup-compatibility/2006">
              <mc:Choice xmlns:v="urn:schemas-microsoft-com:vml" Requires="v">
                <p:oleObj spid="_x0000_s100677" name="Equation" r:id="rId14" imgW="1397000" imgH="304800" progId="Equation.3">
                  <p:embed/>
                </p:oleObj>
              </mc:Choice>
              <mc:Fallback>
                <p:oleObj name="Equation" r:id="rId14" imgW="1397000" imgH="304800" progId="Equation.3">
                  <p:embed/>
                  <p:pic>
                    <p:nvPicPr>
                      <p:cNvPr id="0" name="Object 15"/>
                      <p:cNvPicPr>
                        <a:picLocks noChangeAspect="1" noChangeArrowheads="1"/>
                      </p:cNvPicPr>
                      <p:nvPr/>
                    </p:nvPicPr>
                    <p:blipFill>
                      <a:blip r:embed="rId15"/>
                      <a:srcRect/>
                      <a:stretch>
                        <a:fillRect/>
                      </a:stretch>
                    </p:blipFill>
                    <p:spPr bwMode="auto">
                      <a:xfrm>
                        <a:off x="3092450" y="3036888"/>
                        <a:ext cx="2520950" cy="55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0" name="Object 16"/>
          <p:cNvGraphicFramePr>
            <a:graphicFrameLocks noChangeAspect="1"/>
          </p:cNvGraphicFramePr>
          <p:nvPr>
            <p:extLst>
              <p:ext uri="{D42A27DB-BD31-4B8C-83A1-F6EECF244321}">
                <p14:modId xmlns:p14="http://schemas.microsoft.com/office/powerpoint/2010/main" val="2161743999"/>
              </p:ext>
            </p:extLst>
          </p:nvPr>
        </p:nvGraphicFramePr>
        <p:xfrm>
          <a:off x="6030913" y="3036888"/>
          <a:ext cx="2197100" cy="544512"/>
        </p:xfrm>
        <a:graphic>
          <a:graphicData uri="http://schemas.openxmlformats.org/presentationml/2006/ole">
            <mc:AlternateContent xmlns:mc="http://schemas.openxmlformats.org/markup-compatibility/2006">
              <mc:Choice xmlns:v="urn:schemas-microsoft-com:vml" Requires="v">
                <p:oleObj spid="_x0000_s100678" name="Equation" r:id="rId16" imgW="1231900" imgH="304800" progId="Equation.3">
                  <p:embed/>
                </p:oleObj>
              </mc:Choice>
              <mc:Fallback>
                <p:oleObj name="Equation" r:id="rId16" imgW="1231900" imgH="304800" progId="Equation.3">
                  <p:embed/>
                  <p:pic>
                    <p:nvPicPr>
                      <p:cNvPr id="0" name="Object 16"/>
                      <p:cNvPicPr>
                        <a:picLocks noChangeAspect="1" noChangeArrowheads="1"/>
                      </p:cNvPicPr>
                      <p:nvPr/>
                    </p:nvPicPr>
                    <p:blipFill>
                      <a:blip r:embed="rId17"/>
                      <a:srcRect/>
                      <a:stretch>
                        <a:fillRect/>
                      </a:stretch>
                    </p:blipFill>
                    <p:spPr bwMode="auto">
                      <a:xfrm>
                        <a:off x="6030913" y="3036888"/>
                        <a:ext cx="2197100"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1" name="Object 17"/>
          <p:cNvGraphicFramePr>
            <a:graphicFrameLocks noChangeAspect="1"/>
          </p:cNvGraphicFramePr>
          <p:nvPr>
            <p:extLst>
              <p:ext uri="{D42A27DB-BD31-4B8C-83A1-F6EECF244321}">
                <p14:modId xmlns:p14="http://schemas.microsoft.com/office/powerpoint/2010/main" val="1183423412"/>
              </p:ext>
            </p:extLst>
          </p:nvPr>
        </p:nvGraphicFramePr>
        <p:xfrm>
          <a:off x="1676400" y="3505200"/>
          <a:ext cx="1122363" cy="527050"/>
        </p:xfrm>
        <a:graphic>
          <a:graphicData uri="http://schemas.openxmlformats.org/presentationml/2006/ole">
            <mc:AlternateContent xmlns:mc="http://schemas.openxmlformats.org/markup-compatibility/2006">
              <mc:Choice xmlns:v="urn:schemas-microsoft-com:vml" Requires="v">
                <p:oleObj spid="_x0000_s100679" name="Equation" r:id="rId18" imgW="622030" imgH="291973" progId="Equation.DSMT4">
                  <p:embed/>
                </p:oleObj>
              </mc:Choice>
              <mc:Fallback>
                <p:oleObj name="Equation" r:id="rId18" imgW="622030" imgH="291973" progId="Equation.DSMT4">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76400" y="3505200"/>
                        <a:ext cx="1122363"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0"/>
            <a:ext cx="8839200" cy="6477000"/>
          </a:xfrm>
        </p:spPr>
        <p:txBody>
          <a:bodyPr lIns="92075" tIns="46038" rIns="92075" bIns="46038"/>
          <a:lstStyle/>
          <a:p>
            <a:pPr>
              <a:buFont typeface="Arial" charset="0"/>
              <a:buNone/>
              <a:defRPr/>
            </a:pPr>
            <a:r>
              <a:rPr lang="en-US" sz="2200" dirty="0" smtClean="0">
                <a:latin typeface="Times New Roman" pitchFamily="18" charset="0"/>
                <a:cs typeface="Times New Roman" pitchFamily="18" charset="0"/>
              </a:rPr>
              <a:t> </a:t>
            </a:r>
            <a:endParaRPr lang="en-US" sz="1000" dirty="0" smtClean="0">
              <a:latin typeface="Times New Roman" pitchFamily="18" charset="0"/>
              <a:cs typeface="Times New Roman" pitchFamily="18" charset="0"/>
            </a:endParaRPr>
          </a:p>
          <a:p>
            <a:pPr>
              <a:buFont typeface="Arial" charset="0"/>
              <a:buNone/>
              <a:defRPr/>
            </a:pPr>
            <a:r>
              <a:rPr lang="en-US" sz="2200" dirty="0" err="1" smtClean="0">
                <a:latin typeface="Times New Roman" pitchFamily="18" charset="0"/>
                <a:cs typeface="Times New Roman" pitchFamily="18" charset="0"/>
              </a:rPr>
              <a:t>Buonaccorsi</a:t>
            </a:r>
            <a:r>
              <a:rPr lang="en-US" sz="2200" dirty="0" smtClean="0">
                <a:latin typeface="Times New Roman" pitchFamily="18" charset="0"/>
                <a:cs typeface="Times New Roman" pitchFamily="18" charset="0"/>
              </a:rPr>
              <a:t> observed the following:</a:t>
            </a:r>
          </a:p>
          <a:p>
            <a:pPr>
              <a:buFont typeface="Arial" charset="0"/>
              <a:buNone/>
              <a:defRPr/>
            </a:pPr>
            <a:endParaRPr lang="en-US" sz="800" dirty="0" smtClean="0">
              <a:latin typeface="Times New Roman" pitchFamily="18" charset="0"/>
              <a:cs typeface="Times New Roman" pitchFamily="18" charset="0"/>
            </a:endParaRPr>
          </a:p>
          <a:p>
            <a:pPr>
              <a:defRPr/>
            </a:pPr>
            <a:r>
              <a:rPr lang="en-US" sz="2200" dirty="0" smtClean="0">
                <a:latin typeface="Times New Roman" pitchFamily="18" charset="0"/>
                <a:cs typeface="Times New Roman" pitchFamily="18" charset="0"/>
              </a:rPr>
              <a:t>The  optimal proportion in the validation study </a:t>
            </a:r>
            <a:r>
              <a:rPr lang="en-US" sz="2200" dirty="0" smtClean="0">
                <a:solidFill>
                  <a:srgbClr val="FF3300"/>
                </a:solidFill>
                <a:latin typeface="Times New Roman" pitchFamily="18" charset="0"/>
                <a:cs typeface="Times New Roman" pitchFamily="18" charset="0"/>
              </a:rPr>
              <a:t>increases</a:t>
            </a:r>
            <a:r>
              <a:rPr lang="en-US" sz="2200" dirty="0" smtClean="0">
                <a:latin typeface="Times New Roman" pitchFamily="18" charset="0"/>
                <a:cs typeface="Times New Roman" pitchFamily="18" charset="0"/>
              </a:rPr>
              <a:t> as  </a:t>
            </a:r>
          </a:p>
          <a:p>
            <a:pPr>
              <a:defRPr/>
            </a:pPr>
            <a:endParaRPr lang="en-US" sz="6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                                                                                             </a:t>
            </a:r>
            <a:r>
              <a:rPr lang="en-US" sz="2200" dirty="0" smtClean="0">
                <a:solidFill>
                  <a:srgbClr val="0000FF"/>
                </a:solidFill>
                <a:latin typeface="Times New Roman" pitchFamily="18" charset="0"/>
                <a:cs typeface="Times New Roman" pitchFamily="18" charset="0"/>
              </a:rPr>
              <a:t>increases</a:t>
            </a:r>
            <a:r>
              <a:rPr lang="en-US" sz="2200" dirty="0" smtClean="0">
                <a:latin typeface="Times New Roman" pitchFamily="18" charset="0"/>
                <a:cs typeface="Times New Roman" pitchFamily="18" charset="0"/>
              </a:rPr>
              <a:t>. </a:t>
            </a:r>
          </a:p>
          <a:p>
            <a:pPr>
              <a:buFont typeface="Arial" charset="0"/>
              <a:buNone/>
              <a:defRPr/>
            </a:pPr>
            <a:r>
              <a:rPr lang="en-US" sz="2200" dirty="0" smtClean="0">
                <a:latin typeface="Times New Roman" pitchFamily="18" charset="0"/>
                <a:cs typeface="Times New Roman" pitchFamily="18" charset="0"/>
              </a:rPr>
              <a:t>     This can happen as the                    </a:t>
            </a:r>
            <a:r>
              <a:rPr lang="en-US" sz="2200" dirty="0" smtClean="0">
                <a:solidFill>
                  <a:srgbClr val="0000FF"/>
                </a:solidFill>
                <a:latin typeface="Times New Roman" pitchFamily="18" charset="0"/>
                <a:cs typeface="Times New Roman" pitchFamily="18" charset="0"/>
              </a:rPr>
              <a:t>increases</a:t>
            </a:r>
            <a:r>
              <a:rPr lang="en-US" sz="2200" dirty="0" smtClean="0">
                <a:latin typeface="Times New Roman" pitchFamily="18" charset="0"/>
                <a:cs typeface="Times New Roman" pitchFamily="18" charset="0"/>
              </a:rPr>
              <a:t>, and as                                 from either direction.</a:t>
            </a:r>
          </a:p>
          <a:p>
            <a:pPr>
              <a:buFont typeface="Arial" charset="0"/>
              <a:buNone/>
              <a:defRPr/>
            </a:pPr>
            <a:endParaRPr lang="en-US" sz="1400" dirty="0" smtClean="0">
              <a:latin typeface="Times New Roman" pitchFamily="18" charset="0"/>
              <a:cs typeface="Times New Roman" pitchFamily="18" charset="0"/>
            </a:endParaRPr>
          </a:p>
          <a:p>
            <a:pPr>
              <a:defRPr/>
            </a:pPr>
            <a:r>
              <a:rPr lang="en-US" sz="2200" dirty="0" smtClean="0">
                <a:latin typeface="Times New Roman" pitchFamily="18" charset="0"/>
                <a:cs typeface="Times New Roman" pitchFamily="18" charset="0"/>
              </a:rPr>
              <a:t>The optimal proportion in the validation study </a:t>
            </a:r>
            <a:r>
              <a:rPr lang="en-US" sz="2200" dirty="0" smtClean="0">
                <a:solidFill>
                  <a:srgbClr val="FF3300"/>
                </a:solidFill>
                <a:latin typeface="Times New Roman" pitchFamily="18" charset="0"/>
                <a:cs typeface="Times New Roman" pitchFamily="18" charset="0"/>
              </a:rPr>
              <a:t>increases</a:t>
            </a:r>
            <a:r>
              <a:rPr lang="en-US" sz="2200" dirty="0" smtClean="0">
                <a:latin typeface="Times New Roman" pitchFamily="18" charset="0"/>
                <a:cs typeface="Times New Roman" pitchFamily="18" charset="0"/>
              </a:rPr>
              <a:t> as        </a:t>
            </a:r>
            <a:r>
              <a:rPr lang="en-US" sz="2200" dirty="0" smtClean="0">
                <a:solidFill>
                  <a:srgbClr val="0000FF"/>
                </a:solidFill>
                <a:latin typeface="Times New Roman" pitchFamily="18" charset="0"/>
                <a:cs typeface="Times New Roman" pitchFamily="18" charset="0"/>
              </a:rPr>
              <a:t>decreases</a:t>
            </a:r>
            <a:r>
              <a:rPr lang="en-US" sz="2200" dirty="0" smtClean="0">
                <a:latin typeface="Times New Roman" pitchFamily="18" charset="0"/>
                <a:cs typeface="Times New Roman" pitchFamily="18" charset="0"/>
              </a:rPr>
              <a:t>         and for small       , the optimal design is often the fully validated design</a:t>
            </a:r>
          </a:p>
          <a:p>
            <a:pPr>
              <a:buFont typeface="Arial" charset="0"/>
              <a:buNone/>
              <a:defRPr/>
            </a:pPr>
            <a:endParaRPr lang="en-US" sz="2200" dirty="0" smtClean="0">
              <a:latin typeface="Times New Roman" pitchFamily="18" charset="0"/>
              <a:cs typeface="Times New Roman" pitchFamily="18" charset="0"/>
            </a:endParaRPr>
          </a:p>
          <a:p>
            <a:pPr>
              <a:defRPr/>
            </a:pPr>
            <a:r>
              <a:rPr lang="en-US" sz="2200" dirty="0" smtClean="0">
                <a:latin typeface="Times New Roman" pitchFamily="18" charset="0"/>
                <a:cs typeface="Times New Roman" pitchFamily="18" charset="0"/>
              </a:rPr>
              <a:t>The optimal proportion in the validation study is </a:t>
            </a:r>
            <a:r>
              <a:rPr lang="en-US" sz="2200" dirty="0" smtClean="0">
                <a:solidFill>
                  <a:srgbClr val="FF3300"/>
                </a:solidFill>
                <a:latin typeface="Times New Roman" pitchFamily="18" charset="0"/>
                <a:cs typeface="Times New Roman" pitchFamily="18" charset="0"/>
              </a:rPr>
              <a:t>not as sensitive </a:t>
            </a:r>
            <a:r>
              <a:rPr lang="en-US" sz="2200" dirty="0" smtClean="0">
                <a:latin typeface="Times New Roman" pitchFamily="18" charset="0"/>
                <a:cs typeface="Times New Roman" pitchFamily="18" charset="0"/>
              </a:rPr>
              <a:t>to </a:t>
            </a:r>
          </a:p>
          <a:p>
            <a:pPr>
              <a:buFont typeface="Arial" charset="0"/>
              <a:buNone/>
              <a:defRPr/>
            </a:pPr>
            <a:r>
              <a:rPr lang="en-US" sz="2200" dirty="0" smtClean="0">
                <a:latin typeface="Times New Roman" pitchFamily="18" charset="0"/>
                <a:cs typeface="Times New Roman" pitchFamily="18" charset="0"/>
              </a:rPr>
              <a:t>     changes in                         as it is to  </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20483" name="AutoShape 3"/>
          <p:cNvCxnSpPr>
            <a:cxnSpLocks noChangeShapeType="1"/>
            <a:stCxn id="28676" idx="3"/>
            <a:endCxn id="28676" idx="3"/>
          </p:cNvCxnSpPr>
          <p:nvPr/>
        </p:nvCxnSpPr>
        <p:spPr bwMode="auto">
          <a:xfrm>
            <a:off x="9144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048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20485"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1695"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6"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1696"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048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E3777799-B484-40A1-BB72-AFFD2FD2DCE3}" type="slidenum">
              <a:rPr lang="zh-CN" altLang="en-US" sz="1200">
                <a:solidFill>
                  <a:srgbClr val="898989"/>
                </a:solidFill>
              </a:rPr>
              <a:pPr algn="r" eaLnBrk="1" hangingPunct="1">
                <a:spcBef>
                  <a:spcPct val="0"/>
                </a:spcBef>
                <a:buFontTx/>
                <a:buNone/>
              </a:pPr>
              <a:t>21</a:t>
            </a:fld>
            <a:endParaRPr lang="en-US" altLang="zh-CN" sz="1200">
              <a:solidFill>
                <a:srgbClr val="898989"/>
              </a:solidFill>
            </a:endParaRPr>
          </a:p>
        </p:txBody>
      </p:sp>
      <p:graphicFrame>
        <p:nvGraphicFramePr>
          <p:cNvPr id="20489" name="Object 11"/>
          <p:cNvGraphicFramePr>
            <a:graphicFrameLocks noChangeAspect="1"/>
          </p:cNvGraphicFramePr>
          <p:nvPr/>
        </p:nvGraphicFramePr>
        <p:xfrm>
          <a:off x="762000" y="1371600"/>
          <a:ext cx="5981700" cy="533400"/>
        </p:xfrm>
        <a:graphic>
          <a:graphicData uri="http://schemas.openxmlformats.org/presentationml/2006/ole">
            <mc:AlternateContent xmlns:mc="http://schemas.openxmlformats.org/markup-compatibility/2006">
              <mc:Choice xmlns:v="urn:schemas-microsoft-com:vml" Requires="v">
                <p:oleObj spid="_x0000_s101697" name="Equation" r:id="rId7" imgW="3987800" imgH="355600" progId="Equation.DSMT4">
                  <p:embed/>
                </p:oleObj>
              </mc:Choice>
              <mc:Fallback>
                <p:oleObj name="Equation" r:id="rId7" imgW="3987800" imgH="3556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1371600"/>
                        <a:ext cx="59817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0" name="Object 12"/>
          <p:cNvGraphicFramePr>
            <a:graphicFrameLocks noChangeAspect="1"/>
          </p:cNvGraphicFramePr>
          <p:nvPr>
            <p:extLst>
              <p:ext uri="{D42A27DB-BD31-4B8C-83A1-F6EECF244321}">
                <p14:modId xmlns:p14="http://schemas.microsoft.com/office/powerpoint/2010/main" val="2342861455"/>
              </p:ext>
            </p:extLst>
          </p:nvPr>
        </p:nvGraphicFramePr>
        <p:xfrm>
          <a:off x="3352800" y="1905000"/>
          <a:ext cx="1227138" cy="381000"/>
        </p:xfrm>
        <a:graphic>
          <a:graphicData uri="http://schemas.openxmlformats.org/presentationml/2006/ole">
            <mc:AlternateContent xmlns:mc="http://schemas.openxmlformats.org/markup-compatibility/2006">
              <mc:Choice xmlns:v="urn:schemas-microsoft-com:vml" Requires="v">
                <p:oleObj spid="_x0000_s101698" name="Equation" r:id="rId9" imgW="736600" imgH="228600" progId="Equation.DSMT4">
                  <p:embed/>
                </p:oleObj>
              </mc:Choice>
              <mc:Fallback>
                <p:oleObj name="Equation" r:id="rId9" imgW="736600" imgH="2286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2800" y="1905000"/>
                        <a:ext cx="1227138" cy="381000"/>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1" name="Object 14"/>
          <p:cNvGraphicFramePr>
            <a:graphicFrameLocks noChangeAspect="1"/>
          </p:cNvGraphicFramePr>
          <p:nvPr>
            <p:extLst>
              <p:ext uri="{D42A27DB-BD31-4B8C-83A1-F6EECF244321}">
                <p14:modId xmlns:p14="http://schemas.microsoft.com/office/powerpoint/2010/main" val="2453503802"/>
              </p:ext>
            </p:extLst>
          </p:nvPr>
        </p:nvGraphicFramePr>
        <p:xfrm>
          <a:off x="6629400" y="1905000"/>
          <a:ext cx="2119313" cy="419100"/>
        </p:xfrm>
        <a:graphic>
          <a:graphicData uri="http://schemas.openxmlformats.org/presentationml/2006/ole">
            <mc:AlternateContent xmlns:mc="http://schemas.openxmlformats.org/markup-compatibility/2006">
              <mc:Choice xmlns:v="urn:schemas-microsoft-com:vml" Requires="v">
                <p:oleObj spid="_x0000_s101699" name="Equation" r:id="rId11" imgW="1155700" imgH="228600" progId="Equation.DSMT4">
                  <p:embed/>
                </p:oleObj>
              </mc:Choice>
              <mc:Fallback>
                <p:oleObj name="Equation" r:id="rId11" imgW="1155700" imgH="2286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29400" y="1905000"/>
                        <a:ext cx="2119313" cy="419100"/>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2" name="Object 15"/>
          <p:cNvGraphicFramePr>
            <a:graphicFrameLocks noChangeAspect="1"/>
          </p:cNvGraphicFramePr>
          <p:nvPr>
            <p:extLst>
              <p:ext uri="{D42A27DB-BD31-4B8C-83A1-F6EECF244321}">
                <p14:modId xmlns:p14="http://schemas.microsoft.com/office/powerpoint/2010/main" val="2611542896"/>
              </p:ext>
            </p:extLst>
          </p:nvPr>
        </p:nvGraphicFramePr>
        <p:xfrm>
          <a:off x="7435850" y="2895600"/>
          <a:ext cx="368300" cy="438150"/>
        </p:xfrm>
        <a:graphic>
          <a:graphicData uri="http://schemas.openxmlformats.org/presentationml/2006/ole">
            <mc:AlternateContent xmlns:mc="http://schemas.openxmlformats.org/markup-compatibility/2006">
              <mc:Choice xmlns:v="urn:schemas-microsoft-com:vml" Requires="v">
                <p:oleObj spid="_x0000_s101700" name="Equation" r:id="rId13" imgW="203040" imgH="241200" progId="Equation.DSMT4">
                  <p:embed/>
                </p:oleObj>
              </mc:Choice>
              <mc:Fallback>
                <p:oleObj name="Equation" r:id="rId13" imgW="203040" imgH="241200" progId="Equation.DSMT4">
                  <p:embed/>
                  <p:pic>
                    <p:nvPicPr>
                      <p:cNvPr id="0" name="Object 15"/>
                      <p:cNvPicPr>
                        <a:picLocks noChangeAspect="1" noChangeArrowheads="1"/>
                      </p:cNvPicPr>
                      <p:nvPr/>
                    </p:nvPicPr>
                    <p:blipFill>
                      <a:blip r:embed="rId14"/>
                      <a:srcRect/>
                      <a:stretch>
                        <a:fillRect/>
                      </a:stretch>
                    </p:blipFill>
                    <p:spPr bwMode="auto">
                      <a:xfrm>
                        <a:off x="7435850" y="2895600"/>
                        <a:ext cx="368300" cy="438150"/>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3" name="Object 16"/>
          <p:cNvGraphicFramePr>
            <a:graphicFrameLocks noChangeAspect="1"/>
          </p:cNvGraphicFramePr>
          <p:nvPr>
            <p:extLst>
              <p:ext uri="{D42A27DB-BD31-4B8C-83A1-F6EECF244321}">
                <p14:modId xmlns:p14="http://schemas.microsoft.com/office/powerpoint/2010/main" val="2917218810"/>
              </p:ext>
            </p:extLst>
          </p:nvPr>
        </p:nvGraphicFramePr>
        <p:xfrm>
          <a:off x="2286000" y="3211606"/>
          <a:ext cx="369888" cy="438150"/>
        </p:xfrm>
        <a:graphic>
          <a:graphicData uri="http://schemas.openxmlformats.org/presentationml/2006/ole">
            <mc:AlternateContent xmlns:mc="http://schemas.openxmlformats.org/markup-compatibility/2006">
              <mc:Choice xmlns:v="urn:schemas-microsoft-com:vml" Requires="v">
                <p:oleObj spid="_x0000_s101701" name="Equation" r:id="rId15" imgW="203112" imgH="241195" progId="Equation.DSMT4">
                  <p:embed/>
                </p:oleObj>
              </mc:Choice>
              <mc:Fallback>
                <p:oleObj name="Equation" r:id="rId15" imgW="203112" imgH="241195" progId="Equation.DSMT4">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86000" y="3211606"/>
                        <a:ext cx="369888"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4" name="Object 17"/>
          <p:cNvGraphicFramePr>
            <a:graphicFrameLocks noChangeAspect="1"/>
          </p:cNvGraphicFramePr>
          <p:nvPr/>
        </p:nvGraphicFramePr>
        <p:xfrm>
          <a:off x="1981200" y="4419600"/>
          <a:ext cx="1600200" cy="417513"/>
        </p:xfrm>
        <a:graphic>
          <a:graphicData uri="http://schemas.openxmlformats.org/presentationml/2006/ole">
            <mc:AlternateContent xmlns:mc="http://schemas.openxmlformats.org/markup-compatibility/2006">
              <mc:Choice xmlns:v="urn:schemas-microsoft-com:vml" Requires="v">
                <p:oleObj spid="_x0000_s101702" name="Equation" r:id="rId17" imgW="876300" imgH="228600" progId="Equation.DSMT4">
                  <p:embed/>
                </p:oleObj>
              </mc:Choice>
              <mc:Fallback>
                <p:oleObj name="Equation" r:id="rId17" imgW="876300" imgH="228600" progId="Equation.DSMT4">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81200" y="4419600"/>
                        <a:ext cx="16002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495" name="Object 18"/>
          <p:cNvGraphicFramePr>
            <a:graphicFrameLocks noChangeAspect="1"/>
          </p:cNvGraphicFramePr>
          <p:nvPr>
            <p:extLst>
              <p:ext uri="{D42A27DB-BD31-4B8C-83A1-F6EECF244321}">
                <p14:modId xmlns:p14="http://schemas.microsoft.com/office/powerpoint/2010/main" val="1755223152"/>
              </p:ext>
            </p:extLst>
          </p:nvPr>
        </p:nvGraphicFramePr>
        <p:xfrm>
          <a:off x="4735513" y="4459288"/>
          <a:ext cx="1576387" cy="417512"/>
        </p:xfrm>
        <a:graphic>
          <a:graphicData uri="http://schemas.openxmlformats.org/presentationml/2006/ole">
            <mc:AlternateContent xmlns:mc="http://schemas.openxmlformats.org/markup-compatibility/2006">
              <mc:Choice xmlns:v="urn:schemas-microsoft-com:vml" Requires="v">
                <p:oleObj spid="_x0000_s101703" name="Equation" r:id="rId19" imgW="863225" imgH="228501" progId="Equation.DSMT4">
                  <p:embed/>
                </p:oleObj>
              </mc:Choice>
              <mc:Fallback>
                <p:oleObj name="Equation" r:id="rId19" imgW="863225" imgH="228501" progId="Equation.DSMT4">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35513" y="4459288"/>
                        <a:ext cx="1576387" cy="417512"/>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22</a:t>
            </a:fld>
            <a:endParaRPr lang="en-US" altLang="zh-CN"/>
          </a:p>
        </p:txBody>
      </p:sp>
      <p:graphicFrame>
        <p:nvGraphicFramePr>
          <p:cNvPr id="3" name="Table 2"/>
          <p:cNvGraphicFramePr>
            <a:graphicFrameLocks noGrp="1"/>
          </p:cNvGraphicFramePr>
          <p:nvPr>
            <p:extLst>
              <p:ext uri="{D42A27DB-BD31-4B8C-83A1-F6EECF244321}">
                <p14:modId xmlns:p14="http://schemas.microsoft.com/office/powerpoint/2010/main" val="1605640526"/>
              </p:ext>
            </p:extLst>
          </p:nvPr>
        </p:nvGraphicFramePr>
        <p:xfrm>
          <a:off x="152400" y="381002"/>
          <a:ext cx="8991600" cy="6522718"/>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xmlns="" val="20000"/>
                    </a:ext>
                  </a:extLst>
                </a:gridCol>
                <a:gridCol w="147828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600200">
                  <a:extLst>
                    <a:ext uri="{9D8B030D-6E8A-4147-A177-3AD203B41FA5}">
                      <a16:colId xmlns:a16="http://schemas.microsoft.com/office/drawing/2014/main" xmlns="" val="20003"/>
                    </a:ext>
                  </a:extLst>
                </a:gridCol>
                <a:gridCol w="2743200">
                  <a:extLst>
                    <a:ext uri="{9D8B030D-6E8A-4147-A177-3AD203B41FA5}">
                      <a16:colId xmlns:a16="http://schemas.microsoft.com/office/drawing/2014/main" xmlns="" val="20004"/>
                    </a:ext>
                  </a:extLst>
                </a:gridCol>
              </a:tblGrid>
              <a:tr h="1008653">
                <a:tc>
                  <a:txBody>
                    <a:bodyPr/>
                    <a:lstStyle/>
                    <a:p>
                      <a:endParaRPr lang="en-US" dirty="0"/>
                    </a:p>
                  </a:txBody>
                  <a:tcPr/>
                </a:tc>
                <a:tc>
                  <a:txBody>
                    <a:bodyPr/>
                    <a:lstStyle/>
                    <a:p>
                      <a:r>
                        <a:rPr lang="en-US" dirty="0" smtClean="0"/>
                        <a:t>MS Data</a:t>
                      </a:r>
                      <a:endParaRPr lang="en-US" dirty="0"/>
                    </a:p>
                  </a:txBody>
                  <a:tcPr/>
                </a:tc>
                <a:tc>
                  <a:txBody>
                    <a:bodyPr/>
                    <a:lstStyle/>
                    <a:p>
                      <a:r>
                        <a:rPr lang="en-US" dirty="0" smtClean="0"/>
                        <a:t>Method  for dealing with ME</a:t>
                      </a:r>
                      <a:endParaRPr lang="en-US" dirty="0"/>
                    </a:p>
                  </a:txBody>
                  <a:tcPr/>
                </a:tc>
                <a:tc>
                  <a:txBody>
                    <a:bodyPr/>
                    <a:lstStyle/>
                    <a:p>
                      <a:r>
                        <a:rPr lang="en-US" dirty="0" smtClean="0"/>
                        <a:t>Measurement</a:t>
                      </a:r>
                      <a:r>
                        <a:rPr lang="en-US" baseline="0" dirty="0" smtClean="0"/>
                        <a:t> error  assumption</a:t>
                      </a:r>
                      <a:endParaRPr lang="en-US" dirty="0"/>
                    </a:p>
                  </a:txBody>
                  <a:tcPr/>
                </a:tc>
                <a:tc>
                  <a:txBody>
                    <a:bodyPr/>
                    <a:lstStyle/>
                    <a:p>
                      <a:r>
                        <a:rPr lang="en-US" dirty="0" smtClean="0"/>
                        <a:t>Criteria of optimal design</a:t>
                      </a:r>
                      <a:endParaRPr lang="en-US" dirty="0"/>
                    </a:p>
                  </a:txBody>
                  <a:tcPr/>
                </a:tc>
                <a:extLst>
                  <a:ext uri="{0D108BD9-81ED-4DB2-BD59-A6C34878D82A}">
                    <a16:rowId xmlns:a16="http://schemas.microsoft.com/office/drawing/2014/main" xmlns="" val="10000"/>
                  </a:ext>
                </a:extLst>
              </a:tr>
              <a:tr h="1008653">
                <a:tc>
                  <a:txBody>
                    <a:bodyPr/>
                    <a:lstStyle/>
                    <a:p>
                      <a:r>
                        <a:rPr lang="en-US" sz="1800" b="1" dirty="0" smtClean="0">
                          <a:latin typeface="Times New Roman" pitchFamily="18" charset="0"/>
                          <a:cs typeface="Times New Roman" pitchFamily="18" charset="0"/>
                        </a:rPr>
                        <a:t>Greenland (1988)</a:t>
                      </a:r>
                      <a:endParaRPr lang="en-US" b="1" dirty="0"/>
                    </a:p>
                  </a:txBody>
                  <a:tcPr/>
                </a:tc>
                <a:tc>
                  <a:txBody>
                    <a:bodyPr/>
                    <a:lstStyle/>
                    <a:p>
                      <a:r>
                        <a:rPr lang="en-US" dirty="0" smtClean="0">
                          <a:solidFill>
                            <a:schemeClr val="tx1"/>
                          </a:solidFill>
                          <a:latin typeface="+mn-lt"/>
                        </a:rPr>
                        <a:t>2X2</a:t>
                      </a:r>
                      <a:r>
                        <a:rPr lang="en-US" baseline="0" dirty="0" smtClean="0">
                          <a:solidFill>
                            <a:schemeClr val="tx1"/>
                          </a:solidFill>
                          <a:latin typeface="+mn-lt"/>
                        </a:rPr>
                        <a:t> table</a:t>
                      </a:r>
                      <a:endParaRPr lang="en-US" dirty="0">
                        <a:solidFill>
                          <a:schemeClr val="tx1"/>
                        </a:solidFill>
                        <a:latin typeface="+mn-lt"/>
                      </a:endParaRPr>
                    </a:p>
                  </a:txBody>
                  <a:tcPr/>
                </a:tc>
                <a:tc>
                  <a:txBody>
                    <a:bodyPr/>
                    <a:lstStyle/>
                    <a:p>
                      <a:r>
                        <a:rPr lang="en-US" sz="1800" b="0" dirty="0" smtClean="0">
                          <a:solidFill>
                            <a:schemeClr val="tx1"/>
                          </a:solidFill>
                          <a:latin typeface="+mn-lt"/>
                          <a:cs typeface="Times New Roman" pitchFamily="18" charset="0"/>
                        </a:rPr>
                        <a:t>Matrix method</a:t>
                      </a:r>
                      <a:endParaRPr lang="en-US" b="0" dirty="0">
                        <a:solidFill>
                          <a:schemeClr val="tx1"/>
                        </a:solidFill>
                        <a:latin typeface="+mn-lt"/>
                      </a:endParaRPr>
                    </a:p>
                  </a:txBody>
                  <a:tcPr/>
                </a:tc>
                <a:tc>
                  <a:txBody>
                    <a:bodyPr/>
                    <a:lstStyle/>
                    <a:p>
                      <a:r>
                        <a:rPr lang="en-US" dirty="0" smtClean="0">
                          <a:latin typeface="+mn-lt"/>
                        </a:rPr>
                        <a:t>Differential and non-differential</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chemeClr val="tx1"/>
                          </a:solidFill>
                          <a:latin typeface="+mn-lt"/>
                          <a:cs typeface="Times New Roman" pitchFamily="18" charset="0"/>
                        </a:rPr>
                        <a:t>Minimum variance subject to cost considerations</a:t>
                      </a:r>
                      <a:endParaRPr lang="en-US" dirty="0">
                        <a:solidFill>
                          <a:schemeClr val="tx1"/>
                        </a:solidFill>
                        <a:latin typeface="+mn-lt"/>
                      </a:endParaRPr>
                    </a:p>
                  </a:txBody>
                  <a:tcPr/>
                </a:tc>
                <a:extLst>
                  <a:ext uri="{0D108BD9-81ED-4DB2-BD59-A6C34878D82A}">
                    <a16:rowId xmlns:a16="http://schemas.microsoft.com/office/drawing/2014/main" xmlns="" val="10001"/>
                  </a:ext>
                </a:extLst>
              </a:tr>
              <a:tr h="1106892">
                <a:tc>
                  <a:txBody>
                    <a:bodyPr/>
                    <a:lstStyle/>
                    <a:p>
                      <a:r>
                        <a:rPr lang="en-US" sz="1800" b="1" dirty="0" smtClean="0">
                          <a:latin typeface="Times New Roman" pitchFamily="18" charset="0"/>
                          <a:cs typeface="Times New Roman" pitchFamily="18" charset="0"/>
                        </a:rPr>
                        <a:t>Reilly (1996)</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2X2</a:t>
                      </a:r>
                      <a:r>
                        <a:rPr lang="en-US" baseline="0" dirty="0" smtClean="0">
                          <a:solidFill>
                            <a:schemeClr val="tx1"/>
                          </a:solidFill>
                          <a:latin typeface="+mn-lt"/>
                        </a:rPr>
                        <a:t> table (and categorical exposure)</a:t>
                      </a:r>
                      <a:endParaRPr lang="en-US" dirty="0">
                        <a:latin typeface="+mn-lt"/>
                      </a:endParaRPr>
                    </a:p>
                  </a:txBody>
                  <a:tcPr/>
                </a:tc>
                <a:tc>
                  <a:txBody>
                    <a:bodyPr/>
                    <a:lstStyle/>
                    <a:p>
                      <a:r>
                        <a:rPr lang="en-US" dirty="0" smtClean="0">
                          <a:latin typeface="+mn-lt"/>
                        </a:rPr>
                        <a:t>MLE</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Differential and non-differential</a:t>
                      </a:r>
                    </a:p>
                    <a:p>
                      <a:endParaRPr lang="en-US" dirty="0">
                        <a:latin typeface="+mn-lt"/>
                      </a:endParaRPr>
                    </a:p>
                  </a:txBody>
                  <a:tcPr/>
                </a:tc>
                <a:tc>
                  <a:txBody>
                    <a:bodyPr/>
                    <a:lstStyle/>
                    <a:p>
                      <a:r>
                        <a:rPr lang="en-US" sz="1800" b="1" dirty="0" smtClean="0">
                          <a:solidFill>
                            <a:schemeClr val="tx1"/>
                          </a:solidFill>
                          <a:latin typeface="+mn-lt"/>
                          <a:cs typeface="Times New Roman" pitchFamily="18" charset="0"/>
                        </a:rPr>
                        <a:t>Maximize precision for a fixed total budget or minimize the study cost given a desired precision</a:t>
                      </a:r>
                      <a:endParaRPr lang="en-US" dirty="0">
                        <a:solidFill>
                          <a:schemeClr val="tx1"/>
                        </a:solidFill>
                        <a:latin typeface="+mn-lt"/>
                      </a:endParaRPr>
                    </a:p>
                  </a:txBody>
                  <a:tcPr/>
                </a:tc>
                <a:extLst>
                  <a:ext uri="{0D108BD9-81ED-4DB2-BD59-A6C34878D82A}">
                    <a16:rowId xmlns:a16="http://schemas.microsoft.com/office/drawing/2014/main" xmlns="" val="10002"/>
                  </a:ext>
                </a:extLst>
              </a:tr>
              <a:tr h="939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err="1" smtClean="0">
                          <a:latin typeface="Times New Roman" pitchFamily="18" charset="0"/>
                          <a:cs typeface="Times New Roman" pitchFamily="18" charset="0"/>
                        </a:rPr>
                        <a:t>Buonaccorsi</a:t>
                      </a:r>
                      <a:r>
                        <a:rPr lang="en-US" sz="1800" b="1" dirty="0" smtClean="0">
                          <a:latin typeface="Times New Roman" pitchFamily="18" charset="0"/>
                          <a:cs typeface="Times New Roman" pitchFamily="18" charset="0"/>
                        </a:rPr>
                        <a:t> (1990)</a:t>
                      </a:r>
                    </a:p>
                    <a:p>
                      <a:endParaRPr lang="en-US" dirty="0"/>
                    </a:p>
                  </a:txBody>
                  <a:tcPr/>
                </a:tc>
                <a:tc>
                  <a:txBody>
                    <a:bodyPr/>
                    <a:lstStyle/>
                    <a:p>
                      <a:r>
                        <a:rPr lang="en-US" dirty="0" smtClean="0">
                          <a:latin typeface="+mn-lt"/>
                        </a:rPr>
                        <a:t>Binary outcome,</a:t>
                      </a:r>
                      <a:r>
                        <a:rPr lang="en-US" baseline="0" dirty="0" smtClean="0">
                          <a:latin typeface="+mn-lt"/>
                        </a:rPr>
                        <a:t> continuous E</a:t>
                      </a:r>
                      <a:endParaRPr lang="en-US" dirty="0" smtClean="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txBody>
                  <a:tcPr/>
                </a:tc>
                <a:tc>
                  <a:txBody>
                    <a:bodyPr/>
                    <a:lstStyle/>
                    <a:p>
                      <a:pPr>
                        <a:buFont typeface="Arial" charset="0"/>
                        <a:buNone/>
                        <a:defRPr/>
                      </a:pPr>
                      <a:r>
                        <a:rPr lang="en-US" sz="1800" baseline="0" dirty="0" smtClean="0">
                          <a:latin typeface="+mn-lt"/>
                          <a:cs typeface="Times New Roman" pitchFamily="18" charset="0"/>
                        </a:rPr>
                        <a:t>                </a:t>
                      </a:r>
                      <a:r>
                        <a:rPr lang="en-US" sz="1800" dirty="0" smtClean="0">
                          <a:latin typeface="+mn-lt"/>
                          <a:cs typeface="Times New Roman" pitchFamily="18" charset="0"/>
                        </a:rPr>
                        <a:t>jointly </a:t>
                      </a:r>
                    </a:p>
                    <a:p>
                      <a:pPr>
                        <a:buFont typeface="Arial" charset="0"/>
                        <a:buNone/>
                        <a:defRPr/>
                      </a:pPr>
                      <a:r>
                        <a:rPr lang="en-US" sz="1800" dirty="0" smtClean="0">
                          <a:latin typeface="+mn-lt"/>
                          <a:cs typeface="Times New Roman" pitchFamily="18" charset="0"/>
                        </a:rPr>
                        <a:t>normal and homoscedastic</a:t>
                      </a:r>
                      <a:endParaRPr lang="en-US" dirty="0">
                        <a:latin typeface="+mn-lt"/>
                      </a:endParaRPr>
                    </a:p>
                  </a:txBody>
                  <a:tcPr/>
                </a:tc>
                <a:tc>
                  <a:txBody>
                    <a:bodyPr/>
                    <a:lstStyle/>
                    <a:p>
                      <a:r>
                        <a:rPr lang="en-US" sz="1800" b="1" dirty="0" smtClean="0">
                          <a:solidFill>
                            <a:schemeClr val="tx1"/>
                          </a:solidFill>
                          <a:latin typeface="+mn-lt"/>
                          <a:cs typeface="Times New Roman" pitchFamily="18" charset="0"/>
                        </a:rPr>
                        <a:t>Minimize the variance subject to cost considerations</a:t>
                      </a:r>
                      <a:endParaRPr lang="en-US" dirty="0">
                        <a:solidFill>
                          <a:schemeClr val="tx1"/>
                        </a:solidFill>
                        <a:latin typeface="+mn-lt"/>
                      </a:endParaRPr>
                    </a:p>
                  </a:txBody>
                  <a:tcPr/>
                </a:tc>
                <a:extLst>
                  <a:ext uri="{0D108BD9-81ED-4DB2-BD59-A6C34878D82A}">
                    <a16:rowId xmlns:a16="http://schemas.microsoft.com/office/drawing/2014/main" xmlns="" val="10003"/>
                  </a:ext>
                </a:extLst>
              </a:tr>
              <a:tr h="11081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rgbClr val="FF0000"/>
                          </a:solidFill>
                          <a:latin typeface="Times New Roman" pitchFamily="18" charset="0"/>
                          <a:cs typeface="Times New Roman" pitchFamily="18" charset="0"/>
                        </a:rPr>
                        <a:t>Spiegelman and Gray (1991)</a:t>
                      </a:r>
                    </a:p>
                    <a:p>
                      <a:endParaRPr lang="en-US"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latin typeface="+mn-lt"/>
                        </a:rPr>
                        <a:t>Binary outcome,</a:t>
                      </a:r>
                      <a:r>
                        <a:rPr lang="en-US" baseline="0" dirty="0" smtClean="0">
                          <a:solidFill>
                            <a:srgbClr val="FF0000"/>
                          </a:solidFill>
                          <a:latin typeface="+mn-lt"/>
                        </a:rPr>
                        <a:t> continuous E </a:t>
                      </a:r>
                      <a:endParaRPr lang="en-US" dirty="0">
                        <a:solidFill>
                          <a:srgbClr val="FF0000"/>
                        </a:solidFill>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latin typeface="+mn-lt"/>
                        </a:rPr>
                        <a:t>MLE (Logistic regression)</a:t>
                      </a:r>
                    </a:p>
                    <a:p>
                      <a:endParaRPr lang="en-US" dirty="0">
                        <a:solidFill>
                          <a:srgbClr val="FF0000"/>
                        </a:solidFill>
                        <a:latin typeface="+mn-lt"/>
                      </a:endParaRPr>
                    </a:p>
                  </a:txBody>
                  <a:tcPr/>
                </a:tc>
                <a:tc>
                  <a:txBody>
                    <a:bodyPr/>
                    <a:lstStyle/>
                    <a:p>
                      <a:pPr>
                        <a:buFont typeface="Arial" charset="0"/>
                        <a:buNone/>
                        <a:defRPr/>
                      </a:pPr>
                      <a:r>
                        <a:rPr lang="en-US" dirty="0" smtClean="0">
                          <a:solidFill>
                            <a:srgbClr val="FF0000"/>
                          </a:solidFill>
                          <a:latin typeface="+mn-lt"/>
                        </a:rPr>
                        <a:t>Classical additive ME</a:t>
                      </a:r>
                      <a:endParaRPr lang="en-US" dirty="0">
                        <a:solidFill>
                          <a:srgbClr val="FF0000"/>
                        </a:solidFill>
                        <a:latin typeface="+mn-lt"/>
                      </a:endParaRPr>
                    </a:p>
                  </a:txBody>
                  <a:tcPr/>
                </a:tc>
                <a:tc>
                  <a:txBody>
                    <a:bodyPr/>
                    <a:lstStyle/>
                    <a:p>
                      <a:r>
                        <a:rPr lang="en-US" b="1" dirty="0" smtClean="0">
                          <a:solidFill>
                            <a:srgbClr val="FF0000"/>
                          </a:solidFill>
                          <a:latin typeface="+mn-lt"/>
                        </a:rPr>
                        <a:t>Minimize cost, subject to a specified discriminatory power</a:t>
                      </a:r>
                      <a:endParaRPr lang="en-US" dirty="0">
                        <a:solidFill>
                          <a:srgbClr val="FF0000"/>
                        </a:solidFill>
                        <a:latin typeface="+mn-lt"/>
                      </a:endParaRPr>
                    </a:p>
                  </a:txBody>
                  <a:tcPr/>
                </a:tc>
                <a:extLst>
                  <a:ext uri="{0D108BD9-81ED-4DB2-BD59-A6C34878D82A}">
                    <a16:rowId xmlns:a16="http://schemas.microsoft.com/office/drawing/2014/main" xmlns="" val="10004"/>
                  </a:ext>
                </a:extLst>
              </a:tr>
              <a:tr h="775705">
                <a:tc>
                  <a:txBody>
                    <a:bodyPr/>
                    <a:lstStyle/>
                    <a:p>
                      <a:r>
                        <a:rPr lang="en-US" sz="1800" b="1" dirty="0" err="1" smtClean="0">
                          <a:solidFill>
                            <a:schemeClr val="tx1"/>
                          </a:solidFill>
                          <a:latin typeface="Times New Roman" pitchFamily="18" charset="0"/>
                          <a:cs typeface="Times New Roman" pitchFamily="18" charset="0"/>
                        </a:rPr>
                        <a:t>Rosner</a:t>
                      </a:r>
                      <a:r>
                        <a:rPr lang="en-US" sz="1800" b="1" dirty="0" smtClean="0">
                          <a:solidFill>
                            <a:schemeClr val="tx1"/>
                          </a:solidFill>
                          <a:latin typeface="Times New Roman" pitchFamily="18" charset="0"/>
                          <a:cs typeface="Times New Roman" pitchFamily="18" charset="0"/>
                        </a:rPr>
                        <a:t> et al. (1992)</a:t>
                      </a:r>
                      <a:endParaRPr lang="en-US" dirty="0">
                        <a:solidFill>
                          <a:schemeClr val="tx1"/>
                        </a:solidFill>
                      </a:endParaRPr>
                    </a:p>
                  </a:txBody>
                  <a:tcPr/>
                </a:tc>
                <a:tc>
                  <a:txBody>
                    <a:bodyPr/>
                    <a:lstStyle/>
                    <a:p>
                      <a:r>
                        <a:rPr lang="en-US" dirty="0" smtClean="0">
                          <a:solidFill>
                            <a:schemeClr val="tx1"/>
                          </a:solidFill>
                          <a:latin typeface="+mn-lt"/>
                        </a:rPr>
                        <a:t>Binary outcome,</a:t>
                      </a:r>
                      <a:r>
                        <a:rPr lang="en-US" baseline="0" dirty="0" smtClean="0">
                          <a:solidFill>
                            <a:schemeClr val="tx1"/>
                          </a:solidFill>
                          <a:latin typeface="+mn-lt"/>
                        </a:rPr>
                        <a:t> continuous exposure</a:t>
                      </a:r>
                      <a:endParaRPr lang="en-US" dirty="0" smtClean="0">
                        <a:solidFill>
                          <a:schemeClr val="tx1"/>
                        </a:solidFill>
                        <a:latin typeface="+mn-lt"/>
                      </a:endParaRPr>
                    </a:p>
                  </a:txBody>
                  <a:tcPr/>
                </a:tc>
                <a:tc>
                  <a:txBody>
                    <a:bodyPr/>
                    <a:lstStyle/>
                    <a:p>
                      <a:r>
                        <a:rPr lang="en-US" dirty="0" smtClean="0">
                          <a:solidFill>
                            <a:schemeClr val="tx1"/>
                          </a:solidFill>
                        </a:rPr>
                        <a:t>Logistic regression, Regression Calibration</a:t>
                      </a:r>
                      <a:endParaRPr lang="en-US"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Classical additive ME</a:t>
                      </a:r>
                    </a:p>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xmlns="" val="10005"/>
                  </a:ext>
                </a:extLst>
              </a:tr>
            </a:tbl>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4141676191"/>
              </p:ext>
            </p:extLst>
          </p:nvPr>
        </p:nvGraphicFramePr>
        <p:xfrm>
          <a:off x="4800600" y="3657600"/>
          <a:ext cx="860612" cy="304800"/>
        </p:xfrm>
        <a:graphic>
          <a:graphicData uri="http://schemas.openxmlformats.org/presentationml/2006/ole">
            <mc:AlternateContent xmlns:mc="http://schemas.openxmlformats.org/markup-compatibility/2006">
              <mc:Choice xmlns:v="urn:schemas-microsoft-com:vml" Requires="v">
                <p:oleObj spid="_x0000_s91211" name="Equation" r:id="rId3" imgW="609336" imgH="215806" progId="Equation.DSMT4">
                  <p:embed/>
                </p:oleObj>
              </mc:Choice>
              <mc:Fallback>
                <p:oleObj name="Equation" r:id="rId3" imgW="609336" imgH="21580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3657600"/>
                        <a:ext cx="860612" cy="304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89480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04800" y="152400"/>
            <a:ext cx="8458200" cy="6705600"/>
          </a:xfrm>
        </p:spPr>
        <p:txBody>
          <a:bodyPr lIns="92075" tIns="46038" rIns="92075" bIns="46038"/>
          <a:lstStyle/>
          <a:p>
            <a:pPr>
              <a:buFont typeface="Arial" charset="0"/>
              <a:buNone/>
              <a:defRPr/>
            </a:pPr>
            <a:r>
              <a:rPr lang="en-US" sz="2200" b="1" dirty="0" smtClean="0">
                <a:latin typeface="Times New Roman" pitchFamily="18" charset="0"/>
                <a:cs typeface="Times New Roman" pitchFamily="18" charset="0"/>
              </a:rPr>
              <a:t>Spiegelman and Gray (1991)</a:t>
            </a: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(Spiegelman and Gray, 1991) considered optimal design when   </a:t>
            </a:r>
            <a:r>
              <a:rPr lang="en-US" sz="2200" dirty="0" smtClean="0">
                <a:solidFill>
                  <a:srgbClr val="0000FF"/>
                </a:solidFill>
                <a:latin typeface="Times New Roman" pitchFamily="18" charset="0"/>
                <a:cs typeface="Times New Roman" pitchFamily="18" charset="0"/>
              </a:rPr>
              <a:t>Z|X  is </a:t>
            </a:r>
          </a:p>
          <a:p>
            <a:pPr>
              <a:buFont typeface="Arial" charset="0"/>
              <a:buNone/>
              <a:defRPr/>
            </a:pPr>
            <a:r>
              <a:rPr lang="en-US" sz="2200" dirty="0" smtClean="0">
                <a:solidFill>
                  <a:srgbClr val="0000FF"/>
                </a:solidFill>
                <a:latin typeface="Times New Roman" pitchFamily="18" charset="0"/>
                <a:cs typeface="Times New Roman" pitchFamily="18" charset="0"/>
              </a:rPr>
              <a:t>normal and </a:t>
            </a:r>
            <a:r>
              <a:rPr lang="en-US" sz="2200" dirty="0" err="1" smtClean="0">
                <a:solidFill>
                  <a:srgbClr val="0000FF"/>
                </a:solidFill>
                <a:latin typeface="Times New Roman" pitchFamily="18" charset="0"/>
                <a:cs typeface="Times New Roman" pitchFamily="18" charset="0"/>
              </a:rPr>
              <a:t>homoscedastic</a:t>
            </a:r>
            <a:r>
              <a:rPr lang="en-US" sz="2200" dirty="0" smtClean="0">
                <a:latin typeface="Times New Roman" pitchFamily="18" charset="0"/>
                <a:cs typeface="Times New Roman" pitchFamily="18" charset="0"/>
              </a:rPr>
              <a:t>, in contrast to the setting considered by </a:t>
            </a:r>
          </a:p>
          <a:p>
            <a:pPr>
              <a:buFont typeface="Arial" charset="0"/>
              <a:buNone/>
              <a:defRPr/>
            </a:pPr>
            <a:endParaRPr lang="en-US" sz="200" dirty="0" smtClean="0">
              <a:latin typeface="Times New Roman" pitchFamily="18" charset="0"/>
              <a:cs typeface="Times New Roman" pitchFamily="18" charset="0"/>
            </a:endParaRPr>
          </a:p>
          <a:p>
            <a:pPr>
              <a:buFont typeface="Arial" charset="0"/>
              <a:buNone/>
              <a:defRPr/>
            </a:pPr>
            <a:r>
              <a:rPr lang="en-US" sz="2200" dirty="0" err="1" smtClean="0">
                <a:latin typeface="Times New Roman" pitchFamily="18" charset="0"/>
                <a:cs typeface="Times New Roman" pitchFamily="18" charset="0"/>
              </a:rPr>
              <a:t>Buonaccorsi</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Buonaccorsi</a:t>
            </a:r>
            <a:r>
              <a:rPr lang="en-US" sz="2200" dirty="0" smtClean="0">
                <a:latin typeface="Times New Roman" pitchFamily="18" charset="0"/>
                <a:cs typeface="Times New Roman" pitchFamily="18" charset="0"/>
              </a:rPr>
              <a:t>, 1990), which assumes                   are jointly </a:t>
            </a:r>
          </a:p>
          <a:p>
            <a:pPr>
              <a:buFont typeface="Arial" charset="0"/>
              <a:buNone/>
              <a:defRPr/>
            </a:pPr>
            <a:r>
              <a:rPr lang="en-US" sz="2200" dirty="0" smtClean="0">
                <a:latin typeface="Times New Roman" pitchFamily="18" charset="0"/>
                <a:cs typeface="Times New Roman" pitchFamily="18" charset="0"/>
              </a:rPr>
              <a:t>normal and </a:t>
            </a:r>
            <a:r>
              <a:rPr lang="en-US" sz="2200" dirty="0" err="1" smtClean="0">
                <a:latin typeface="Times New Roman" pitchFamily="18" charset="0"/>
                <a:cs typeface="Times New Roman" pitchFamily="18" charset="0"/>
              </a:rPr>
              <a:t>homoscedastic</a:t>
            </a:r>
            <a:r>
              <a:rPr lang="en-US" sz="2200" dirty="0" smtClean="0">
                <a:latin typeface="Times New Roman" pitchFamily="18" charset="0"/>
                <a:cs typeface="Times New Roman" pitchFamily="18" charset="0"/>
              </a:rPr>
              <a:t>.  The latter distributional assumptions make </a:t>
            </a:r>
          </a:p>
          <a:p>
            <a:pPr>
              <a:buFont typeface="Arial" charset="0"/>
              <a:buNone/>
              <a:defRPr/>
            </a:pPr>
            <a:r>
              <a:rPr lang="en-US" sz="2200" dirty="0" smtClean="0">
                <a:latin typeface="Times New Roman" pitchFamily="18" charset="0"/>
                <a:cs typeface="Times New Roman" pitchFamily="18" charset="0"/>
              </a:rPr>
              <a:t>more sense for a case-control study, while the former make more sense </a:t>
            </a:r>
          </a:p>
          <a:p>
            <a:pPr>
              <a:buFont typeface="Arial" charset="0"/>
              <a:buNone/>
              <a:defRPr/>
            </a:pPr>
            <a:r>
              <a:rPr lang="en-US" sz="2200" dirty="0" smtClean="0">
                <a:solidFill>
                  <a:srgbClr val="0000FF"/>
                </a:solidFill>
                <a:latin typeface="Times New Roman" pitchFamily="18" charset="0"/>
                <a:cs typeface="Times New Roman" pitchFamily="18" charset="0"/>
              </a:rPr>
              <a:t>for a cohort study</a:t>
            </a:r>
            <a:r>
              <a:rPr lang="en-US" sz="2200" dirty="0" smtClean="0">
                <a:latin typeface="Times New Roman" pitchFamily="18" charset="0"/>
                <a:cs typeface="Times New Roman" pitchFamily="18" charset="0"/>
              </a:rPr>
              <a:t>.</a:t>
            </a:r>
          </a:p>
          <a:p>
            <a:pPr>
              <a:buFont typeface="Arial" charset="0"/>
              <a:buNone/>
              <a:defRPr/>
            </a:pPr>
            <a:endParaRPr lang="en-US" sz="1100" dirty="0" smtClean="0">
              <a:latin typeface="Times New Roman" pitchFamily="18" charset="0"/>
              <a:cs typeface="Times New Roman" pitchFamily="18" charset="0"/>
            </a:endParaRPr>
          </a:p>
          <a:p>
            <a:pPr>
              <a:buFont typeface="Arial" charset="0"/>
              <a:buNone/>
              <a:defRPr/>
            </a:pPr>
            <a:r>
              <a:rPr lang="en-US" sz="1600" dirty="0" smtClean="0"/>
              <a:t>Spiegelman D., Gray R. (1991) Cost-efficient study designs for binary response data with Gaussian </a:t>
            </a:r>
          </a:p>
          <a:p>
            <a:pPr>
              <a:buFont typeface="Arial" charset="0"/>
              <a:buNone/>
              <a:defRPr/>
            </a:pPr>
            <a:r>
              <a:rPr lang="en-US" sz="1600" dirty="0" smtClean="0"/>
              <a:t>covariate measurement error. </a:t>
            </a:r>
            <a:r>
              <a:rPr lang="en-US" sz="1600" i="1" dirty="0" smtClean="0"/>
              <a:t>Biometrics</a:t>
            </a:r>
            <a:r>
              <a:rPr lang="en-US" sz="1600" dirty="0" smtClean="0"/>
              <a:t> 47:851-869.</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21507" name="AutoShape 3"/>
          <p:cNvCxnSpPr>
            <a:cxnSpLocks noChangeShapeType="1"/>
            <a:stCxn id="28676" idx="3"/>
            <a:endCxn id="28676" idx="3"/>
          </p:cNvCxnSpPr>
          <p:nvPr/>
        </p:nvCxnSpPr>
        <p:spPr bwMode="auto">
          <a:xfrm>
            <a:off x="8763000" y="35052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150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21509"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76263"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0"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76264"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151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4B9A1845-F88D-425C-AC50-156954724035}" type="slidenum">
              <a:rPr lang="zh-CN" altLang="en-US" sz="1200">
                <a:solidFill>
                  <a:srgbClr val="898989"/>
                </a:solidFill>
              </a:rPr>
              <a:pPr algn="r" eaLnBrk="1" hangingPunct="1">
                <a:spcBef>
                  <a:spcPct val="0"/>
                </a:spcBef>
                <a:buFontTx/>
                <a:buNone/>
              </a:pPr>
              <a:t>23</a:t>
            </a:fld>
            <a:endParaRPr lang="en-US" altLang="zh-CN" sz="1200">
              <a:solidFill>
                <a:srgbClr val="898989"/>
              </a:solidFill>
            </a:endParaRPr>
          </a:p>
        </p:txBody>
      </p:sp>
      <p:graphicFrame>
        <p:nvGraphicFramePr>
          <p:cNvPr id="21514" name="Object 5"/>
          <p:cNvGraphicFramePr>
            <a:graphicFrameLocks noChangeAspect="1"/>
          </p:cNvGraphicFramePr>
          <p:nvPr/>
        </p:nvGraphicFramePr>
        <p:xfrm>
          <a:off x="6096000" y="4267200"/>
          <a:ext cx="1066800" cy="377825"/>
        </p:xfrm>
        <a:graphic>
          <a:graphicData uri="http://schemas.openxmlformats.org/presentationml/2006/ole">
            <mc:AlternateContent xmlns:mc="http://schemas.openxmlformats.org/markup-compatibility/2006">
              <mc:Choice xmlns:v="urn:schemas-microsoft-com:vml" Requires="v">
                <p:oleObj spid="_x0000_s76265" name="Equation" r:id="rId7" imgW="609336" imgH="215806" progId="Equation.DSMT4">
                  <p:embed/>
                </p:oleObj>
              </mc:Choice>
              <mc:Fallback>
                <p:oleObj name="Equation" r:id="rId7" imgW="609336" imgH="215806"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4267200"/>
                        <a:ext cx="106680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1515"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44471" y="152400"/>
            <a:ext cx="3962400"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800" b="1" dirty="0">
                <a:latin typeface="Times New Roman" pitchFamily="18" charset="0"/>
                <a:cs typeface="Times New Roman" pitchFamily="18" charset="0"/>
              </a:rPr>
              <a:t>Spiegelman and Gray (1991)</a:t>
            </a:r>
            <a:r>
              <a:rPr lang="en-US" b="1" dirty="0">
                <a:latin typeface="Times New Roman" pitchFamily="18" charset="0"/>
                <a:cs typeface="Times New Roman" pitchFamily="18" charset="0"/>
              </a:rPr>
              <a:t/>
            </a:r>
            <a:br>
              <a:rPr lang="en-US" b="1" dirty="0">
                <a:latin typeface="Times New Roman" pitchFamily="18" charset="0"/>
                <a:cs typeface="Times New Roman" pitchFamily="18" charset="0"/>
              </a:rPr>
            </a:br>
            <a:endParaRPr lang="en-US" dirty="0"/>
          </a:p>
        </p:txBody>
      </p:sp>
      <p:sp>
        <p:nvSpPr>
          <p:cNvPr id="4" name="Content Placeholder 3"/>
          <p:cNvSpPr>
            <a:spLocks noGrp="1"/>
          </p:cNvSpPr>
          <p:nvPr>
            <p:ph idx="1"/>
          </p:nvPr>
        </p:nvSpPr>
        <p:spPr/>
        <p:txBody>
          <a:bodyPr/>
          <a:lstStyle/>
          <a:p>
            <a:r>
              <a:rPr lang="en-US" dirty="0" smtClean="0"/>
              <a:t>Considered </a:t>
            </a:r>
            <a:r>
              <a:rPr lang="en-US" dirty="0" smtClean="0">
                <a:solidFill>
                  <a:srgbClr val="0000FF"/>
                </a:solidFill>
              </a:rPr>
              <a:t>MS/IVS, MS/EVS and fully validated studies</a:t>
            </a:r>
            <a:r>
              <a:rPr lang="en-US" dirty="0" smtClean="0"/>
              <a:t>, based on </a:t>
            </a:r>
            <a:r>
              <a:rPr lang="en-US" dirty="0" smtClean="0">
                <a:solidFill>
                  <a:srgbClr val="FF0000"/>
                </a:solidFill>
              </a:rPr>
              <a:t>MLE</a:t>
            </a:r>
            <a:r>
              <a:rPr lang="en-US" dirty="0" smtClean="0"/>
              <a:t>.</a:t>
            </a:r>
          </a:p>
          <a:p>
            <a:r>
              <a:rPr lang="en-US" dirty="0" smtClean="0"/>
              <a:t>Criterion is to </a:t>
            </a:r>
            <a:r>
              <a:rPr lang="en-US" dirty="0" smtClean="0">
                <a:solidFill>
                  <a:srgbClr val="FF0000"/>
                </a:solidFill>
              </a:rPr>
              <a:t>minimize cost, subject to a specified discriminatory power</a:t>
            </a:r>
            <a:r>
              <a:rPr lang="en-US" dirty="0" smtClean="0"/>
              <a:t>. That is, the optimal design satisfies the power requirements of two hypothesis testing setups: First                plays the role of the null and                 plays the role of the alternative; then                is the null and                is the alternative. </a:t>
            </a:r>
            <a:endParaRPr lang="en-US" dirty="0"/>
          </a:p>
        </p:txBody>
      </p:sp>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24</a:t>
            </a:fld>
            <a:endParaRPr lang="en-US" altLang="zh-CN" dirty="0"/>
          </a:p>
        </p:txBody>
      </p:sp>
      <p:graphicFrame>
        <p:nvGraphicFramePr>
          <p:cNvPr id="5" name="Object 4"/>
          <p:cNvGraphicFramePr>
            <a:graphicFrameLocks noChangeAspect="1"/>
          </p:cNvGraphicFramePr>
          <p:nvPr>
            <p:extLst>
              <p:ext uri="{D42A27DB-BD31-4B8C-83A1-F6EECF244321}">
                <p14:modId xmlns:p14="http://schemas.microsoft.com/office/powerpoint/2010/main" val="1872240728"/>
              </p:ext>
            </p:extLst>
          </p:nvPr>
        </p:nvGraphicFramePr>
        <p:xfrm>
          <a:off x="2895600" y="4648200"/>
          <a:ext cx="1479550" cy="511175"/>
        </p:xfrm>
        <a:graphic>
          <a:graphicData uri="http://schemas.openxmlformats.org/presentationml/2006/ole">
            <mc:AlternateContent xmlns:mc="http://schemas.openxmlformats.org/markup-compatibility/2006">
              <mc:Choice xmlns:v="urn:schemas-microsoft-com:vml" Requires="v">
                <p:oleObj spid="_x0000_s105495" name="Equation" r:id="rId3" imgW="698400" imgH="241200" progId="Equation.3">
                  <p:embed/>
                </p:oleObj>
              </mc:Choice>
              <mc:Fallback>
                <p:oleObj name="Equation" r:id="rId3" imgW="698400" imgH="241200" progId="Equation.3">
                  <p:embed/>
                  <p:pic>
                    <p:nvPicPr>
                      <p:cNvPr id="0" name=""/>
                      <p:cNvPicPr/>
                      <p:nvPr/>
                    </p:nvPicPr>
                    <p:blipFill>
                      <a:blip r:embed="rId4"/>
                      <a:stretch>
                        <a:fillRect/>
                      </a:stretch>
                    </p:blipFill>
                    <p:spPr>
                      <a:xfrm>
                        <a:off x="2895600" y="4648200"/>
                        <a:ext cx="1479550" cy="511175"/>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566553042"/>
              </p:ext>
            </p:extLst>
          </p:nvPr>
        </p:nvGraphicFramePr>
        <p:xfrm>
          <a:off x="1676400" y="5181600"/>
          <a:ext cx="1347788" cy="457200"/>
        </p:xfrm>
        <a:graphic>
          <a:graphicData uri="http://schemas.openxmlformats.org/presentationml/2006/ole">
            <mc:AlternateContent xmlns:mc="http://schemas.openxmlformats.org/markup-compatibility/2006">
              <mc:Choice xmlns:v="urn:schemas-microsoft-com:vml" Requires="v">
                <p:oleObj spid="_x0000_s105496" name="Equation" r:id="rId5" imgW="711000" imgH="241200" progId="Equation.3">
                  <p:embed/>
                </p:oleObj>
              </mc:Choice>
              <mc:Fallback>
                <p:oleObj name="Equation" r:id="rId5" imgW="711000" imgH="241200" progId="Equation.3">
                  <p:embed/>
                  <p:pic>
                    <p:nvPicPr>
                      <p:cNvPr id="0" name=""/>
                      <p:cNvPicPr/>
                      <p:nvPr/>
                    </p:nvPicPr>
                    <p:blipFill>
                      <a:blip r:embed="rId6"/>
                      <a:stretch>
                        <a:fillRect/>
                      </a:stretch>
                    </p:blipFill>
                    <p:spPr>
                      <a:xfrm>
                        <a:off x="1676400" y="5181600"/>
                        <a:ext cx="1347788" cy="4572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921073693"/>
              </p:ext>
            </p:extLst>
          </p:nvPr>
        </p:nvGraphicFramePr>
        <p:xfrm>
          <a:off x="5486400" y="5638800"/>
          <a:ext cx="1479550" cy="511175"/>
        </p:xfrm>
        <a:graphic>
          <a:graphicData uri="http://schemas.openxmlformats.org/presentationml/2006/ole">
            <mc:AlternateContent xmlns:mc="http://schemas.openxmlformats.org/markup-compatibility/2006">
              <mc:Choice xmlns:v="urn:schemas-microsoft-com:vml" Requires="v">
                <p:oleObj spid="_x0000_s105497" name="Equation" r:id="rId7" imgW="698400" imgH="241200" progId="Equation.DSMT4">
                  <p:embed/>
                </p:oleObj>
              </mc:Choice>
              <mc:Fallback>
                <p:oleObj name="Equation" r:id="rId7" imgW="698400" imgH="2412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5638800"/>
                        <a:ext cx="147955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787215637"/>
              </p:ext>
            </p:extLst>
          </p:nvPr>
        </p:nvGraphicFramePr>
        <p:xfrm>
          <a:off x="1752600" y="5715000"/>
          <a:ext cx="1347788" cy="457200"/>
        </p:xfrm>
        <a:graphic>
          <a:graphicData uri="http://schemas.openxmlformats.org/presentationml/2006/ole">
            <mc:AlternateContent xmlns:mc="http://schemas.openxmlformats.org/markup-compatibility/2006">
              <mc:Choice xmlns:v="urn:schemas-microsoft-com:vml" Requires="v">
                <p:oleObj spid="_x0000_s105498" name="Equation" r:id="rId9" imgW="711000" imgH="241200" progId="Equation.DSMT4">
                  <p:embed/>
                </p:oleObj>
              </mc:Choice>
              <mc:Fallback>
                <p:oleObj name="Equation" r:id="rId9" imgW="711000" imgH="2412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2600" y="5715000"/>
                        <a:ext cx="1347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44791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676" name="Rectangle 2"/>
              <p:cNvSpPr>
                <a:spLocks noGrp="1" noChangeArrowheads="1"/>
              </p:cNvSpPr>
              <p:nvPr>
                <p:ph type="body" sz="half" idx="4294967295"/>
              </p:nvPr>
            </p:nvSpPr>
            <p:spPr>
              <a:xfrm>
                <a:off x="304800" y="152400"/>
                <a:ext cx="8839200" cy="6172200"/>
              </a:xfrm>
            </p:spPr>
            <p:txBody>
              <a:bodyPr lIns="92075" tIns="46038" rIns="92075" bIns="46038"/>
              <a:lstStyle/>
              <a:p>
                <a:pPr>
                  <a:buNone/>
                  <a:defRPr/>
                </a:pPr>
                <a:r>
                  <a:rPr lang="en-US" sz="2400" b="1" dirty="0" smtClean="0">
                    <a:latin typeface="Times New Roman" pitchFamily="18" charset="0"/>
                    <a:cs typeface="Times New Roman" pitchFamily="18" charset="0"/>
                  </a:rPr>
                  <a:t>                      Spiegelman </a:t>
                </a:r>
                <a:r>
                  <a:rPr lang="en-US" sz="2400" b="1" dirty="0">
                    <a:latin typeface="Times New Roman" pitchFamily="18" charset="0"/>
                    <a:cs typeface="Times New Roman" pitchFamily="18" charset="0"/>
                  </a:rPr>
                  <a:t>and Gray (1991)</a:t>
                </a:r>
                <a:endParaRPr lang="en-US" sz="2000" dirty="0" smtClean="0">
                  <a:latin typeface="Times New Roman" pitchFamily="18" charset="0"/>
                  <a:cs typeface="Times New Roman" pitchFamily="18" charset="0"/>
                </a:endParaRPr>
              </a:p>
              <a:p>
                <a:pPr>
                  <a:defRPr/>
                </a:pPr>
                <a:endParaRPr lang="en-US" sz="2200" dirty="0" smtClean="0">
                  <a:latin typeface="Times New Roman" pitchFamily="18" charset="0"/>
                  <a:cs typeface="Times New Roman" pitchFamily="18" charset="0"/>
                </a:endParaRPr>
              </a:p>
              <a:p>
                <a:pPr>
                  <a:defRPr/>
                </a:pPr>
                <a:r>
                  <a:rPr lang="en-US" sz="2200" dirty="0" smtClean="0">
                    <a:latin typeface="Times New Roman" pitchFamily="18" charset="0"/>
                    <a:cs typeface="Times New Roman" pitchFamily="18" charset="0"/>
                  </a:rPr>
                  <a:t>No closed-form solutions. Results for classical measurement error model: </a:t>
                </a:r>
              </a:p>
              <a:p>
                <a:pPr>
                  <a:defRPr/>
                </a:pPr>
                <a:r>
                  <a:rPr lang="en-US" sz="2200" dirty="0" smtClean="0">
                    <a:latin typeface="Times New Roman" pitchFamily="18" charset="0"/>
                    <a:cs typeface="Times New Roman" pitchFamily="18" charset="0"/>
                  </a:rPr>
                  <a:t>The optimal proportion allocated to the validation study              </a:t>
                </a:r>
                <a:r>
                  <a:rPr lang="en-US" sz="2200" dirty="0" smtClean="0">
                    <a:solidFill>
                      <a:srgbClr val="FF0000"/>
                    </a:solidFill>
                    <a:latin typeface="Times New Roman" pitchFamily="18" charset="0"/>
                    <a:cs typeface="Times New Roman" pitchFamily="18" charset="0"/>
                  </a:rPr>
                  <a:t>increased</a:t>
                </a:r>
                <a:r>
                  <a:rPr lang="en-US" sz="2200" dirty="0" smtClean="0">
                    <a:latin typeface="Times New Roman" pitchFamily="18" charset="0"/>
                    <a:cs typeface="Times New Roman" pitchFamily="18" charset="0"/>
                  </a:rPr>
                  <a:t> </a:t>
                </a:r>
              </a:p>
              <a:p>
                <a:pPr lvl="2">
                  <a:buFont typeface="Courier New" pitchFamily="49" charset="0"/>
                  <a:buChar char="o"/>
                  <a:defRPr/>
                </a:pPr>
                <a:r>
                  <a:rPr lang="en-US" sz="2200" dirty="0" smtClean="0">
                    <a:latin typeface="Times New Roman" pitchFamily="18" charset="0"/>
                    <a:cs typeface="Times New Roman" pitchFamily="18" charset="0"/>
                  </a:rPr>
                  <a:t>as                    </a:t>
                </a:r>
                <a:r>
                  <a:rPr lang="en-US" sz="2200" dirty="0" smtClean="0">
                    <a:solidFill>
                      <a:srgbClr val="0000FF"/>
                    </a:solidFill>
                    <a:latin typeface="Times New Roman" pitchFamily="18" charset="0"/>
                    <a:cs typeface="Times New Roman" pitchFamily="18" charset="0"/>
                  </a:rPr>
                  <a:t>increased</a:t>
                </a:r>
                <a:r>
                  <a:rPr lang="en-US" sz="2200" dirty="0" smtClean="0">
                    <a:latin typeface="Times New Roman" pitchFamily="18" charset="0"/>
                    <a:cs typeface="Times New Roman" pitchFamily="18" charset="0"/>
                  </a:rPr>
                  <a:t> (presumably to 0.5)</a:t>
                </a:r>
              </a:p>
              <a:p>
                <a:pPr lvl="2">
                  <a:buFont typeface="Courier New" pitchFamily="49" charset="0"/>
                  <a:buChar char="o"/>
                  <a:defRPr/>
                </a:pPr>
                <a:r>
                  <a:rPr lang="en-US" sz="2200" dirty="0" smtClean="0">
                    <a:latin typeface="Times New Roman" pitchFamily="18" charset="0"/>
                    <a:cs typeface="Times New Roman" pitchFamily="18" charset="0"/>
                  </a:rPr>
                  <a:t>as                    (unit cost of measuring </a:t>
                </a:r>
                <a14:m>
                  <m:oMath xmlns:m="http://schemas.openxmlformats.org/officeDocument/2006/math" xmlns="">
                    <m:r>
                      <a:rPr lang="en-US" sz="2200" b="0" i="1" dirty="0" smtClean="0">
                        <a:latin typeface="Cambria Math"/>
                        <a:cs typeface="Times New Roman" pitchFamily="18" charset="0"/>
                      </a:rPr>
                      <m:t>𝑋</m:t>
                    </m:r>
                  </m:oMath>
                </a14:m>
                <a:r>
                  <a:rPr lang="en-US" sz="2200" dirty="0" smtClean="0">
                    <a:latin typeface="Times New Roman" pitchFamily="18" charset="0"/>
                    <a:cs typeface="Times New Roman" pitchFamily="18" charset="0"/>
                  </a:rPr>
                  <a:t> </a:t>
                </a:r>
                <a:r>
                  <a:rPr lang="en-US" sz="2200" dirty="0" smtClean="0">
                    <a:solidFill>
                      <a:srgbClr val="0000FF"/>
                    </a:solidFill>
                    <a:latin typeface="Times New Roman" pitchFamily="18" charset="0"/>
                    <a:cs typeface="Times New Roman" pitchFamily="18" charset="0"/>
                  </a:rPr>
                  <a:t>decreases</a:t>
                </a:r>
                <a:r>
                  <a:rPr lang="en-US" sz="2200" dirty="0" smtClean="0">
                    <a:latin typeface="Times New Roman" pitchFamily="18" charset="0"/>
                    <a:cs typeface="Times New Roman" pitchFamily="18" charset="0"/>
                  </a:rPr>
                  <a:t>)</a:t>
                </a:r>
              </a:p>
              <a:p>
                <a:pPr lvl="2">
                  <a:buFont typeface="Courier New" pitchFamily="49" charset="0"/>
                  <a:buChar char="o"/>
                  <a:defRPr/>
                </a:pPr>
                <a:r>
                  <a:rPr lang="en-US" sz="2200" dirty="0" smtClean="0">
                    <a:latin typeface="Times New Roman" pitchFamily="18" charset="0"/>
                    <a:cs typeface="Times New Roman" pitchFamily="18" charset="0"/>
                  </a:rPr>
                  <a:t>as                     </a:t>
                </a:r>
                <a:r>
                  <a:rPr lang="en-US" sz="2200" dirty="0" smtClean="0">
                    <a:solidFill>
                      <a:srgbClr val="0000FF"/>
                    </a:solidFill>
                    <a:latin typeface="Times New Roman" pitchFamily="18" charset="0"/>
                    <a:cs typeface="Times New Roman" pitchFamily="18" charset="0"/>
                  </a:rPr>
                  <a:t>increases</a:t>
                </a:r>
              </a:p>
              <a:p>
                <a:pPr lvl="2">
                  <a:buFont typeface="Courier New" pitchFamily="49" charset="0"/>
                  <a:buChar char="o"/>
                  <a:defRPr/>
                </a:pPr>
                <a:endParaRPr lang="en-US" sz="1000" dirty="0" smtClean="0">
                  <a:latin typeface="Times New Roman" pitchFamily="18" charset="0"/>
                  <a:cs typeface="Times New Roman" pitchFamily="18" charset="0"/>
                </a:endParaRPr>
              </a:p>
              <a:p>
                <a:pPr>
                  <a:defRPr/>
                </a:pPr>
                <a:r>
                  <a:rPr lang="en-US" sz="2200" dirty="0" smtClean="0">
                    <a:latin typeface="Times New Roman" pitchFamily="18" charset="0"/>
                    <a:cs typeface="Times New Roman" pitchFamily="18" charset="0"/>
                  </a:rPr>
                  <a:t>The optimal proportion allocated to the validation study       depends on</a:t>
                </a:r>
              </a:p>
              <a:p>
                <a:pPr>
                  <a:buFont typeface="Arial" charset="0"/>
                  <a:buNone/>
                  <a:defRPr/>
                </a:pPr>
                <a:r>
                  <a:rPr lang="en-US" sz="2200" dirty="0" smtClean="0">
                    <a:latin typeface="Times New Roman" pitchFamily="18" charset="0"/>
                    <a:cs typeface="Times New Roman" pitchFamily="18" charset="0"/>
                  </a:rPr>
                  <a:t>                 in a </a:t>
                </a:r>
                <a:r>
                  <a:rPr lang="en-US" sz="2200" dirty="0" smtClean="0">
                    <a:solidFill>
                      <a:srgbClr val="0000FF"/>
                    </a:solidFill>
                    <a:latin typeface="Times New Roman" pitchFamily="18" charset="0"/>
                    <a:cs typeface="Times New Roman" pitchFamily="18" charset="0"/>
                  </a:rPr>
                  <a:t>non-linear</a:t>
                </a:r>
                <a:r>
                  <a:rPr lang="en-US" sz="2200" dirty="0" smtClean="0">
                    <a:latin typeface="Times New Roman" pitchFamily="18" charset="0"/>
                    <a:cs typeface="Times New Roman" pitchFamily="18" charset="0"/>
                  </a:rPr>
                  <a:t> manner</a:t>
                </a:r>
                <a:endParaRPr lang="en-US" sz="1200" dirty="0" smtClean="0">
                  <a:latin typeface="Times New Roman" pitchFamily="18" charset="0"/>
                  <a:cs typeface="Times New Roman" pitchFamily="18" charset="0"/>
                </a:endParaRPr>
              </a:p>
              <a:p>
                <a:pPr>
                  <a:defRPr/>
                </a:pPr>
                <a:r>
                  <a:rPr lang="en-US" sz="2200" dirty="0" smtClean="0">
                    <a:latin typeface="Times New Roman" pitchFamily="18" charset="0"/>
                    <a:cs typeface="Times New Roman" pitchFamily="18" charset="0"/>
                  </a:rPr>
                  <a:t>Efficiency gains are substantial when the validation study is </a:t>
                </a:r>
                <a:r>
                  <a:rPr lang="en-US" sz="2200" dirty="0" smtClean="0">
                    <a:solidFill>
                      <a:srgbClr val="0000FF"/>
                    </a:solidFill>
                    <a:latin typeface="Times New Roman" pitchFamily="18" charset="0"/>
                    <a:cs typeface="Times New Roman" pitchFamily="18" charset="0"/>
                  </a:rPr>
                  <a:t>internal</a:t>
                </a:r>
              </a:p>
              <a:p>
                <a:pPr>
                  <a:defRPr/>
                </a:pPr>
                <a:endParaRPr lang="en-US" sz="1200" dirty="0" smtClean="0">
                  <a:latin typeface="Times New Roman" pitchFamily="18" charset="0"/>
                  <a:cs typeface="Times New Roman" pitchFamily="18" charset="0"/>
                </a:endParaRPr>
              </a:p>
              <a:p>
                <a:pPr>
                  <a:defRPr/>
                </a:pPr>
                <a:r>
                  <a:rPr lang="en-US" sz="2200" dirty="0" smtClean="0">
                    <a:latin typeface="Times New Roman" pitchFamily="18" charset="0"/>
                    <a:cs typeface="Times New Roman" pitchFamily="18" charset="0"/>
                  </a:rPr>
                  <a:t>The fully validated design is not optimal when                    is very small </a:t>
                </a:r>
              </a:p>
              <a:p>
                <a:pPr>
                  <a:buFont typeface="Arial" charset="0"/>
                  <a:buNone/>
                  <a:defRPr/>
                </a:pPr>
                <a:r>
                  <a:rPr lang="en-US" sz="2200" dirty="0" smtClean="0">
                    <a:latin typeface="Times New Roman" pitchFamily="18" charset="0"/>
                    <a:cs typeface="Times New Roman" pitchFamily="18" charset="0"/>
                  </a:rPr>
                  <a:t>     and when        is very large.</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mc:Choice>
        <mc:Fallback xmlns="">
          <p:sp>
            <p:nvSpPr>
              <p:cNvPr id="28676" name="Rectangle 2"/>
              <p:cNvSpPr>
                <a:spLocks noGrp="1" noRot="1" noChangeAspect="1" noMove="1" noResize="1" noEditPoints="1" noAdjustHandles="1" noChangeArrowheads="1" noChangeShapeType="1" noTextEdit="1"/>
              </p:cNvSpPr>
              <p:nvPr>
                <p:ph type="body" sz="half" idx="4294967295"/>
              </p:nvPr>
            </p:nvSpPr>
            <p:spPr>
              <a:xfrm>
                <a:off x="304800" y="152400"/>
                <a:ext cx="8839200" cy="6172200"/>
              </a:xfrm>
              <a:blipFill>
                <a:blip r:embed="rId4"/>
                <a:stretch>
                  <a:fillRect l="-759" t="-790" r="-759"/>
                </a:stretch>
              </a:blipFill>
            </p:spPr>
            <p:txBody>
              <a:bodyPr/>
              <a:lstStyle/>
              <a:p>
                <a:r>
                  <a:rPr lang="en-US">
                    <a:noFill/>
                  </a:rPr>
                  <a:t> </a:t>
                </a:r>
              </a:p>
            </p:txBody>
          </p:sp>
        </mc:Fallback>
      </mc:AlternateContent>
      <p:cxnSp>
        <p:nvCxnSpPr>
          <p:cNvPr id="22531" name="AutoShape 3"/>
          <p:cNvCxnSpPr>
            <a:cxnSpLocks noChangeShapeType="1"/>
            <a:stCxn id="28676" idx="3"/>
            <a:endCxn id="28676" idx="3"/>
          </p:cNvCxnSpPr>
          <p:nvPr/>
        </p:nvCxnSpPr>
        <p:spPr bwMode="auto">
          <a:xfrm>
            <a:off x="9144000" y="3238500"/>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2532"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22533"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6551" name="Equation" r:id="rId5" imgW="114102" imgH="177492" progId="Equation.DSMT4">
                  <p:embed/>
                </p:oleObj>
              </mc:Choice>
              <mc:Fallback>
                <p:oleObj name="Equation" r:id="rId5" imgW="114102" imgH="177492"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4"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06552" name="Equation" r:id="rId7" imgW="114102" imgH="177492" progId="Equation.DSMT4">
                  <p:embed/>
                </p:oleObj>
              </mc:Choice>
              <mc:Fallback>
                <p:oleObj name="Equation" r:id="rId7" imgW="114102" imgH="177492"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5"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2536"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2AA2A7A2-9462-4825-A572-59092588AACF}" type="slidenum">
              <a:rPr lang="zh-CN" altLang="en-US" sz="1200">
                <a:solidFill>
                  <a:srgbClr val="898989"/>
                </a:solidFill>
              </a:rPr>
              <a:pPr algn="r" eaLnBrk="1" hangingPunct="1">
                <a:spcBef>
                  <a:spcPct val="0"/>
                </a:spcBef>
                <a:buFontTx/>
                <a:buNone/>
              </a:pPr>
              <a:t>25</a:t>
            </a:fld>
            <a:endParaRPr lang="en-US" altLang="zh-CN" sz="1200">
              <a:solidFill>
                <a:srgbClr val="898989"/>
              </a:solidFill>
            </a:endParaRPr>
          </a:p>
        </p:txBody>
      </p:sp>
      <p:graphicFrame>
        <p:nvGraphicFramePr>
          <p:cNvPr id="22537" name="Object 7"/>
          <p:cNvGraphicFramePr>
            <a:graphicFrameLocks noChangeAspect="1"/>
          </p:cNvGraphicFramePr>
          <p:nvPr>
            <p:extLst>
              <p:ext uri="{D42A27DB-BD31-4B8C-83A1-F6EECF244321}">
                <p14:modId xmlns:p14="http://schemas.microsoft.com/office/powerpoint/2010/main" val="1392034553"/>
              </p:ext>
            </p:extLst>
          </p:nvPr>
        </p:nvGraphicFramePr>
        <p:xfrm>
          <a:off x="7086600" y="1295400"/>
          <a:ext cx="908050" cy="665163"/>
        </p:xfrm>
        <a:graphic>
          <a:graphicData uri="http://schemas.openxmlformats.org/presentationml/2006/ole">
            <mc:AlternateContent xmlns:mc="http://schemas.openxmlformats.org/markup-compatibility/2006">
              <mc:Choice xmlns:v="urn:schemas-microsoft-com:vml" Requires="v">
                <p:oleObj spid="_x0000_s106553" name="Equation" r:id="rId8" imgW="431425" imgH="317225" progId="Equation.DSMT4">
                  <p:embed/>
                </p:oleObj>
              </mc:Choice>
              <mc:Fallback>
                <p:oleObj name="Equation" r:id="rId8" imgW="431425" imgH="317225"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86600" y="1295400"/>
                        <a:ext cx="908050" cy="66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8" name="Object 8"/>
          <p:cNvGraphicFramePr>
            <a:graphicFrameLocks noChangeAspect="1"/>
          </p:cNvGraphicFramePr>
          <p:nvPr>
            <p:extLst>
              <p:ext uri="{D42A27DB-BD31-4B8C-83A1-F6EECF244321}">
                <p14:modId xmlns:p14="http://schemas.microsoft.com/office/powerpoint/2010/main" val="330244971"/>
              </p:ext>
            </p:extLst>
          </p:nvPr>
        </p:nvGraphicFramePr>
        <p:xfrm>
          <a:off x="1828800" y="1828800"/>
          <a:ext cx="1281113" cy="419100"/>
        </p:xfrm>
        <a:graphic>
          <a:graphicData uri="http://schemas.openxmlformats.org/presentationml/2006/ole">
            <mc:AlternateContent xmlns:mc="http://schemas.openxmlformats.org/markup-compatibility/2006">
              <mc:Choice xmlns:v="urn:schemas-microsoft-com:vml" Requires="v">
                <p:oleObj spid="_x0000_s106554" name="Equation" r:id="rId10" imgW="698500" imgH="228600" progId="Equation.DSMT4">
                  <p:embed/>
                </p:oleObj>
              </mc:Choice>
              <mc:Fallback>
                <p:oleObj name="Equation" r:id="rId10" imgW="698500" imgH="2286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8800" y="1828800"/>
                        <a:ext cx="1281113" cy="419100"/>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39" name="Object 9"/>
          <p:cNvGraphicFramePr>
            <a:graphicFrameLocks noChangeAspect="1"/>
          </p:cNvGraphicFramePr>
          <p:nvPr>
            <p:extLst>
              <p:ext uri="{D42A27DB-BD31-4B8C-83A1-F6EECF244321}">
                <p14:modId xmlns:p14="http://schemas.microsoft.com/office/powerpoint/2010/main" val="1665080447"/>
              </p:ext>
            </p:extLst>
          </p:nvPr>
        </p:nvGraphicFramePr>
        <p:xfrm>
          <a:off x="1905000" y="2286000"/>
          <a:ext cx="874713" cy="369888"/>
        </p:xfrm>
        <a:graphic>
          <a:graphicData uri="http://schemas.openxmlformats.org/presentationml/2006/ole">
            <mc:AlternateContent xmlns:mc="http://schemas.openxmlformats.org/markup-compatibility/2006">
              <mc:Choice xmlns:v="urn:schemas-microsoft-com:vml" Requires="v">
                <p:oleObj spid="_x0000_s106555" name="Equation" r:id="rId12" imgW="571252" imgH="241195" progId="Equation.DSMT4">
                  <p:embed/>
                </p:oleObj>
              </mc:Choice>
              <mc:Fallback>
                <p:oleObj name="Equation" r:id="rId12" imgW="571252" imgH="241195"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5000" y="2286000"/>
                        <a:ext cx="874713" cy="369888"/>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0" name="Object 12"/>
          <p:cNvGraphicFramePr>
            <a:graphicFrameLocks noChangeAspect="1"/>
          </p:cNvGraphicFramePr>
          <p:nvPr>
            <p:extLst>
              <p:ext uri="{D42A27DB-BD31-4B8C-83A1-F6EECF244321}">
                <p14:modId xmlns:p14="http://schemas.microsoft.com/office/powerpoint/2010/main" val="3175058414"/>
              </p:ext>
            </p:extLst>
          </p:nvPr>
        </p:nvGraphicFramePr>
        <p:xfrm>
          <a:off x="7010400" y="3220571"/>
          <a:ext cx="320675" cy="400050"/>
        </p:xfrm>
        <a:graphic>
          <a:graphicData uri="http://schemas.openxmlformats.org/presentationml/2006/ole">
            <mc:AlternateContent xmlns:mc="http://schemas.openxmlformats.org/markup-compatibility/2006">
              <mc:Choice xmlns:v="urn:schemas-microsoft-com:vml" Requires="v">
                <p:oleObj spid="_x0000_s106556" name="Equation" r:id="rId14" imgW="152334" imgH="190417" progId="Equation.DSMT4">
                  <p:embed/>
                </p:oleObj>
              </mc:Choice>
              <mc:Fallback>
                <p:oleObj name="Equation" r:id="rId14" imgW="152334" imgH="190417"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10400" y="3220571"/>
                        <a:ext cx="3206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3" name="Object 15"/>
          <p:cNvGraphicFramePr>
            <a:graphicFrameLocks noChangeAspect="1"/>
          </p:cNvGraphicFramePr>
          <p:nvPr>
            <p:extLst>
              <p:ext uri="{D42A27DB-BD31-4B8C-83A1-F6EECF244321}">
                <p14:modId xmlns:p14="http://schemas.microsoft.com/office/powerpoint/2010/main" val="1604748646"/>
              </p:ext>
            </p:extLst>
          </p:nvPr>
        </p:nvGraphicFramePr>
        <p:xfrm>
          <a:off x="1828800" y="2667000"/>
          <a:ext cx="1295400" cy="401637"/>
        </p:xfrm>
        <a:graphic>
          <a:graphicData uri="http://schemas.openxmlformats.org/presentationml/2006/ole">
            <mc:AlternateContent xmlns:mc="http://schemas.openxmlformats.org/markup-compatibility/2006">
              <mc:Choice xmlns:v="urn:schemas-microsoft-com:vml" Requires="v">
                <p:oleObj spid="_x0000_s106557" name="Equation" r:id="rId16" imgW="736600" imgH="228600" progId="Equation.DSMT4">
                  <p:embed/>
                </p:oleObj>
              </mc:Choice>
              <mc:Fallback>
                <p:oleObj name="Equation" r:id="rId16" imgW="736600" imgH="228600" progId="Equation.DSMT4">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28800" y="2667000"/>
                        <a:ext cx="1295400" cy="401637"/>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4" name="Object 14"/>
          <p:cNvGraphicFramePr>
            <a:graphicFrameLocks noChangeAspect="1"/>
          </p:cNvGraphicFramePr>
          <p:nvPr>
            <p:extLst>
              <p:ext uri="{D42A27DB-BD31-4B8C-83A1-F6EECF244321}">
                <p14:modId xmlns:p14="http://schemas.microsoft.com/office/powerpoint/2010/main" val="1821692879"/>
              </p:ext>
            </p:extLst>
          </p:nvPr>
        </p:nvGraphicFramePr>
        <p:xfrm>
          <a:off x="6049962" y="4671079"/>
          <a:ext cx="1281113" cy="419100"/>
        </p:xfrm>
        <a:graphic>
          <a:graphicData uri="http://schemas.openxmlformats.org/presentationml/2006/ole">
            <mc:AlternateContent xmlns:mc="http://schemas.openxmlformats.org/markup-compatibility/2006">
              <mc:Choice xmlns:v="urn:schemas-microsoft-com:vml" Requires="v">
                <p:oleObj spid="_x0000_s106558" name="Equation" r:id="rId18" imgW="698500" imgH="228600" progId="Equation.DSMT4">
                  <p:embed/>
                </p:oleObj>
              </mc:Choice>
              <mc:Fallback>
                <p:oleObj name="Equation" r:id="rId18" imgW="698500" imgH="228600"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49962" y="4671079"/>
                        <a:ext cx="1281113"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45" name="Object 15"/>
          <p:cNvGraphicFramePr>
            <a:graphicFrameLocks noChangeAspect="1"/>
          </p:cNvGraphicFramePr>
          <p:nvPr>
            <p:extLst>
              <p:ext uri="{D42A27DB-BD31-4B8C-83A1-F6EECF244321}">
                <p14:modId xmlns:p14="http://schemas.microsoft.com/office/powerpoint/2010/main" val="3872963304"/>
              </p:ext>
            </p:extLst>
          </p:nvPr>
        </p:nvGraphicFramePr>
        <p:xfrm>
          <a:off x="1872343" y="4984251"/>
          <a:ext cx="352425" cy="446088"/>
        </p:xfrm>
        <a:graphic>
          <a:graphicData uri="http://schemas.openxmlformats.org/presentationml/2006/ole">
            <mc:AlternateContent xmlns:mc="http://schemas.openxmlformats.org/markup-compatibility/2006">
              <mc:Choice xmlns:v="urn:schemas-microsoft-com:vml" Requires="v">
                <p:oleObj spid="_x0000_s106559" name="Equation" r:id="rId19" imgW="190417" imgH="241195" progId="Equation.DSMT4">
                  <p:embed/>
                </p:oleObj>
              </mc:Choice>
              <mc:Fallback>
                <p:oleObj name="Equation" r:id="rId19" imgW="190417" imgH="241195" progId="Equation.DSMT4">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72343" y="4984251"/>
                        <a:ext cx="35242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5"/>
          <p:cNvGraphicFramePr>
            <a:graphicFrameLocks noChangeAspect="1"/>
          </p:cNvGraphicFramePr>
          <p:nvPr>
            <p:extLst>
              <p:ext uri="{D42A27DB-BD31-4B8C-83A1-F6EECF244321}">
                <p14:modId xmlns:p14="http://schemas.microsoft.com/office/powerpoint/2010/main" val="3805400112"/>
              </p:ext>
            </p:extLst>
          </p:nvPr>
        </p:nvGraphicFramePr>
        <p:xfrm>
          <a:off x="990600" y="3593361"/>
          <a:ext cx="368300" cy="438150"/>
        </p:xfrm>
        <a:graphic>
          <a:graphicData uri="http://schemas.openxmlformats.org/presentationml/2006/ole">
            <mc:AlternateContent xmlns:mc="http://schemas.openxmlformats.org/markup-compatibility/2006">
              <mc:Choice xmlns:v="urn:schemas-microsoft-com:vml" Requires="v">
                <p:oleObj spid="_x0000_s106560" name="Equation" r:id="rId21" imgW="203040" imgH="241200" progId="Equation.DSMT4">
                  <p:embed/>
                </p:oleObj>
              </mc:Choice>
              <mc:Fallback>
                <p:oleObj name="Equation" r:id="rId21" imgW="203040" imgH="241200" progId="Equation.DSMT4">
                  <p:embed/>
                  <p:pic>
                    <p:nvPicPr>
                      <p:cNvPr id="20492" name="Object 15"/>
                      <p:cNvPicPr>
                        <a:picLocks noChangeAspect="1" noChangeArrowheads="1"/>
                      </p:cNvPicPr>
                      <p:nvPr/>
                    </p:nvPicPr>
                    <p:blipFill>
                      <a:blip r:embed="rId22"/>
                      <a:srcRect/>
                      <a:stretch>
                        <a:fillRect/>
                      </a:stretch>
                    </p:blipFill>
                    <p:spPr bwMode="auto">
                      <a:xfrm>
                        <a:off x="990600" y="3593361"/>
                        <a:ext cx="368300" cy="438150"/>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sz="half" idx="4294967295"/>
          </p:nvPr>
        </p:nvSpPr>
        <p:spPr>
          <a:xfrm>
            <a:off x="152400" y="228600"/>
            <a:ext cx="8991600" cy="6629400"/>
          </a:xfrm>
        </p:spPr>
        <p:txBody>
          <a:bodyPr lIns="92075" tIns="46038" rIns="92075" bIns="46038"/>
          <a:lstStyle/>
          <a:p>
            <a:pPr marL="533400" indent="-533400">
              <a:lnSpc>
                <a:spcPct val="80000"/>
              </a:lnSpc>
              <a:buFont typeface="Arial" charset="0"/>
              <a:buNone/>
            </a:pPr>
            <a:r>
              <a:rPr lang="en-US" altLang="ja-JP" sz="1300" dirty="0" smtClean="0">
                <a:latin typeface="Courier New" pitchFamily="49" charset="0"/>
              </a:rPr>
              <a:t> </a:t>
            </a: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1800" dirty="0" smtClean="0"/>
          </a:p>
          <a:p>
            <a:pPr marL="533400" indent="-533400">
              <a:lnSpc>
                <a:spcPct val="80000"/>
              </a:lnSpc>
              <a:buFont typeface="Arial" charset="0"/>
              <a:buNone/>
            </a:pPr>
            <a:r>
              <a:rPr lang="en-US" altLang="en-US" sz="2200" dirty="0" smtClean="0">
                <a:latin typeface="Times New Roman" pitchFamily="18" charset="0"/>
                <a:cs typeface="Times New Roman" pitchFamily="18" charset="0"/>
              </a:rPr>
              <a:t>       In this figure,                                    and                         under classical measurement error model for MS/EVS design.</a:t>
            </a:r>
            <a:endParaRPr lang="en-US" altLang="zh-CN" sz="2200" dirty="0" smtClean="0">
              <a:latin typeface="Times New Roman" pitchFamily="18" charset="0"/>
              <a:cs typeface="Times New Roman" pitchFamily="18" charset="0"/>
            </a:endParaRPr>
          </a:p>
        </p:txBody>
      </p:sp>
      <p:cxnSp>
        <p:nvCxnSpPr>
          <p:cNvPr id="23555" name="AutoShape 3"/>
          <p:cNvCxnSpPr>
            <a:cxnSpLocks noChangeShapeType="1"/>
            <a:stCxn id="23554" idx="3"/>
            <a:endCxn id="23554" idx="3"/>
          </p:cNvCxnSpPr>
          <p:nvPr/>
        </p:nvCxnSpPr>
        <p:spPr bwMode="auto">
          <a:xfrm>
            <a:off x="9144000" y="35433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3556"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23557"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8533"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58"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98534"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9"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3560"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6C31B9A3-202D-42FA-9AD9-31F02676CD29}" type="slidenum">
              <a:rPr lang="zh-CN" altLang="en-US" sz="1200">
                <a:solidFill>
                  <a:srgbClr val="898989"/>
                </a:solidFill>
              </a:rPr>
              <a:pPr algn="r" eaLnBrk="1" hangingPunct="1">
                <a:spcBef>
                  <a:spcPct val="0"/>
                </a:spcBef>
                <a:buFontTx/>
                <a:buNone/>
              </a:pPr>
              <a:t>26</a:t>
            </a:fld>
            <a:endParaRPr lang="en-US" altLang="zh-CN" sz="1200">
              <a:solidFill>
                <a:srgbClr val="898989"/>
              </a:solidFill>
            </a:endParaRPr>
          </a:p>
        </p:txBody>
      </p:sp>
      <p:pic>
        <p:nvPicPr>
          <p:cNvPr id="2356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0"/>
            <a:ext cx="4114800" cy="555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3562" name="Object 6"/>
          <p:cNvGraphicFramePr>
            <a:graphicFrameLocks noChangeAspect="1"/>
          </p:cNvGraphicFramePr>
          <p:nvPr/>
        </p:nvGraphicFramePr>
        <p:xfrm>
          <a:off x="5257800" y="5948363"/>
          <a:ext cx="1600200" cy="430212"/>
        </p:xfrm>
        <a:graphic>
          <a:graphicData uri="http://schemas.openxmlformats.org/presentationml/2006/ole">
            <mc:AlternateContent xmlns:mc="http://schemas.openxmlformats.org/markup-compatibility/2006">
              <mc:Choice xmlns:v="urn:schemas-microsoft-com:vml" Requires="v">
                <p:oleObj spid="_x0000_s98535" name="Equation" r:id="rId8" imgW="850900" imgH="228600" progId="Equation.DSMT4">
                  <p:embed/>
                </p:oleObj>
              </mc:Choice>
              <mc:Fallback>
                <p:oleObj name="Equation" r:id="rId8" imgW="850900" imgH="2286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7800" y="5948363"/>
                        <a:ext cx="1600200"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3" name="Object 8"/>
          <p:cNvGraphicFramePr>
            <a:graphicFrameLocks noChangeAspect="1"/>
          </p:cNvGraphicFramePr>
          <p:nvPr/>
        </p:nvGraphicFramePr>
        <p:xfrm>
          <a:off x="2311400" y="5937250"/>
          <a:ext cx="2328863" cy="419100"/>
        </p:xfrm>
        <a:graphic>
          <a:graphicData uri="http://schemas.openxmlformats.org/presentationml/2006/ole">
            <mc:AlternateContent xmlns:mc="http://schemas.openxmlformats.org/markup-compatibility/2006">
              <mc:Choice xmlns:v="urn:schemas-microsoft-com:vml" Requires="v">
                <p:oleObj spid="_x0000_s98536" name="Equation" r:id="rId10" imgW="1270000" imgH="228600" progId="Equation.DSMT4">
                  <p:embed/>
                </p:oleObj>
              </mc:Choice>
              <mc:Fallback>
                <p:oleObj name="Equation" r:id="rId10" imgW="1270000" imgH="2286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1400" y="5937250"/>
                        <a:ext cx="2328863"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3564" name="Picture 15" descr="C:\Documents and Settings\ABERKELE\Desktop\Picture1.jp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276600" y="0"/>
            <a:ext cx="11985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15" descr="C:\Documents and Settings\ABERKELE\Desktop\Picture1.jp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276600" y="2819400"/>
            <a:ext cx="11985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124200" y="341313"/>
            <a:ext cx="1295400" cy="2317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Rectangle 18"/>
          <p:cNvSpPr/>
          <p:nvPr/>
        </p:nvSpPr>
        <p:spPr>
          <a:xfrm>
            <a:off x="3179763" y="3200400"/>
            <a:ext cx="1295400" cy="1603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23568" name="Object 2"/>
          <p:cNvGraphicFramePr>
            <a:graphicFrameLocks noChangeAspect="1"/>
          </p:cNvGraphicFramePr>
          <p:nvPr/>
        </p:nvGraphicFramePr>
        <p:xfrm>
          <a:off x="1830388" y="1143000"/>
          <a:ext cx="525462" cy="501650"/>
        </p:xfrm>
        <a:graphic>
          <a:graphicData uri="http://schemas.openxmlformats.org/presentationml/2006/ole">
            <mc:AlternateContent xmlns:mc="http://schemas.openxmlformats.org/markup-compatibility/2006">
              <mc:Choice xmlns:v="urn:schemas-microsoft-com:vml" Requires="v">
                <p:oleObj spid="_x0000_s98537" name="Equation" r:id="rId13" imgW="279279" imgH="266584" progId="Equation.DSMT4">
                  <p:embed/>
                </p:oleObj>
              </mc:Choice>
              <mc:Fallback>
                <p:oleObj name="Equation" r:id="rId13" imgW="279279" imgH="266584" progId="Equation.DSMT4">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0388" y="1143000"/>
                        <a:ext cx="525462"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69" name="Object 3"/>
          <p:cNvGraphicFramePr>
            <a:graphicFrameLocks noChangeAspect="1"/>
          </p:cNvGraphicFramePr>
          <p:nvPr/>
        </p:nvGraphicFramePr>
        <p:xfrm>
          <a:off x="1836738" y="3810000"/>
          <a:ext cx="525462" cy="501650"/>
        </p:xfrm>
        <a:graphic>
          <a:graphicData uri="http://schemas.openxmlformats.org/presentationml/2006/ole">
            <mc:AlternateContent xmlns:mc="http://schemas.openxmlformats.org/markup-compatibility/2006">
              <mc:Choice xmlns:v="urn:schemas-microsoft-com:vml" Requires="v">
                <p:oleObj spid="_x0000_s98538" name="Equation" r:id="rId15" imgW="279279" imgH="266584" progId="Equation.DSMT4">
                  <p:embed/>
                </p:oleObj>
              </mc:Choice>
              <mc:Fallback>
                <p:oleObj name="Equation" r:id="rId15" imgW="279279" imgH="266584" progId="Equation.DSMT4">
                  <p:embed/>
                  <p:pic>
                    <p:nvPicPr>
                      <p:cNvPr id="0"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6738" y="3810000"/>
                        <a:ext cx="525462"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EC2F25A-7C19-4DC2-ACB6-9E5283462E2A}" type="slidenum">
              <a:rPr lang="zh-CN" altLang="en-US" smtClean="0"/>
              <a:pPr>
                <a:defRPr/>
              </a:pPr>
              <a:t>27</a:t>
            </a:fld>
            <a:endParaRPr lang="en-US" altLang="zh-CN"/>
          </a:p>
        </p:txBody>
      </p:sp>
      <p:graphicFrame>
        <p:nvGraphicFramePr>
          <p:cNvPr id="3" name="Table 2"/>
          <p:cNvGraphicFramePr>
            <a:graphicFrameLocks noGrp="1"/>
          </p:cNvGraphicFramePr>
          <p:nvPr>
            <p:extLst>
              <p:ext uri="{D42A27DB-BD31-4B8C-83A1-F6EECF244321}">
                <p14:modId xmlns:p14="http://schemas.microsoft.com/office/powerpoint/2010/main" val="2818200228"/>
              </p:ext>
            </p:extLst>
          </p:nvPr>
        </p:nvGraphicFramePr>
        <p:xfrm>
          <a:off x="152400" y="381002"/>
          <a:ext cx="8991600" cy="6522718"/>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xmlns="" val="20000"/>
                    </a:ext>
                  </a:extLst>
                </a:gridCol>
                <a:gridCol w="147828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gridCol w="1600200">
                  <a:extLst>
                    <a:ext uri="{9D8B030D-6E8A-4147-A177-3AD203B41FA5}">
                      <a16:colId xmlns:a16="http://schemas.microsoft.com/office/drawing/2014/main" xmlns="" val="20003"/>
                    </a:ext>
                  </a:extLst>
                </a:gridCol>
                <a:gridCol w="2743200">
                  <a:extLst>
                    <a:ext uri="{9D8B030D-6E8A-4147-A177-3AD203B41FA5}">
                      <a16:colId xmlns:a16="http://schemas.microsoft.com/office/drawing/2014/main" xmlns="" val="20004"/>
                    </a:ext>
                  </a:extLst>
                </a:gridCol>
              </a:tblGrid>
              <a:tr h="1008653">
                <a:tc>
                  <a:txBody>
                    <a:bodyPr/>
                    <a:lstStyle/>
                    <a:p>
                      <a:endParaRPr lang="en-US" dirty="0"/>
                    </a:p>
                  </a:txBody>
                  <a:tcPr/>
                </a:tc>
                <a:tc>
                  <a:txBody>
                    <a:bodyPr/>
                    <a:lstStyle/>
                    <a:p>
                      <a:r>
                        <a:rPr lang="en-US" dirty="0" smtClean="0"/>
                        <a:t>MS Data</a:t>
                      </a:r>
                      <a:endParaRPr lang="en-US" dirty="0"/>
                    </a:p>
                  </a:txBody>
                  <a:tcPr/>
                </a:tc>
                <a:tc>
                  <a:txBody>
                    <a:bodyPr/>
                    <a:lstStyle/>
                    <a:p>
                      <a:r>
                        <a:rPr lang="en-US" dirty="0" smtClean="0"/>
                        <a:t>Method  for dealing with ME</a:t>
                      </a:r>
                      <a:endParaRPr lang="en-US" dirty="0"/>
                    </a:p>
                  </a:txBody>
                  <a:tcPr/>
                </a:tc>
                <a:tc>
                  <a:txBody>
                    <a:bodyPr/>
                    <a:lstStyle/>
                    <a:p>
                      <a:r>
                        <a:rPr lang="en-US" dirty="0" smtClean="0"/>
                        <a:t>Measurement</a:t>
                      </a:r>
                      <a:r>
                        <a:rPr lang="en-US" baseline="0" dirty="0" smtClean="0"/>
                        <a:t> error  assumption</a:t>
                      </a:r>
                      <a:endParaRPr lang="en-US" dirty="0"/>
                    </a:p>
                  </a:txBody>
                  <a:tcPr/>
                </a:tc>
                <a:tc>
                  <a:txBody>
                    <a:bodyPr/>
                    <a:lstStyle/>
                    <a:p>
                      <a:r>
                        <a:rPr lang="en-US" dirty="0" smtClean="0"/>
                        <a:t>Criteria of optimal design</a:t>
                      </a:r>
                      <a:endParaRPr lang="en-US" dirty="0"/>
                    </a:p>
                  </a:txBody>
                  <a:tcPr/>
                </a:tc>
                <a:extLst>
                  <a:ext uri="{0D108BD9-81ED-4DB2-BD59-A6C34878D82A}">
                    <a16:rowId xmlns:a16="http://schemas.microsoft.com/office/drawing/2014/main" xmlns="" val="10000"/>
                  </a:ext>
                </a:extLst>
              </a:tr>
              <a:tr h="1008653">
                <a:tc>
                  <a:txBody>
                    <a:bodyPr/>
                    <a:lstStyle/>
                    <a:p>
                      <a:r>
                        <a:rPr lang="en-US" sz="1800" b="1" dirty="0" smtClean="0">
                          <a:latin typeface="Times New Roman" pitchFamily="18" charset="0"/>
                          <a:cs typeface="Times New Roman" pitchFamily="18" charset="0"/>
                        </a:rPr>
                        <a:t>Greenland (1988)</a:t>
                      </a:r>
                      <a:endParaRPr lang="en-US" b="1" dirty="0"/>
                    </a:p>
                  </a:txBody>
                  <a:tcPr/>
                </a:tc>
                <a:tc>
                  <a:txBody>
                    <a:bodyPr/>
                    <a:lstStyle/>
                    <a:p>
                      <a:r>
                        <a:rPr lang="en-US" dirty="0" smtClean="0">
                          <a:solidFill>
                            <a:schemeClr val="tx1"/>
                          </a:solidFill>
                          <a:latin typeface="+mn-lt"/>
                        </a:rPr>
                        <a:t>2X2</a:t>
                      </a:r>
                      <a:r>
                        <a:rPr lang="en-US" baseline="0" dirty="0" smtClean="0">
                          <a:solidFill>
                            <a:schemeClr val="tx1"/>
                          </a:solidFill>
                          <a:latin typeface="+mn-lt"/>
                        </a:rPr>
                        <a:t> table </a:t>
                      </a:r>
                      <a:endParaRPr lang="en-US" dirty="0">
                        <a:solidFill>
                          <a:schemeClr val="tx1"/>
                        </a:solidFill>
                        <a:latin typeface="+mn-lt"/>
                      </a:endParaRPr>
                    </a:p>
                  </a:txBody>
                  <a:tcPr/>
                </a:tc>
                <a:tc>
                  <a:txBody>
                    <a:bodyPr/>
                    <a:lstStyle/>
                    <a:p>
                      <a:r>
                        <a:rPr lang="en-US" sz="1800" b="0" dirty="0" smtClean="0">
                          <a:solidFill>
                            <a:schemeClr val="tx1"/>
                          </a:solidFill>
                          <a:latin typeface="+mn-lt"/>
                          <a:cs typeface="Times New Roman" pitchFamily="18" charset="0"/>
                        </a:rPr>
                        <a:t>Matrix method</a:t>
                      </a:r>
                      <a:endParaRPr lang="en-US" b="0" dirty="0">
                        <a:solidFill>
                          <a:schemeClr val="tx1"/>
                        </a:solidFill>
                        <a:latin typeface="+mn-lt"/>
                      </a:endParaRPr>
                    </a:p>
                  </a:txBody>
                  <a:tcPr/>
                </a:tc>
                <a:tc>
                  <a:txBody>
                    <a:bodyPr/>
                    <a:lstStyle/>
                    <a:p>
                      <a:r>
                        <a:rPr lang="en-US" dirty="0" smtClean="0">
                          <a:latin typeface="+mn-lt"/>
                        </a:rPr>
                        <a:t>Differential and non-differential</a:t>
                      </a:r>
                      <a:endParaRPr lang="en-US" dirty="0">
                        <a:latin typeface="+mn-lt"/>
                      </a:endParaRPr>
                    </a:p>
                  </a:txBody>
                  <a:tcPr/>
                </a:tc>
                <a:tc>
                  <a:txBody>
                    <a:bodyPr/>
                    <a:lstStyle/>
                    <a:p>
                      <a:r>
                        <a:rPr lang="en-US" sz="1800" b="1" dirty="0" smtClean="0">
                          <a:solidFill>
                            <a:schemeClr val="tx1"/>
                          </a:solidFill>
                          <a:latin typeface="+mn-lt"/>
                          <a:cs typeface="Times New Roman" pitchFamily="18" charset="0"/>
                        </a:rPr>
                        <a:t>Minimize variance subject to cost considerations</a:t>
                      </a:r>
                      <a:endParaRPr lang="en-US" dirty="0">
                        <a:solidFill>
                          <a:schemeClr val="tx1"/>
                        </a:solidFill>
                        <a:latin typeface="+mn-lt"/>
                      </a:endParaRPr>
                    </a:p>
                  </a:txBody>
                  <a:tcPr/>
                </a:tc>
                <a:extLst>
                  <a:ext uri="{0D108BD9-81ED-4DB2-BD59-A6C34878D82A}">
                    <a16:rowId xmlns:a16="http://schemas.microsoft.com/office/drawing/2014/main" xmlns="" val="10001"/>
                  </a:ext>
                </a:extLst>
              </a:tr>
              <a:tr h="1106892">
                <a:tc>
                  <a:txBody>
                    <a:bodyPr/>
                    <a:lstStyle/>
                    <a:p>
                      <a:r>
                        <a:rPr lang="en-US" sz="1800" b="1" dirty="0" smtClean="0">
                          <a:latin typeface="Times New Roman" pitchFamily="18" charset="0"/>
                          <a:cs typeface="Times New Roman" pitchFamily="18" charset="0"/>
                        </a:rPr>
                        <a:t>Reilly (1996)</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latin typeface="+mn-lt"/>
                        </a:rPr>
                        <a:t>2X2</a:t>
                      </a:r>
                      <a:r>
                        <a:rPr lang="en-US" baseline="0" dirty="0" smtClean="0">
                          <a:solidFill>
                            <a:schemeClr val="tx1"/>
                          </a:solidFill>
                          <a:latin typeface="+mn-lt"/>
                        </a:rPr>
                        <a:t> table (and categorical exposure)</a:t>
                      </a:r>
                      <a:endParaRPr lang="en-US" dirty="0">
                        <a:latin typeface="+mn-lt"/>
                      </a:endParaRPr>
                    </a:p>
                  </a:txBody>
                  <a:tcPr/>
                </a:tc>
                <a:tc>
                  <a:txBody>
                    <a:bodyPr/>
                    <a:lstStyle/>
                    <a:p>
                      <a:r>
                        <a:rPr lang="en-US" dirty="0" smtClean="0">
                          <a:latin typeface="+mn-lt"/>
                        </a:rPr>
                        <a:t>MLE</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Differential and non-differential</a:t>
                      </a:r>
                    </a:p>
                    <a:p>
                      <a:endParaRPr lang="en-US" dirty="0">
                        <a:latin typeface="+mn-lt"/>
                      </a:endParaRPr>
                    </a:p>
                  </a:txBody>
                  <a:tcPr/>
                </a:tc>
                <a:tc>
                  <a:txBody>
                    <a:bodyPr/>
                    <a:lstStyle/>
                    <a:p>
                      <a:r>
                        <a:rPr lang="en-US" sz="1800" b="1" dirty="0" smtClean="0">
                          <a:solidFill>
                            <a:schemeClr val="tx1"/>
                          </a:solidFill>
                          <a:latin typeface="+mn-lt"/>
                          <a:cs typeface="Times New Roman" pitchFamily="18" charset="0"/>
                        </a:rPr>
                        <a:t>Maximize precision for a fixed total budget or minimize the study cost given a desired precision</a:t>
                      </a:r>
                      <a:endParaRPr lang="en-US" dirty="0">
                        <a:solidFill>
                          <a:schemeClr val="tx1"/>
                        </a:solidFill>
                        <a:latin typeface="+mn-lt"/>
                      </a:endParaRPr>
                    </a:p>
                  </a:txBody>
                  <a:tcPr/>
                </a:tc>
                <a:extLst>
                  <a:ext uri="{0D108BD9-81ED-4DB2-BD59-A6C34878D82A}">
                    <a16:rowId xmlns:a16="http://schemas.microsoft.com/office/drawing/2014/main" xmlns="" val="10002"/>
                  </a:ext>
                </a:extLst>
              </a:tr>
              <a:tr h="939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err="1" smtClean="0">
                          <a:latin typeface="Times New Roman" pitchFamily="18" charset="0"/>
                          <a:cs typeface="Times New Roman" pitchFamily="18" charset="0"/>
                        </a:rPr>
                        <a:t>Buonaccorsi</a:t>
                      </a:r>
                      <a:r>
                        <a:rPr lang="en-US" sz="1800" b="1" dirty="0" smtClean="0">
                          <a:latin typeface="Times New Roman" pitchFamily="18" charset="0"/>
                          <a:cs typeface="Times New Roman" pitchFamily="18" charset="0"/>
                        </a:rPr>
                        <a:t> (1990)</a:t>
                      </a:r>
                    </a:p>
                    <a:p>
                      <a:endParaRPr lang="en-US" dirty="0"/>
                    </a:p>
                  </a:txBody>
                  <a:tcPr/>
                </a:tc>
                <a:tc>
                  <a:txBody>
                    <a:bodyPr/>
                    <a:lstStyle/>
                    <a:p>
                      <a:r>
                        <a:rPr lang="en-US" dirty="0" smtClean="0">
                          <a:latin typeface="+mn-lt"/>
                        </a:rPr>
                        <a:t>Binary outcome,</a:t>
                      </a:r>
                      <a:r>
                        <a:rPr lang="en-US" baseline="0" dirty="0" smtClean="0">
                          <a:latin typeface="+mn-lt"/>
                        </a:rPr>
                        <a:t> continuous E</a:t>
                      </a:r>
                      <a:endParaRPr lang="en-US" dirty="0" smtClean="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txBody>
                  <a:tcPr/>
                </a:tc>
                <a:tc>
                  <a:txBody>
                    <a:bodyPr/>
                    <a:lstStyle/>
                    <a:p>
                      <a:pPr>
                        <a:buFont typeface="Arial" charset="0"/>
                        <a:buNone/>
                        <a:defRPr/>
                      </a:pPr>
                      <a:r>
                        <a:rPr lang="en-US" sz="1800" baseline="0" dirty="0" smtClean="0">
                          <a:latin typeface="+mn-lt"/>
                          <a:cs typeface="Times New Roman" pitchFamily="18" charset="0"/>
                        </a:rPr>
                        <a:t>                </a:t>
                      </a:r>
                      <a:r>
                        <a:rPr lang="en-US" sz="1800" dirty="0" smtClean="0">
                          <a:latin typeface="+mn-lt"/>
                          <a:cs typeface="Times New Roman" pitchFamily="18" charset="0"/>
                        </a:rPr>
                        <a:t>jointly </a:t>
                      </a:r>
                    </a:p>
                    <a:p>
                      <a:pPr>
                        <a:buFont typeface="Arial" charset="0"/>
                        <a:buNone/>
                        <a:defRPr/>
                      </a:pPr>
                      <a:r>
                        <a:rPr lang="en-US" sz="1800" dirty="0" smtClean="0">
                          <a:latin typeface="+mn-lt"/>
                          <a:cs typeface="Times New Roman" pitchFamily="18" charset="0"/>
                        </a:rPr>
                        <a:t>normal and homoscedastic</a:t>
                      </a:r>
                      <a:endParaRPr lang="en-US" dirty="0">
                        <a:latin typeface="+mn-lt"/>
                      </a:endParaRPr>
                    </a:p>
                  </a:txBody>
                  <a:tcPr/>
                </a:tc>
                <a:tc>
                  <a:txBody>
                    <a:bodyPr/>
                    <a:lstStyle/>
                    <a:p>
                      <a:r>
                        <a:rPr lang="en-US" sz="1800" b="1" dirty="0" smtClean="0">
                          <a:solidFill>
                            <a:schemeClr val="tx1"/>
                          </a:solidFill>
                          <a:latin typeface="+mn-lt"/>
                          <a:cs typeface="Times New Roman" pitchFamily="18" charset="0"/>
                        </a:rPr>
                        <a:t>Minimize variance subject to cost considerations</a:t>
                      </a:r>
                      <a:endParaRPr lang="en-US" dirty="0">
                        <a:solidFill>
                          <a:schemeClr val="tx1"/>
                        </a:solidFill>
                        <a:latin typeface="+mn-lt"/>
                      </a:endParaRPr>
                    </a:p>
                  </a:txBody>
                  <a:tcPr/>
                </a:tc>
                <a:extLst>
                  <a:ext uri="{0D108BD9-81ED-4DB2-BD59-A6C34878D82A}">
                    <a16:rowId xmlns:a16="http://schemas.microsoft.com/office/drawing/2014/main" xmlns="" val="10003"/>
                  </a:ext>
                </a:extLst>
              </a:tr>
              <a:tr h="11081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itchFamily="18" charset="0"/>
                          <a:cs typeface="Times New Roman" pitchFamily="18" charset="0"/>
                        </a:rPr>
                        <a:t>Spiegelman and Gray (1991)</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Binary outcome,</a:t>
                      </a:r>
                      <a:r>
                        <a:rPr lang="en-US" baseline="0" dirty="0" smtClean="0">
                          <a:latin typeface="+mn-lt"/>
                        </a:rPr>
                        <a:t> continuous E </a:t>
                      </a:r>
                      <a:endParaRPr lang="en-US"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mn-lt"/>
                        </a:rPr>
                        <a:t>MLE (Logistic regression)</a:t>
                      </a:r>
                    </a:p>
                    <a:p>
                      <a:endParaRPr lang="en-US" dirty="0">
                        <a:latin typeface="+mn-lt"/>
                      </a:endParaRPr>
                    </a:p>
                  </a:txBody>
                  <a:tcPr/>
                </a:tc>
                <a:tc>
                  <a:txBody>
                    <a:bodyPr/>
                    <a:lstStyle/>
                    <a:p>
                      <a:pPr>
                        <a:buFont typeface="Arial" charset="0"/>
                        <a:buNone/>
                        <a:defRPr/>
                      </a:pPr>
                      <a:r>
                        <a:rPr lang="en-US" dirty="0" smtClean="0">
                          <a:latin typeface="+mn-lt"/>
                        </a:rPr>
                        <a:t>Classical additive ME</a:t>
                      </a:r>
                      <a:endParaRPr lang="en-US" dirty="0">
                        <a:latin typeface="+mn-lt"/>
                      </a:endParaRPr>
                    </a:p>
                  </a:txBody>
                  <a:tcPr/>
                </a:tc>
                <a:tc>
                  <a:txBody>
                    <a:bodyPr/>
                    <a:lstStyle/>
                    <a:p>
                      <a:r>
                        <a:rPr lang="en-US" b="1" dirty="0" smtClean="0">
                          <a:latin typeface="+mn-lt"/>
                        </a:rPr>
                        <a:t>Minimize cost, subject to a specified discriminatory power</a:t>
                      </a:r>
                      <a:endParaRPr lang="en-US" dirty="0">
                        <a:latin typeface="+mn-lt"/>
                      </a:endParaRPr>
                    </a:p>
                  </a:txBody>
                  <a:tcPr/>
                </a:tc>
                <a:extLst>
                  <a:ext uri="{0D108BD9-81ED-4DB2-BD59-A6C34878D82A}">
                    <a16:rowId xmlns:a16="http://schemas.microsoft.com/office/drawing/2014/main" xmlns="" val="10004"/>
                  </a:ext>
                </a:extLst>
              </a:tr>
              <a:tr h="775705">
                <a:tc>
                  <a:txBody>
                    <a:bodyPr/>
                    <a:lstStyle/>
                    <a:p>
                      <a:r>
                        <a:rPr lang="en-US" sz="1800" b="1" dirty="0" err="1" smtClean="0">
                          <a:solidFill>
                            <a:srgbClr val="FF0000"/>
                          </a:solidFill>
                          <a:latin typeface="Times New Roman" pitchFamily="18" charset="0"/>
                          <a:cs typeface="Times New Roman" pitchFamily="18" charset="0"/>
                        </a:rPr>
                        <a:t>Rosner</a:t>
                      </a:r>
                      <a:r>
                        <a:rPr lang="en-US" sz="1800" b="1" dirty="0" smtClean="0">
                          <a:solidFill>
                            <a:srgbClr val="FF0000"/>
                          </a:solidFill>
                          <a:latin typeface="Times New Roman" pitchFamily="18" charset="0"/>
                          <a:cs typeface="Times New Roman" pitchFamily="18" charset="0"/>
                        </a:rPr>
                        <a:t> et al. (1992)</a:t>
                      </a:r>
                      <a:endParaRPr lang="en-US" dirty="0">
                        <a:solidFill>
                          <a:srgbClr val="FF0000"/>
                        </a:solidFill>
                      </a:endParaRPr>
                    </a:p>
                  </a:txBody>
                  <a:tcPr/>
                </a:tc>
                <a:tc>
                  <a:txBody>
                    <a:bodyPr/>
                    <a:lstStyle/>
                    <a:p>
                      <a:r>
                        <a:rPr lang="en-US" dirty="0" smtClean="0">
                          <a:solidFill>
                            <a:srgbClr val="FF0000"/>
                          </a:solidFill>
                          <a:latin typeface="+mn-lt"/>
                        </a:rPr>
                        <a:t>Binary outcome,</a:t>
                      </a:r>
                      <a:r>
                        <a:rPr lang="en-US" baseline="0" dirty="0" smtClean="0">
                          <a:solidFill>
                            <a:srgbClr val="FF0000"/>
                          </a:solidFill>
                          <a:latin typeface="+mn-lt"/>
                        </a:rPr>
                        <a:t> continuous exposure</a:t>
                      </a:r>
                      <a:endParaRPr lang="en-US" dirty="0" smtClean="0">
                        <a:solidFill>
                          <a:srgbClr val="FF0000"/>
                        </a:solidFill>
                        <a:latin typeface="+mn-lt"/>
                      </a:endParaRPr>
                    </a:p>
                  </a:txBody>
                  <a:tcPr/>
                </a:tc>
                <a:tc>
                  <a:txBody>
                    <a:bodyPr/>
                    <a:lstStyle/>
                    <a:p>
                      <a:r>
                        <a:rPr lang="en-US" dirty="0" smtClean="0">
                          <a:solidFill>
                            <a:srgbClr val="FF0000"/>
                          </a:solidFill>
                        </a:rPr>
                        <a:t>Logistic regression, Regression Calibration</a:t>
                      </a:r>
                      <a:endParaRPr lang="en-US" dirty="0">
                        <a:solidFill>
                          <a:srgbClr val="FF000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FF0000"/>
                          </a:solidFill>
                          <a:latin typeface="+mn-lt"/>
                        </a:rPr>
                        <a:t>Classical additive ME</a:t>
                      </a:r>
                    </a:p>
                    <a:p>
                      <a:endParaRPr lang="en-US" dirty="0">
                        <a:solidFill>
                          <a:srgbClr val="FF0000"/>
                        </a:solidFill>
                      </a:endParaRPr>
                    </a:p>
                  </a:txBody>
                  <a:tcPr/>
                </a:tc>
                <a:tc>
                  <a:txBody>
                    <a:bodyPr/>
                    <a:lstStyle/>
                    <a:p>
                      <a:endParaRPr lang="en-US" dirty="0"/>
                    </a:p>
                  </a:txBody>
                  <a:tcPr/>
                </a:tc>
                <a:extLst>
                  <a:ext uri="{0D108BD9-81ED-4DB2-BD59-A6C34878D82A}">
                    <a16:rowId xmlns:a16="http://schemas.microsoft.com/office/drawing/2014/main" xmlns="" val="10005"/>
                  </a:ext>
                </a:extLst>
              </a:tr>
            </a:tbl>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2222487658"/>
              </p:ext>
            </p:extLst>
          </p:nvPr>
        </p:nvGraphicFramePr>
        <p:xfrm>
          <a:off x="4800600" y="3657600"/>
          <a:ext cx="860612" cy="304800"/>
        </p:xfrm>
        <a:graphic>
          <a:graphicData uri="http://schemas.openxmlformats.org/presentationml/2006/ole">
            <mc:AlternateContent xmlns:mc="http://schemas.openxmlformats.org/markup-compatibility/2006">
              <mc:Choice xmlns:v="urn:schemas-microsoft-com:vml" Requires="v">
                <p:oleObj spid="_x0000_s83086" name="Equation" r:id="rId3" imgW="609336" imgH="215806" progId="Equation.DSMT4">
                  <p:embed/>
                </p:oleObj>
              </mc:Choice>
              <mc:Fallback>
                <p:oleObj name="Equation" r:id="rId3" imgW="609336" imgH="21580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3657600"/>
                        <a:ext cx="860612" cy="304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56429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err="1" smtClean="0">
                <a:latin typeface="Times New Roman" pitchFamily="18" charset="0"/>
                <a:cs typeface="Times New Roman" pitchFamily="18" charset="0"/>
              </a:rPr>
              <a:t>Rosner</a:t>
            </a:r>
            <a:r>
              <a:rPr lang="en-US" sz="2800" b="1" dirty="0">
                <a:latin typeface="Times New Roman" pitchFamily="18" charset="0"/>
                <a:cs typeface="Times New Roman" pitchFamily="18" charset="0"/>
              </a:rPr>
              <a:t>, Spiegelman and Willett </a:t>
            </a:r>
            <a:r>
              <a:rPr lang="en-US" sz="2800" b="1" dirty="0" smtClean="0">
                <a:latin typeface="Times New Roman" pitchFamily="18" charset="0"/>
                <a:cs typeface="Times New Roman" pitchFamily="18" charset="0"/>
              </a:rPr>
              <a:t/>
            </a:r>
            <a:br>
              <a:rPr lang="en-US" sz="2800" b="1"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a:t>
            </a:r>
            <a:r>
              <a:rPr lang="en-US" sz="2800" b="1" dirty="0" err="1">
                <a:latin typeface="Times New Roman" pitchFamily="18" charset="0"/>
                <a:cs typeface="Times New Roman" pitchFamily="18" charset="0"/>
              </a:rPr>
              <a:t>Rosner</a:t>
            </a:r>
            <a:r>
              <a:rPr lang="en-US" sz="2800" b="1" dirty="0">
                <a:latin typeface="Times New Roman" pitchFamily="18" charset="0"/>
                <a:cs typeface="Times New Roman" pitchFamily="18" charset="0"/>
              </a:rPr>
              <a:t> et al., 1992)</a:t>
            </a:r>
            <a:endParaRPr lang="en-US" sz="2800" b="1" dirty="0"/>
          </a:p>
        </p:txBody>
      </p:sp>
      <p:sp>
        <p:nvSpPr>
          <p:cNvPr id="28676" name="Rectangle 2"/>
          <p:cNvSpPr>
            <a:spLocks noGrp="1" noChangeArrowheads="1"/>
          </p:cNvSpPr>
          <p:nvPr>
            <p:ph idx="1"/>
          </p:nvPr>
        </p:nvSpPr>
        <p:spPr/>
        <p:txBody>
          <a:bodyPr lIns="92075" tIns="46038" rIns="92075" bIns="46038"/>
          <a:lstStyle/>
          <a:p>
            <a:pPr>
              <a:buFont typeface="Arial" charset="0"/>
              <a:buNone/>
              <a:defRPr/>
            </a:pPr>
            <a:r>
              <a:rPr lang="en-US" sz="2400" dirty="0" err="1" smtClean="0">
                <a:latin typeface="Times New Roman" pitchFamily="18" charset="0"/>
                <a:cs typeface="Times New Roman" pitchFamily="18" charset="0"/>
              </a:rPr>
              <a:t>Rosner</a:t>
            </a:r>
            <a:r>
              <a:rPr lang="en-US" sz="2400" dirty="0" smtClean="0">
                <a:latin typeface="Times New Roman" pitchFamily="18" charset="0"/>
                <a:cs typeface="Times New Roman" pitchFamily="18" charset="0"/>
              </a:rPr>
              <a:t>, Spiegelman and Willett (</a:t>
            </a:r>
            <a:r>
              <a:rPr lang="en-US" sz="2400" dirty="0" err="1" smtClean="0">
                <a:latin typeface="Times New Roman" pitchFamily="18" charset="0"/>
                <a:cs typeface="Times New Roman" pitchFamily="18" charset="0"/>
              </a:rPr>
              <a:t>Rosner</a:t>
            </a:r>
            <a:r>
              <a:rPr lang="en-US" sz="2400" dirty="0" smtClean="0">
                <a:latin typeface="Times New Roman" pitchFamily="18" charset="0"/>
                <a:cs typeface="Times New Roman" pitchFamily="18" charset="0"/>
              </a:rPr>
              <a:t> et al., 1992) investigated </a:t>
            </a:r>
          </a:p>
          <a:p>
            <a:pPr>
              <a:buFont typeface="Arial" charset="0"/>
              <a:buNone/>
              <a:defRPr/>
            </a:pPr>
            <a:r>
              <a:rPr lang="en-US" sz="2400" dirty="0" smtClean="0">
                <a:latin typeface="Times New Roman" pitchFamily="18" charset="0"/>
                <a:cs typeface="Times New Roman" pitchFamily="18" charset="0"/>
              </a:rPr>
              <a:t>the role of        (</a:t>
            </a:r>
            <a:r>
              <a:rPr lang="en-US" sz="2400" dirty="0" smtClean="0">
                <a:solidFill>
                  <a:srgbClr val="0000FF"/>
                </a:solidFill>
                <a:latin typeface="Times New Roman" pitchFamily="18" charset="0"/>
                <a:cs typeface="Times New Roman" pitchFamily="18" charset="0"/>
              </a:rPr>
              <a:t>size of reliability study</a:t>
            </a:r>
            <a:r>
              <a:rPr lang="en-US" sz="2400" dirty="0" smtClean="0">
                <a:latin typeface="Times New Roman" pitchFamily="18" charset="0"/>
                <a:cs typeface="Times New Roman" pitchFamily="18" charset="0"/>
              </a:rPr>
              <a:t>) and       (</a:t>
            </a:r>
            <a:r>
              <a:rPr lang="en-US" sz="2400" dirty="0" smtClean="0">
                <a:solidFill>
                  <a:srgbClr val="0000FF"/>
                </a:solidFill>
                <a:latin typeface="Times New Roman" pitchFamily="18" charset="0"/>
                <a:cs typeface="Times New Roman" pitchFamily="18" charset="0"/>
              </a:rPr>
              <a:t>number of replicates</a:t>
            </a:r>
            <a:r>
              <a:rPr lang="en-US" sz="2400" dirty="0" smtClean="0">
                <a:latin typeface="Times New Roman" pitchFamily="18" charset="0"/>
                <a:cs typeface="Times New Roman" pitchFamily="18" charset="0"/>
              </a:rPr>
              <a:t> per participant in the reliability study)  on the efficiency of the regression calibration estimates for the effects of systolic blood pressure (SBP), serum cholesterol (CHOL), serum glucose (GLUC) and BMI on the 10-year cumulative  incidence of CHD, based on the Framingham Heart Study.  There were 1,731 men in the main study cohort.</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1600" dirty="0" err="1" smtClean="0">
                <a:latin typeface="Times New Roman" pitchFamily="18" charset="0"/>
                <a:cs typeface="Times New Roman" pitchFamily="18" charset="0"/>
              </a:rPr>
              <a:t>Rosner</a:t>
            </a:r>
            <a:r>
              <a:rPr lang="en-US" sz="1600" dirty="0" smtClean="0">
                <a:latin typeface="Times New Roman" pitchFamily="18" charset="0"/>
                <a:cs typeface="Times New Roman" pitchFamily="18" charset="0"/>
              </a:rPr>
              <a:t> B., Spiegelman D., Willett W.C. (1992) Correction of logistic regression relative risk</a:t>
            </a:r>
          </a:p>
          <a:p>
            <a:pPr>
              <a:buFont typeface="Arial" charset="0"/>
              <a:buNone/>
              <a:defRPr/>
            </a:pPr>
            <a:r>
              <a:rPr lang="en-US" sz="1600" dirty="0" smtClean="0">
                <a:latin typeface="Times New Roman" pitchFamily="18" charset="0"/>
                <a:cs typeface="Times New Roman" pitchFamily="18" charset="0"/>
              </a:rPr>
              <a:t>estimates and confidence intervals for random within-person measurement error. </a:t>
            </a:r>
            <a:r>
              <a:rPr lang="en-US" sz="1600" i="1" dirty="0" smtClean="0">
                <a:latin typeface="Times New Roman" pitchFamily="18" charset="0"/>
                <a:cs typeface="Times New Roman" pitchFamily="18" charset="0"/>
              </a:rPr>
              <a:t>Am J </a:t>
            </a:r>
            <a:r>
              <a:rPr lang="en-US" sz="1600" i="1" dirty="0" err="1" smtClean="0">
                <a:latin typeface="Times New Roman" pitchFamily="18" charset="0"/>
                <a:cs typeface="Times New Roman" pitchFamily="18" charset="0"/>
              </a:rPr>
              <a:t>Epidemiol</a:t>
            </a:r>
            <a:r>
              <a:rPr lang="en-US" sz="1600" dirty="0" smtClean="0">
                <a:latin typeface="Times New Roman" pitchFamily="18" charset="0"/>
                <a:cs typeface="Times New Roman" pitchFamily="18" charset="0"/>
              </a:rPr>
              <a:t> </a:t>
            </a:r>
          </a:p>
          <a:p>
            <a:pPr>
              <a:buFont typeface="Arial" charset="0"/>
              <a:buNone/>
              <a:defRPr/>
            </a:pPr>
            <a:r>
              <a:rPr lang="en-US" sz="1600" dirty="0" smtClean="0">
                <a:latin typeface="Times New Roman" pitchFamily="18" charset="0"/>
                <a:cs typeface="Times New Roman" pitchFamily="18" charset="0"/>
              </a:rPr>
              <a:t>136:1400-13.</a:t>
            </a:r>
          </a:p>
          <a:p>
            <a:pPr>
              <a:buFont typeface="Arial" charset="0"/>
              <a:buNone/>
              <a:defRPr/>
            </a:pPr>
            <a:endParaRPr lang="en-US" sz="24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24579" name="AutoShape 3"/>
          <p:cNvCxnSpPr>
            <a:cxnSpLocks noChangeShapeType="1"/>
            <a:stCxn id="28676" idx="3"/>
            <a:endCxn id="28676" idx="3"/>
          </p:cNvCxnSpPr>
          <p:nvPr/>
        </p:nvCxnSpPr>
        <p:spPr bwMode="auto">
          <a:xfrm>
            <a:off x="87630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4580"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24581"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79340"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2"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79341"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4584"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9FE166D5-50B8-48E2-AD62-02DE6515550F}" type="slidenum">
              <a:rPr lang="zh-CN" altLang="en-US" sz="1200">
                <a:solidFill>
                  <a:srgbClr val="898989"/>
                </a:solidFill>
              </a:rPr>
              <a:pPr algn="r" eaLnBrk="1" hangingPunct="1">
                <a:spcBef>
                  <a:spcPct val="0"/>
                </a:spcBef>
                <a:buFontTx/>
                <a:buNone/>
              </a:pPr>
              <a:t>28</a:t>
            </a:fld>
            <a:endParaRPr lang="en-US" altLang="zh-CN" sz="1200">
              <a:solidFill>
                <a:srgbClr val="898989"/>
              </a:solidFill>
            </a:endParaRPr>
          </a:p>
        </p:txBody>
      </p:sp>
      <p:graphicFrame>
        <p:nvGraphicFramePr>
          <p:cNvPr id="24585" name="Object 1"/>
          <p:cNvGraphicFramePr>
            <a:graphicFrameLocks noChangeAspect="1"/>
          </p:cNvGraphicFramePr>
          <p:nvPr>
            <p:extLst>
              <p:ext uri="{D42A27DB-BD31-4B8C-83A1-F6EECF244321}">
                <p14:modId xmlns:p14="http://schemas.microsoft.com/office/powerpoint/2010/main" val="4169811271"/>
              </p:ext>
            </p:extLst>
          </p:nvPr>
        </p:nvGraphicFramePr>
        <p:xfrm>
          <a:off x="1981200" y="2057400"/>
          <a:ext cx="382588" cy="454025"/>
        </p:xfrm>
        <a:graphic>
          <a:graphicData uri="http://schemas.openxmlformats.org/presentationml/2006/ole">
            <mc:AlternateContent xmlns:mc="http://schemas.openxmlformats.org/markup-compatibility/2006">
              <mc:Choice xmlns:v="urn:schemas-microsoft-com:vml" Requires="v">
                <p:oleObj spid="_x0000_s79342" name="Equation" r:id="rId7" imgW="203112" imgH="241195" progId="Equation.DSMT4">
                  <p:embed/>
                </p:oleObj>
              </mc:Choice>
              <mc:Fallback>
                <p:oleObj name="Equation" r:id="rId7" imgW="203112" imgH="241195" progId="Equation.DSMT4">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2057400"/>
                        <a:ext cx="38258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6" name="Object 2"/>
          <p:cNvGraphicFramePr>
            <a:graphicFrameLocks noChangeAspect="1"/>
          </p:cNvGraphicFramePr>
          <p:nvPr>
            <p:extLst>
              <p:ext uri="{D42A27DB-BD31-4B8C-83A1-F6EECF244321}">
                <p14:modId xmlns:p14="http://schemas.microsoft.com/office/powerpoint/2010/main" val="2658645259"/>
              </p:ext>
            </p:extLst>
          </p:nvPr>
        </p:nvGraphicFramePr>
        <p:xfrm>
          <a:off x="5943600" y="2057400"/>
          <a:ext cx="454025" cy="501650"/>
        </p:xfrm>
        <a:graphic>
          <a:graphicData uri="http://schemas.openxmlformats.org/presentationml/2006/ole">
            <mc:AlternateContent xmlns:mc="http://schemas.openxmlformats.org/markup-compatibility/2006">
              <mc:Choice xmlns:v="urn:schemas-microsoft-com:vml" Requires="v">
                <p:oleObj spid="_x0000_s79343" name="Equation" r:id="rId9" imgW="241091" imgH="266469" progId="Equation.DSMT4">
                  <p:embed/>
                </p:oleObj>
              </mc:Choice>
              <mc:Fallback>
                <p:oleObj name="Equation" r:id="rId9" imgW="241091" imgH="266469"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3600" y="2057400"/>
                        <a:ext cx="454025"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sz="half" idx="4294967295"/>
          </p:nvPr>
        </p:nvSpPr>
        <p:spPr>
          <a:xfrm>
            <a:off x="76200" y="230188"/>
            <a:ext cx="8991600" cy="6629400"/>
          </a:xfrm>
        </p:spPr>
        <p:txBody>
          <a:bodyPr lIns="92075" tIns="46038" rIns="92075" bIns="46038"/>
          <a:lstStyle/>
          <a:p>
            <a:pPr marL="533400" indent="-533400">
              <a:lnSpc>
                <a:spcPct val="80000"/>
              </a:lnSpc>
              <a:buFont typeface="Arial" charset="0"/>
              <a:buNone/>
            </a:pPr>
            <a:r>
              <a:rPr lang="en-US" altLang="ja-JP" sz="1300" dirty="0" smtClean="0">
                <a:latin typeface="Courier New" pitchFamily="49" charset="0"/>
              </a:rPr>
              <a:t> </a:t>
            </a: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1300" dirty="0" smtClean="0">
              <a:latin typeface="Courier New" pitchFamily="49" charset="0"/>
            </a:endParaRPr>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000" dirty="0" smtClean="0"/>
          </a:p>
          <a:p>
            <a:pPr marL="533400" indent="-533400">
              <a:lnSpc>
                <a:spcPct val="80000"/>
              </a:lnSpc>
              <a:buFont typeface="Arial" charset="0"/>
              <a:buNone/>
            </a:pPr>
            <a:endParaRPr lang="en-US" altLang="en-US" sz="2400" dirty="0" smtClean="0"/>
          </a:p>
          <a:p>
            <a:pPr marL="533400" indent="-533400">
              <a:lnSpc>
                <a:spcPct val="80000"/>
              </a:lnSpc>
              <a:buFont typeface="Arial" charset="0"/>
              <a:buNone/>
            </a:pPr>
            <a:endParaRPr lang="en-US" altLang="zh-CN" sz="2200" dirty="0" smtClean="0">
              <a:latin typeface="Times New Roman" pitchFamily="18" charset="0"/>
              <a:cs typeface="Times New Roman" pitchFamily="18" charset="0"/>
            </a:endParaRPr>
          </a:p>
        </p:txBody>
      </p:sp>
      <p:cxnSp>
        <p:nvCxnSpPr>
          <p:cNvPr id="25603" name="AutoShape 3"/>
          <p:cNvCxnSpPr>
            <a:cxnSpLocks noChangeShapeType="1"/>
            <a:stCxn id="25602" idx="3"/>
            <a:endCxn id="25602" idx="3"/>
          </p:cNvCxnSpPr>
          <p:nvPr/>
        </p:nvCxnSpPr>
        <p:spPr bwMode="auto">
          <a:xfrm>
            <a:off x="9067800" y="3544888"/>
            <a:ext cx="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5604"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25605"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628"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6"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1629"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7"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5608"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DDED91CB-0690-4B36-B396-0D304E53C0A5}" type="slidenum">
              <a:rPr lang="zh-CN" altLang="en-US" sz="1200">
                <a:solidFill>
                  <a:srgbClr val="898989"/>
                </a:solidFill>
              </a:rPr>
              <a:pPr algn="r" eaLnBrk="1" hangingPunct="1">
                <a:spcBef>
                  <a:spcPct val="0"/>
                </a:spcBef>
                <a:buFontTx/>
                <a:buNone/>
              </a:pPr>
              <a:t>29</a:t>
            </a:fld>
            <a:endParaRPr lang="en-US" altLang="zh-CN" sz="1200">
              <a:solidFill>
                <a:srgbClr val="898989"/>
              </a:solidFill>
            </a:endParaRPr>
          </a:p>
        </p:txBody>
      </p:sp>
      <p:pic>
        <p:nvPicPr>
          <p:cNvPr id="2560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81400" y="533400"/>
            <a:ext cx="5562600" cy="577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0" name="TextBox 12"/>
          <p:cNvSpPr txBox="1">
            <a:spLocks noChangeArrowheads="1"/>
          </p:cNvSpPr>
          <p:nvPr/>
        </p:nvSpPr>
        <p:spPr bwMode="auto">
          <a:xfrm>
            <a:off x="152400" y="533400"/>
            <a:ext cx="35052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1800" dirty="0">
                <a:latin typeface="Times New Roman" pitchFamily="18" charset="0"/>
                <a:cs typeface="Times New Roman" pitchFamily="18" charset="0"/>
              </a:rPr>
              <a:t>It is apparent that as         </a:t>
            </a:r>
            <a:r>
              <a:rPr lang="en-US" altLang="en-US" sz="1800" dirty="0">
                <a:solidFill>
                  <a:srgbClr val="0000FF"/>
                </a:solidFill>
                <a:latin typeface="Times New Roman" pitchFamily="18" charset="0"/>
                <a:cs typeface="Times New Roman" pitchFamily="18" charset="0"/>
              </a:rPr>
              <a:t>increases</a:t>
            </a:r>
            <a:r>
              <a:rPr lang="en-US" altLang="en-US" sz="1800" dirty="0">
                <a:latin typeface="Times New Roman" pitchFamily="18" charset="0"/>
                <a:cs typeface="Times New Roman" pitchFamily="18" charset="0"/>
              </a:rPr>
              <a:t>, </a:t>
            </a:r>
          </a:p>
          <a:p>
            <a:pPr eaLnBrk="1" hangingPunct="1">
              <a:spcBef>
                <a:spcPct val="0"/>
              </a:spcBef>
              <a:buFontTx/>
              <a:buNone/>
            </a:pPr>
            <a:r>
              <a:rPr lang="en-US" altLang="en-US" sz="1800" dirty="0">
                <a:latin typeface="Times New Roman" pitchFamily="18" charset="0"/>
                <a:cs typeface="Times New Roman" pitchFamily="18" charset="0"/>
              </a:rPr>
              <a:t>the </a:t>
            </a:r>
            <a:r>
              <a:rPr lang="en-US" altLang="en-US" sz="1800" dirty="0">
                <a:solidFill>
                  <a:srgbClr val="FF0000"/>
                </a:solidFill>
                <a:latin typeface="Times New Roman" pitchFamily="18" charset="0"/>
                <a:cs typeface="Times New Roman" pitchFamily="18" charset="0"/>
              </a:rPr>
              <a:t>variances </a:t>
            </a:r>
            <a:r>
              <a:rPr lang="en-US" altLang="en-US" sz="1800" dirty="0">
                <a:latin typeface="Times New Roman" pitchFamily="18" charset="0"/>
                <a:cs typeface="Times New Roman" pitchFamily="18" charset="0"/>
              </a:rPr>
              <a:t>of the measurement</a:t>
            </a:r>
          </a:p>
          <a:p>
            <a:pPr eaLnBrk="1" hangingPunct="1">
              <a:spcBef>
                <a:spcPct val="0"/>
              </a:spcBef>
              <a:buFontTx/>
              <a:buNone/>
            </a:pPr>
            <a:r>
              <a:rPr lang="en-US" altLang="en-US" sz="1800" dirty="0">
                <a:latin typeface="Times New Roman" pitchFamily="18" charset="0"/>
                <a:cs typeface="Times New Roman" pitchFamily="18" charset="0"/>
              </a:rPr>
              <a:t>error corrected log relative risks</a:t>
            </a:r>
          </a:p>
          <a:p>
            <a:pPr eaLnBrk="1" hangingPunct="1">
              <a:spcBef>
                <a:spcPct val="0"/>
              </a:spcBef>
              <a:buFontTx/>
              <a:buNone/>
            </a:pPr>
            <a:r>
              <a:rPr lang="en-US" altLang="en-US" sz="1800" dirty="0">
                <a:latin typeface="Times New Roman" pitchFamily="18" charset="0"/>
                <a:cs typeface="Times New Roman" pitchFamily="18" charset="0"/>
              </a:rPr>
              <a:t>using regression calibration </a:t>
            </a:r>
            <a:r>
              <a:rPr lang="en-US" altLang="en-US" sz="1800" dirty="0" smtClean="0">
                <a:latin typeface="Times New Roman" pitchFamily="18" charset="0"/>
                <a:cs typeface="Times New Roman" pitchFamily="18" charset="0"/>
              </a:rPr>
              <a:t> </a:t>
            </a:r>
            <a:r>
              <a:rPr lang="en-US" altLang="en-US" sz="1800" dirty="0" smtClean="0">
                <a:solidFill>
                  <a:srgbClr val="FF0000"/>
                </a:solidFill>
                <a:latin typeface="Times New Roman" pitchFamily="18" charset="0"/>
                <a:cs typeface="Times New Roman" pitchFamily="18" charset="0"/>
              </a:rPr>
              <a:t>converge to an asymptote</a:t>
            </a:r>
            <a:r>
              <a:rPr lang="en-US" altLang="en-US" sz="1800" dirty="0">
                <a:latin typeface="Times New Roman" pitchFamily="18" charset="0"/>
                <a:cs typeface="Times New Roman" pitchFamily="18" charset="0"/>
              </a:rPr>
              <a:t>. </a:t>
            </a:r>
          </a:p>
          <a:p>
            <a:pPr eaLnBrk="1" hangingPunct="1">
              <a:spcBef>
                <a:spcPct val="0"/>
              </a:spcBef>
              <a:buFontTx/>
              <a:buNone/>
            </a:pPr>
            <a:r>
              <a:rPr lang="en-US" altLang="en-US" sz="1800" dirty="0">
                <a:latin typeface="Times New Roman" pitchFamily="18" charset="0"/>
                <a:cs typeface="Times New Roman" pitchFamily="18" charset="0"/>
              </a:rPr>
              <a:t> </a:t>
            </a:r>
            <a:endParaRPr lang="en-US" altLang="en-US" sz="1800" dirty="0" smtClean="0">
              <a:latin typeface="Times New Roman" pitchFamily="18" charset="0"/>
              <a:cs typeface="Times New Roman" pitchFamily="18" charset="0"/>
            </a:endParaRPr>
          </a:p>
          <a:p>
            <a:pPr eaLnBrk="1" hangingPunct="1">
              <a:spcBef>
                <a:spcPct val="0"/>
              </a:spcBef>
              <a:buFontTx/>
              <a:buNone/>
            </a:pPr>
            <a:endParaRPr lang="en-US" altLang="en-US" sz="1800" dirty="0">
              <a:latin typeface="Times New Roman" pitchFamily="18" charset="0"/>
              <a:cs typeface="Times New Roman" pitchFamily="18" charset="0"/>
            </a:endParaRPr>
          </a:p>
          <a:p>
            <a:pPr eaLnBrk="1" hangingPunct="1">
              <a:spcBef>
                <a:spcPct val="0"/>
              </a:spcBef>
              <a:buFontTx/>
              <a:buNone/>
            </a:pPr>
            <a:endParaRPr lang="en-US" altLang="en-US" sz="1800" dirty="0" smtClean="0">
              <a:latin typeface="Times New Roman" pitchFamily="18" charset="0"/>
              <a:cs typeface="Times New Roman" pitchFamily="18" charset="0"/>
            </a:endParaRPr>
          </a:p>
          <a:p>
            <a:pPr eaLnBrk="1" hangingPunct="1">
              <a:spcBef>
                <a:spcPct val="0"/>
              </a:spcBef>
              <a:buFontTx/>
              <a:buNone/>
            </a:pPr>
            <a:endParaRPr lang="en-US" altLang="en-US" sz="1800" dirty="0">
              <a:latin typeface="Times New Roman" pitchFamily="18" charset="0"/>
              <a:cs typeface="Times New Roman" pitchFamily="18" charset="0"/>
            </a:endParaRPr>
          </a:p>
          <a:p>
            <a:pPr eaLnBrk="1" hangingPunct="1">
              <a:spcBef>
                <a:spcPct val="0"/>
              </a:spcBef>
              <a:buFontTx/>
              <a:buNone/>
            </a:pPr>
            <a:endParaRPr lang="en-US" altLang="en-US" sz="1600" dirty="0">
              <a:latin typeface="Times New Roman" pitchFamily="18" charset="0"/>
              <a:cs typeface="Times New Roman" pitchFamily="18" charset="0"/>
            </a:endParaRPr>
          </a:p>
          <a:p>
            <a:pPr eaLnBrk="1" hangingPunct="1">
              <a:spcBef>
                <a:spcPct val="0"/>
              </a:spcBef>
              <a:buFontTx/>
              <a:buNone/>
            </a:pPr>
            <a:r>
              <a:rPr lang="en-US" altLang="en-US" sz="1800" dirty="0">
                <a:latin typeface="Times New Roman" pitchFamily="18" charset="0"/>
                <a:cs typeface="Times New Roman" pitchFamily="18" charset="0"/>
              </a:rPr>
              <a:t>At small values of         , larger </a:t>
            </a:r>
          </a:p>
          <a:p>
            <a:pPr eaLnBrk="1" hangingPunct="1">
              <a:spcBef>
                <a:spcPct val="0"/>
              </a:spcBef>
              <a:buFontTx/>
              <a:buNone/>
            </a:pPr>
            <a:r>
              <a:rPr lang="en-US" altLang="en-US" sz="1800" dirty="0">
                <a:latin typeface="Times New Roman" pitchFamily="18" charset="0"/>
                <a:cs typeface="Times New Roman" pitchFamily="18" charset="0"/>
              </a:rPr>
              <a:t>values of           improve the </a:t>
            </a:r>
          </a:p>
          <a:p>
            <a:pPr eaLnBrk="1" hangingPunct="1">
              <a:spcBef>
                <a:spcPct val="0"/>
              </a:spcBef>
              <a:buFontTx/>
              <a:buNone/>
            </a:pPr>
            <a:r>
              <a:rPr lang="en-US" altLang="en-US" sz="1800" dirty="0">
                <a:latin typeface="Times New Roman" pitchFamily="18" charset="0"/>
                <a:cs typeface="Times New Roman" pitchFamily="18" charset="0"/>
              </a:rPr>
              <a:t>precision, but </a:t>
            </a:r>
            <a:r>
              <a:rPr lang="en-US" altLang="en-US" sz="1800" dirty="0">
                <a:solidFill>
                  <a:srgbClr val="0000FF"/>
                </a:solidFill>
                <a:latin typeface="Times New Roman" pitchFamily="18" charset="0"/>
                <a:cs typeface="Times New Roman" pitchFamily="18" charset="0"/>
              </a:rPr>
              <a:t>once         </a:t>
            </a:r>
            <a:r>
              <a:rPr lang="en-US" altLang="en-US" sz="1800" dirty="0">
                <a:latin typeface="Times New Roman" pitchFamily="18" charset="0"/>
                <a:cs typeface="Times New Roman" pitchFamily="18" charset="0"/>
              </a:rPr>
              <a:t>is </a:t>
            </a:r>
            <a:r>
              <a:rPr lang="en-US" altLang="en-US" sz="1800" dirty="0">
                <a:solidFill>
                  <a:srgbClr val="0000FF"/>
                </a:solidFill>
                <a:latin typeface="Times New Roman" pitchFamily="18" charset="0"/>
                <a:cs typeface="Times New Roman" pitchFamily="18" charset="0"/>
              </a:rPr>
              <a:t>greater </a:t>
            </a:r>
          </a:p>
          <a:p>
            <a:pPr eaLnBrk="1" hangingPunct="1">
              <a:spcBef>
                <a:spcPct val="0"/>
              </a:spcBef>
              <a:buFontTx/>
              <a:buNone/>
            </a:pPr>
            <a:r>
              <a:rPr lang="en-US" altLang="en-US" sz="1800" dirty="0">
                <a:solidFill>
                  <a:srgbClr val="0000FF"/>
                </a:solidFill>
                <a:latin typeface="Times New Roman" pitchFamily="18" charset="0"/>
                <a:cs typeface="Times New Roman" pitchFamily="18" charset="0"/>
              </a:rPr>
              <a:t>than 100 or so</a:t>
            </a:r>
            <a:r>
              <a:rPr lang="en-US" altLang="en-US" sz="1800" dirty="0">
                <a:latin typeface="Times New Roman" pitchFamily="18" charset="0"/>
                <a:cs typeface="Times New Roman" pitchFamily="18" charset="0"/>
              </a:rPr>
              <a:t>, there  is very </a:t>
            </a:r>
            <a:r>
              <a:rPr lang="en-US" altLang="en-US" sz="1800" dirty="0">
                <a:solidFill>
                  <a:srgbClr val="FF3300"/>
                </a:solidFill>
                <a:latin typeface="Times New Roman" pitchFamily="18" charset="0"/>
                <a:cs typeface="Times New Roman" pitchFamily="18" charset="0"/>
              </a:rPr>
              <a:t>little </a:t>
            </a:r>
          </a:p>
          <a:p>
            <a:pPr eaLnBrk="1" hangingPunct="1">
              <a:spcBef>
                <a:spcPct val="0"/>
              </a:spcBef>
              <a:buFontTx/>
              <a:buNone/>
            </a:pPr>
            <a:r>
              <a:rPr lang="en-US" altLang="en-US" sz="1800" dirty="0">
                <a:solidFill>
                  <a:srgbClr val="FF3300"/>
                </a:solidFill>
                <a:latin typeface="Times New Roman" pitchFamily="18" charset="0"/>
                <a:cs typeface="Times New Roman" pitchFamily="18" charset="0"/>
              </a:rPr>
              <a:t>advantage</a:t>
            </a:r>
            <a:r>
              <a:rPr lang="en-US" altLang="en-US" sz="1800" dirty="0">
                <a:latin typeface="Times New Roman" pitchFamily="18" charset="0"/>
                <a:cs typeface="Times New Roman" pitchFamily="18" charset="0"/>
              </a:rPr>
              <a:t> </a:t>
            </a:r>
            <a:r>
              <a:rPr lang="en-US" altLang="en-US" sz="1800" dirty="0">
                <a:solidFill>
                  <a:srgbClr val="FF3300"/>
                </a:solidFill>
                <a:latin typeface="Times New Roman" pitchFamily="18" charset="0"/>
                <a:cs typeface="Times New Roman" pitchFamily="18" charset="0"/>
              </a:rPr>
              <a:t>over</a:t>
            </a:r>
            <a:r>
              <a:rPr lang="en-US" altLang="en-US" sz="1800" dirty="0">
                <a:latin typeface="Times New Roman" pitchFamily="18" charset="0"/>
                <a:cs typeface="Times New Roman" pitchFamily="18" charset="0"/>
              </a:rPr>
              <a:t>                </a:t>
            </a:r>
            <a:r>
              <a:rPr lang="en-US" altLang="en-US" sz="1800" dirty="0" smtClean="0">
                <a:latin typeface="Times New Roman" pitchFamily="18" charset="0"/>
                <a:cs typeface="Times New Roman" pitchFamily="18" charset="0"/>
              </a:rPr>
              <a:t>.</a:t>
            </a:r>
            <a:endParaRPr lang="en-US" altLang="en-US" sz="1800" dirty="0">
              <a:latin typeface="Times New Roman" pitchFamily="18" charset="0"/>
              <a:cs typeface="Times New Roman" pitchFamily="18" charset="0"/>
            </a:endParaRPr>
          </a:p>
        </p:txBody>
      </p:sp>
      <p:graphicFrame>
        <p:nvGraphicFramePr>
          <p:cNvPr id="25611" name="Object 7"/>
          <p:cNvGraphicFramePr>
            <a:graphicFrameLocks noChangeAspect="1"/>
          </p:cNvGraphicFramePr>
          <p:nvPr>
            <p:extLst>
              <p:ext uri="{D42A27DB-BD31-4B8C-83A1-F6EECF244321}">
                <p14:modId xmlns:p14="http://schemas.microsoft.com/office/powerpoint/2010/main" val="622976366"/>
              </p:ext>
            </p:extLst>
          </p:nvPr>
        </p:nvGraphicFramePr>
        <p:xfrm>
          <a:off x="2209800" y="533400"/>
          <a:ext cx="358775" cy="425450"/>
        </p:xfrm>
        <a:graphic>
          <a:graphicData uri="http://schemas.openxmlformats.org/presentationml/2006/ole">
            <mc:AlternateContent xmlns:mc="http://schemas.openxmlformats.org/markup-compatibility/2006">
              <mc:Choice xmlns:v="urn:schemas-microsoft-com:vml" Requires="v">
                <p:oleObj spid="_x0000_s1630" name="Equation" r:id="rId8" imgW="203112" imgH="241195" progId="Equation.DSMT4">
                  <p:embed/>
                </p:oleObj>
              </mc:Choice>
              <mc:Fallback>
                <p:oleObj name="Equation" r:id="rId8" imgW="203112" imgH="241195"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533400"/>
                        <a:ext cx="358775" cy="425450"/>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2" name="Object 8"/>
          <p:cNvGraphicFramePr>
            <a:graphicFrameLocks noChangeAspect="1"/>
          </p:cNvGraphicFramePr>
          <p:nvPr>
            <p:extLst>
              <p:ext uri="{D42A27DB-BD31-4B8C-83A1-F6EECF244321}">
                <p14:modId xmlns:p14="http://schemas.microsoft.com/office/powerpoint/2010/main" val="1821424816"/>
              </p:ext>
            </p:extLst>
          </p:nvPr>
        </p:nvGraphicFramePr>
        <p:xfrm>
          <a:off x="2057400" y="3207544"/>
          <a:ext cx="358775" cy="425450"/>
        </p:xfrm>
        <a:graphic>
          <a:graphicData uri="http://schemas.openxmlformats.org/presentationml/2006/ole">
            <mc:AlternateContent xmlns:mc="http://schemas.openxmlformats.org/markup-compatibility/2006">
              <mc:Choice xmlns:v="urn:schemas-microsoft-com:vml" Requires="v">
                <p:oleObj spid="_x0000_s1631" name="Equation" r:id="rId10" imgW="203112" imgH="241195" progId="Equation.DSMT4">
                  <p:embed/>
                </p:oleObj>
              </mc:Choice>
              <mc:Fallback>
                <p:oleObj name="Equation" r:id="rId10" imgW="203112" imgH="241195"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0" y="3207544"/>
                        <a:ext cx="3587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3" name="Object 9"/>
          <p:cNvGraphicFramePr>
            <a:graphicFrameLocks noChangeAspect="1"/>
          </p:cNvGraphicFramePr>
          <p:nvPr/>
        </p:nvGraphicFramePr>
        <p:xfrm>
          <a:off x="1219200" y="3482975"/>
          <a:ext cx="425450" cy="471488"/>
        </p:xfrm>
        <a:graphic>
          <a:graphicData uri="http://schemas.openxmlformats.org/presentationml/2006/ole">
            <mc:AlternateContent xmlns:mc="http://schemas.openxmlformats.org/markup-compatibility/2006">
              <mc:Choice xmlns:v="urn:schemas-microsoft-com:vml" Requires="v">
                <p:oleObj spid="_x0000_s1632" name="Equation" r:id="rId11" imgW="241091" imgH="266469" progId="Equation.DSMT4">
                  <p:embed/>
                </p:oleObj>
              </mc:Choice>
              <mc:Fallback>
                <p:oleObj name="Equation" r:id="rId11" imgW="241091" imgH="266469"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9200" y="3482975"/>
                        <a:ext cx="425450"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4" name="Object 14"/>
          <p:cNvGraphicFramePr>
            <a:graphicFrameLocks noChangeAspect="1"/>
          </p:cNvGraphicFramePr>
          <p:nvPr>
            <p:extLst>
              <p:ext uri="{D42A27DB-BD31-4B8C-83A1-F6EECF244321}">
                <p14:modId xmlns:p14="http://schemas.microsoft.com/office/powerpoint/2010/main" val="4197279921"/>
              </p:ext>
            </p:extLst>
          </p:nvPr>
        </p:nvGraphicFramePr>
        <p:xfrm>
          <a:off x="2057400" y="3810000"/>
          <a:ext cx="358775" cy="425450"/>
        </p:xfrm>
        <a:graphic>
          <a:graphicData uri="http://schemas.openxmlformats.org/presentationml/2006/ole">
            <mc:AlternateContent xmlns:mc="http://schemas.openxmlformats.org/markup-compatibility/2006">
              <mc:Choice xmlns:v="urn:schemas-microsoft-com:vml" Requires="v">
                <p:oleObj spid="_x0000_s1633" name="Equation" r:id="rId13" imgW="203112" imgH="241195" progId="Equation.DSMT4">
                  <p:embed/>
                </p:oleObj>
              </mc:Choice>
              <mc:Fallback>
                <p:oleObj name="Equation" r:id="rId13" imgW="203112" imgH="241195"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7400" y="3810000"/>
                        <a:ext cx="358775" cy="425450"/>
                      </a:xfrm>
                      <a:prstGeom prst="rect">
                        <a:avLst/>
                      </a:prstGeom>
                      <a:noFill/>
                      <a:ln>
                        <a:solidFill>
                          <a:srgbClr val="0000FF"/>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615" name="Object 11"/>
          <p:cNvGraphicFramePr>
            <a:graphicFrameLocks noChangeAspect="1"/>
          </p:cNvGraphicFramePr>
          <p:nvPr>
            <p:extLst>
              <p:ext uri="{D42A27DB-BD31-4B8C-83A1-F6EECF244321}">
                <p14:modId xmlns:p14="http://schemas.microsoft.com/office/powerpoint/2010/main" val="4121778304"/>
              </p:ext>
            </p:extLst>
          </p:nvPr>
        </p:nvGraphicFramePr>
        <p:xfrm>
          <a:off x="1763712" y="4417290"/>
          <a:ext cx="849313" cy="434975"/>
        </p:xfrm>
        <a:graphic>
          <a:graphicData uri="http://schemas.openxmlformats.org/presentationml/2006/ole">
            <mc:AlternateContent xmlns:mc="http://schemas.openxmlformats.org/markup-compatibility/2006">
              <mc:Choice xmlns:v="urn:schemas-microsoft-com:vml" Requires="v">
                <p:oleObj spid="_x0000_s1634" name="Equation" r:id="rId14" imgW="520474" imgH="266584" progId="Equation.DSMT4">
                  <p:embed/>
                </p:oleObj>
              </mc:Choice>
              <mc:Fallback>
                <p:oleObj name="Equation" r:id="rId14" imgW="520474" imgH="266584"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63712" y="4417290"/>
                        <a:ext cx="849313" cy="434975"/>
                      </a:xfrm>
                      <a:prstGeom prst="rect">
                        <a:avLst/>
                      </a:prstGeom>
                      <a:noFill/>
                      <a:ln>
                        <a:solidFill>
                          <a:srgbClr val="FF0000"/>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0" name="TextBox 19"/>
              <p:cNvSpPr txBox="1"/>
              <p:nvPr/>
            </p:nvSpPr>
            <p:spPr>
              <a:xfrm>
                <a:off x="5181600" y="5581912"/>
                <a:ext cx="533400" cy="226024"/>
              </a:xfrm>
              <a:prstGeom prst="rect">
                <a:avLst/>
              </a:prstGeom>
              <a:solidFill>
                <a:schemeClr val="bg1"/>
              </a:solidFill>
            </p:spPr>
            <p:txBody>
              <a:bodyPr wrap="square" rtlCol="0">
                <a:spAutoFit/>
              </a:bodyPr>
              <a:lstStyle/>
              <a:p>
                <a14:m>
                  <m:oMathPara xmlns:m="http://schemas.openxmlformats.org/officeDocument/2006/math" xmlns="">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=2</m:t>
                      </m:r>
                    </m:oMath>
                  </m:oMathPara>
                </a14:m>
                <a:endParaRPr lang="en-US" sz="800" kern="100" dirty="0"/>
              </a:p>
            </p:txBody>
          </p:sp>
        </mc:Choice>
        <mc:Fallback xmlns="">
          <p:sp>
            <p:nvSpPr>
              <p:cNvPr id="20" name="TextBox 19"/>
              <p:cNvSpPr txBox="1">
                <a:spLocks noRot="1" noChangeAspect="1" noMove="1" noResize="1" noEditPoints="1" noAdjustHandles="1" noChangeArrowheads="1" noChangeShapeType="1" noTextEdit="1"/>
              </p:cNvSpPr>
              <p:nvPr/>
            </p:nvSpPr>
            <p:spPr>
              <a:xfrm>
                <a:off x="5181600" y="5581912"/>
                <a:ext cx="533400" cy="226024"/>
              </a:xfrm>
              <a:prstGeom prst="rect">
                <a:avLst/>
              </a:prstGeom>
              <a:blipFill rotWithShape="1">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019800" y="5562600"/>
                <a:ext cx="533400" cy="226024"/>
              </a:xfrm>
              <a:prstGeom prst="rect">
                <a:avLst/>
              </a:prstGeom>
              <a:solidFill>
                <a:schemeClr val="bg1"/>
              </a:solidFill>
            </p:spPr>
            <p:txBody>
              <a:bodyPr wrap="square" rtlCol="0">
                <a:spAutoFit/>
              </a:bodyPr>
              <a:lstStyle/>
              <a:p>
                <a14:m>
                  <m:oMathPara xmlns:m="http://schemas.openxmlformats.org/officeDocument/2006/math" xmlns="">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=3</m:t>
                      </m:r>
                    </m:oMath>
                  </m:oMathPara>
                </a14:m>
                <a:endParaRPr lang="en-US" sz="800" kern="1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019800" y="5562600"/>
                <a:ext cx="533400" cy="226024"/>
              </a:xfrm>
              <a:prstGeom prst="rect">
                <a:avLst/>
              </a:prstGeom>
              <a:blipFill rotWithShape="1">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781800" y="5567879"/>
                <a:ext cx="533400" cy="226024"/>
              </a:xfrm>
              <a:prstGeom prst="rect">
                <a:avLst/>
              </a:prstGeom>
              <a:solidFill>
                <a:schemeClr val="bg1"/>
              </a:solidFill>
            </p:spPr>
            <p:txBody>
              <a:bodyPr wrap="square" rtlCol="0">
                <a:spAutoFit/>
              </a:bodyPr>
              <a:lstStyle/>
              <a:p>
                <a14:m>
                  <m:oMathPara xmlns:m="http://schemas.openxmlformats.org/officeDocument/2006/math" xmlns="">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=5</m:t>
                      </m:r>
                    </m:oMath>
                  </m:oMathPara>
                </a14:m>
                <a:endParaRPr lang="en-US" sz="800" kern="1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781800" y="5567879"/>
                <a:ext cx="533400" cy="226024"/>
              </a:xfrm>
              <a:prstGeom prst="rect">
                <a:avLst/>
              </a:prstGeom>
              <a:blipFill rotWithShape="1">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543800" y="5562600"/>
                <a:ext cx="685800" cy="226024"/>
              </a:xfrm>
              <a:prstGeom prst="rect">
                <a:avLst/>
              </a:prstGeom>
              <a:solidFill>
                <a:schemeClr val="bg1"/>
              </a:solidFill>
            </p:spPr>
            <p:txBody>
              <a:bodyPr wrap="square" rtlCol="0">
                <a:spAutoFit/>
              </a:bodyPr>
              <a:lstStyle/>
              <a:p>
                <a14:m>
                  <m:oMathPara xmlns:m="http://schemas.openxmlformats.org/officeDocument/2006/math" xmlns="">
                    <m:oMathParaPr>
                      <m:jc m:val="centerGroup"/>
                    </m:oMathParaPr>
                    <m:oMath xmlns:m="http://schemas.openxmlformats.org/officeDocument/2006/math">
                      <m:sSub>
                        <m:sSubPr>
                          <m:ctrlPr>
                            <a:rPr lang="en-US" sz="800" i="1" kern="100" smtClean="0">
                              <a:latin typeface="Cambria Math" panose="02040503050406030204" pitchFamily="18" charset="0"/>
                            </a:rPr>
                          </m:ctrlPr>
                        </m:sSubPr>
                        <m:e>
                          <m:r>
                            <a:rPr lang="en-US" sz="800" b="0" i="1" kern="100" smtClean="0">
                              <a:latin typeface="Cambria Math"/>
                            </a:rPr>
                            <m:t>𝑛</m:t>
                          </m:r>
                        </m:e>
                        <m:sub>
                          <m:sSub>
                            <m:sSubPr>
                              <m:ctrlPr>
                                <a:rPr lang="en-US" sz="800" i="1" kern="100" smtClean="0">
                                  <a:latin typeface="Cambria Math" panose="02040503050406030204" pitchFamily="18" charset="0"/>
                                </a:rPr>
                              </m:ctrlPr>
                            </m:sSubPr>
                            <m:e>
                              <m:r>
                                <a:rPr lang="en-US" sz="800" b="0" i="1" kern="100" smtClean="0">
                                  <a:latin typeface="Cambria Math"/>
                                </a:rPr>
                                <m:t>𝑅</m:t>
                              </m:r>
                            </m:e>
                            <m:sub>
                              <m:r>
                                <a:rPr lang="en-US" sz="800" b="0" i="1" kern="100" smtClean="0">
                                  <a:latin typeface="Cambria Math"/>
                                </a:rPr>
                                <m:t>𝐼</m:t>
                              </m:r>
                            </m:sub>
                          </m:sSub>
                        </m:sub>
                      </m:sSub>
                      <m:r>
                        <a:rPr lang="en-US" sz="800" b="0" i="1" kern="100" smtClean="0">
                          <a:latin typeface="Cambria Math"/>
                        </a:rPr>
                        <m:t>=10</m:t>
                      </m:r>
                    </m:oMath>
                  </m:oMathPara>
                </a14:m>
                <a:endParaRPr lang="en-US" sz="800" kern="100" dirty="0"/>
              </a:p>
            </p:txBody>
          </p:sp>
        </mc:Choice>
        <mc:Fallback xmlns="">
          <p:sp>
            <p:nvSpPr>
              <p:cNvPr id="23" name="TextBox 22"/>
              <p:cNvSpPr txBox="1">
                <a:spLocks noRot="1" noChangeAspect="1" noMove="1" noResize="1" noEditPoints="1" noAdjustHandles="1" noChangeArrowheads="1" noChangeShapeType="1" noTextEdit="1"/>
              </p:cNvSpPr>
              <p:nvPr/>
            </p:nvSpPr>
            <p:spPr>
              <a:xfrm>
                <a:off x="7543800" y="5562600"/>
                <a:ext cx="685800" cy="226024"/>
              </a:xfrm>
              <a:prstGeom prst="rect">
                <a:avLst/>
              </a:prstGeom>
              <a:blipFill rotWithShape="1">
                <a:blip r:embed="rId19"/>
                <a:stretch>
                  <a:fillRect/>
                </a:stretch>
              </a:blipFill>
            </p:spPr>
            <p:txBody>
              <a:bodyPr/>
              <a:lstStyle/>
              <a:p>
                <a:r>
                  <a:rPr lang="en-US">
                    <a:noFill/>
                  </a:rPr>
                  <a:t> </a:t>
                </a:r>
              </a:p>
            </p:txBody>
          </p:sp>
        </mc:Fallback>
      </mc:AlternateContent>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body" sz="half" idx="4294967295"/>
          </p:nvPr>
        </p:nvSpPr>
        <p:spPr>
          <a:xfrm>
            <a:off x="381000" y="152400"/>
            <a:ext cx="8458200" cy="6172200"/>
          </a:xfrm>
        </p:spPr>
        <p:txBody>
          <a:bodyPr lIns="92075" tIns="46038" rIns="92075" bIns="46038"/>
          <a:lstStyle/>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2400" dirty="0" smtClean="0">
                <a:latin typeface="Times New Roman" pitchFamily="18" charset="0"/>
                <a:cs typeface="Times New Roman" pitchFamily="18" charset="0"/>
              </a:rPr>
              <a:t>Concepts</a:t>
            </a:r>
          </a:p>
          <a:p>
            <a:pPr>
              <a:buFont typeface="Arial" charset="0"/>
              <a:buNone/>
              <a:defRPr/>
            </a:pPr>
            <a:endParaRPr lang="en-US" sz="2400" dirty="0" smtClean="0">
              <a:latin typeface="Times New Roman" pitchFamily="18" charset="0"/>
              <a:cs typeface="Times New Roman" pitchFamily="18" charset="0"/>
            </a:endParaRPr>
          </a:p>
          <a:p>
            <a:pPr>
              <a:defRPr/>
            </a:pPr>
            <a:r>
              <a:rPr lang="en-US" sz="2400" dirty="0" smtClean="0">
                <a:latin typeface="Times New Roman" pitchFamily="18" charset="0"/>
                <a:cs typeface="Times New Roman" pitchFamily="18" charset="0"/>
              </a:rPr>
              <a:t>Fully validated design</a:t>
            </a:r>
          </a:p>
          <a:p>
            <a:pPr>
              <a:defRPr/>
            </a:pPr>
            <a:endParaRPr lang="en-US" sz="2400" dirty="0" smtClean="0">
              <a:latin typeface="Times New Roman" pitchFamily="18" charset="0"/>
              <a:cs typeface="Times New Roman" pitchFamily="18" charset="0"/>
            </a:endParaRPr>
          </a:p>
          <a:p>
            <a:pPr>
              <a:defRPr/>
            </a:pPr>
            <a:r>
              <a:rPr lang="en-US" sz="2400" dirty="0" smtClean="0">
                <a:latin typeface="Times New Roman" pitchFamily="18" charset="0"/>
                <a:cs typeface="Times New Roman" pitchFamily="18" charset="0"/>
              </a:rPr>
              <a:t>Optimal design </a:t>
            </a:r>
          </a:p>
          <a:p>
            <a:pPr>
              <a:defRPr/>
            </a:pPr>
            <a:endParaRPr lang="en-US" sz="2400" dirty="0" smtClean="0">
              <a:latin typeface="Times New Roman" pitchFamily="18" charset="0"/>
              <a:cs typeface="Times New Roman" pitchFamily="18" charset="0"/>
            </a:endParaRPr>
          </a:p>
          <a:p>
            <a:pPr>
              <a:defRPr/>
            </a:pPr>
            <a:r>
              <a:rPr lang="en-US" sz="2400" dirty="0" smtClean="0">
                <a:latin typeface="Times New Roman" pitchFamily="18" charset="0"/>
                <a:cs typeface="Times New Roman" pitchFamily="18" charset="0"/>
              </a:rPr>
              <a:t>Unit cost</a:t>
            </a:r>
          </a:p>
          <a:p>
            <a:pPr>
              <a:buFont typeface="Arial" charset="0"/>
              <a:buNone/>
              <a:defRPr/>
            </a:pPr>
            <a:endParaRPr lang="en-US" sz="2200" dirty="0" smtClean="0">
              <a:latin typeface="Times New Roman" pitchFamily="18" charset="0"/>
              <a:cs typeface="Times New Roman" pitchFamily="18" charset="0"/>
            </a:endParaRPr>
          </a:p>
          <a:p>
            <a:pPr>
              <a:buFont typeface="Arial" charset="0"/>
              <a:buNone/>
              <a:defRPr/>
            </a:pPr>
            <a:r>
              <a:rPr lang="en-US" sz="2200" dirty="0" smtClean="0">
                <a:latin typeface="Times New Roman" pitchFamily="18" charset="0"/>
                <a:cs typeface="Times New Roman" pitchFamily="18" charset="0"/>
              </a:rPr>
              <a:t> </a:t>
            </a:r>
          </a:p>
          <a:p>
            <a:pPr>
              <a:buFont typeface="Arial" charset="0"/>
              <a:buNone/>
              <a:defRPr/>
            </a:pPr>
            <a:r>
              <a:rPr lang="en-US" sz="2400" dirty="0" smtClean="0">
                <a:latin typeface="Times New Roman" pitchFamily="18" charset="0"/>
                <a:cs typeface="Times New Roman" pitchFamily="18" charset="0"/>
              </a:rPr>
              <a:t>   </a:t>
            </a:r>
          </a:p>
          <a:p>
            <a:pPr>
              <a:buFont typeface="Arial" charset="0"/>
              <a:buNone/>
              <a:defRPr/>
            </a:pPr>
            <a:endParaRPr lang="en-US" sz="2400" dirty="0" smtClean="0">
              <a:latin typeface="Times New Roman" pitchFamily="18" charset="0"/>
              <a:cs typeface="Times New Roman" pitchFamily="18" charset="0"/>
            </a:endParaRPr>
          </a:p>
          <a:p>
            <a:pPr marL="533400" indent="-533400">
              <a:lnSpc>
                <a:spcPct val="80000"/>
              </a:lnSpc>
              <a:buFont typeface="Arial" charset="0"/>
              <a:buNone/>
              <a:defRPr/>
            </a:pPr>
            <a:endParaRPr lang="en-US" altLang="zh-CN" sz="2400" dirty="0" smtClean="0">
              <a:latin typeface="Times New Roman" pitchFamily="18" charset="0"/>
            </a:endParaRPr>
          </a:p>
        </p:txBody>
      </p:sp>
      <p:cxnSp>
        <p:nvCxnSpPr>
          <p:cNvPr id="26627" name="AutoShape 3"/>
          <p:cNvCxnSpPr>
            <a:cxnSpLocks noChangeShapeType="1"/>
            <a:stCxn id="28676" idx="3"/>
            <a:endCxn id="28676" idx="3"/>
          </p:cNvCxnSpPr>
          <p:nvPr/>
        </p:nvCxnSpPr>
        <p:spPr bwMode="auto">
          <a:xfrm>
            <a:off x="8839200" y="3238500"/>
            <a:ext cx="1588" cy="158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6628" name="Rectangle 11"/>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graphicFrame>
        <p:nvGraphicFramePr>
          <p:cNvPr id="26629" name="Object 10"/>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27390" name="Equation" r:id="rId4" imgW="114102" imgH="177492" progId="Equation.DSMT4">
                  <p:embed/>
                </p:oleObj>
              </mc:Choice>
              <mc:Fallback>
                <p:oleObj name="Equation" r:id="rId4" imgW="114102" imgH="17749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630" name="Object 13"/>
          <p:cNvGraphicFramePr>
            <a:graphicFrameLocks noChangeAspect="1"/>
          </p:cNvGraphicFramePr>
          <p:nvPr/>
        </p:nvGraphicFramePr>
        <p:xfrm>
          <a:off x="0" y="0"/>
          <a:ext cx="114300" cy="180975"/>
        </p:xfrm>
        <a:graphic>
          <a:graphicData uri="http://schemas.openxmlformats.org/presentationml/2006/ole">
            <mc:AlternateContent xmlns:mc="http://schemas.openxmlformats.org/markup-compatibility/2006">
              <mc:Choice xmlns:v="urn:schemas-microsoft-com:vml" Requires="v">
                <p:oleObj spid="_x0000_s27391" name="Equation" r:id="rId6" imgW="114102" imgH="177492" progId="Equation.DSMT4">
                  <p:embed/>
                </p:oleObj>
              </mc:Choice>
              <mc:Fallback>
                <p:oleObj name="Equation" r:id="rId6" imgW="114102" imgH="177492"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1" name="Rectangle 15"/>
          <p:cNvSpPr>
            <a:spLocks noChangeArrowheads="1"/>
          </p:cNvSpPr>
          <p:nvPr/>
        </p:nvSpPr>
        <p:spPr bwMode="auto">
          <a:xfrm>
            <a:off x="0" y="-2286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endParaRPr lang="zh-CN" altLang="en-US" sz="1800">
              <a:latin typeface="Arial" charset="0"/>
            </a:endParaRPr>
          </a:p>
        </p:txBody>
      </p:sp>
      <p:sp>
        <p:nvSpPr>
          <p:cNvPr id="26632" name="Slide Number Placeholder 18"/>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r" eaLnBrk="1" hangingPunct="1">
              <a:spcBef>
                <a:spcPct val="0"/>
              </a:spcBef>
              <a:buFontTx/>
              <a:buNone/>
            </a:pPr>
            <a:fld id="{A2A97EAE-9DD8-4659-9619-6C1EE460D74E}" type="slidenum">
              <a:rPr lang="zh-CN" altLang="en-US" sz="1200">
                <a:solidFill>
                  <a:srgbClr val="898989"/>
                </a:solidFill>
              </a:rPr>
              <a:pPr algn="r" eaLnBrk="1" hangingPunct="1">
                <a:spcBef>
                  <a:spcPct val="0"/>
                </a:spcBef>
                <a:buFontTx/>
                <a:buNone/>
              </a:pPr>
              <a:t>30</a:t>
            </a:fld>
            <a:endParaRPr lang="en-US" altLang="zh-CN" sz="1200">
              <a:solidFill>
                <a:srgbClr val="898989"/>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16177</TotalTime>
  <Words>1574</Words>
  <Application>Microsoft Macintosh PowerPoint</Application>
  <PresentationFormat>On-screen Show (4:3)</PresentationFormat>
  <Paragraphs>631</Paragraphs>
  <Slides>30</Slides>
  <Notes>24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2" baseType="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Spiegelman and Gray (1991) </vt:lpstr>
      <vt:lpstr>PowerPoint Presentation</vt:lpstr>
      <vt:lpstr>PowerPoint Presentation</vt:lpstr>
      <vt:lpstr>PowerPoint Presentation</vt:lpstr>
      <vt:lpstr>Rosner, Spiegelman and Willett  (Rosner et al., 1992)</vt:lpstr>
      <vt:lpstr>PowerPoint Presentation</vt:lpstr>
      <vt:lpstr>PowerPoint Presentation</vt:lpstr>
    </vt:vector>
  </TitlesOfParts>
  <Company>Harvard School of Public Health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HSPH IT</dc:creator>
  <cp:lastModifiedBy>Molin Wang</cp:lastModifiedBy>
  <cp:revision>1025</cp:revision>
  <cp:lastPrinted>2016-10-18T13:40:09Z</cp:lastPrinted>
  <dcterms:created xsi:type="dcterms:W3CDTF">2010-11-19T21:18:53Z</dcterms:created>
  <dcterms:modified xsi:type="dcterms:W3CDTF">2017-10-09T21:44:48Z</dcterms:modified>
</cp:coreProperties>
</file>