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64"/>
  </p:notesMasterIdLst>
  <p:handoutMasterIdLst>
    <p:handoutMasterId r:id="rId65"/>
  </p:handoutMasterIdLst>
  <p:sldIdLst>
    <p:sldId id="452" r:id="rId2"/>
    <p:sldId id="663" r:id="rId3"/>
    <p:sldId id="662" r:id="rId4"/>
    <p:sldId id="661" r:id="rId5"/>
    <p:sldId id="645" r:id="rId6"/>
    <p:sldId id="666" r:id="rId7"/>
    <p:sldId id="648" r:id="rId8"/>
    <p:sldId id="653" r:id="rId9"/>
    <p:sldId id="654" r:id="rId10"/>
    <p:sldId id="655" r:id="rId11"/>
    <p:sldId id="638" r:id="rId12"/>
    <p:sldId id="617" r:id="rId13"/>
    <p:sldId id="618" r:id="rId14"/>
    <p:sldId id="619" r:id="rId15"/>
    <p:sldId id="620" r:id="rId16"/>
    <p:sldId id="601" r:id="rId17"/>
    <p:sldId id="621" r:id="rId18"/>
    <p:sldId id="630" r:id="rId19"/>
    <p:sldId id="623" r:id="rId20"/>
    <p:sldId id="631" r:id="rId21"/>
    <p:sldId id="624" r:id="rId22"/>
    <p:sldId id="626" r:id="rId23"/>
    <p:sldId id="628" r:id="rId24"/>
    <p:sldId id="644" r:id="rId25"/>
    <p:sldId id="629" r:id="rId26"/>
    <p:sldId id="633" r:id="rId27"/>
    <p:sldId id="632" r:id="rId28"/>
    <p:sldId id="634" r:id="rId29"/>
    <p:sldId id="506" r:id="rId30"/>
    <p:sldId id="567" r:id="rId31"/>
    <p:sldId id="476" r:id="rId32"/>
    <p:sldId id="606" r:id="rId33"/>
    <p:sldId id="636" r:id="rId34"/>
    <p:sldId id="637" r:id="rId35"/>
    <p:sldId id="639" r:id="rId36"/>
    <p:sldId id="640" r:id="rId37"/>
    <p:sldId id="641" r:id="rId38"/>
    <p:sldId id="603" r:id="rId39"/>
    <p:sldId id="475" r:id="rId40"/>
    <p:sldId id="605" r:id="rId41"/>
    <p:sldId id="592" r:id="rId42"/>
    <p:sldId id="593" r:id="rId43"/>
    <p:sldId id="507" r:id="rId44"/>
    <p:sldId id="516" r:id="rId45"/>
    <p:sldId id="478" r:id="rId46"/>
    <p:sldId id="480" r:id="rId47"/>
    <p:sldId id="539" r:id="rId48"/>
    <p:sldId id="434" r:id="rId49"/>
    <p:sldId id="541" r:id="rId50"/>
    <p:sldId id="482" r:id="rId51"/>
    <p:sldId id="510" r:id="rId52"/>
    <p:sldId id="491" r:id="rId53"/>
    <p:sldId id="492" r:id="rId54"/>
    <p:sldId id="493" r:id="rId55"/>
    <p:sldId id="594" r:id="rId56"/>
    <p:sldId id="557" r:id="rId57"/>
    <p:sldId id="609" r:id="rId58"/>
    <p:sldId id="610" r:id="rId59"/>
    <p:sldId id="611" r:id="rId60"/>
    <p:sldId id="612" r:id="rId61"/>
    <p:sldId id="649" r:id="rId62"/>
    <p:sldId id="669" r:id="rId63"/>
  </p:sldIdLst>
  <p:sldSz cx="9144000" cy="6858000" type="screen4x3"/>
  <p:notesSz cx="7315200" cy="9601200"/>
  <p:defaultTextStyle>
    <a:defPPr>
      <a:defRPr lang="en-US"/>
    </a:defPPr>
    <a:lvl1pPr algn="ctr" rtl="0" fontAlgn="base">
      <a:spcBef>
        <a:spcPct val="0"/>
      </a:spcBef>
      <a:spcAft>
        <a:spcPct val="0"/>
      </a:spcAft>
      <a:defRPr sz="2400" kern="1200">
        <a:solidFill>
          <a:schemeClr val="tx1"/>
        </a:solidFill>
        <a:latin typeface="Times New Roman" pitchFamily="18" charset="0"/>
        <a:ea typeface="+mn-ea"/>
        <a:cs typeface="+mn-cs"/>
      </a:defRPr>
    </a:lvl1pPr>
    <a:lvl2pPr marL="457200" algn="ctr" rtl="0" fontAlgn="base">
      <a:spcBef>
        <a:spcPct val="0"/>
      </a:spcBef>
      <a:spcAft>
        <a:spcPct val="0"/>
      </a:spcAft>
      <a:defRPr sz="2400" kern="1200">
        <a:solidFill>
          <a:schemeClr val="tx1"/>
        </a:solidFill>
        <a:latin typeface="Times New Roman" pitchFamily="18" charset="0"/>
        <a:ea typeface="+mn-ea"/>
        <a:cs typeface="+mn-cs"/>
      </a:defRPr>
    </a:lvl2pPr>
    <a:lvl3pPr marL="914400" algn="ctr" rtl="0" fontAlgn="base">
      <a:spcBef>
        <a:spcPct val="0"/>
      </a:spcBef>
      <a:spcAft>
        <a:spcPct val="0"/>
      </a:spcAft>
      <a:defRPr sz="2400" kern="1200">
        <a:solidFill>
          <a:schemeClr val="tx1"/>
        </a:solidFill>
        <a:latin typeface="Times New Roman" pitchFamily="18" charset="0"/>
        <a:ea typeface="+mn-ea"/>
        <a:cs typeface="+mn-cs"/>
      </a:defRPr>
    </a:lvl3pPr>
    <a:lvl4pPr marL="1371600" algn="ctr" rtl="0" fontAlgn="base">
      <a:spcBef>
        <a:spcPct val="0"/>
      </a:spcBef>
      <a:spcAft>
        <a:spcPct val="0"/>
      </a:spcAft>
      <a:defRPr sz="2400" kern="1200">
        <a:solidFill>
          <a:schemeClr val="tx1"/>
        </a:solidFill>
        <a:latin typeface="Times New Roman" pitchFamily="18" charset="0"/>
        <a:ea typeface="+mn-ea"/>
        <a:cs typeface="+mn-cs"/>
      </a:defRPr>
    </a:lvl4pPr>
    <a:lvl5pPr marL="1828800" algn="ctr"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993366"/>
    <a:srgbClr val="CC0000"/>
    <a:srgbClr val="EBF5ED"/>
    <a:srgbClr val="E5F1E8"/>
    <a:srgbClr val="F7FFFB"/>
    <a:srgbClr val="FFCC99"/>
    <a:srgbClr val="0000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4A3DE0-5A9D-4902-A099-9A560D1A44E1}" v="11" dt="2026-02-22T16:19:16.6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48" autoAdjust="0"/>
    <p:restoredTop sz="94719" autoAdjust="0"/>
  </p:normalViewPr>
  <p:slideViewPr>
    <p:cSldViewPr>
      <p:cViewPr varScale="1">
        <p:scale>
          <a:sx n="120" d="100"/>
          <a:sy n="120" d="100"/>
        </p:scale>
        <p:origin x="1320"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4722"/>
    </p:cViewPr>
  </p:sorterViewPr>
  <p:notesViewPr>
    <p:cSldViewPr>
      <p:cViewPr>
        <p:scale>
          <a:sx n="75" d="100"/>
          <a:sy n="75" d="100"/>
        </p:scale>
        <p:origin x="-2058" y="-1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roll, Raymond J" userId="06acdec8-66e6-42b9-bc10-a1b978921d84" providerId="ADAL" clId="{61DFF595-E42A-4F1C-ABAE-C0C94263495E}"/>
    <pc:docChg chg="modSld">
      <pc:chgData name="Carroll, Raymond J" userId="06acdec8-66e6-42b9-bc10-a1b978921d84" providerId="ADAL" clId="{61DFF595-E42A-4F1C-ABAE-C0C94263495E}" dt="2026-02-22T19:29:04.318" v="764" actId="20577"/>
      <pc:docMkLst>
        <pc:docMk/>
      </pc:docMkLst>
      <pc:sldChg chg="modSp mod">
        <pc:chgData name="Carroll, Raymond J" userId="06acdec8-66e6-42b9-bc10-a1b978921d84" providerId="ADAL" clId="{61DFF595-E42A-4F1C-ABAE-C0C94263495E}" dt="2026-02-22T16:12:06.263" v="164" actId="20577"/>
        <pc:sldMkLst>
          <pc:docMk/>
          <pc:sldMk cId="0" sldId="452"/>
        </pc:sldMkLst>
        <pc:spChg chg="mod">
          <ac:chgData name="Carroll, Raymond J" userId="06acdec8-66e6-42b9-bc10-a1b978921d84" providerId="ADAL" clId="{61DFF595-E42A-4F1C-ABAE-C0C94263495E}" dt="2026-02-22T16:12:06.263" v="164" actId="20577"/>
          <ac:spMkLst>
            <pc:docMk/>
            <pc:sldMk cId="0" sldId="452"/>
            <ac:spMk id="21507" creationId="{00000000-0000-0000-0000-000000000000}"/>
          </ac:spMkLst>
        </pc:spChg>
        <pc:spChg chg="mod">
          <ac:chgData name="Carroll, Raymond J" userId="06acdec8-66e6-42b9-bc10-a1b978921d84" providerId="ADAL" clId="{61DFF595-E42A-4F1C-ABAE-C0C94263495E}" dt="2026-02-22T16:11:14.768" v="123" actId="20577"/>
          <ac:spMkLst>
            <pc:docMk/>
            <pc:sldMk cId="0" sldId="452"/>
            <ac:spMk id="21508" creationId="{00000000-0000-0000-0000-000000000000}"/>
          </ac:spMkLst>
        </pc:spChg>
        <pc:spChg chg="mod">
          <ac:chgData name="Carroll, Raymond J" userId="06acdec8-66e6-42b9-bc10-a1b978921d84" providerId="ADAL" clId="{61DFF595-E42A-4F1C-ABAE-C0C94263495E}" dt="2026-02-22T16:10:53.150" v="107" actId="1076"/>
          <ac:spMkLst>
            <pc:docMk/>
            <pc:sldMk cId="0" sldId="452"/>
            <ac:spMk id="21511" creationId="{00000000-0000-0000-0000-000000000000}"/>
          </ac:spMkLst>
        </pc:spChg>
      </pc:sldChg>
      <pc:sldChg chg="modSp mod">
        <pc:chgData name="Carroll, Raymond J" userId="06acdec8-66e6-42b9-bc10-a1b978921d84" providerId="ADAL" clId="{61DFF595-E42A-4F1C-ABAE-C0C94263495E}" dt="2026-02-22T19:28:23.365" v="752" actId="20577"/>
        <pc:sldMkLst>
          <pc:docMk/>
          <pc:sldMk cId="461186798" sldId="645"/>
        </pc:sldMkLst>
        <pc:spChg chg="mod">
          <ac:chgData name="Carroll, Raymond J" userId="06acdec8-66e6-42b9-bc10-a1b978921d84" providerId="ADAL" clId="{61DFF595-E42A-4F1C-ABAE-C0C94263495E}" dt="2026-02-22T19:28:23.365" v="752" actId="20577"/>
          <ac:spMkLst>
            <pc:docMk/>
            <pc:sldMk cId="461186798" sldId="645"/>
            <ac:spMk id="23555" creationId="{00000000-0000-0000-0000-000000000000}"/>
          </ac:spMkLst>
        </pc:spChg>
        <pc:spChg chg="mod">
          <ac:chgData name="Carroll, Raymond J" userId="06acdec8-66e6-42b9-bc10-a1b978921d84" providerId="ADAL" clId="{61DFF595-E42A-4F1C-ABAE-C0C94263495E}" dt="2026-02-22T19:28:18.988" v="751" actId="1076"/>
          <ac:spMkLst>
            <pc:docMk/>
            <pc:sldMk cId="461186798" sldId="645"/>
            <ac:spMk id="23556" creationId="{00000000-0000-0000-0000-000000000000}"/>
          </ac:spMkLst>
        </pc:spChg>
        <pc:spChg chg="mod">
          <ac:chgData name="Carroll, Raymond J" userId="06acdec8-66e6-42b9-bc10-a1b978921d84" providerId="ADAL" clId="{61DFF595-E42A-4F1C-ABAE-C0C94263495E}" dt="2026-02-22T19:28:13.941" v="750" actId="20577"/>
          <ac:spMkLst>
            <pc:docMk/>
            <pc:sldMk cId="461186798" sldId="645"/>
            <ac:spMk id="642050" creationId="{00000000-0000-0000-0000-000000000000}"/>
          </ac:spMkLst>
        </pc:spChg>
      </pc:sldChg>
      <pc:sldChg chg="modSp mod">
        <pc:chgData name="Carroll, Raymond J" userId="06acdec8-66e6-42b9-bc10-a1b978921d84" providerId="ADAL" clId="{61DFF595-E42A-4F1C-ABAE-C0C94263495E}" dt="2026-02-22T18:55:40.283" v="707" actId="20577"/>
        <pc:sldMkLst>
          <pc:docMk/>
          <pc:sldMk cId="454311218" sldId="661"/>
        </pc:sldMkLst>
        <pc:spChg chg="mod">
          <ac:chgData name="Carroll, Raymond J" userId="06acdec8-66e6-42b9-bc10-a1b978921d84" providerId="ADAL" clId="{61DFF595-E42A-4F1C-ABAE-C0C94263495E}" dt="2026-02-22T18:55:40.283" v="707" actId="20577"/>
          <ac:spMkLst>
            <pc:docMk/>
            <pc:sldMk cId="454311218" sldId="661"/>
            <ac:spMk id="23555" creationId="{00000000-0000-0000-0000-000000000000}"/>
          </ac:spMkLst>
        </pc:spChg>
        <pc:spChg chg="mod">
          <ac:chgData name="Carroll, Raymond J" userId="06acdec8-66e6-42b9-bc10-a1b978921d84" providerId="ADAL" clId="{61DFF595-E42A-4F1C-ABAE-C0C94263495E}" dt="2026-02-22T18:54:22.571" v="584" actId="20577"/>
          <ac:spMkLst>
            <pc:docMk/>
            <pc:sldMk cId="454311218" sldId="661"/>
            <ac:spMk id="642050" creationId="{00000000-0000-0000-0000-000000000000}"/>
          </ac:spMkLst>
        </pc:spChg>
      </pc:sldChg>
      <pc:sldChg chg="modSp mod">
        <pc:chgData name="Carroll, Raymond J" userId="06acdec8-66e6-42b9-bc10-a1b978921d84" providerId="ADAL" clId="{61DFF595-E42A-4F1C-ABAE-C0C94263495E}" dt="2026-02-22T19:29:04.318" v="764" actId="20577"/>
        <pc:sldMkLst>
          <pc:docMk/>
          <pc:sldMk cId="162086416" sldId="662"/>
        </pc:sldMkLst>
        <pc:spChg chg="mod">
          <ac:chgData name="Carroll, Raymond J" userId="06acdec8-66e6-42b9-bc10-a1b978921d84" providerId="ADAL" clId="{61DFF595-E42A-4F1C-ABAE-C0C94263495E}" dt="2026-02-22T19:29:04.318" v="764" actId="20577"/>
          <ac:spMkLst>
            <pc:docMk/>
            <pc:sldMk cId="162086416" sldId="662"/>
            <ac:spMk id="23555" creationId="{884C5662-FC2C-FCE2-D294-B027AA949E5F}"/>
          </ac:spMkLst>
        </pc:spChg>
        <pc:spChg chg="mod">
          <ac:chgData name="Carroll, Raymond J" userId="06acdec8-66e6-42b9-bc10-a1b978921d84" providerId="ADAL" clId="{61DFF595-E42A-4F1C-ABAE-C0C94263495E}" dt="2026-02-22T16:16:31.774" v="249" actId="20577"/>
          <ac:spMkLst>
            <pc:docMk/>
            <pc:sldMk cId="162086416" sldId="662"/>
            <ac:spMk id="642050" creationId="{A81E33E3-DD89-BBFC-3824-A0E90324A713}"/>
          </ac:spMkLst>
        </pc:spChg>
      </pc:sldChg>
      <pc:sldChg chg="addSp delSp modSp mod">
        <pc:chgData name="Carroll, Raymond J" userId="06acdec8-66e6-42b9-bc10-a1b978921d84" providerId="ADAL" clId="{61DFF595-E42A-4F1C-ABAE-C0C94263495E}" dt="2026-02-22T16:16:10.349" v="236" actId="20577"/>
        <pc:sldMkLst>
          <pc:docMk/>
          <pc:sldMk cId="3798522182" sldId="663"/>
        </pc:sldMkLst>
        <pc:spChg chg="add del mod">
          <ac:chgData name="Carroll, Raymond J" userId="06acdec8-66e6-42b9-bc10-a1b978921d84" providerId="ADAL" clId="{61DFF595-E42A-4F1C-ABAE-C0C94263495E}" dt="2026-02-22T16:13:08.692" v="183" actId="478"/>
          <ac:spMkLst>
            <pc:docMk/>
            <pc:sldMk cId="3798522182" sldId="663"/>
            <ac:spMk id="2" creationId="{8CDEF616-00B8-6F5A-1662-48D039072169}"/>
          </ac:spMkLst>
        </pc:spChg>
        <pc:spChg chg="add mod">
          <ac:chgData name="Carroll, Raymond J" userId="06acdec8-66e6-42b9-bc10-a1b978921d84" providerId="ADAL" clId="{61DFF595-E42A-4F1C-ABAE-C0C94263495E}" dt="2026-02-22T16:14:41.847" v="207" actId="20577"/>
          <ac:spMkLst>
            <pc:docMk/>
            <pc:sldMk cId="3798522182" sldId="663"/>
            <ac:spMk id="12" creationId="{94010A21-3AB2-7A23-5D41-3E0956BB40F3}"/>
          </ac:spMkLst>
        </pc:spChg>
        <pc:spChg chg="add mod">
          <ac:chgData name="Carroll, Raymond J" userId="06acdec8-66e6-42b9-bc10-a1b978921d84" providerId="ADAL" clId="{61DFF595-E42A-4F1C-ABAE-C0C94263495E}" dt="2026-02-22T16:15:08.078" v="215" actId="20577"/>
          <ac:spMkLst>
            <pc:docMk/>
            <pc:sldMk cId="3798522182" sldId="663"/>
            <ac:spMk id="13" creationId="{C5D6DBCE-B9CD-02BB-61F5-6DFA42D4729A}"/>
          </ac:spMkLst>
        </pc:spChg>
        <pc:spChg chg="add mod">
          <ac:chgData name="Carroll, Raymond J" userId="06acdec8-66e6-42b9-bc10-a1b978921d84" providerId="ADAL" clId="{61DFF595-E42A-4F1C-ABAE-C0C94263495E}" dt="2026-02-22T16:15:48.140" v="225" actId="1076"/>
          <ac:spMkLst>
            <pc:docMk/>
            <pc:sldMk cId="3798522182" sldId="663"/>
            <ac:spMk id="14" creationId="{504F46A5-5445-5102-8766-821620E8B3CE}"/>
          </ac:spMkLst>
        </pc:spChg>
        <pc:spChg chg="add mod">
          <ac:chgData name="Carroll, Raymond J" userId="06acdec8-66e6-42b9-bc10-a1b978921d84" providerId="ADAL" clId="{61DFF595-E42A-4F1C-ABAE-C0C94263495E}" dt="2026-02-22T16:16:10.349" v="236" actId="20577"/>
          <ac:spMkLst>
            <pc:docMk/>
            <pc:sldMk cId="3798522182" sldId="663"/>
            <ac:spMk id="15" creationId="{16504AF4-1E01-A2B1-AC10-B7C4BF2CAAF7}"/>
          </ac:spMkLst>
        </pc:spChg>
        <pc:spChg chg="del mod">
          <ac:chgData name="Carroll, Raymond J" userId="06acdec8-66e6-42b9-bc10-a1b978921d84" providerId="ADAL" clId="{61DFF595-E42A-4F1C-ABAE-C0C94263495E}" dt="2026-02-22T16:13:04.653" v="181" actId="478"/>
          <ac:spMkLst>
            <pc:docMk/>
            <pc:sldMk cId="3798522182" sldId="663"/>
            <ac:spMk id="23555" creationId="{E2B64E89-D9A6-B2AD-673A-3D12DAB9DFAA}"/>
          </ac:spMkLst>
        </pc:spChg>
        <pc:spChg chg="mod">
          <ac:chgData name="Carroll, Raymond J" userId="06acdec8-66e6-42b9-bc10-a1b978921d84" providerId="ADAL" clId="{61DFF595-E42A-4F1C-ABAE-C0C94263495E}" dt="2026-02-22T16:12:30.282" v="174" actId="20577"/>
          <ac:spMkLst>
            <pc:docMk/>
            <pc:sldMk cId="3798522182" sldId="663"/>
            <ac:spMk id="642050" creationId="{132042D9-DC4D-7B9B-23C8-B15386948452}"/>
          </ac:spMkLst>
        </pc:spChg>
        <pc:picChg chg="add mod">
          <ac:chgData name="Carroll, Raymond J" userId="06acdec8-66e6-42b9-bc10-a1b978921d84" providerId="ADAL" clId="{61DFF595-E42A-4F1C-ABAE-C0C94263495E}" dt="2026-02-22T16:13:18.794" v="186" actId="1076"/>
          <ac:picMkLst>
            <pc:docMk/>
            <pc:sldMk cId="3798522182" sldId="663"/>
            <ac:picMk id="4" creationId="{DEE637E1-F732-A7A5-75AA-7E9FE1C8DFDE}"/>
          </ac:picMkLst>
        </pc:picChg>
        <pc:picChg chg="add mod">
          <ac:chgData name="Carroll, Raymond J" userId="06acdec8-66e6-42b9-bc10-a1b978921d84" providerId="ADAL" clId="{61DFF595-E42A-4F1C-ABAE-C0C94263495E}" dt="2026-02-22T16:13:31.068" v="189" actId="1076"/>
          <ac:picMkLst>
            <pc:docMk/>
            <pc:sldMk cId="3798522182" sldId="663"/>
            <ac:picMk id="6" creationId="{B9D32A58-988C-8586-CB8F-43CE3690BBBE}"/>
          </ac:picMkLst>
        </pc:picChg>
        <pc:picChg chg="add mod">
          <ac:chgData name="Carroll, Raymond J" userId="06acdec8-66e6-42b9-bc10-a1b978921d84" providerId="ADAL" clId="{61DFF595-E42A-4F1C-ABAE-C0C94263495E}" dt="2026-02-22T16:13:44.955" v="193" actId="1076"/>
          <ac:picMkLst>
            <pc:docMk/>
            <pc:sldMk cId="3798522182" sldId="663"/>
            <ac:picMk id="9" creationId="{1AD51E63-8999-E72D-0C6A-92A32C1F3A87}"/>
          </ac:picMkLst>
        </pc:picChg>
        <pc:picChg chg="add mod">
          <ac:chgData name="Carroll, Raymond J" userId="06acdec8-66e6-42b9-bc10-a1b978921d84" providerId="ADAL" clId="{61DFF595-E42A-4F1C-ABAE-C0C94263495E}" dt="2026-02-22T16:14:12.322" v="199" actId="14100"/>
          <ac:picMkLst>
            <pc:docMk/>
            <pc:sldMk cId="3798522182" sldId="663"/>
            <ac:picMk id="11" creationId="{519E50DF-DEF0-06F8-82D6-97AD8CD89C0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hdr" sz="quarter"/>
          </p:nvPr>
        </p:nvSpPr>
        <p:spPr bwMode="auto">
          <a:xfrm>
            <a:off x="0" y="0"/>
            <a:ext cx="3170475" cy="480060"/>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algn="l" defTabSz="966393">
              <a:defRPr sz="1200"/>
            </a:lvl1pPr>
          </a:lstStyle>
          <a:p>
            <a:pPr>
              <a:defRPr/>
            </a:pPr>
            <a:endParaRPr lang="en-US"/>
          </a:p>
        </p:txBody>
      </p:sp>
      <p:sp>
        <p:nvSpPr>
          <p:cNvPr id="126979" name="Rectangle 3"/>
          <p:cNvSpPr>
            <a:spLocks noGrp="1" noChangeArrowheads="1"/>
          </p:cNvSpPr>
          <p:nvPr>
            <p:ph type="dt" sz="quarter" idx="1"/>
          </p:nvPr>
        </p:nvSpPr>
        <p:spPr bwMode="auto">
          <a:xfrm>
            <a:off x="4144726" y="0"/>
            <a:ext cx="3170474" cy="480060"/>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algn="r" defTabSz="966393">
              <a:defRPr sz="1200"/>
            </a:lvl1pPr>
          </a:lstStyle>
          <a:p>
            <a:pPr>
              <a:defRPr/>
            </a:pPr>
            <a:endParaRPr lang="en-US"/>
          </a:p>
        </p:txBody>
      </p:sp>
      <p:sp>
        <p:nvSpPr>
          <p:cNvPr id="126980" name="Rectangle 4"/>
          <p:cNvSpPr>
            <a:spLocks noGrp="1" noChangeArrowheads="1"/>
          </p:cNvSpPr>
          <p:nvPr>
            <p:ph type="ftr" sz="quarter" idx="2"/>
          </p:nvPr>
        </p:nvSpPr>
        <p:spPr bwMode="auto">
          <a:xfrm>
            <a:off x="0" y="9121140"/>
            <a:ext cx="3170475" cy="480060"/>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algn="l" defTabSz="966393">
              <a:defRPr sz="1200"/>
            </a:lvl1pPr>
          </a:lstStyle>
          <a:p>
            <a:pPr>
              <a:defRPr/>
            </a:pPr>
            <a:endParaRPr lang="en-US"/>
          </a:p>
        </p:txBody>
      </p:sp>
      <p:sp>
        <p:nvSpPr>
          <p:cNvPr id="126981" name="Rectangle 5"/>
          <p:cNvSpPr>
            <a:spLocks noGrp="1" noChangeArrowheads="1"/>
          </p:cNvSpPr>
          <p:nvPr>
            <p:ph type="sldNum" sz="quarter" idx="3"/>
          </p:nvPr>
        </p:nvSpPr>
        <p:spPr bwMode="auto">
          <a:xfrm>
            <a:off x="4144726" y="9121140"/>
            <a:ext cx="3170474" cy="480060"/>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algn="r" defTabSz="966393">
              <a:defRPr sz="1200"/>
            </a:lvl1pPr>
          </a:lstStyle>
          <a:p>
            <a:pPr>
              <a:defRPr/>
            </a:pPr>
            <a:fld id="{674ACAB5-6C3A-4E98-90F5-42F67A5635A7}" type="slidenum">
              <a:rPr lang="en-US"/>
              <a:pPr>
                <a:defRPr/>
              </a:pPr>
              <a:t>‹#›</a:t>
            </a:fld>
            <a:endParaRPr lang="en-US"/>
          </a:p>
        </p:txBody>
      </p:sp>
    </p:spTree>
    <p:extLst>
      <p:ext uri="{BB962C8B-B14F-4D97-AF65-F5344CB8AC3E}">
        <p14:creationId xmlns:p14="http://schemas.microsoft.com/office/powerpoint/2010/main" val="21246961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1314" name="Rectangle 2"/>
          <p:cNvSpPr>
            <a:spLocks noGrp="1" noChangeArrowheads="1"/>
          </p:cNvSpPr>
          <p:nvPr>
            <p:ph type="hdr" sz="quarter"/>
          </p:nvPr>
        </p:nvSpPr>
        <p:spPr bwMode="auto">
          <a:xfrm>
            <a:off x="0" y="0"/>
            <a:ext cx="3170475" cy="480060"/>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algn="l" defTabSz="966393">
              <a:defRPr sz="1200">
                <a:latin typeface="Arial Narrow" pitchFamily="34" charset="0"/>
              </a:defRPr>
            </a:lvl1pPr>
          </a:lstStyle>
          <a:p>
            <a:pPr>
              <a:defRPr/>
            </a:pPr>
            <a:endParaRPr lang="en-US"/>
          </a:p>
        </p:txBody>
      </p:sp>
      <p:sp>
        <p:nvSpPr>
          <p:cNvPr id="141315" name="Rectangle 3"/>
          <p:cNvSpPr>
            <a:spLocks noGrp="1" noChangeArrowheads="1"/>
          </p:cNvSpPr>
          <p:nvPr>
            <p:ph type="dt" idx="1"/>
          </p:nvPr>
        </p:nvSpPr>
        <p:spPr bwMode="auto">
          <a:xfrm>
            <a:off x="4143064" y="0"/>
            <a:ext cx="3170475" cy="480060"/>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lvl1pPr algn="r" defTabSz="966393">
              <a:defRPr sz="1200">
                <a:latin typeface="Arial Narrow" pitchFamily="34" charset="0"/>
              </a:defRPr>
            </a:lvl1pPr>
          </a:lstStyle>
          <a:p>
            <a:pPr>
              <a:defRPr/>
            </a:pPr>
            <a:endParaRPr lang="en-US"/>
          </a:p>
        </p:txBody>
      </p:sp>
      <p:sp>
        <p:nvSpPr>
          <p:cNvPr id="88068"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1317" name="Rectangle 5"/>
          <p:cNvSpPr>
            <a:spLocks noGrp="1" noChangeArrowheads="1"/>
          </p:cNvSpPr>
          <p:nvPr>
            <p:ph type="body" sz="quarter" idx="3"/>
          </p:nvPr>
        </p:nvSpPr>
        <p:spPr bwMode="auto">
          <a:xfrm>
            <a:off x="731520" y="4560570"/>
            <a:ext cx="5852160" cy="4320540"/>
          </a:xfrm>
          <a:prstGeom prst="rect">
            <a:avLst/>
          </a:prstGeom>
          <a:noFill/>
          <a:ln w="9525">
            <a:noFill/>
            <a:miter lim="800000"/>
            <a:headEnd/>
            <a:tailEnd/>
          </a:ln>
          <a:effectLst/>
        </p:spPr>
        <p:txBody>
          <a:bodyPr vert="horz" wrap="square" lIns="96656" tIns="48328" rIns="96656" bIns="4832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1318" name="Rectangle 6"/>
          <p:cNvSpPr>
            <a:spLocks noGrp="1" noChangeArrowheads="1"/>
          </p:cNvSpPr>
          <p:nvPr>
            <p:ph type="ftr" sz="quarter" idx="4"/>
          </p:nvPr>
        </p:nvSpPr>
        <p:spPr bwMode="auto">
          <a:xfrm>
            <a:off x="0" y="9119496"/>
            <a:ext cx="3170475" cy="480060"/>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algn="l" defTabSz="966393">
              <a:defRPr sz="1200">
                <a:latin typeface="Arial Narrow" pitchFamily="34" charset="0"/>
              </a:defRPr>
            </a:lvl1pPr>
          </a:lstStyle>
          <a:p>
            <a:pPr>
              <a:defRPr/>
            </a:pPr>
            <a:endParaRPr lang="en-US"/>
          </a:p>
        </p:txBody>
      </p:sp>
      <p:sp>
        <p:nvSpPr>
          <p:cNvPr id="141319" name="Rectangle 7"/>
          <p:cNvSpPr>
            <a:spLocks noGrp="1" noChangeArrowheads="1"/>
          </p:cNvSpPr>
          <p:nvPr>
            <p:ph type="sldNum" sz="quarter" idx="5"/>
          </p:nvPr>
        </p:nvSpPr>
        <p:spPr bwMode="auto">
          <a:xfrm>
            <a:off x="4143064" y="9119496"/>
            <a:ext cx="3170475" cy="480060"/>
          </a:xfrm>
          <a:prstGeom prst="rect">
            <a:avLst/>
          </a:prstGeom>
          <a:noFill/>
          <a:ln w="9525">
            <a:noFill/>
            <a:miter lim="800000"/>
            <a:headEnd/>
            <a:tailEnd/>
          </a:ln>
          <a:effectLst/>
        </p:spPr>
        <p:txBody>
          <a:bodyPr vert="horz" wrap="square" lIns="96656" tIns="48328" rIns="96656" bIns="48328" numCol="1" anchor="b" anchorCtr="0" compatLnSpc="1">
            <a:prstTxWarp prst="textNoShape">
              <a:avLst/>
            </a:prstTxWarp>
          </a:bodyPr>
          <a:lstStyle>
            <a:lvl1pPr algn="r" defTabSz="966393">
              <a:defRPr sz="1200">
                <a:latin typeface="Arial Narrow" pitchFamily="34" charset="0"/>
              </a:defRPr>
            </a:lvl1pPr>
          </a:lstStyle>
          <a:p>
            <a:pPr>
              <a:defRPr/>
            </a:pPr>
            <a:fld id="{17BE80ED-0EEB-4130-8746-265C719829BE}" type="slidenum">
              <a:rPr lang="en-US"/>
              <a:pPr>
                <a:defRPr/>
              </a:pPr>
              <a:t>‹#›</a:t>
            </a:fld>
            <a:endParaRPr lang="en-US"/>
          </a:p>
        </p:txBody>
      </p:sp>
    </p:spTree>
    <p:extLst>
      <p:ext uri="{BB962C8B-B14F-4D97-AF65-F5344CB8AC3E}">
        <p14:creationId xmlns:p14="http://schemas.microsoft.com/office/powerpoint/2010/main" val="28736973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Narrow" pitchFamily="34"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Narrow" pitchFamily="34"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Narrow" pitchFamily="34"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Narrow" pitchFamily="34"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Narrow"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393" eaLnBrk="0" hangingPunct="0">
              <a:defRPr sz="2500">
                <a:solidFill>
                  <a:schemeClr val="tx1"/>
                </a:solidFill>
                <a:latin typeface="Times New Roman" pitchFamily="18" charset="0"/>
              </a:defRPr>
            </a:lvl1pPr>
            <a:lvl2pPr marL="773114" indent="-297351" defTabSz="966393" eaLnBrk="0" hangingPunct="0">
              <a:defRPr sz="2500">
                <a:solidFill>
                  <a:schemeClr val="tx1"/>
                </a:solidFill>
                <a:latin typeface="Times New Roman" pitchFamily="18" charset="0"/>
              </a:defRPr>
            </a:lvl2pPr>
            <a:lvl3pPr marL="1189406" indent="-237881" defTabSz="966393" eaLnBrk="0" hangingPunct="0">
              <a:defRPr sz="2500">
                <a:solidFill>
                  <a:schemeClr val="tx1"/>
                </a:solidFill>
                <a:latin typeface="Times New Roman" pitchFamily="18" charset="0"/>
              </a:defRPr>
            </a:lvl3pPr>
            <a:lvl4pPr marL="1665168" indent="-237881" defTabSz="966393" eaLnBrk="0" hangingPunct="0">
              <a:defRPr sz="2500">
                <a:solidFill>
                  <a:schemeClr val="tx1"/>
                </a:solidFill>
                <a:latin typeface="Times New Roman" pitchFamily="18" charset="0"/>
              </a:defRPr>
            </a:lvl4pPr>
            <a:lvl5pPr marL="2140930" indent="-237881" defTabSz="966393" eaLnBrk="0" hangingPunct="0">
              <a:defRPr sz="2500">
                <a:solidFill>
                  <a:schemeClr val="tx1"/>
                </a:solidFill>
                <a:latin typeface="Times New Roman" pitchFamily="18" charset="0"/>
              </a:defRPr>
            </a:lvl5pPr>
            <a:lvl6pPr marL="2616693" indent="-237881" algn="ctr" defTabSz="966393" eaLnBrk="0" fontAlgn="base" hangingPunct="0">
              <a:spcBef>
                <a:spcPct val="0"/>
              </a:spcBef>
              <a:spcAft>
                <a:spcPct val="0"/>
              </a:spcAft>
              <a:defRPr sz="2500">
                <a:solidFill>
                  <a:schemeClr val="tx1"/>
                </a:solidFill>
                <a:latin typeface="Times New Roman" pitchFamily="18" charset="0"/>
              </a:defRPr>
            </a:lvl6pPr>
            <a:lvl7pPr marL="3092455" indent="-237881" algn="ctr" defTabSz="966393" eaLnBrk="0" fontAlgn="base" hangingPunct="0">
              <a:spcBef>
                <a:spcPct val="0"/>
              </a:spcBef>
              <a:spcAft>
                <a:spcPct val="0"/>
              </a:spcAft>
              <a:defRPr sz="2500">
                <a:solidFill>
                  <a:schemeClr val="tx1"/>
                </a:solidFill>
                <a:latin typeface="Times New Roman" pitchFamily="18" charset="0"/>
              </a:defRPr>
            </a:lvl7pPr>
            <a:lvl8pPr marL="3568217" indent="-237881" algn="ctr" defTabSz="966393" eaLnBrk="0" fontAlgn="base" hangingPunct="0">
              <a:spcBef>
                <a:spcPct val="0"/>
              </a:spcBef>
              <a:spcAft>
                <a:spcPct val="0"/>
              </a:spcAft>
              <a:defRPr sz="2500">
                <a:solidFill>
                  <a:schemeClr val="tx1"/>
                </a:solidFill>
                <a:latin typeface="Times New Roman" pitchFamily="18" charset="0"/>
              </a:defRPr>
            </a:lvl8pPr>
            <a:lvl9pPr marL="4043980" indent="-237881" algn="ctr" defTabSz="966393" eaLnBrk="0" fontAlgn="base" hangingPunct="0">
              <a:spcBef>
                <a:spcPct val="0"/>
              </a:spcBef>
              <a:spcAft>
                <a:spcPct val="0"/>
              </a:spcAft>
              <a:defRPr sz="2500">
                <a:solidFill>
                  <a:schemeClr val="tx1"/>
                </a:solidFill>
                <a:latin typeface="Times New Roman" pitchFamily="18" charset="0"/>
              </a:defRPr>
            </a:lvl9pPr>
          </a:lstStyle>
          <a:p>
            <a:pPr eaLnBrk="1" hangingPunct="1"/>
            <a:fld id="{1E4A6D4A-EED4-4D8B-9DC7-719ABE06F6D5}" type="slidenum">
              <a:rPr lang="en-US" altLang="en-US" sz="1200">
                <a:latin typeface="Arial Narrow" pitchFamily="34" charset="0"/>
              </a:rPr>
              <a:pPr eaLnBrk="1" hangingPunct="1"/>
              <a:t>1</a:t>
            </a:fld>
            <a:endParaRPr lang="en-US" altLang="en-US" sz="1200">
              <a:latin typeface="Arial Narrow" pitchFamily="34" charset="0"/>
            </a:endParaRPr>
          </a:p>
        </p:txBody>
      </p:sp>
      <p:sp>
        <p:nvSpPr>
          <p:cNvPr id="89091" name="Rectangle 2"/>
          <p:cNvSpPr>
            <a:spLocks noGrp="1" noRot="1" noChangeAspect="1" noChangeArrowheads="1" noTextEdit="1"/>
          </p:cNvSpPr>
          <p:nvPr>
            <p:ph type="sldImg"/>
          </p:nvPr>
        </p:nvSpPr>
        <p:spPr>
          <a:xfrm>
            <a:off x="1258888" y="720725"/>
            <a:ext cx="4800600" cy="3600450"/>
          </a:xfrm>
          <a:ln/>
        </p:spPr>
      </p:sp>
      <p:sp>
        <p:nvSpPr>
          <p:cNvPr id="89092" name="Rectangle 3"/>
          <p:cNvSpPr>
            <a:spLocks noGrp="1" noChangeArrowheads="1"/>
          </p:cNvSpPr>
          <p:nvPr>
            <p:ph type="body" idx="1"/>
          </p:nvPr>
        </p:nvSpPr>
        <p:spPr>
          <a:xfrm>
            <a:off x="974252" y="4560570"/>
            <a:ext cx="5366697" cy="432054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adducts are an indicator of carcinogen exposure. The corn oil does not even know?</a:t>
            </a:r>
            <a:r>
              <a:rPr lang="en-US" baseline="0" dirty="0"/>
              <a:t> Probably lost this slide.</a:t>
            </a:r>
            <a:endParaRPr lang="en-US" dirty="0"/>
          </a:p>
        </p:txBody>
      </p:sp>
      <p:sp>
        <p:nvSpPr>
          <p:cNvPr id="4" name="Slide Number Placeholder 3"/>
          <p:cNvSpPr>
            <a:spLocks noGrp="1"/>
          </p:cNvSpPr>
          <p:nvPr>
            <p:ph type="sldNum" sz="quarter" idx="10"/>
          </p:nvPr>
        </p:nvSpPr>
        <p:spPr/>
        <p:txBody>
          <a:bodyPr/>
          <a:lstStyle/>
          <a:p>
            <a:pPr>
              <a:defRPr/>
            </a:pPr>
            <a:fld id="{17BE80ED-0EEB-4130-8746-265C719829BE}" type="slidenum">
              <a:rPr lang="en-US" smtClean="0"/>
              <a:pPr>
                <a:defRPr/>
              </a:pPr>
              <a:t>16</a:t>
            </a:fld>
            <a:endParaRPr lang="en-US"/>
          </a:p>
        </p:txBody>
      </p:sp>
    </p:spTree>
    <p:extLst>
      <p:ext uri="{BB962C8B-B14F-4D97-AF65-F5344CB8AC3E}">
        <p14:creationId xmlns:p14="http://schemas.microsoft.com/office/powerpoint/2010/main" val="504725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918" descr="food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128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745" name="Rectangle 905"/>
          <p:cNvSpPr>
            <a:spLocks noGrp="1" noChangeArrowheads="1"/>
          </p:cNvSpPr>
          <p:nvPr>
            <p:ph type="ctrTitle"/>
          </p:nvPr>
        </p:nvSpPr>
        <p:spPr>
          <a:xfrm>
            <a:off x="838200" y="685800"/>
            <a:ext cx="7696200" cy="2133600"/>
          </a:xfrm>
        </p:spPr>
        <p:txBody>
          <a:bodyPr/>
          <a:lstStyle>
            <a:lvl1pPr>
              <a:defRPr/>
            </a:lvl1pPr>
          </a:lstStyle>
          <a:p>
            <a:r>
              <a:rPr lang="en-US"/>
              <a:t>Click to edit Master title style</a:t>
            </a:r>
          </a:p>
        </p:txBody>
      </p:sp>
      <p:sp>
        <p:nvSpPr>
          <p:cNvPr id="36746" name="Rectangle 906"/>
          <p:cNvSpPr>
            <a:spLocks noGrp="1" noChangeArrowheads="1"/>
          </p:cNvSpPr>
          <p:nvPr>
            <p:ph type="subTitle" idx="1"/>
          </p:nvPr>
        </p:nvSpPr>
        <p:spPr>
          <a:xfrm>
            <a:off x="1524000" y="3048000"/>
            <a:ext cx="6400800" cy="1752600"/>
          </a:xfrm>
        </p:spPr>
        <p:txBody>
          <a:bodyPr/>
          <a:lstStyle>
            <a:lvl1pPr marL="0" indent="0">
              <a:buFontTx/>
              <a:buNone/>
              <a:defRPr sz="2600" b="1"/>
            </a:lvl1pPr>
          </a:lstStyle>
          <a:p>
            <a:r>
              <a:rPr lang="en-US"/>
              <a:t>Click to edit Master subtitle style</a:t>
            </a:r>
          </a:p>
        </p:txBody>
      </p:sp>
      <p:sp>
        <p:nvSpPr>
          <p:cNvPr id="5" name="Rectangle 907"/>
          <p:cNvSpPr>
            <a:spLocks noGrp="1" noChangeArrowheads="1"/>
          </p:cNvSpPr>
          <p:nvPr>
            <p:ph type="dt" sz="half" idx="10"/>
          </p:nvPr>
        </p:nvSpPr>
        <p:spPr bwMode="auto">
          <a:xfrm>
            <a:off x="13716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a:defRPr sz="1400">
                <a:latin typeface="Arial Narrow" pitchFamily="34" charset="0"/>
              </a:defRPr>
            </a:lvl1pPr>
          </a:lstStyle>
          <a:p>
            <a:pPr>
              <a:defRPr/>
            </a:pPr>
            <a:endParaRPr lang="en-US"/>
          </a:p>
        </p:txBody>
      </p:sp>
      <p:sp>
        <p:nvSpPr>
          <p:cNvPr id="6" name="Rectangle 908"/>
          <p:cNvSpPr>
            <a:spLocks noGrp="1" noChangeArrowheads="1"/>
          </p:cNvSpPr>
          <p:nvPr>
            <p:ph type="ftr" sz="quarter" idx="11"/>
          </p:nvPr>
        </p:nvSpPr>
        <p:spPr>
          <a:xfrm>
            <a:off x="3733800" y="6248400"/>
            <a:ext cx="2895600" cy="457200"/>
          </a:xfrm>
        </p:spPr>
        <p:txBody>
          <a:bodyPr/>
          <a:lstStyle>
            <a:lvl1pPr>
              <a:defRPr>
                <a:solidFill>
                  <a:schemeClr val="tx1"/>
                </a:solidFill>
              </a:defRPr>
            </a:lvl1pPr>
          </a:lstStyle>
          <a:p>
            <a:pPr>
              <a:defRPr/>
            </a:pPr>
            <a:endParaRPr lang="en-US"/>
          </a:p>
        </p:txBody>
      </p:sp>
      <p:sp>
        <p:nvSpPr>
          <p:cNvPr id="7" name="Rectangle 909"/>
          <p:cNvSpPr>
            <a:spLocks noGrp="1" noChangeArrowheads="1"/>
          </p:cNvSpPr>
          <p:nvPr>
            <p:ph type="sldNum" sz="quarter" idx="12"/>
          </p:nvPr>
        </p:nvSpPr>
        <p:spPr>
          <a:xfrm>
            <a:off x="7086600" y="6248400"/>
            <a:ext cx="1905000" cy="457200"/>
          </a:xfrm>
        </p:spPr>
        <p:txBody>
          <a:bodyPr/>
          <a:lstStyle>
            <a:lvl1pPr>
              <a:defRPr>
                <a:solidFill>
                  <a:schemeClr val="tx1"/>
                </a:solidFill>
              </a:defRPr>
            </a:lvl1pPr>
          </a:lstStyle>
          <a:p>
            <a:pPr>
              <a:defRPr/>
            </a:pPr>
            <a:fld id="{EF3F469E-38D6-436D-AD2A-9D3762E5D819}" type="slidenum">
              <a:rPr lang="en-US"/>
              <a:pPr>
                <a:defRPr/>
              </a:pPr>
              <a:t>‹#›</a:t>
            </a:fld>
            <a:endParaRPr lang="en-US"/>
          </a:p>
        </p:txBody>
      </p:sp>
    </p:spTree>
    <p:extLst>
      <p:ext uri="{BB962C8B-B14F-4D97-AF65-F5344CB8AC3E}">
        <p14:creationId xmlns:p14="http://schemas.microsoft.com/office/powerpoint/2010/main" val="2436994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08"/>
          <p:cNvSpPr>
            <a:spLocks noGrp="1" noChangeArrowheads="1"/>
          </p:cNvSpPr>
          <p:nvPr>
            <p:ph type="ftr" sz="quarter" idx="10"/>
          </p:nvPr>
        </p:nvSpPr>
        <p:spPr/>
        <p:txBody>
          <a:bodyPr/>
          <a:lstStyle>
            <a:lvl1pPr>
              <a:defRPr/>
            </a:lvl1pPr>
          </a:lstStyle>
          <a:p>
            <a:pPr>
              <a:defRPr/>
            </a:pPr>
            <a:endParaRPr lang="en-US"/>
          </a:p>
        </p:txBody>
      </p:sp>
      <p:sp>
        <p:nvSpPr>
          <p:cNvPr id="5" name="Rectangle 909"/>
          <p:cNvSpPr>
            <a:spLocks noGrp="1" noChangeArrowheads="1"/>
          </p:cNvSpPr>
          <p:nvPr>
            <p:ph type="sldNum" sz="quarter" idx="11"/>
          </p:nvPr>
        </p:nvSpPr>
        <p:spPr/>
        <p:txBody>
          <a:bodyPr/>
          <a:lstStyle>
            <a:lvl1pPr>
              <a:defRPr/>
            </a:lvl1pPr>
          </a:lstStyle>
          <a:p>
            <a:pPr>
              <a:defRPr/>
            </a:pPr>
            <a:fld id="{3409ADA3-42B3-456B-8472-9BD85CC2F264}" type="slidenum">
              <a:rPr lang="en-US"/>
              <a:pPr>
                <a:defRPr/>
              </a:pPr>
              <a:t>‹#›</a:t>
            </a:fld>
            <a:endParaRPr lang="en-US"/>
          </a:p>
        </p:txBody>
      </p:sp>
    </p:spTree>
    <p:extLst>
      <p:ext uri="{BB962C8B-B14F-4D97-AF65-F5344CB8AC3E}">
        <p14:creationId xmlns:p14="http://schemas.microsoft.com/office/powerpoint/2010/main" val="3052453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08"/>
          <p:cNvSpPr>
            <a:spLocks noGrp="1" noChangeArrowheads="1"/>
          </p:cNvSpPr>
          <p:nvPr>
            <p:ph type="ftr" sz="quarter" idx="10"/>
          </p:nvPr>
        </p:nvSpPr>
        <p:spPr/>
        <p:txBody>
          <a:bodyPr/>
          <a:lstStyle>
            <a:lvl1pPr>
              <a:defRPr/>
            </a:lvl1pPr>
          </a:lstStyle>
          <a:p>
            <a:pPr>
              <a:defRPr/>
            </a:pPr>
            <a:endParaRPr lang="en-US"/>
          </a:p>
        </p:txBody>
      </p:sp>
      <p:sp>
        <p:nvSpPr>
          <p:cNvPr id="5" name="Rectangle 909"/>
          <p:cNvSpPr>
            <a:spLocks noGrp="1" noChangeArrowheads="1"/>
          </p:cNvSpPr>
          <p:nvPr>
            <p:ph type="sldNum" sz="quarter" idx="11"/>
          </p:nvPr>
        </p:nvSpPr>
        <p:spPr/>
        <p:txBody>
          <a:bodyPr/>
          <a:lstStyle>
            <a:lvl1pPr>
              <a:defRPr/>
            </a:lvl1pPr>
          </a:lstStyle>
          <a:p>
            <a:pPr>
              <a:defRPr/>
            </a:pPr>
            <a:fld id="{A0A0D7A4-7E8D-4C4A-B44C-AFA4B0E96D83}" type="slidenum">
              <a:rPr lang="en-US"/>
              <a:pPr>
                <a:defRPr/>
              </a:pPr>
              <a:t>‹#›</a:t>
            </a:fld>
            <a:endParaRPr lang="en-US"/>
          </a:p>
        </p:txBody>
      </p:sp>
    </p:spTree>
    <p:extLst>
      <p:ext uri="{BB962C8B-B14F-4D97-AF65-F5344CB8AC3E}">
        <p14:creationId xmlns:p14="http://schemas.microsoft.com/office/powerpoint/2010/main" val="3758224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219200"/>
            <a:ext cx="41529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219200"/>
            <a:ext cx="4152900" cy="4876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08"/>
          <p:cNvSpPr>
            <a:spLocks noGrp="1" noChangeArrowheads="1"/>
          </p:cNvSpPr>
          <p:nvPr>
            <p:ph type="ftr" sz="quarter" idx="10"/>
          </p:nvPr>
        </p:nvSpPr>
        <p:spPr/>
        <p:txBody>
          <a:bodyPr/>
          <a:lstStyle>
            <a:lvl1pPr>
              <a:defRPr/>
            </a:lvl1pPr>
          </a:lstStyle>
          <a:p>
            <a:pPr>
              <a:defRPr/>
            </a:pPr>
            <a:endParaRPr lang="en-US"/>
          </a:p>
        </p:txBody>
      </p:sp>
      <p:sp>
        <p:nvSpPr>
          <p:cNvPr id="6" name="Rectangle 909"/>
          <p:cNvSpPr>
            <a:spLocks noGrp="1" noChangeArrowheads="1"/>
          </p:cNvSpPr>
          <p:nvPr>
            <p:ph type="sldNum" sz="quarter" idx="11"/>
          </p:nvPr>
        </p:nvSpPr>
        <p:spPr/>
        <p:txBody>
          <a:bodyPr/>
          <a:lstStyle>
            <a:lvl1pPr>
              <a:defRPr/>
            </a:lvl1pPr>
          </a:lstStyle>
          <a:p>
            <a:pPr>
              <a:defRPr/>
            </a:pPr>
            <a:fld id="{115E6B88-C451-4660-A789-5108C9F0140A}" type="slidenum">
              <a:rPr lang="en-US"/>
              <a:pPr>
                <a:defRPr/>
              </a:pPr>
              <a:t>‹#›</a:t>
            </a:fld>
            <a:endParaRPr lang="en-US"/>
          </a:p>
        </p:txBody>
      </p:sp>
    </p:spTree>
    <p:extLst>
      <p:ext uri="{BB962C8B-B14F-4D97-AF65-F5344CB8AC3E}">
        <p14:creationId xmlns:p14="http://schemas.microsoft.com/office/powerpoint/2010/main" val="2797678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08"/>
          <p:cNvSpPr>
            <a:spLocks noGrp="1" noChangeArrowheads="1"/>
          </p:cNvSpPr>
          <p:nvPr>
            <p:ph type="ftr" sz="quarter" idx="10"/>
          </p:nvPr>
        </p:nvSpPr>
        <p:spPr/>
        <p:txBody>
          <a:bodyPr/>
          <a:lstStyle>
            <a:lvl1pPr>
              <a:defRPr/>
            </a:lvl1pPr>
          </a:lstStyle>
          <a:p>
            <a:pPr>
              <a:defRPr/>
            </a:pPr>
            <a:endParaRPr lang="en-US"/>
          </a:p>
        </p:txBody>
      </p:sp>
      <p:sp>
        <p:nvSpPr>
          <p:cNvPr id="8" name="Rectangle 909"/>
          <p:cNvSpPr>
            <a:spLocks noGrp="1" noChangeArrowheads="1"/>
          </p:cNvSpPr>
          <p:nvPr>
            <p:ph type="sldNum" sz="quarter" idx="11"/>
          </p:nvPr>
        </p:nvSpPr>
        <p:spPr/>
        <p:txBody>
          <a:bodyPr/>
          <a:lstStyle>
            <a:lvl1pPr>
              <a:defRPr/>
            </a:lvl1pPr>
          </a:lstStyle>
          <a:p>
            <a:pPr>
              <a:defRPr/>
            </a:pPr>
            <a:fld id="{A10802DE-7DDD-4A79-B9B1-571F01C9DDB4}" type="slidenum">
              <a:rPr lang="en-US"/>
              <a:pPr>
                <a:defRPr/>
              </a:pPr>
              <a:t>‹#›</a:t>
            </a:fld>
            <a:endParaRPr lang="en-US"/>
          </a:p>
        </p:txBody>
      </p:sp>
    </p:spTree>
    <p:extLst>
      <p:ext uri="{BB962C8B-B14F-4D97-AF65-F5344CB8AC3E}">
        <p14:creationId xmlns:p14="http://schemas.microsoft.com/office/powerpoint/2010/main" val="3382607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08"/>
          <p:cNvSpPr>
            <a:spLocks noGrp="1" noChangeArrowheads="1"/>
          </p:cNvSpPr>
          <p:nvPr>
            <p:ph type="ftr" sz="quarter" idx="10"/>
          </p:nvPr>
        </p:nvSpPr>
        <p:spPr/>
        <p:txBody>
          <a:bodyPr/>
          <a:lstStyle>
            <a:lvl1pPr>
              <a:defRPr/>
            </a:lvl1pPr>
          </a:lstStyle>
          <a:p>
            <a:pPr>
              <a:defRPr/>
            </a:pPr>
            <a:endParaRPr lang="en-US"/>
          </a:p>
        </p:txBody>
      </p:sp>
      <p:sp>
        <p:nvSpPr>
          <p:cNvPr id="4" name="Rectangle 909"/>
          <p:cNvSpPr>
            <a:spLocks noGrp="1" noChangeArrowheads="1"/>
          </p:cNvSpPr>
          <p:nvPr>
            <p:ph type="sldNum" sz="quarter" idx="11"/>
          </p:nvPr>
        </p:nvSpPr>
        <p:spPr/>
        <p:txBody>
          <a:bodyPr/>
          <a:lstStyle>
            <a:lvl1pPr>
              <a:defRPr/>
            </a:lvl1pPr>
          </a:lstStyle>
          <a:p>
            <a:pPr>
              <a:defRPr/>
            </a:pPr>
            <a:fld id="{EF034EFA-CAF2-4705-A5F7-04E74C889421}" type="slidenum">
              <a:rPr lang="en-US"/>
              <a:pPr>
                <a:defRPr/>
              </a:pPr>
              <a:t>‹#›</a:t>
            </a:fld>
            <a:endParaRPr lang="en-US"/>
          </a:p>
        </p:txBody>
      </p:sp>
    </p:spTree>
    <p:extLst>
      <p:ext uri="{BB962C8B-B14F-4D97-AF65-F5344CB8AC3E}">
        <p14:creationId xmlns:p14="http://schemas.microsoft.com/office/powerpoint/2010/main" val="3654510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908"/>
          <p:cNvSpPr>
            <a:spLocks noGrp="1" noChangeArrowheads="1"/>
          </p:cNvSpPr>
          <p:nvPr>
            <p:ph type="ftr" sz="quarter" idx="10"/>
          </p:nvPr>
        </p:nvSpPr>
        <p:spPr/>
        <p:txBody>
          <a:bodyPr/>
          <a:lstStyle>
            <a:lvl1pPr>
              <a:defRPr/>
            </a:lvl1pPr>
          </a:lstStyle>
          <a:p>
            <a:pPr>
              <a:defRPr/>
            </a:pPr>
            <a:endParaRPr lang="en-US"/>
          </a:p>
        </p:txBody>
      </p:sp>
      <p:sp>
        <p:nvSpPr>
          <p:cNvPr id="3" name="Rectangle 909"/>
          <p:cNvSpPr>
            <a:spLocks noGrp="1" noChangeArrowheads="1"/>
          </p:cNvSpPr>
          <p:nvPr>
            <p:ph type="sldNum" sz="quarter" idx="11"/>
          </p:nvPr>
        </p:nvSpPr>
        <p:spPr/>
        <p:txBody>
          <a:bodyPr/>
          <a:lstStyle>
            <a:lvl1pPr>
              <a:defRPr/>
            </a:lvl1pPr>
          </a:lstStyle>
          <a:p>
            <a:pPr>
              <a:defRPr/>
            </a:pPr>
            <a:fld id="{A71CB4E8-9AC0-434A-934B-48DD4E959721}" type="slidenum">
              <a:rPr lang="en-US"/>
              <a:pPr>
                <a:defRPr/>
              </a:pPr>
              <a:t>‹#›</a:t>
            </a:fld>
            <a:endParaRPr lang="en-US"/>
          </a:p>
        </p:txBody>
      </p:sp>
    </p:spTree>
    <p:extLst>
      <p:ext uri="{BB962C8B-B14F-4D97-AF65-F5344CB8AC3E}">
        <p14:creationId xmlns:p14="http://schemas.microsoft.com/office/powerpoint/2010/main" val="4189724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08"/>
          <p:cNvSpPr>
            <a:spLocks noGrp="1" noChangeArrowheads="1"/>
          </p:cNvSpPr>
          <p:nvPr>
            <p:ph type="ftr" sz="quarter" idx="10"/>
          </p:nvPr>
        </p:nvSpPr>
        <p:spPr/>
        <p:txBody>
          <a:bodyPr/>
          <a:lstStyle>
            <a:lvl1pPr>
              <a:defRPr/>
            </a:lvl1pPr>
          </a:lstStyle>
          <a:p>
            <a:pPr>
              <a:defRPr/>
            </a:pPr>
            <a:endParaRPr lang="en-US"/>
          </a:p>
        </p:txBody>
      </p:sp>
      <p:sp>
        <p:nvSpPr>
          <p:cNvPr id="6" name="Rectangle 909"/>
          <p:cNvSpPr>
            <a:spLocks noGrp="1" noChangeArrowheads="1"/>
          </p:cNvSpPr>
          <p:nvPr>
            <p:ph type="sldNum" sz="quarter" idx="11"/>
          </p:nvPr>
        </p:nvSpPr>
        <p:spPr/>
        <p:txBody>
          <a:bodyPr/>
          <a:lstStyle>
            <a:lvl1pPr>
              <a:defRPr/>
            </a:lvl1pPr>
          </a:lstStyle>
          <a:p>
            <a:pPr>
              <a:defRPr/>
            </a:pPr>
            <a:fld id="{B6F7E466-00A5-4F21-85FC-9DA1C3A8E464}" type="slidenum">
              <a:rPr lang="en-US"/>
              <a:pPr>
                <a:defRPr/>
              </a:pPr>
              <a:t>‹#›</a:t>
            </a:fld>
            <a:endParaRPr lang="en-US"/>
          </a:p>
        </p:txBody>
      </p:sp>
    </p:spTree>
    <p:extLst>
      <p:ext uri="{BB962C8B-B14F-4D97-AF65-F5344CB8AC3E}">
        <p14:creationId xmlns:p14="http://schemas.microsoft.com/office/powerpoint/2010/main" val="4187363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08"/>
          <p:cNvSpPr>
            <a:spLocks noGrp="1" noChangeArrowheads="1"/>
          </p:cNvSpPr>
          <p:nvPr>
            <p:ph type="ftr" sz="quarter" idx="10"/>
          </p:nvPr>
        </p:nvSpPr>
        <p:spPr/>
        <p:txBody>
          <a:bodyPr/>
          <a:lstStyle>
            <a:lvl1pPr>
              <a:defRPr/>
            </a:lvl1pPr>
          </a:lstStyle>
          <a:p>
            <a:pPr>
              <a:defRPr/>
            </a:pPr>
            <a:endParaRPr lang="en-US"/>
          </a:p>
        </p:txBody>
      </p:sp>
      <p:sp>
        <p:nvSpPr>
          <p:cNvPr id="6" name="Rectangle 909"/>
          <p:cNvSpPr>
            <a:spLocks noGrp="1" noChangeArrowheads="1"/>
          </p:cNvSpPr>
          <p:nvPr>
            <p:ph type="sldNum" sz="quarter" idx="11"/>
          </p:nvPr>
        </p:nvSpPr>
        <p:spPr/>
        <p:txBody>
          <a:bodyPr/>
          <a:lstStyle>
            <a:lvl1pPr>
              <a:defRPr/>
            </a:lvl1pPr>
          </a:lstStyle>
          <a:p>
            <a:pPr>
              <a:defRPr/>
            </a:pPr>
            <a:fld id="{89172477-FC66-4F34-B933-57DF967F59AB}" type="slidenum">
              <a:rPr lang="en-US"/>
              <a:pPr>
                <a:defRPr/>
              </a:pPr>
              <a:t>‹#›</a:t>
            </a:fld>
            <a:endParaRPr lang="en-US"/>
          </a:p>
        </p:txBody>
      </p:sp>
    </p:spTree>
    <p:extLst>
      <p:ext uri="{BB962C8B-B14F-4D97-AF65-F5344CB8AC3E}">
        <p14:creationId xmlns:p14="http://schemas.microsoft.com/office/powerpoint/2010/main" val="32031887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08"/>
          <p:cNvSpPr>
            <a:spLocks noGrp="1" noChangeArrowheads="1"/>
          </p:cNvSpPr>
          <p:nvPr>
            <p:ph type="ftr" sz="quarter" idx="10"/>
          </p:nvPr>
        </p:nvSpPr>
        <p:spPr/>
        <p:txBody>
          <a:bodyPr/>
          <a:lstStyle>
            <a:lvl1pPr>
              <a:defRPr/>
            </a:lvl1pPr>
          </a:lstStyle>
          <a:p>
            <a:pPr>
              <a:defRPr/>
            </a:pPr>
            <a:endParaRPr lang="en-US"/>
          </a:p>
        </p:txBody>
      </p:sp>
      <p:sp>
        <p:nvSpPr>
          <p:cNvPr id="5" name="Rectangle 909"/>
          <p:cNvSpPr>
            <a:spLocks noGrp="1" noChangeArrowheads="1"/>
          </p:cNvSpPr>
          <p:nvPr>
            <p:ph type="sldNum" sz="quarter" idx="11"/>
          </p:nvPr>
        </p:nvSpPr>
        <p:spPr/>
        <p:txBody>
          <a:bodyPr/>
          <a:lstStyle>
            <a:lvl1pPr>
              <a:defRPr/>
            </a:lvl1pPr>
          </a:lstStyle>
          <a:p>
            <a:pPr>
              <a:defRPr/>
            </a:pPr>
            <a:fld id="{A8E56346-C52E-4EE2-AE9C-8F83ACCE795D}" type="slidenum">
              <a:rPr lang="en-US"/>
              <a:pPr>
                <a:defRPr/>
              </a:pPr>
              <a:t>‹#›</a:t>
            </a:fld>
            <a:endParaRPr lang="en-US"/>
          </a:p>
        </p:txBody>
      </p:sp>
    </p:spTree>
    <p:extLst>
      <p:ext uri="{BB962C8B-B14F-4D97-AF65-F5344CB8AC3E}">
        <p14:creationId xmlns:p14="http://schemas.microsoft.com/office/powerpoint/2010/main" val="966977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08"/>
          <p:cNvSpPr>
            <a:spLocks noGrp="1" noChangeArrowheads="1"/>
          </p:cNvSpPr>
          <p:nvPr>
            <p:ph type="ftr" sz="quarter" idx="10"/>
          </p:nvPr>
        </p:nvSpPr>
        <p:spPr/>
        <p:txBody>
          <a:bodyPr/>
          <a:lstStyle>
            <a:lvl1pPr>
              <a:defRPr/>
            </a:lvl1pPr>
          </a:lstStyle>
          <a:p>
            <a:pPr>
              <a:defRPr/>
            </a:pPr>
            <a:endParaRPr lang="en-US"/>
          </a:p>
        </p:txBody>
      </p:sp>
      <p:sp>
        <p:nvSpPr>
          <p:cNvPr id="5" name="Rectangle 909"/>
          <p:cNvSpPr>
            <a:spLocks noGrp="1" noChangeArrowheads="1"/>
          </p:cNvSpPr>
          <p:nvPr>
            <p:ph type="sldNum" sz="quarter" idx="11"/>
          </p:nvPr>
        </p:nvSpPr>
        <p:spPr/>
        <p:txBody>
          <a:bodyPr/>
          <a:lstStyle>
            <a:lvl1pPr>
              <a:defRPr/>
            </a:lvl1pPr>
          </a:lstStyle>
          <a:p>
            <a:pPr>
              <a:defRPr/>
            </a:pPr>
            <a:fld id="{FB9CD2CB-AECC-4903-A063-72117BC5EF55}" type="slidenum">
              <a:rPr lang="en-US"/>
              <a:pPr>
                <a:defRPr/>
              </a:pPr>
              <a:t>‹#›</a:t>
            </a:fld>
            <a:endParaRPr lang="en-US"/>
          </a:p>
        </p:txBody>
      </p:sp>
    </p:spTree>
    <p:extLst>
      <p:ext uri="{BB962C8B-B14F-4D97-AF65-F5344CB8AC3E}">
        <p14:creationId xmlns:p14="http://schemas.microsoft.com/office/powerpoint/2010/main" val="2924184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305800" cy="914400"/>
          </a:xfrm>
        </p:spPr>
        <p:txBody>
          <a:bodyPr/>
          <a:lstStyle/>
          <a:p>
            <a:r>
              <a:rPr lang="en-US"/>
              <a:t>Click to edit Master title style</a:t>
            </a:r>
          </a:p>
        </p:txBody>
      </p:sp>
      <p:sp>
        <p:nvSpPr>
          <p:cNvPr id="3" name="Text Placeholder 2"/>
          <p:cNvSpPr>
            <a:spLocks noGrp="1"/>
          </p:cNvSpPr>
          <p:nvPr>
            <p:ph type="body" sz="half" idx="1"/>
          </p:nvPr>
        </p:nvSpPr>
        <p:spPr>
          <a:xfrm>
            <a:off x="381000" y="1219200"/>
            <a:ext cx="41529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219200"/>
            <a:ext cx="41529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08"/>
          <p:cNvSpPr>
            <a:spLocks noGrp="1" noChangeArrowheads="1"/>
          </p:cNvSpPr>
          <p:nvPr>
            <p:ph type="ftr" sz="quarter" idx="10"/>
          </p:nvPr>
        </p:nvSpPr>
        <p:spPr/>
        <p:txBody>
          <a:bodyPr/>
          <a:lstStyle>
            <a:lvl1pPr>
              <a:defRPr/>
            </a:lvl1pPr>
          </a:lstStyle>
          <a:p>
            <a:pPr>
              <a:defRPr/>
            </a:pPr>
            <a:endParaRPr lang="en-US"/>
          </a:p>
        </p:txBody>
      </p:sp>
      <p:sp>
        <p:nvSpPr>
          <p:cNvPr id="6" name="Rectangle 909"/>
          <p:cNvSpPr>
            <a:spLocks noGrp="1" noChangeArrowheads="1"/>
          </p:cNvSpPr>
          <p:nvPr>
            <p:ph type="sldNum" sz="quarter" idx="11"/>
          </p:nvPr>
        </p:nvSpPr>
        <p:spPr/>
        <p:txBody>
          <a:bodyPr/>
          <a:lstStyle>
            <a:lvl1pPr>
              <a:defRPr/>
            </a:lvl1pPr>
          </a:lstStyle>
          <a:p>
            <a:pPr>
              <a:defRPr/>
            </a:pPr>
            <a:fld id="{4E5E77DC-5D26-444C-8B65-F724A6461BD8}" type="slidenum">
              <a:rPr lang="en-US"/>
              <a:pPr>
                <a:defRPr/>
              </a:pPr>
              <a:t>‹#›</a:t>
            </a:fld>
            <a:endParaRPr lang="en-US"/>
          </a:p>
        </p:txBody>
      </p:sp>
    </p:spTree>
    <p:extLst>
      <p:ext uri="{BB962C8B-B14F-4D97-AF65-F5344CB8AC3E}">
        <p14:creationId xmlns:p14="http://schemas.microsoft.com/office/powerpoint/2010/main" val="3131513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0"/>
            <a:ext cx="8305800" cy="914400"/>
          </a:xfrm>
        </p:spPr>
        <p:txBody>
          <a:bodyPr/>
          <a:lstStyle/>
          <a:p>
            <a:r>
              <a:rPr lang="en-US"/>
              <a:t>Click to edit Master title style</a:t>
            </a:r>
          </a:p>
        </p:txBody>
      </p:sp>
      <p:sp>
        <p:nvSpPr>
          <p:cNvPr id="3" name="Content Placeholder 2"/>
          <p:cNvSpPr>
            <a:spLocks noGrp="1"/>
          </p:cNvSpPr>
          <p:nvPr>
            <p:ph sz="quarter" idx="1"/>
          </p:nvPr>
        </p:nvSpPr>
        <p:spPr>
          <a:xfrm>
            <a:off x="381000" y="1219200"/>
            <a:ext cx="41529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1219200"/>
            <a:ext cx="41529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381000" y="3733800"/>
            <a:ext cx="41529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86300" y="3733800"/>
            <a:ext cx="41529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08"/>
          <p:cNvSpPr>
            <a:spLocks noGrp="1" noChangeArrowheads="1"/>
          </p:cNvSpPr>
          <p:nvPr>
            <p:ph type="ftr" sz="quarter" idx="10"/>
          </p:nvPr>
        </p:nvSpPr>
        <p:spPr/>
        <p:txBody>
          <a:bodyPr/>
          <a:lstStyle>
            <a:lvl1pPr>
              <a:defRPr/>
            </a:lvl1pPr>
          </a:lstStyle>
          <a:p>
            <a:pPr>
              <a:defRPr/>
            </a:pPr>
            <a:endParaRPr lang="en-US"/>
          </a:p>
        </p:txBody>
      </p:sp>
      <p:sp>
        <p:nvSpPr>
          <p:cNvPr id="8" name="Rectangle 909"/>
          <p:cNvSpPr>
            <a:spLocks noGrp="1" noChangeArrowheads="1"/>
          </p:cNvSpPr>
          <p:nvPr>
            <p:ph type="sldNum" sz="quarter" idx="11"/>
          </p:nvPr>
        </p:nvSpPr>
        <p:spPr/>
        <p:txBody>
          <a:bodyPr/>
          <a:lstStyle>
            <a:lvl1pPr>
              <a:defRPr/>
            </a:lvl1pPr>
          </a:lstStyle>
          <a:p>
            <a:pPr>
              <a:defRPr/>
            </a:pPr>
            <a:fld id="{9440EE2B-F1DA-4C25-8ADD-349637FB58DA}" type="slidenum">
              <a:rPr lang="en-US"/>
              <a:pPr>
                <a:defRPr/>
              </a:pPr>
              <a:t>‹#›</a:t>
            </a:fld>
            <a:endParaRPr lang="en-US"/>
          </a:p>
        </p:txBody>
      </p:sp>
    </p:spTree>
    <p:extLst>
      <p:ext uri="{BB962C8B-B14F-4D97-AF65-F5344CB8AC3E}">
        <p14:creationId xmlns:p14="http://schemas.microsoft.com/office/powerpoint/2010/main" val="1960135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305800" cy="914400"/>
          </a:xfrm>
        </p:spPr>
        <p:txBody>
          <a:bodyPr/>
          <a:lstStyle/>
          <a:p>
            <a:r>
              <a:rPr lang="en-US"/>
              <a:t>Click to edit Master title style</a:t>
            </a:r>
          </a:p>
        </p:txBody>
      </p:sp>
      <p:sp>
        <p:nvSpPr>
          <p:cNvPr id="3" name="Content Placeholder 2"/>
          <p:cNvSpPr>
            <a:spLocks noGrp="1"/>
          </p:cNvSpPr>
          <p:nvPr>
            <p:ph sz="half" idx="1"/>
          </p:nvPr>
        </p:nvSpPr>
        <p:spPr>
          <a:xfrm>
            <a:off x="381000" y="1219200"/>
            <a:ext cx="84582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1000" y="3733800"/>
            <a:ext cx="84582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08"/>
          <p:cNvSpPr>
            <a:spLocks noGrp="1" noChangeArrowheads="1"/>
          </p:cNvSpPr>
          <p:nvPr>
            <p:ph type="ftr" sz="quarter" idx="10"/>
          </p:nvPr>
        </p:nvSpPr>
        <p:spPr/>
        <p:txBody>
          <a:bodyPr/>
          <a:lstStyle>
            <a:lvl1pPr>
              <a:defRPr/>
            </a:lvl1pPr>
          </a:lstStyle>
          <a:p>
            <a:pPr>
              <a:defRPr/>
            </a:pPr>
            <a:endParaRPr lang="en-US"/>
          </a:p>
        </p:txBody>
      </p:sp>
      <p:sp>
        <p:nvSpPr>
          <p:cNvPr id="6" name="Rectangle 909"/>
          <p:cNvSpPr>
            <a:spLocks noGrp="1" noChangeArrowheads="1"/>
          </p:cNvSpPr>
          <p:nvPr>
            <p:ph type="sldNum" sz="quarter" idx="11"/>
          </p:nvPr>
        </p:nvSpPr>
        <p:spPr/>
        <p:txBody>
          <a:bodyPr/>
          <a:lstStyle>
            <a:lvl1pPr>
              <a:defRPr/>
            </a:lvl1pPr>
          </a:lstStyle>
          <a:p>
            <a:pPr>
              <a:defRPr/>
            </a:pPr>
            <a:fld id="{B840AD60-2C10-4030-868A-27F8B227B779}" type="slidenum">
              <a:rPr lang="en-US"/>
              <a:pPr>
                <a:defRPr/>
              </a:pPr>
              <a:t>‹#›</a:t>
            </a:fld>
            <a:endParaRPr lang="en-US"/>
          </a:p>
        </p:txBody>
      </p:sp>
    </p:spTree>
    <p:extLst>
      <p:ext uri="{BB962C8B-B14F-4D97-AF65-F5344CB8AC3E}">
        <p14:creationId xmlns:p14="http://schemas.microsoft.com/office/powerpoint/2010/main" val="85616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305800" cy="914400"/>
          </a:xfrm>
        </p:spPr>
        <p:txBody>
          <a:bodyPr/>
          <a:lstStyle/>
          <a:p>
            <a:r>
              <a:rPr lang="en-US"/>
              <a:t>Click to edit Master title style</a:t>
            </a:r>
          </a:p>
        </p:txBody>
      </p:sp>
      <p:sp>
        <p:nvSpPr>
          <p:cNvPr id="3" name="Text Placeholder 2"/>
          <p:cNvSpPr>
            <a:spLocks noGrp="1"/>
          </p:cNvSpPr>
          <p:nvPr>
            <p:ph type="body" sz="half" idx="1"/>
          </p:nvPr>
        </p:nvSpPr>
        <p:spPr>
          <a:xfrm>
            <a:off x="381000" y="1219200"/>
            <a:ext cx="41529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86300" y="1219200"/>
            <a:ext cx="41529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86300" y="3733800"/>
            <a:ext cx="41529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908"/>
          <p:cNvSpPr>
            <a:spLocks noGrp="1" noChangeArrowheads="1"/>
          </p:cNvSpPr>
          <p:nvPr>
            <p:ph type="ftr" sz="quarter" idx="10"/>
          </p:nvPr>
        </p:nvSpPr>
        <p:spPr/>
        <p:txBody>
          <a:bodyPr/>
          <a:lstStyle>
            <a:lvl1pPr>
              <a:defRPr/>
            </a:lvl1pPr>
          </a:lstStyle>
          <a:p>
            <a:pPr>
              <a:defRPr/>
            </a:pPr>
            <a:endParaRPr lang="en-US"/>
          </a:p>
        </p:txBody>
      </p:sp>
      <p:sp>
        <p:nvSpPr>
          <p:cNvPr id="7" name="Rectangle 909"/>
          <p:cNvSpPr>
            <a:spLocks noGrp="1" noChangeArrowheads="1"/>
          </p:cNvSpPr>
          <p:nvPr>
            <p:ph type="sldNum" sz="quarter" idx="11"/>
          </p:nvPr>
        </p:nvSpPr>
        <p:spPr/>
        <p:txBody>
          <a:bodyPr/>
          <a:lstStyle>
            <a:lvl1pPr>
              <a:defRPr/>
            </a:lvl1pPr>
          </a:lstStyle>
          <a:p>
            <a:pPr>
              <a:defRPr/>
            </a:pPr>
            <a:fld id="{E154B42E-9EF5-4880-8BC9-EA0FC1639B07}" type="slidenum">
              <a:rPr lang="en-US"/>
              <a:pPr>
                <a:defRPr/>
              </a:pPr>
              <a:t>‹#›</a:t>
            </a:fld>
            <a:endParaRPr lang="en-US"/>
          </a:p>
        </p:txBody>
      </p:sp>
    </p:spTree>
    <p:extLst>
      <p:ext uri="{BB962C8B-B14F-4D97-AF65-F5344CB8AC3E}">
        <p14:creationId xmlns:p14="http://schemas.microsoft.com/office/powerpoint/2010/main" val="35800175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303520"/>
          </a:xfrm>
        </p:spPr>
        <p:txBody>
          <a:bodyPr>
            <a:noAutofit/>
          </a:bodyPr>
          <a:lstStyle>
            <a:lvl1pPr>
              <a:lnSpc>
                <a:spcPct val="100000"/>
              </a:lnSpc>
              <a:spcBef>
                <a:spcPts val="1800"/>
              </a:spcBef>
              <a:spcAft>
                <a:spcPts val="600"/>
              </a:spcAft>
              <a:buClr>
                <a:srgbClr val="92D050"/>
              </a:buClr>
              <a:buFont typeface="Wingdings" pitchFamily="2" charset="2"/>
              <a:buChar char="§"/>
              <a:defRPr sz="2800"/>
            </a:lvl1pPr>
            <a:lvl2pPr>
              <a:lnSpc>
                <a:spcPct val="100000"/>
              </a:lnSpc>
              <a:spcBef>
                <a:spcPts val="1200"/>
              </a:spcBef>
              <a:spcAft>
                <a:spcPts val="600"/>
              </a:spcAft>
              <a:buClr>
                <a:srgbClr val="003399"/>
              </a:buClr>
              <a:buFont typeface="Arial" pitchFamily="34" charset="0"/>
              <a:buChar char="–"/>
              <a:defRPr sz="2800">
                <a:solidFill>
                  <a:schemeClr val="tx1"/>
                </a:solidFill>
              </a:defRPr>
            </a:lvl2pPr>
            <a:lvl3pPr>
              <a:lnSpc>
                <a:spcPct val="100000"/>
              </a:lnSpc>
              <a:spcBef>
                <a:spcPts val="1200"/>
              </a:spcBef>
              <a:spcAft>
                <a:spcPts val="600"/>
              </a:spcAft>
              <a:buClr>
                <a:srgbClr val="FF0000"/>
              </a:buClr>
              <a:buFont typeface="Arial" pitchFamily="34" charset="0"/>
              <a:buChar char="•"/>
              <a:defRPr sz="2800">
                <a:solidFill>
                  <a:schemeClr val="tx1"/>
                </a:solidFill>
              </a:defRPr>
            </a:lvl3pPr>
            <a:lvl4pPr>
              <a:spcBef>
                <a:spcPts val="1200"/>
              </a:spcBef>
              <a:spcAft>
                <a:spcPts val="600"/>
              </a:spcAft>
              <a:buSzPct val="80000"/>
              <a:buFont typeface="Arial" pitchFamily="34" charset="0"/>
              <a:buChar char="–"/>
              <a:defRPr sz="2800">
                <a:solidFill>
                  <a:schemeClr val="tx1"/>
                </a:solidFill>
              </a:defRPr>
            </a:lvl4pPr>
            <a:lvl5pPr>
              <a:defRPr sz="32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8"/>
          <p:cNvSpPr>
            <a:spLocks noGrp="1"/>
          </p:cNvSpPr>
          <p:nvPr>
            <p:ph type="body" sz="quarter" idx="10"/>
          </p:nvPr>
        </p:nvSpPr>
        <p:spPr>
          <a:xfrm>
            <a:off x="0" y="0"/>
            <a:ext cx="9144000" cy="228600"/>
          </a:xfrm>
          <a:noFill/>
        </p:spPr>
        <p:txBody>
          <a:bodyPr anchor="ctr">
            <a:noAutofit/>
          </a:bodyPr>
          <a:lstStyle>
            <a:lvl1pPr marL="0" indent="4763" algn="l">
              <a:buClr>
                <a:schemeClr val="bg1"/>
              </a:buClr>
              <a:buFont typeface="Calibri" pitchFamily="34" charset="0"/>
              <a:buNone/>
              <a:defRPr sz="1200" b="1" i="0">
                <a:solidFill>
                  <a:srgbClr val="003399"/>
                </a:solidFill>
                <a:latin typeface="Arial" pitchFamily="34" charset="0"/>
                <a:cs typeface="Arial" pitchFamily="34" charset="0"/>
              </a:defRPr>
            </a:lvl1pPr>
            <a:lvl2pPr>
              <a:defRPr sz="1200" b="1">
                <a:latin typeface="+mj-lt"/>
              </a:defRPr>
            </a:lvl2pPr>
            <a:lvl3pPr>
              <a:defRPr sz="1200" b="1">
                <a:latin typeface="+mj-lt"/>
              </a:defRPr>
            </a:lvl3pPr>
            <a:lvl4pPr>
              <a:defRPr sz="1200" b="1">
                <a:latin typeface="+mj-lt"/>
              </a:defRPr>
            </a:lvl4pPr>
            <a:lvl5pPr>
              <a:defRPr sz="1200" b="1">
                <a:latin typeface="+mj-lt"/>
              </a:defRPr>
            </a:lvl5pPr>
          </a:lstStyle>
          <a:p>
            <a:pPr lvl="0"/>
            <a:r>
              <a:rPr lang="en-US"/>
              <a:t>Click to edit Master text styles</a:t>
            </a:r>
          </a:p>
        </p:txBody>
      </p:sp>
      <p:sp>
        <p:nvSpPr>
          <p:cNvPr id="5" name="Title 4"/>
          <p:cNvSpPr>
            <a:spLocks noGrp="1"/>
          </p:cNvSpPr>
          <p:nvPr>
            <p:ph type="title"/>
          </p:nvPr>
        </p:nvSpPr>
        <p:spPr>
          <a:xfrm>
            <a:off x="0" y="217714"/>
            <a:ext cx="9144000" cy="457200"/>
          </a:xfrm>
          <a:prstGeom prst="rect">
            <a:avLst/>
          </a:prstGeom>
          <a:solidFill>
            <a:schemeClr val="tx2">
              <a:lumMod val="20000"/>
              <a:lumOff val="80000"/>
            </a:schemeClr>
          </a:solidFill>
        </p:spPr>
        <p:txBody>
          <a:bodyPr>
            <a:noAutofit/>
          </a:bodyPr>
          <a:lstStyle>
            <a:lvl1pPr marL="0" indent="0" algn="ctr">
              <a:buClr>
                <a:schemeClr val="bg1"/>
              </a:buClr>
              <a:buSzPct val="120000"/>
              <a:buFontTx/>
              <a:buNone/>
              <a:defRPr sz="2800">
                <a:solidFill>
                  <a:srgbClr val="003399"/>
                </a:solidFill>
                <a:latin typeface="Arial" pitchFamily="34" charset="0"/>
                <a:cs typeface="Arial" pitchFamily="34" charset="0"/>
              </a:defRPr>
            </a:lvl1pPr>
          </a:lstStyle>
          <a:p>
            <a:r>
              <a:rPr lang="en-US" dirty="0"/>
              <a:t>Click to edit Master title style</a:t>
            </a:r>
          </a:p>
        </p:txBody>
      </p:sp>
    </p:spTree>
    <p:extLst>
      <p:ext uri="{BB962C8B-B14F-4D97-AF65-F5344CB8AC3E}">
        <p14:creationId xmlns:p14="http://schemas.microsoft.com/office/powerpoint/2010/main" val="3725325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Blank">
    <p:spTree>
      <p:nvGrpSpPr>
        <p:cNvPr id="1" name=""/>
        <p:cNvGrpSpPr/>
        <p:nvPr/>
      </p:nvGrpSpPr>
      <p:grpSpPr>
        <a:xfrm>
          <a:off x="0" y="0"/>
          <a:ext cx="0" cy="0"/>
          <a:chOff x="0" y="0"/>
          <a:chExt cx="0" cy="0"/>
        </a:xfrm>
      </p:grpSpPr>
      <p:sp>
        <p:nvSpPr>
          <p:cNvPr id="6" name="Text Placeholder 8"/>
          <p:cNvSpPr>
            <a:spLocks noGrp="1"/>
          </p:cNvSpPr>
          <p:nvPr>
            <p:ph type="body" sz="quarter" idx="10"/>
          </p:nvPr>
        </p:nvSpPr>
        <p:spPr>
          <a:xfrm>
            <a:off x="0" y="0"/>
            <a:ext cx="9144000" cy="228600"/>
          </a:xfrm>
          <a:noFill/>
        </p:spPr>
        <p:txBody>
          <a:bodyPr anchor="ctr">
            <a:noAutofit/>
          </a:bodyPr>
          <a:lstStyle>
            <a:lvl1pPr marL="0" indent="4763" algn="l">
              <a:buClr>
                <a:schemeClr val="bg1"/>
              </a:buClr>
              <a:buFont typeface="Calibri" pitchFamily="34" charset="0"/>
              <a:buNone/>
              <a:defRPr sz="1100" b="1" i="0">
                <a:solidFill>
                  <a:srgbClr val="003399"/>
                </a:solidFill>
                <a:latin typeface="Arial" pitchFamily="34" charset="0"/>
                <a:cs typeface="Arial" pitchFamily="34" charset="0"/>
              </a:defRPr>
            </a:lvl1pPr>
            <a:lvl2pPr>
              <a:defRPr sz="1200" b="1">
                <a:latin typeface="+mj-lt"/>
              </a:defRPr>
            </a:lvl2pPr>
            <a:lvl3pPr>
              <a:defRPr sz="1200" b="1">
                <a:latin typeface="+mj-lt"/>
              </a:defRPr>
            </a:lvl3pPr>
            <a:lvl4pPr>
              <a:defRPr sz="1200" b="1">
                <a:latin typeface="+mj-lt"/>
              </a:defRPr>
            </a:lvl4pPr>
            <a:lvl5pPr>
              <a:defRPr sz="1200" b="1">
                <a:latin typeface="+mj-lt"/>
              </a:defRPr>
            </a:lvl5pPr>
          </a:lstStyle>
          <a:p>
            <a:pPr lvl="0"/>
            <a:r>
              <a:rPr lang="en-US"/>
              <a:t>Click to edit Master text styles</a:t>
            </a:r>
          </a:p>
        </p:txBody>
      </p:sp>
    </p:spTree>
    <p:extLst>
      <p:ext uri="{BB962C8B-B14F-4D97-AF65-F5344CB8AC3E}">
        <p14:creationId xmlns:p14="http://schemas.microsoft.com/office/powerpoint/2010/main" val="18134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FFB"/>
        </a:solidFill>
        <a:effectLst/>
      </p:bgPr>
    </p:bg>
    <p:spTree>
      <p:nvGrpSpPr>
        <p:cNvPr id="1" name=""/>
        <p:cNvGrpSpPr/>
        <p:nvPr/>
      </p:nvGrpSpPr>
      <p:grpSpPr>
        <a:xfrm>
          <a:off x="0" y="0"/>
          <a:ext cx="0" cy="0"/>
          <a:chOff x="0" y="0"/>
          <a:chExt cx="0" cy="0"/>
        </a:xfrm>
      </p:grpSpPr>
      <p:pic>
        <p:nvPicPr>
          <p:cNvPr id="1026" name="Picture 974" descr="foods2"/>
          <p:cNvPicPr>
            <a:picLocks noChangeAspect="1" noChangeArrowheads="1"/>
          </p:cNvPicPr>
          <p:nvPr/>
        </p:nvPicPr>
        <p:blipFill>
          <a:blip r:embed="rId19">
            <a:lum bright="50000" contrast="-50000"/>
            <a:extLst>
              <a:ext uri="{28A0092B-C50C-407E-A947-70E740481C1C}">
                <a14:useLocalDpi xmlns:a14="http://schemas.microsoft.com/office/drawing/2010/main" val="0"/>
              </a:ext>
            </a:extLst>
          </a:blip>
          <a:srcRect r="26149"/>
          <a:stretch>
            <a:fillRect/>
          </a:stretch>
        </p:blipFill>
        <p:spPr bwMode="auto">
          <a:xfrm>
            <a:off x="0" y="0"/>
            <a:ext cx="914400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433" name="Rectangle 905"/>
          <p:cNvSpPr>
            <a:spLocks noGrp="1" noChangeArrowheads="1"/>
          </p:cNvSpPr>
          <p:nvPr>
            <p:ph type="title"/>
          </p:nvPr>
        </p:nvSpPr>
        <p:spPr bwMode="auto">
          <a:xfrm>
            <a:off x="457200" y="0"/>
            <a:ext cx="8305800" cy="914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Rectangle 906"/>
          <p:cNvSpPr>
            <a:spLocks noGrp="1" noChangeArrowheads="1"/>
          </p:cNvSpPr>
          <p:nvPr>
            <p:ph type="body" idx="1"/>
          </p:nvPr>
        </p:nvSpPr>
        <p:spPr bwMode="auto">
          <a:xfrm>
            <a:off x="381000" y="1219200"/>
            <a:ext cx="8458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3436" name="Rectangle 908"/>
          <p:cNvSpPr>
            <a:spLocks noGrp="1" noChangeArrowheads="1"/>
          </p:cNvSpPr>
          <p:nvPr>
            <p:ph type="ftr" sz="quarter" idx="3"/>
          </p:nvPr>
        </p:nvSpPr>
        <p:spPr bwMode="auto">
          <a:xfrm>
            <a:off x="457200" y="6400800"/>
            <a:ext cx="6248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bg1"/>
                </a:solidFill>
                <a:latin typeface="Arial Narrow" pitchFamily="34" charset="0"/>
              </a:defRPr>
            </a:lvl1pPr>
          </a:lstStyle>
          <a:p>
            <a:pPr>
              <a:defRPr/>
            </a:pPr>
            <a:endParaRPr lang="en-US"/>
          </a:p>
        </p:txBody>
      </p:sp>
      <p:sp>
        <p:nvSpPr>
          <p:cNvPr id="23437" name="Rectangle 909"/>
          <p:cNvSpPr>
            <a:spLocks noGrp="1" noChangeArrowheads="1"/>
          </p:cNvSpPr>
          <p:nvPr>
            <p:ph type="sldNum" sz="quarter" idx="4"/>
          </p:nvPr>
        </p:nvSpPr>
        <p:spPr bwMode="auto">
          <a:xfrm>
            <a:off x="6934200" y="64008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latin typeface="Arial Narrow" pitchFamily="34" charset="0"/>
              </a:defRPr>
            </a:lvl1pPr>
          </a:lstStyle>
          <a:p>
            <a:pPr>
              <a:defRPr/>
            </a:pPr>
            <a:fld id="{03DE8D01-6CC4-4513-9693-0DE483C7C949}" type="slidenum">
              <a:rPr lang="en-US"/>
              <a:pPr>
                <a:defRPr/>
              </a:pPr>
              <a:t>‹#›</a:t>
            </a:fld>
            <a:endParaRPr lang="en-US"/>
          </a:p>
        </p:txBody>
      </p:sp>
      <p:sp>
        <p:nvSpPr>
          <p:cNvPr id="1031" name="Rectangle 920"/>
          <p:cNvSpPr>
            <a:spLocks noChangeArrowheads="1"/>
          </p:cNvSpPr>
          <p:nvPr/>
        </p:nvSpPr>
        <p:spPr bwMode="auto">
          <a:xfrm>
            <a:off x="3852863" y="2938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2" name="Rectangle 922"/>
          <p:cNvSpPr>
            <a:spLocks noChangeArrowheads="1"/>
          </p:cNvSpPr>
          <p:nvPr/>
        </p:nvSpPr>
        <p:spPr bwMode="auto">
          <a:xfrm>
            <a:off x="3819525"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3" name="Rectangle 924"/>
          <p:cNvSpPr>
            <a:spLocks noChangeArrowheads="1"/>
          </p:cNvSpPr>
          <p:nvPr/>
        </p:nvSpPr>
        <p:spPr bwMode="auto">
          <a:xfrm>
            <a:off x="3838575" y="2943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4" name="Rectangle 926"/>
          <p:cNvSpPr>
            <a:spLocks noChangeArrowheads="1"/>
          </p:cNvSpPr>
          <p:nvPr/>
        </p:nvSpPr>
        <p:spPr bwMode="auto">
          <a:xfrm>
            <a:off x="3805238" y="2924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5" name="Rectangle 928"/>
          <p:cNvSpPr>
            <a:spLocks noChangeArrowheads="1"/>
          </p:cNvSpPr>
          <p:nvPr/>
        </p:nvSpPr>
        <p:spPr bwMode="auto">
          <a:xfrm>
            <a:off x="3871913" y="29527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6" name="Rectangle 930"/>
          <p:cNvSpPr>
            <a:spLocks noChangeArrowheads="1"/>
          </p:cNvSpPr>
          <p:nvPr/>
        </p:nvSpPr>
        <p:spPr bwMode="auto">
          <a:xfrm>
            <a:off x="3824288" y="2947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7" name="Rectangle 932"/>
          <p:cNvSpPr>
            <a:spLocks noChangeArrowheads="1"/>
          </p:cNvSpPr>
          <p:nvPr/>
        </p:nvSpPr>
        <p:spPr bwMode="auto">
          <a:xfrm>
            <a:off x="3843338" y="2938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8" name="Rectangle 934"/>
          <p:cNvSpPr>
            <a:spLocks noChangeArrowheads="1"/>
          </p:cNvSpPr>
          <p:nvPr/>
        </p:nvSpPr>
        <p:spPr bwMode="auto">
          <a:xfrm>
            <a:off x="3829050" y="2938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39" name="Rectangle 936"/>
          <p:cNvSpPr>
            <a:spLocks noChangeArrowheads="1"/>
          </p:cNvSpPr>
          <p:nvPr/>
        </p:nvSpPr>
        <p:spPr bwMode="auto">
          <a:xfrm>
            <a:off x="3843338" y="29384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40" name="Rectangle 938"/>
          <p:cNvSpPr>
            <a:spLocks noChangeArrowheads="1"/>
          </p:cNvSpPr>
          <p:nvPr/>
        </p:nvSpPr>
        <p:spPr bwMode="auto">
          <a:xfrm>
            <a:off x="3838575" y="2943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41" name="Rectangle 940"/>
          <p:cNvSpPr>
            <a:spLocks noChangeArrowheads="1"/>
          </p:cNvSpPr>
          <p:nvPr/>
        </p:nvSpPr>
        <p:spPr bwMode="auto">
          <a:xfrm>
            <a:off x="3838575" y="2943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42" name="Rectangle 946"/>
          <p:cNvSpPr>
            <a:spLocks noChangeArrowheads="1"/>
          </p:cNvSpPr>
          <p:nvPr/>
        </p:nvSpPr>
        <p:spPr bwMode="auto">
          <a:xfrm>
            <a:off x="3971925" y="30289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43" name="Rectangle 949"/>
          <p:cNvSpPr>
            <a:spLocks noChangeArrowheads="1"/>
          </p:cNvSpPr>
          <p:nvPr/>
        </p:nvSpPr>
        <p:spPr bwMode="auto">
          <a:xfrm>
            <a:off x="4086225" y="3114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44" name="Rectangle 951"/>
          <p:cNvSpPr>
            <a:spLocks noChangeArrowheads="1"/>
          </p:cNvSpPr>
          <p:nvPr/>
        </p:nvSpPr>
        <p:spPr bwMode="auto">
          <a:xfrm>
            <a:off x="3838575" y="2905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45" name="Rectangle 957"/>
          <p:cNvSpPr>
            <a:spLocks noChangeArrowheads="1"/>
          </p:cNvSpPr>
          <p:nvPr/>
        </p:nvSpPr>
        <p:spPr bwMode="auto">
          <a:xfrm>
            <a:off x="4019550" y="3067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
        <p:nvSpPr>
          <p:cNvPr id="1046" name="Rectangle 962"/>
          <p:cNvSpPr>
            <a:spLocks noChangeArrowheads="1"/>
          </p:cNvSpPr>
          <p:nvPr/>
        </p:nvSpPr>
        <p:spPr bwMode="auto">
          <a:xfrm>
            <a:off x="3838575" y="29051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US" altLang="en-US"/>
          </a:p>
        </p:txBody>
      </p:sp>
    </p:spTree>
  </p:cSld>
  <p:clrMap bg1="lt1" tx1="dk1" bg2="lt2" tx2="dk2" accent1="accent1" accent2="accent2" accent3="accent3" accent4="accent4" accent5="accent5" accent6="accent6" hlink="hlink" folHlink="folHlink"/>
  <p:sldLayoutIdLst>
    <p:sldLayoutId id="2147484392" r:id="rId1"/>
    <p:sldLayoutId id="2147484393" r:id="rId2"/>
    <p:sldLayoutId id="2147484394" r:id="rId3"/>
    <p:sldLayoutId id="2147484395" r:id="rId4"/>
    <p:sldLayoutId id="2147484396" r:id="rId5"/>
    <p:sldLayoutId id="2147484397" r:id="rId6"/>
    <p:sldLayoutId id="2147484398" r:id="rId7"/>
    <p:sldLayoutId id="2147484399" r:id="rId8"/>
    <p:sldLayoutId id="2147484400" r:id="rId9"/>
    <p:sldLayoutId id="2147484401" r:id="rId10"/>
    <p:sldLayoutId id="2147484402" r:id="rId11"/>
    <p:sldLayoutId id="2147484403" r:id="rId12"/>
    <p:sldLayoutId id="2147484404" r:id="rId13"/>
    <p:sldLayoutId id="2147484405" r:id="rId14"/>
    <p:sldLayoutId id="2147484406" r:id="rId15"/>
    <p:sldLayoutId id="2147484407" r:id="rId16"/>
    <p:sldLayoutId id="2147484410" r:id="rId17"/>
  </p:sldLayoutIdLst>
  <p:hf hdr="0" ftr="0" dt="0"/>
  <p:txStyles>
    <p:titleStyle>
      <a:lvl1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2pPr>
      <a:lvl3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3pPr>
      <a:lvl4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4pPr>
      <a:lvl5pPr algn="l" rtl="0" eaLnBrk="0" fontAlgn="base" hangingPunct="0">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5pPr>
      <a:lvl6pPr marL="457200" algn="l" rtl="0" fontAlgn="base">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6pPr>
      <a:lvl7pPr marL="914400" algn="l" rtl="0" fontAlgn="base">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7pPr>
      <a:lvl8pPr marL="1371600" algn="l" rtl="0" fontAlgn="base">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8pPr>
      <a:lvl9pPr marL="1828800" algn="l" rtl="0" fontAlgn="base">
        <a:spcBef>
          <a:spcPct val="0"/>
        </a:spcBef>
        <a:spcAft>
          <a:spcPct val="0"/>
        </a:spcAft>
        <a:defRPr sz="3600" b="1">
          <a:solidFill>
            <a:schemeClr val="tx2"/>
          </a:solidFill>
          <a:effectLst>
            <a:outerShdw blurRad="38100" dist="38100" dir="2700000" algn="tl">
              <a:srgbClr val="C0C0C0"/>
            </a:outerShdw>
          </a:effectLst>
          <a:latin typeface="Times New Roman" pitchFamily="18" charset="0"/>
        </a:defRPr>
      </a:lvl9pPr>
    </p:titleStyle>
    <p:bodyStyle>
      <a:lvl1pPr marL="342900" indent="-342900" algn="l" rtl="0" eaLnBrk="0" fontAlgn="base" hangingPunct="0">
        <a:spcBef>
          <a:spcPct val="3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30000"/>
        </a:spcBef>
        <a:spcAft>
          <a:spcPct val="0"/>
        </a:spcAft>
        <a:buChar char="–"/>
        <a:defRPr sz="2800">
          <a:solidFill>
            <a:schemeClr val="tx1"/>
          </a:solidFill>
          <a:latin typeface="+mn-lt"/>
        </a:defRPr>
      </a:lvl2pPr>
      <a:lvl3pPr marL="1143000" indent="-228600" algn="l" rtl="0" eaLnBrk="0" fontAlgn="base" hangingPunct="0">
        <a:spcBef>
          <a:spcPct val="30000"/>
        </a:spcBef>
        <a:spcAft>
          <a:spcPct val="0"/>
        </a:spcAft>
        <a:buChar char="•"/>
        <a:defRPr sz="2800">
          <a:solidFill>
            <a:schemeClr val="tx1"/>
          </a:solidFill>
          <a:latin typeface="+mn-lt"/>
        </a:defRPr>
      </a:lvl3pPr>
      <a:lvl4pPr marL="1600200" indent="-228600" algn="l" rtl="0" eaLnBrk="0" fontAlgn="base" hangingPunct="0">
        <a:spcBef>
          <a:spcPct val="30000"/>
        </a:spcBef>
        <a:spcAft>
          <a:spcPct val="0"/>
        </a:spcAft>
        <a:buChar char="–"/>
        <a:defRPr>
          <a:solidFill>
            <a:schemeClr val="tx1"/>
          </a:solidFill>
          <a:latin typeface="+mn-lt"/>
        </a:defRPr>
      </a:lvl4pPr>
      <a:lvl5pPr marL="2057400" indent="-228600" algn="l" rtl="0" eaLnBrk="0" fontAlgn="base" hangingPunct="0">
        <a:spcBef>
          <a:spcPct val="30000"/>
        </a:spcBef>
        <a:spcAft>
          <a:spcPct val="0"/>
        </a:spcAft>
        <a:buChar char="•"/>
        <a:defRPr sz="1600">
          <a:solidFill>
            <a:schemeClr val="tx1"/>
          </a:solidFill>
          <a:latin typeface="+mn-lt"/>
        </a:defRPr>
      </a:lvl5pPr>
      <a:lvl6pPr marL="2514600" indent="-228600" algn="l" rtl="0" fontAlgn="base">
        <a:spcBef>
          <a:spcPct val="30000"/>
        </a:spcBef>
        <a:spcAft>
          <a:spcPct val="0"/>
        </a:spcAft>
        <a:buChar char="•"/>
        <a:defRPr sz="1600">
          <a:solidFill>
            <a:schemeClr val="tx1"/>
          </a:solidFill>
          <a:latin typeface="+mn-lt"/>
        </a:defRPr>
      </a:lvl6pPr>
      <a:lvl7pPr marL="2971800" indent="-228600" algn="l" rtl="0" fontAlgn="base">
        <a:spcBef>
          <a:spcPct val="30000"/>
        </a:spcBef>
        <a:spcAft>
          <a:spcPct val="0"/>
        </a:spcAft>
        <a:buChar char="•"/>
        <a:defRPr sz="1600">
          <a:solidFill>
            <a:schemeClr val="tx1"/>
          </a:solidFill>
          <a:latin typeface="+mn-lt"/>
        </a:defRPr>
      </a:lvl7pPr>
      <a:lvl8pPr marL="3429000" indent="-228600" algn="l" rtl="0" fontAlgn="base">
        <a:spcBef>
          <a:spcPct val="30000"/>
        </a:spcBef>
        <a:spcAft>
          <a:spcPct val="0"/>
        </a:spcAft>
        <a:buChar char="•"/>
        <a:defRPr sz="1600">
          <a:solidFill>
            <a:schemeClr val="tx1"/>
          </a:solidFill>
          <a:latin typeface="+mn-lt"/>
        </a:defRPr>
      </a:lvl8pPr>
      <a:lvl9pPr marL="3886200" indent="-228600" algn="l" rtl="0" fontAlgn="base">
        <a:spcBef>
          <a:spcPct val="3000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 Id="rId5" Type="http://schemas.openxmlformats.org/officeDocument/2006/relationships/image" Target="../media/image19.png"/><Relationship Id="rId4" Type="http://schemas.openxmlformats.org/officeDocument/2006/relationships/image" Target="../media/image1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69698" name="Rectangle 2"/>
          <p:cNvSpPr>
            <a:spLocks noGrp="1" noChangeArrowheads="1"/>
          </p:cNvSpPr>
          <p:nvPr>
            <p:ph type="ctrTitle"/>
          </p:nvPr>
        </p:nvSpPr>
        <p:spPr>
          <a:xfrm>
            <a:off x="0" y="152400"/>
            <a:ext cx="8915400" cy="1470025"/>
          </a:xfrm>
        </p:spPr>
        <p:txBody>
          <a:bodyPr/>
          <a:lstStyle/>
          <a:p>
            <a:pPr eaLnBrk="1" hangingPunct="1">
              <a:defRPr/>
            </a:pPr>
            <a:br>
              <a:rPr lang="en-US" sz="2400" b="0" dirty="0">
                <a:solidFill>
                  <a:srgbClr val="3903BF"/>
                </a:solidFill>
                <a:latin typeface="Tahoma" pitchFamily="34" charset="0"/>
                <a:ea typeface="MS Mincho" pitchFamily="49" charset="-128"/>
              </a:rPr>
            </a:br>
            <a:br>
              <a:rPr lang="en-US" sz="2400" b="0" dirty="0">
                <a:solidFill>
                  <a:srgbClr val="3903BF"/>
                </a:solidFill>
                <a:latin typeface="Courier New" pitchFamily="49" charset="0"/>
                <a:cs typeface="Times New Roman" pitchFamily="18" charset="0"/>
              </a:rPr>
            </a:br>
            <a:endParaRPr lang="en-US" sz="2400" b="0" dirty="0">
              <a:solidFill>
                <a:srgbClr val="3903BF"/>
              </a:solidFill>
              <a:latin typeface="Tahoma" pitchFamily="34" charset="0"/>
            </a:endParaRPr>
          </a:p>
        </p:txBody>
      </p:sp>
      <p:sp>
        <p:nvSpPr>
          <p:cNvPr id="21507" name="Rectangle 3"/>
          <p:cNvSpPr>
            <a:spLocks noGrp="1" noChangeArrowheads="1"/>
          </p:cNvSpPr>
          <p:nvPr>
            <p:ph type="subTitle" idx="1"/>
          </p:nvPr>
        </p:nvSpPr>
        <p:spPr>
          <a:xfrm>
            <a:off x="590026" y="2573697"/>
            <a:ext cx="8305800" cy="5334000"/>
          </a:xfrm>
        </p:spPr>
        <p:txBody>
          <a:bodyPr/>
          <a:lstStyle/>
          <a:p>
            <a:pPr algn="ctr" eaLnBrk="1" hangingPunct="1"/>
            <a:r>
              <a:rPr lang="en-US" altLang="en-US" sz="2800" dirty="0">
                <a:latin typeface="Tahoma" pitchFamily="34" charset="0"/>
              </a:rPr>
              <a:t>Donna Spiegelman</a:t>
            </a:r>
          </a:p>
          <a:p>
            <a:pPr algn="ctr" eaLnBrk="1" hangingPunct="1"/>
            <a:r>
              <a:rPr lang="en-US" altLang="en-US" sz="2800" dirty="0">
                <a:latin typeface="Tahoma" pitchFamily="34" charset="0"/>
              </a:rPr>
              <a:t>Molin Wang</a:t>
            </a:r>
          </a:p>
          <a:p>
            <a:pPr algn="ctr" eaLnBrk="1" hangingPunct="1"/>
            <a:r>
              <a:rPr lang="en-US" altLang="en-US" sz="2800" dirty="0">
                <a:latin typeface="Tahoma" pitchFamily="34" charset="0"/>
              </a:rPr>
              <a:t>Jingyu Cui</a:t>
            </a:r>
          </a:p>
          <a:p>
            <a:pPr algn="ctr" eaLnBrk="1" hangingPunct="1"/>
            <a:r>
              <a:rPr lang="en-US" altLang="en-US" sz="2800" dirty="0">
                <a:latin typeface="Tahoma" pitchFamily="34" charset="0"/>
              </a:rPr>
              <a:t>Raymond J. Carroll</a:t>
            </a:r>
          </a:p>
          <a:p>
            <a:pPr eaLnBrk="1" hangingPunct="1"/>
            <a:endParaRPr lang="en-US" altLang="en-US" sz="2800" dirty="0">
              <a:latin typeface="Tahoma" pitchFamily="34" charset="0"/>
            </a:endParaRPr>
          </a:p>
          <a:p>
            <a:pPr eaLnBrk="1" hangingPunct="1"/>
            <a:endParaRPr lang="en-US" altLang="en-US" sz="3000" dirty="0">
              <a:latin typeface="Tahoma" pitchFamily="34" charset="0"/>
            </a:endParaRPr>
          </a:p>
        </p:txBody>
      </p:sp>
      <p:sp>
        <p:nvSpPr>
          <p:cNvPr id="21508" name="Rectangle 4"/>
          <p:cNvSpPr>
            <a:spLocks noChangeArrowheads="1"/>
          </p:cNvSpPr>
          <p:nvPr/>
        </p:nvSpPr>
        <p:spPr bwMode="auto">
          <a:xfrm>
            <a:off x="361426" y="511594"/>
            <a:ext cx="853440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sz="3200" b="1" dirty="0">
                <a:solidFill>
                  <a:srgbClr val="0000CC"/>
                </a:solidFill>
              </a:rPr>
              <a:t>Measurement Error Models, Methods, Applications in Nutrition and Environmental Health: Introduction</a:t>
            </a:r>
            <a:endParaRPr lang="en-US" sz="3200" dirty="0">
              <a:solidFill>
                <a:srgbClr val="0000CC"/>
              </a:solidFill>
            </a:endParaRPr>
          </a:p>
          <a:p>
            <a:pPr eaLnBrk="1" hangingPunct="1"/>
            <a:r>
              <a:rPr lang="en-US" altLang="en-US" sz="3200" b="1" dirty="0">
                <a:solidFill>
                  <a:srgbClr val="0000CC"/>
                </a:solidFill>
                <a:latin typeface="Tahoma" pitchFamily="34" charset="0"/>
                <a:cs typeface="Tahoma" pitchFamily="34" charset="0"/>
              </a:rPr>
              <a:t> </a:t>
            </a:r>
            <a:endParaRPr lang="en-US" altLang="en-US" sz="3200" b="1" dirty="0">
              <a:solidFill>
                <a:srgbClr val="3903BF"/>
              </a:solidFill>
              <a:latin typeface="Tahoma" pitchFamily="34" charset="0"/>
              <a:ea typeface="MS Mincho" pitchFamily="49" charset="-128"/>
            </a:endParaRPr>
          </a:p>
        </p:txBody>
      </p:sp>
      <p:sp>
        <p:nvSpPr>
          <p:cNvPr id="21511" name="Line 7"/>
          <p:cNvSpPr>
            <a:spLocks noChangeShapeType="1"/>
          </p:cNvSpPr>
          <p:nvPr/>
        </p:nvSpPr>
        <p:spPr bwMode="auto">
          <a:xfrm>
            <a:off x="685800" y="2032221"/>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F35807F9-F463-2F97-8BFC-2DD9A4E77471}"/>
              </a:ext>
            </a:extLst>
          </p:cNvPr>
          <p:cNvSpPr>
            <a:spLocks noGrp="1"/>
          </p:cNvSpPr>
          <p:nvPr>
            <p:ph type="sldNum" sz="quarter" idx="12"/>
          </p:nvPr>
        </p:nvSpPr>
        <p:spPr/>
        <p:txBody>
          <a:bodyPr/>
          <a:lstStyle/>
          <a:p>
            <a:pPr>
              <a:defRPr/>
            </a:pPr>
            <a:fld id="{EF3F469E-38D6-436D-AD2A-9D3762E5D819}" type="slidenum">
              <a:rPr lang="en-US" smtClean="0"/>
              <a:pPr>
                <a:defRPr/>
              </a:pPr>
              <a:t>1</a:t>
            </a:fld>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061403-6FDD-6FCC-4DA1-AEBBFD3B08F1}"/>
            </a:ext>
          </a:extLst>
        </p:cNvPr>
        <p:cNvGrpSpPr/>
        <p:nvPr/>
      </p:nvGrpSpPr>
      <p:grpSpPr>
        <a:xfrm>
          <a:off x="0" y="0"/>
          <a:ext cx="0" cy="0"/>
          <a:chOff x="0" y="0"/>
          <a:chExt cx="0" cy="0"/>
        </a:xfrm>
      </p:grpSpPr>
      <p:sp>
        <p:nvSpPr>
          <p:cNvPr id="642050" name="Rectangle 2">
            <a:extLst>
              <a:ext uri="{FF2B5EF4-FFF2-40B4-BE49-F238E27FC236}">
                <a16:creationId xmlns:a16="http://schemas.microsoft.com/office/drawing/2014/main" id="{132042D9-DC4D-7B9B-23C8-B15386948452}"/>
              </a:ext>
            </a:extLst>
          </p:cNvPr>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Who we Are</a:t>
            </a:r>
          </a:p>
        </p:txBody>
      </p:sp>
      <p:sp>
        <p:nvSpPr>
          <p:cNvPr id="23556" name="Line 4">
            <a:extLst>
              <a:ext uri="{FF2B5EF4-FFF2-40B4-BE49-F238E27FC236}">
                <a16:creationId xmlns:a16="http://schemas.microsoft.com/office/drawing/2014/main" id="{DDDA5E20-B2DE-BFCD-1599-56A39A8215A2}"/>
              </a:ext>
            </a:extLst>
          </p:cNvPr>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C32A7A36-C31F-1053-C96E-0D6A2F7485C2}"/>
              </a:ext>
            </a:extLst>
          </p:cNvPr>
          <p:cNvSpPr>
            <a:spLocks noGrp="1"/>
          </p:cNvSpPr>
          <p:nvPr>
            <p:ph type="sldNum" sz="quarter" idx="11"/>
          </p:nvPr>
        </p:nvSpPr>
        <p:spPr/>
        <p:txBody>
          <a:bodyPr/>
          <a:lstStyle/>
          <a:p>
            <a:pPr>
              <a:defRPr/>
            </a:pPr>
            <a:fld id="{3409ADA3-42B3-456B-8472-9BD85CC2F264}" type="slidenum">
              <a:rPr lang="en-US" smtClean="0"/>
              <a:pPr>
                <a:defRPr/>
              </a:pPr>
              <a:t>2</a:t>
            </a:fld>
            <a:endParaRPr lang="en-US"/>
          </a:p>
        </p:txBody>
      </p:sp>
      <p:pic>
        <p:nvPicPr>
          <p:cNvPr id="4" name="Picture 3">
            <a:extLst>
              <a:ext uri="{FF2B5EF4-FFF2-40B4-BE49-F238E27FC236}">
                <a16:creationId xmlns:a16="http://schemas.microsoft.com/office/drawing/2014/main" id="{DEE637E1-F732-A7A5-75AA-7E9FE1C8D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357312"/>
            <a:ext cx="1190625" cy="1400175"/>
          </a:xfrm>
          <a:prstGeom prst="rect">
            <a:avLst/>
          </a:prstGeom>
        </p:spPr>
      </p:pic>
      <p:pic>
        <p:nvPicPr>
          <p:cNvPr id="6" name="Picture 5">
            <a:extLst>
              <a:ext uri="{FF2B5EF4-FFF2-40B4-BE49-F238E27FC236}">
                <a16:creationId xmlns:a16="http://schemas.microsoft.com/office/drawing/2014/main" id="{B9D32A58-988C-8586-CB8F-43CE3690BB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1382491"/>
            <a:ext cx="1190625" cy="1400175"/>
          </a:xfrm>
          <a:prstGeom prst="rect">
            <a:avLst/>
          </a:prstGeom>
        </p:spPr>
      </p:pic>
      <p:pic>
        <p:nvPicPr>
          <p:cNvPr id="9" name="Picture 8">
            <a:extLst>
              <a:ext uri="{FF2B5EF4-FFF2-40B4-BE49-F238E27FC236}">
                <a16:creationId xmlns:a16="http://schemas.microsoft.com/office/drawing/2014/main" id="{1AD51E63-8999-E72D-0C6A-92A32C1F3A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7323" y="3429000"/>
            <a:ext cx="1343354" cy="1579784"/>
          </a:xfrm>
          <a:prstGeom prst="rect">
            <a:avLst/>
          </a:prstGeom>
        </p:spPr>
      </p:pic>
      <p:pic>
        <p:nvPicPr>
          <p:cNvPr id="11" name="Picture 10">
            <a:extLst>
              <a:ext uri="{FF2B5EF4-FFF2-40B4-BE49-F238E27FC236}">
                <a16:creationId xmlns:a16="http://schemas.microsoft.com/office/drawing/2014/main" id="{519E50DF-DEF0-06F8-82D6-97AD8CD89C0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5178424" y="3429000"/>
            <a:ext cx="1866899" cy="1400174"/>
          </a:xfrm>
          <a:prstGeom prst="rect">
            <a:avLst/>
          </a:prstGeom>
        </p:spPr>
      </p:pic>
      <p:sp>
        <p:nvSpPr>
          <p:cNvPr id="12" name="TextBox 11">
            <a:extLst>
              <a:ext uri="{FF2B5EF4-FFF2-40B4-BE49-F238E27FC236}">
                <a16:creationId xmlns:a16="http://schemas.microsoft.com/office/drawing/2014/main" id="{94010A21-3AB2-7A23-5D41-3E0956BB40F3}"/>
              </a:ext>
            </a:extLst>
          </p:cNvPr>
          <p:cNvSpPr txBox="1"/>
          <p:nvPr/>
        </p:nvSpPr>
        <p:spPr>
          <a:xfrm>
            <a:off x="1080052" y="2862411"/>
            <a:ext cx="1190625" cy="461665"/>
          </a:xfrm>
          <a:prstGeom prst="rect">
            <a:avLst/>
          </a:prstGeom>
          <a:noFill/>
        </p:spPr>
        <p:txBody>
          <a:bodyPr wrap="square" rtlCol="0">
            <a:spAutoFit/>
          </a:bodyPr>
          <a:lstStyle/>
          <a:p>
            <a:r>
              <a:rPr lang="en-US" dirty="0"/>
              <a:t>Donna</a:t>
            </a:r>
          </a:p>
        </p:txBody>
      </p:sp>
      <p:sp>
        <p:nvSpPr>
          <p:cNvPr id="13" name="TextBox 12">
            <a:extLst>
              <a:ext uri="{FF2B5EF4-FFF2-40B4-BE49-F238E27FC236}">
                <a16:creationId xmlns:a16="http://schemas.microsoft.com/office/drawing/2014/main" id="{C5D6DBCE-B9CD-02BB-61F5-6DFA42D4729A}"/>
              </a:ext>
            </a:extLst>
          </p:cNvPr>
          <p:cNvSpPr txBox="1"/>
          <p:nvPr/>
        </p:nvSpPr>
        <p:spPr>
          <a:xfrm>
            <a:off x="5439355" y="2838875"/>
            <a:ext cx="1006766" cy="461665"/>
          </a:xfrm>
          <a:prstGeom prst="rect">
            <a:avLst/>
          </a:prstGeom>
          <a:noFill/>
        </p:spPr>
        <p:txBody>
          <a:bodyPr wrap="square" rtlCol="0">
            <a:spAutoFit/>
          </a:bodyPr>
          <a:lstStyle/>
          <a:p>
            <a:r>
              <a:rPr lang="en-US" dirty="0"/>
              <a:t>Molin</a:t>
            </a:r>
          </a:p>
        </p:txBody>
      </p:sp>
      <p:sp>
        <p:nvSpPr>
          <p:cNvPr id="14" name="TextBox 13">
            <a:extLst>
              <a:ext uri="{FF2B5EF4-FFF2-40B4-BE49-F238E27FC236}">
                <a16:creationId xmlns:a16="http://schemas.microsoft.com/office/drawing/2014/main" id="{504F46A5-5445-5102-8766-821620E8B3CE}"/>
              </a:ext>
            </a:extLst>
          </p:cNvPr>
          <p:cNvSpPr txBox="1"/>
          <p:nvPr/>
        </p:nvSpPr>
        <p:spPr>
          <a:xfrm>
            <a:off x="990435" y="5120334"/>
            <a:ext cx="1343354" cy="461665"/>
          </a:xfrm>
          <a:prstGeom prst="rect">
            <a:avLst/>
          </a:prstGeom>
          <a:noFill/>
        </p:spPr>
        <p:txBody>
          <a:bodyPr wrap="square" rtlCol="0">
            <a:spAutoFit/>
          </a:bodyPr>
          <a:lstStyle/>
          <a:p>
            <a:r>
              <a:rPr lang="en-US" dirty="0"/>
              <a:t>Jingyu</a:t>
            </a:r>
          </a:p>
        </p:txBody>
      </p:sp>
      <p:sp>
        <p:nvSpPr>
          <p:cNvPr id="15" name="TextBox 14">
            <a:extLst>
              <a:ext uri="{FF2B5EF4-FFF2-40B4-BE49-F238E27FC236}">
                <a16:creationId xmlns:a16="http://schemas.microsoft.com/office/drawing/2014/main" id="{16504AF4-1E01-A2B1-AC10-B7C4BF2CAAF7}"/>
              </a:ext>
            </a:extLst>
          </p:cNvPr>
          <p:cNvSpPr txBox="1"/>
          <p:nvPr/>
        </p:nvSpPr>
        <p:spPr>
          <a:xfrm>
            <a:off x="5302212" y="4922489"/>
            <a:ext cx="1631988" cy="461665"/>
          </a:xfrm>
          <a:prstGeom prst="rect">
            <a:avLst/>
          </a:prstGeom>
          <a:noFill/>
        </p:spPr>
        <p:txBody>
          <a:bodyPr wrap="square" rtlCol="0">
            <a:spAutoFit/>
          </a:bodyPr>
          <a:lstStyle/>
          <a:p>
            <a:r>
              <a:rPr lang="en-US" dirty="0"/>
              <a:t>Raymond</a:t>
            </a:r>
          </a:p>
        </p:txBody>
      </p:sp>
    </p:spTree>
    <p:extLst>
      <p:ext uri="{BB962C8B-B14F-4D97-AF65-F5344CB8AC3E}">
        <p14:creationId xmlns:p14="http://schemas.microsoft.com/office/powerpoint/2010/main" val="3798522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C53DD87-870D-16C7-BBB1-14620954B1D3}"/>
            </a:ext>
          </a:extLst>
        </p:cNvPr>
        <p:cNvGrpSpPr/>
        <p:nvPr/>
      </p:nvGrpSpPr>
      <p:grpSpPr>
        <a:xfrm>
          <a:off x="0" y="0"/>
          <a:ext cx="0" cy="0"/>
          <a:chOff x="0" y="0"/>
          <a:chExt cx="0" cy="0"/>
        </a:xfrm>
      </p:grpSpPr>
      <p:sp>
        <p:nvSpPr>
          <p:cNvPr id="642050" name="Rectangle 2">
            <a:extLst>
              <a:ext uri="{FF2B5EF4-FFF2-40B4-BE49-F238E27FC236}">
                <a16:creationId xmlns:a16="http://schemas.microsoft.com/office/drawing/2014/main" id="{A81E33E3-DD89-BBFC-3824-A0E90324A713}"/>
              </a:ext>
            </a:extLst>
          </p:cNvPr>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Instructors</a:t>
            </a:r>
          </a:p>
        </p:txBody>
      </p:sp>
      <p:sp>
        <p:nvSpPr>
          <p:cNvPr id="23555" name="Rectangle 3">
            <a:extLst>
              <a:ext uri="{FF2B5EF4-FFF2-40B4-BE49-F238E27FC236}">
                <a16:creationId xmlns:a16="http://schemas.microsoft.com/office/drawing/2014/main" id="{884C5662-FC2C-FCE2-D294-B027AA949E5F}"/>
              </a:ext>
            </a:extLst>
          </p:cNvPr>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Donna Spiegelman</a:t>
            </a:r>
          </a:p>
          <a:p>
            <a:pPr lvl="1" eaLnBrk="1" hangingPunct="1">
              <a:buClr>
                <a:srgbClr val="0000CC"/>
              </a:buClr>
              <a:buSzPct val="150000"/>
            </a:pPr>
            <a:r>
              <a:rPr lang="en-US" altLang="en-US" dirty="0">
                <a:latin typeface="Tahoma" pitchFamily="34" charset="0"/>
                <a:cs typeface="Tahoma" pitchFamily="34" charset="0"/>
              </a:rPr>
              <a:t> Yale SPH, Over 800 papers (!), Work in field covers nearly 40 years, Epi and Biostat</a:t>
            </a:r>
          </a:p>
          <a:p>
            <a:pPr eaLnBrk="1" hangingPunct="1">
              <a:buClr>
                <a:srgbClr val="0000CC"/>
              </a:buClr>
              <a:buSzPct val="150000"/>
            </a:pPr>
            <a:r>
              <a:rPr lang="en-US" altLang="en-US" dirty="0">
                <a:latin typeface="Tahoma" pitchFamily="34" charset="0"/>
                <a:cs typeface="Tahoma" pitchFamily="34" charset="0"/>
              </a:rPr>
              <a:t>Molin Wang, Harvard SPH, Epi </a:t>
            </a:r>
            <a:r>
              <a:rPr lang="en-US" altLang="en-US">
                <a:latin typeface="Tahoma" pitchFamily="34" charset="0"/>
                <a:cs typeface="Tahoma" pitchFamily="34" charset="0"/>
              </a:rPr>
              <a:t>and Biostat</a:t>
            </a: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Jingyu Cui, Yale SPH, Postdoc with Donna</a:t>
            </a:r>
          </a:p>
          <a:p>
            <a:pPr eaLnBrk="1" hangingPunct="1">
              <a:buClr>
                <a:srgbClr val="0000CC"/>
              </a:buClr>
              <a:buSzPct val="150000"/>
            </a:pPr>
            <a:r>
              <a:rPr lang="en-US" altLang="en-US" dirty="0">
                <a:latin typeface="Tahoma" pitchFamily="34" charset="0"/>
                <a:cs typeface="Tahoma" pitchFamily="34" charset="0"/>
              </a:rPr>
              <a:t>Raymond Carroll, TAMU, Stat and Biostat</a:t>
            </a:r>
          </a:p>
          <a:p>
            <a:pPr eaLnBrk="1" hangingPunct="1">
              <a:buClr>
                <a:srgbClr val="0000CC"/>
              </a:buClr>
              <a:buSzPct val="150000"/>
            </a:pPr>
            <a:r>
              <a:rPr lang="en-US" altLang="en-US" dirty="0">
                <a:latin typeface="Tahoma" pitchFamily="34" charset="0"/>
                <a:cs typeface="Tahoma" pitchFamily="34" charset="0"/>
              </a:rPr>
              <a:t>Good, brief biosketches via AI, e.g. </a:t>
            </a:r>
            <a:r>
              <a:rPr lang="en-US" altLang="en-US" dirty="0" err="1">
                <a:latin typeface="Tahoma" pitchFamily="34" charset="0"/>
                <a:cs typeface="Tahoma" pitchFamily="34" charset="0"/>
              </a:rPr>
              <a:t>coPilot</a:t>
            </a:r>
            <a:endParaRPr lang="en-US" altLang="en-US" dirty="0">
              <a:latin typeface="Tahoma" pitchFamily="34" charset="0"/>
              <a:cs typeface="Tahoma" pitchFamily="34" charset="0"/>
            </a:endParaRPr>
          </a:p>
        </p:txBody>
      </p:sp>
      <p:sp>
        <p:nvSpPr>
          <p:cNvPr id="23556" name="Line 4">
            <a:extLst>
              <a:ext uri="{FF2B5EF4-FFF2-40B4-BE49-F238E27FC236}">
                <a16:creationId xmlns:a16="http://schemas.microsoft.com/office/drawing/2014/main" id="{63E288C0-38DC-2FBD-EC7E-6E6372083771}"/>
              </a:ext>
            </a:extLst>
          </p:cNvPr>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9C502ECC-C8DD-96EF-079A-94EDB476F699}"/>
              </a:ext>
            </a:extLst>
          </p:cNvPr>
          <p:cNvSpPr>
            <a:spLocks noGrp="1"/>
          </p:cNvSpPr>
          <p:nvPr>
            <p:ph type="sldNum" sz="quarter" idx="11"/>
          </p:nvPr>
        </p:nvSpPr>
        <p:spPr/>
        <p:txBody>
          <a:bodyPr/>
          <a:lstStyle/>
          <a:p>
            <a:pPr>
              <a:defRPr/>
            </a:pPr>
            <a:fld id="{3409ADA3-42B3-456B-8472-9BD85CC2F264}" type="slidenum">
              <a:rPr lang="en-US" smtClean="0"/>
              <a:pPr>
                <a:defRPr/>
              </a:pPr>
              <a:t>3</a:t>
            </a:fld>
            <a:endParaRPr lang="en-US"/>
          </a:p>
        </p:txBody>
      </p:sp>
    </p:spTree>
    <p:extLst>
      <p:ext uri="{BB962C8B-B14F-4D97-AF65-F5344CB8AC3E}">
        <p14:creationId xmlns:p14="http://schemas.microsoft.com/office/powerpoint/2010/main" val="162086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Outline</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Basic Introduction (Carroll)</a:t>
            </a:r>
          </a:p>
          <a:p>
            <a:pPr eaLnBrk="1" hangingPunct="1">
              <a:buClr>
                <a:srgbClr val="0000CC"/>
              </a:buClr>
              <a:buSzPct val="150000"/>
            </a:pPr>
            <a:r>
              <a:rPr lang="en-US" altLang="en-US" dirty="0">
                <a:latin typeface="Tahoma" pitchFamily="34" charset="0"/>
                <a:cs typeface="Tahoma" pitchFamily="34" charset="0"/>
              </a:rPr>
              <a:t>Quick overview of effects of covariate uncertainty (Carroll)</a:t>
            </a:r>
          </a:p>
          <a:p>
            <a:pPr eaLnBrk="1" hangingPunct="1">
              <a:buClr>
                <a:srgbClr val="0000CC"/>
              </a:buClr>
              <a:buSzPct val="150000"/>
            </a:pPr>
            <a:r>
              <a:rPr lang="en-US" altLang="en-US" dirty="0">
                <a:latin typeface="Tahoma" pitchFamily="34" charset="0"/>
                <a:cs typeface="Tahoma" pitchFamily="34" charset="0"/>
              </a:rPr>
              <a:t>???(Spiegelman)</a:t>
            </a:r>
          </a:p>
          <a:p>
            <a:pPr eaLnBrk="1" hangingPunct="1">
              <a:buClr>
                <a:srgbClr val="0000CC"/>
              </a:buClr>
              <a:buSzPct val="150000"/>
            </a:pPr>
            <a:r>
              <a:rPr lang="en-US" altLang="en-US" dirty="0">
                <a:latin typeface="Tahoma" pitchFamily="34" charset="0"/>
                <a:cs typeface="Tahoma" pitchFamily="34" charset="0"/>
              </a:rPr>
              <a:t>???</a:t>
            </a:r>
          </a:p>
          <a:p>
            <a:pPr eaLnBrk="1" hangingPunct="1">
              <a:buClr>
                <a:srgbClr val="0000CC"/>
              </a:buClr>
              <a:buSzPct val="150000"/>
            </a:pPr>
            <a:r>
              <a:rPr lang="en-US" altLang="en-US" dirty="0">
                <a:latin typeface="Tahoma" pitchFamily="34" charset="0"/>
                <a:cs typeface="Tahoma" pitchFamily="34" charset="0"/>
              </a:rPr>
              <a:t>???</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24C1ED61-C6B9-A63C-D4DD-02B44F42EEB1}"/>
              </a:ext>
            </a:extLst>
          </p:cNvPr>
          <p:cNvSpPr>
            <a:spLocks noGrp="1"/>
          </p:cNvSpPr>
          <p:nvPr>
            <p:ph type="sldNum" sz="quarter" idx="11"/>
          </p:nvPr>
        </p:nvSpPr>
        <p:spPr/>
        <p:txBody>
          <a:bodyPr/>
          <a:lstStyle/>
          <a:p>
            <a:pPr>
              <a:defRPr/>
            </a:pPr>
            <a:fld id="{3409ADA3-42B3-456B-8472-9BD85CC2F264}" type="slidenum">
              <a:rPr lang="en-US" smtClean="0"/>
              <a:pPr>
                <a:defRPr/>
              </a:pPr>
              <a:t>4</a:t>
            </a:fld>
            <a:endParaRPr lang="en-US"/>
          </a:p>
        </p:txBody>
      </p:sp>
    </p:spTree>
    <p:extLst>
      <p:ext uri="{BB962C8B-B14F-4D97-AF65-F5344CB8AC3E}">
        <p14:creationId xmlns:p14="http://schemas.microsoft.com/office/powerpoint/2010/main" val="454311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Effects of exposure </a:t>
            </a:r>
            <a:r>
              <a:rPr lang="en-US" sz="3200" dirty="0" err="1">
                <a:solidFill>
                  <a:srgbClr val="0000CC"/>
                </a:solidFill>
                <a:latin typeface="Tahoma" pitchFamily="34" charset="0"/>
              </a:rPr>
              <a:t>measuremement</a:t>
            </a:r>
            <a:r>
              <a:rPr lang="en-US" sz="3200" dirty="0">
                <a:solidFill>
                  <a:srgbClr val="0000CC"/>
                </a:solidFill>
                <a:latin typeface="Tahoma" pitchFamily="34" charset="0"/>
              </a:rPr>
              <a:t> Error</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Nutrition</a:t>
            </a:r>
          </a:p>
        </p:txBody>
      </p:sp>
      <p:sp>
        <p:nvSpPr>
          <p:cNvPr id="23556" name="Line 4"/>
          <p:cNvSpPr>
            <a:spLocks noChangeShapeType="1"/>
          </p:cNvSpPr>
          <p:nvPr/>
        </p:nvSpPr>
        <p:spPr bwMode="auto">
          <a:xfrm>
            <a:off x="533400" y="1174805"/>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989E7FDF-328C-8C8D-ED76-19CD680519E9}"/>
              </a:ext>
            </a:extLst>
          </p:cNvPr>
          <p:cNvSpPr>
            <a:spLocks noGrp="1"/>
          </p:cNvSpPr>
          <p:nvPr>
            <p:ph type="sldNum" sz="quarter" idx="11"/>
          </p:nvPr>
        </p:nvSpPr>
        <p:spPr/>
        <p:txBody>
          <a:bodyPr/>
          <a:lstStyle/>
          <a:p>
            <a:pPr>
              <a:defRPr/>
            </a:pPr>
            <a:fld id="{3409ADA3-42B3-456B-8472-9BD85CC2F264}" type="slidenum">
              <a:rPr lang="en-US" smtClean="0"/>
              <a:pPr>
                <a:defRPr/>
              </a:pPr>
              <a:t>5</a:t>
            </a:fld>
            <a:endParaRPr lang="en-US"/>
          </a:p>
        </p:txBody>
      </p:sp>
    </p:spTree>
    <p:extLst>
      <p:ext uri="{BB962C8B-B14F-4D97-AF65-F5344CB8AC3E}">
        <p14:creationId xmlns:p14="http://schemas.microsoft.com/office/powerpoint/2010/main" val="461186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AD1D70-E257-460E-8528-0CC724DCF554}"/>
            </a:ext>
          </a:extLst>
        </p:cNvPr>
        <p:cNvGrpSpPr/>
        <p:nvPr/>
      </p:nvGrpSpPr>
      <p:grpSpPr>
        <a:xfrm>
          <a:off x="0" y="0"/>
          <a:ext cx="0" cy="0"/>
          <a:chOff x="0" y="0"/>
          <a:chExt cx="0" cy="0"/>
        </a:xfrm>
      </p:grpSpPr>
      <p:sp>
        <p:nvSpPr>
          <p:cNvPr id="642050" name="Rectangle 2">
            <a:extLst>
              <a:ext uri="{FF2B5EF4-FFF2-40B4-BE49-F238E27FC236}">
                <a16:creationId xmlns:a16="http://schemas.microsoft.com/office/drawing/2014/main" id="{471FD524-9BEE-A0DB-A72E-FBCE6CE4B6FE}"/>
              </a:ext>
            </a:extLst>
          </p:cNvPr>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Broad Overview</a:t>
            </a:r>
          </a:p>
        </p:txBody>
      </p:sp>
      <p:sp>
        <p:nvSpPr>
          <p:cNvPr id="23555" name="Rectangle 3">
            <a:extLst>
              <a:ext uri="{FF2B5EF4-FFF2-40B4-BE49-F238E27FC236}">
                <a16:creationId xmlns:a16="http://schemas.microsoft.com/office/drawing/2014/main" id="{2FCE6E8C-5CE1-B251-E58F-8A7BCE87964B}"/>
              </a:ext>
            </a:extLst>
          </p:cNvPr>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Everyone is interested in nutrition</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When people ask me what I do, I often say that I study nutrition: true, barely</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Then I get asked “what should I eat?” Part of this talk tells you how I answer</a:t>
            </a:r>
          </a:p>
        </p:txBody>
      </p:sp>
      <p:sp>
        <p:nvSpPr>
          <p:cNvPr id="23556" name="Line 4">
            <a:extLst>
              <a:ext uri="{FF2B5EF4-FFF2-40B4-BE49-F238E27FC236}">
                <a16:creationId xmlns:a16="http://schemas.microsoft.com/office/drawing/2014/main" id="{CFF44504-61CD-A2EB-8695-750EE0B22DBF}"/>
              </a:ext>
            </a:extLst>
          </p:cNvPr>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8A9B8DE5-A42C-5EFE-B772-57721486FE9D}"/>
              </a:ext>
            </a:extLst>
          </p:cNvPr>
          <p:cNvSpPr>
            <a:spLocks noGrp="1"/>
          </p:cNvSpPr>
          <p:nvPr>
            <p:ph type="sldNum" sz="quarter" idx="11"/>
          </p:nvPr>
        </p:nvSpPr>
        <p:spPr/>
        <p:txBody>
          <a:bodyPr/>
          <a:lstStyle/>
          <a:p>
            <a:pPr>
              <a:defRPr/>
            </a:pPr>
            <a:fld id="{3409ADA3-42B3-456B-8472-9BD85CC2F264}" type="slidenum">
              <a:rPr lang="en-US" smtClean="0"/>
              <a:pPr>
                <a:defRPr/>
              </a:pPr>
              <a:t>6</a:t>
            </a:fld>
            <a:endParaRPr lang="en-US"/>
          </a:p>
        </p:txBody>
      </p:sp>
    </p:spTree>
    <p:extLst>
      <p:ext uri="{BB962C8B-B14F-4D97-AF65-F5344CB8AC3E}">
        <p14:creationId xmlns:p14="http://schemas.microsoft.com/office/powerpoint/2010/main" val="3082586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Broad Overview</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An interesting very negative article is in the NYT by Gary </a:t>
            </a:r>
            <a:r>
              <a:rPr lang="en-US" altLang="en-US" dirty="0" err="1">
                <a:latin typeface="Tahoma" pitchFamily="34" charset="0"/>
                <a:cs typeface="Tahoma" pitchFamily="34" charset="0"/>
              </a:rPr>
              <a:t>Taubes</a:t>
            </a:r>
            <a:r>
              <a:rPr lang="en-US" altLang="en-US" dirty="0">
                <a:latin typeface="Tahoma" pitchFamily="34" charset="0"/>
                <a:cs typeface="Tahoma" pitchFamily="34" charset="0"/>
              </a:rPr>
              <a:t>, Feb 8, 2014</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He called for more clinical trials, as if these can actually be done</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8A14B12C-0ABA-4E1C-F87F-177E1512695B}"/>
              </a:ext>
            </a:extLst>
          </p:cNvPr>
          <p:cNvSpPr>
            <a:spLocks noGrp="1"/>
          </p:cNvSpPr>
          <p:nvPr>
            <p:ph type="sldNum" sz="quarter" idx="11"/>
          </p:nvPr>
        </p:nvSpPr>
        <p:spPr/>
        <p:txBody>
          <a:bodyPr/>
          <a:lstStyle/>
          <a:p>
            <a:pPr>
              <a:defRPr/>
            </a:pPr>
            <a:fld id="{3409ADA3-42B3-456B-8472-9BD85CC2F264}" type="slidenum">
              <a:rPr lang="en-US" smtClean="0"/>
              <a:pPr>
                <a:defRPr/>
              </a:pPr>
              <a:t>7</a:t>
            </a:fld>
            <a:endParaRPr lang="en-US"/>
          </a:p>
        </p:txBody>
      </p:sp>
    </p:spTree>
    <p:extLst>
      <p:ext uri="{BB962C8B-B14F-4D97-AF65-F5344CB8AC3E}">
        <p14:creationId xmlns:p14="http://schemas.microsoft.com/office/powerpoint/2010/main" val="4905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A “Failed” Clinical Trial</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dirty="0">
                <a:latin typeface="Tahoma" panose="020B0604030504040204" pitchFamily="34" charset="0"/>
                <a:ea typeface="Tahoma" panose="020B0604030504040204" pitchFamily="34" charset="0"/>
                <a:cs typeface="Tahoma" panose="020B0604030504040204" pitchFamily="34" charset="0"/>
              </a:rPr>
              <a:t>JAMA. 2018;319(7):667-679</a:t>
            </a:r>
          </a:p>
          <a:p>
            <a:pPr eaLnBrk="1" hangingPunct="1">
              <a:buClr>
                <a:srgbClr val="0000CC"/>
              </a:buClr>
              <a:buSzPct val="150000"/>
            </a:pPr>
            <a:endParaRPr lang="en-US" dirty="0">
              <a:latin typeface="Tahoma" panose="020B0604030504040204" pitchFamily="34" charset="0"/>
              <a:ea typeface="Tahoma" panose="020B0604030504040204" pitchFamily="34" charset="0"/>
              <a:cs typeface="Tahoma" panose="020B0604030504040204" pitchFamily="34" charset="0"/>
            </a:endParaRPr>
          </a:p>
          <a:p>
            <a:pPr eaLnBrk="1" hangingPunct="1">
              <a:buClr>
                <a:srgbClr val="0000CC"/>
              </a:buClr>
              <a:buSzPct val="150000"/>
            </a:pPr>
            <a:r>
              <a:rPr lang="en-US" dirty="0">
                <a:latin typeface="Tahoma" panose="020B0604030504040204" pitchFamily="34" charset="0"/>
                <a:ea typeface="Tahoma" panose="020B0604030504040204" pitchFamily="34" charset="0"/>
                <a:cs typeface="Tahoma" panose="020B0604030504040204" pitchFamily="34" charset="0"/>
              </a:rPr>
              <a:t>What is the effect of a </a:t>
            </a:r>
            <a:r>
              <a:rPr lang="en-US" b="1" dirty="0">
                <a:solidFill>
                  <a:srgbClr val="C00000"/>
                </a:solidFill>
                <a:latin typeface="Tahoma" panose="020B0604030504040204" pitchFamily="34" charset="0"/>
                <a:ea typeface="Tahoma" panose="020B0604030504040204" pitchFamily="34" charset="0"/>
                <a:cs typeface="Tahoma" panose="020B0604030504040204" pitchFamily="34" charset="0"/>
              </a:rPr>
              <a:t>healthy</a:t>
            </a:r>
            <a:r>
              <a:rPr lang="en-US" dirty="0">
                <a:latin typeface="Tahoma" panose="020B0604030504040204" pitchFamily="34" charset="0"/>
                <a:ea typeface="Tahoma" panose="020B0604030504040204" pitchFamily="34" charset="0"/>
                <a:cs typeface="Tahoma" panose="020B0604030504040204" pitchFamily="34" charset="0"/>
              </a:rPr>
              <a:t> low-fat (HLF) diet vs a </a:t>
            </a:r>
            <a:r>
              <a:rPr lang="en-US" b="1" dirty="0">
                <a:solidFill>
                  <a:srgbClr val="C00000"/>
                </a:solidFill>
                <a:latin typeface="Tahoma" panose="020B0604030504040204" pitchFamily="34" charset="0"/>
                <a:ea typeface="Tahoma" panose="020B0604030504040204" pitchFamily="34" charset="0"/>
                <a:cs typeface="Tahoma" panose="020B0604030504040204" pitchFamily="34" charset="0"/>
              </a:rPr>
              <a:t>healthy</a:t>
            </a:r>
            <a:r>
              <a:rPr lang="en-US" dirty="0">
                <a:latin typeface="Tahoma" panose="020B0604030504040204" pitchFamily="34" charset="0"/>
                <a:ea typeface="Tahoma" panose="020B0604030504040204" pitchFamily="34" charset="0"/>
                <a:cs typeface="Tahoma" panose="020B0604030504040204" pitchFamily="34" charset="0"/>
              </a:rPr>
              <a:t> low-carbohydrate (HLC) diet on weight change at 12 months and are these effects related to genotype pattern or insulin secretion?</a:t>
            </a:r>
            <a:endParaRPr lang="en-US" altLang="en-US" dirty="0">
              <a:latin typeface="Tahoma" pitchFamily="34" charset="0"/>
              <a:ea typeface="Tahoma" panose="020B0604030504040204" pitchFamily="34" charset="0"/>
              <a:cs typeface="Tahoma" panose="020B0604030504040204"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1146941A-E3D1-AF49-6C23-CA2C9F7B0515}"/>
              </a:ext>
            </a:extLst>
          </p:cNvPr>
          <p:cNvSpPr>
            <a:spLocks noGrp="1"/>
          </p:cNvSpPr>
          <p:nvPr>
            <p:ph type="sldNum" sz="quarter" idx="11"/>
          </p:nvPr>
        </p:nvSpPr>
        <p:spPr/>
        <p:txBody>
          <a:bodyPr/>
          <a:lstStyle/>
          <a:p>
            <a:pPr>
              <a:defRPr/>
            </a:pPr>
            <a:fld id="{3409ADA3-42B3-456B-8472-9BD85CC2F264}" type="slidenum">
              <a:rPr lang="en-US" smtClean="0"/>
              <a:pPr>
                <a:defRPr/>
              </a:pPr>
              <a:t>8</a:t>
            </a:fld>
            <a:endParaRPr lang="en-US"/>
          </a:p>
        </p:txBody>
      </p:sp>
    </p:spTree>
    <p:extLst>
      <p:ext uri="{BB962C8B-B14F-4D97-AF65-F5344CB8AC3E}">
        <p14:creationId xmlns:p14="http://schemas.microsoft.com/office/powerpoint/2010/main" val="3551172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A “Failed” Clinical Trial</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b="1" u="sng" dirty="0">
                <a:latin typeface="Tahoma" panose="020B0604030504040204" pitchFamily="34" charset="0"/>
                <a:ea typeface="Tahoma" panose="020B0604030504040204" pitchFamily="34" charset="0"/>
                <a:cs typeface="Tahoma" panose="020B0604030504040204" pitchFamily="34" charset="0"/>
              </a:rPr>
              <a:t>Result</a:t>
            </a:r>
            <a:r>
              <a:rPr lang="en-US" dirty="0">
                <a:latin typeface="Tahoma" panose="020B0604030504040204" pitchFamily="34" charset="0"/>
                <a:ea typeface="Tahoma" panose="020B0604030504040204" pitchFamily="34" charset="0"/>
                <a:cs typeface="Tahoma" panose="020B0604030504040204" pitchFamily="34" charset="0"/>
              </a:rPr>
              <a:t>. There was no significant difference in 12-month weight loss between the HLF and HLC diets, and neither genotype pattern nor baseline insulin secretion was associated with the dietary effects on weight loss.</a:t>
            </a:r>
          </a:p>
          <a:p>
            <a:pPr eaLnBrk="1" hangingPunct="1">
              <a:buClr>
                <a:srgbClr val="0000CC"/>
              </a:buClr>
              <a:buSzPct val="150000"/>
            </a:pPr>
            <a:endParaRPr lang="en-US" altLang="en-US" dirty="0">
              <a:latin typeface="Tahoma" pitchFamily="34" charset="0"/>
              <a:ea typeface="Tahoma" panose="020B0604030504040204" pitchFamily="34" charset="0"/>
              <a:cs typeface="Tahoma" panose="020B0604030504040204"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8136E3DF-E640-881B-A11F-4551D0880617}"/>
              </a:ext>
            </a:extLst>
          </p:cNvPr>
          <p:cNvSpPr>
            <a:spLocks noGrp="1"/>
          </p:cNvSpPr>
          <p:nvPr>
            <p:ph type="sldNum" sz="quarter" idx="11"/>
          </p:nvPr>
        </p:nvSpPr>
        <p:spPr/>
        <p:txBody>
          <a:bodyPr/>
          <a:lstStyle/>
          <a:p>
            <a:pPr>
              <a:defRPr/>
            </a:pPr>
            <a:fld id="{3409ADA3-42B3-456B-8472-9BD85CC2F264}" type="slidenum">
              <a:rPr lang="en-US" smtClean="0"/>
              <a:pPr>
                <a:defRPr/>
              </a:pPr>
              <a:t>9</a:t>
            </a:fld>
            <a:endParaRPr lang="en-US"/>
          </a:p>
        </p:txBody>
      </p:sp>
    </p:spTree>
    <p:extLst>
      <p:ext uri="{BB962C8B-B14F-4D97-AF65-F5344CB8AC3E}">
        <p14:creationId xmlns:p14="http://schemas.microsoft.com/office/powerpoint/2010/main" val="1088432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A “Failed” Clinical Trial</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dirty="0">
                <a:latin typeface="Tahoma" panose="020B0604030504040204" pitchFamily="34" charset="0"/>
                <a:ea typeface="Tahoma" panose="020B0604030504040204" pitchFamily="34" charset="0"/>
                <a:cs typeface="Tahoma" panose="020B0604030504040204" pitchFamily="34" charset="0"/>
              </a:rPr>
              <a:t>College Station Eagle, Page 6. </a:t>
            </a:r>
            <a:r>
              <a:rPr lang="en-US"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a:t>
            </a:r>
            <a:endParaRPr lang="en-US" dirty="0">
              <a:latin typeface="Tahoma" panose="020B0604030504040204" pitchFamily="34" charset="0"/>
              <a:ea typeface="Tahoma" panose="020B0604030504040204" pitchFamily="34" charset="0"/>
              <a:cs typeface="Tahoma" panose="020B0604030504040204" pitchFamily="34" charset="0"/>
            </a:endParaRPr>
          </a:p>
          <a:p>
            <a:pPr eaLnBrk="1" hangingPunct="1">
              <a:buClr>
                <a:srgbClr val="0000CC"/>
              </a:buClr>
              <a:buSzPct val="150000"/>
            </a:pPr>
            <a:endParaRPr lang="en-US" dirty="0">
              <a:latin typeface="Tahoma" panose="020B0604030504040204" pitchFamily="34" charset="0"/>
              <a:ea typeface="Tahoma" panose="020B0604030504040204" pitchFamily="34" charset="0"/>
              <a:cs typeface="Tahoma" panose="020B0604030504040204" pitchFamily="34" charset="0"/>
            </a:endParaRPr>
          </a:p>
          <a:p>
            <a:pPr eaLnBrk="1" hangingPunct="1">
              <a:buClr>
                <a:srgbClr val="0000CC"/>
              </a:buClr>
              <a:buSzPct val="150000"/>
            </a:pPr>
            <a:r>
              <a:rPr lang="en-US" dirty="0">
                <a:latin typeface="Tahoma" panose="020B0604030504040204" pitchFamily="34" charset="0"/>
                <a:ea typeface="Tahoma" panose="020B0604030504040204" pitchFamily="34" charset="0"/>
                <a:cs typeface="Tahoma" panose="020B0604030504040204" pitchFamily="34" charset="0"/>
              </a:rPr>
              <a:t>“What seemed to make a difference was </a:t>
            </a:r>
            <a:r>
              <a:rPr lang="en-US" b="1" dirty="0">
                <a:solidFill>
                  <a:srgbClr val="7030A0"/>
                </a:solidFill>
                <a:latin typeface="Tahoma" panose="020B0604030504040204" pitchFamily="34" charset="0"/>
                <a:ea typeface="Tahoma" panose="020B0604030504040204" pitchFamily="34" charset="0"/>
                <a:cs typeface="Tahoma" panose="020B0604030504040204" pitchFamily="34" charset="0"/>
              </a:rPr>
              <a:t>healthful eating</a:t>
            </a:r>
            <a:r>
              <a:rPr lang="en-US" dirty="0">
                <a:latin typeface="Tahoma" panose="020B0604030504040204" pitchFamily="34" charset="0"/>
                <a:ea typeface="Tahoma" panose="020B0604030504040204" pitchFamily="34" charset="0"/>
                <a:cs typeface="Tahoma" panose="020B0604030504040204" pitchFamily="34" charset="0"/>
              </a:rPr>
              <a:t>” </a:t>
            </a:r>
          </a:p>
          <a:p>
            <a:pPr eaLnBrk="1" hangingPunct="1">
              <a:buClr>
                <a:srgbClr val="0000CC"/>
              </a:buClr>
              <a:buSzPct val="150000"/>
            </a:pPr>
            <a:endParaRPr lang="en-US" dirty="0">
              <a:latin typeface="Tahoma" panose="020B0604030504040204" pitchFamily="34" charset="0"/>
              <a:ea typeface="Tahoma" panose="020B0604030504040204" pitchFamily="34" charset="0"/>
              <a:cs typeface="Tahoma" panose="020B0604030504040204" pitchFamily="34" charset="0"/>
            </a:endParaRPr>
          </a:p>
          <a:p>
            <a:pPr eaLnBrk="1" hangingPunct="1">
              <a:buClr>
                <a:srgbClr val="0000CC"/>
              </a:buClr>
              <a:buSzPct val="150000"/>
            </a:pPr>
            <a:r>
              <a:rPr lang="en-US" dirty="0">
                <a:latin typeface="Tahoma" panose="020B0604030504040204" pitchFamily="34" charset="0"/>
                <a:ea typeface="Tahoma" panose="020B0604030504040204" pitchFamily="34" charset="0"/>
                <a:cs typeface="Tahoma" panose="020B0604030504040204" pitchFamily="34" charset="0"/>
              </a:rPr>
              <a:t>“Participants on both diets who consumed the fewest processed foods, sugary drinks, unhealthy fats and ate the most veggies lost the most weight”. </a:t>
            </a:r>
          </a:p>
          <a:p>
            <a:pPr eaLnBrk="1" hangingPunct="1">
              <a:buClr>
                <a:srgbClr val="0000CC"/>
              </a:buClr>
              <a:buSzPct val="150000"/>
            </a:pPr>
            <a:endParaRPr lang="en-US" altLang="en-US" dirty="0">
              <a:latin typeface="Tahoma" pitchFamily="34" charset="0"/>
              <a:ea typeface="Tahoma" panose="020B0604030504040204" pitchFamily="34" charset="0"/>
              <a:cs typeface="Tahoma" panose="020B0604030504040204"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4366BBBA-783E-E16B-4C46-AB31E8ECB162}"/>
              </a:ext>
            </a:extLst>
          </p:cNvPr>
          <p:cNvSpPr>
            <a:spLocks noGrp="1"/>
          </p:cNvSpPr>
          <p:nvPr>
            <p:ph type="sldNum" sz="quarter" idx="11"/>
          </p:nvPr>
        </p:nvSpPr>
        <p:spPr/>
        <p:txBody>
          <a:bodyPr/>
          <a:lstStyle/>
          <a:p>
            <a:pPr>
              <a:defRPr/>
            </a:pPr>
            <a:fld id="{3409ADA3-42B3-456B-8472-9BD85CC2F264}" type="slidenum">
              <a:rPr lang="en-US" smtClean="0"/>
              <a:pPr>
                <a:defRPr/>
              </a:pPr>
              <a:t>10</a:t>
            </a:fld>
            <a:endParaRPr lang="en-US"/>
          </a:p>
        </p:txBody>
      </p:sp>
    </p:spTree>
    <p:extLst>
      <p:ext uri="{BB962C8B-B14F-4D97-AF65-F5344CB8AC3E}">
        <p14:creationId xmlns:p14="http://schemas.microsoft.com/office/powerpoint/2010/main" val="703747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Initial Remarks</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 got very interested in nutrition as a science in the 1990’s</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 collaborated (them on my grants, me on theirs) with Joanne Lupton, Robb Chapkin and Nancy Turner at TAMU on the following type of </a:t>
            </a:r>
            <a:r>
              <a:rPr lang="en-US" altLang="en-US" i="1" dirty="0">
                <a:latin typeface="Tahoma" pitchFamily="34" charset="0"/>
                <a:cs typeface="Tahoma" pitchFamily="34" charset="0"/>
              </a:rPr>
              <a:t>simple</a:t>
            </a:r>
            <a:r>
              <a:rPr lang="en-US" altLang="en-US" dirty="0">
                <a:latin typeface="Tahoma" pitchFamily="34" charset="0"/>
                <a:cs typeface="Tahoma" pitchFamily="34" charset="0"/>
              </a:rPr>
              <a:t> experiments</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ECE07C4B-E0AA-237B-589A-958371BDE1E7}"/>
              </a:ext>
            </a:extLst>
          </p:cNvPr>
          <p:cNvSpPr>
            <a:spLocks noGrp="1"/>
          </p:cNvSpPr>
          <p:nvPr>
            <p:ph type="sldNum" sz="quarter" idx="11"/>
          </p:nvPr>
        </p:nvSpPr>
        <p:spPr/>
        <p:txBody>
          <a:bodyPr/>
          <a:lstStyle/>
          <a:p>
            <a:pPr>
              <a:defRPr/>
            </a:pPr>
            <a:fld id="{3409ADA3-42B3-456B-8472-9BD85CC2F264}" type="slidenum">
              <a:rPr lang="en-US" smtClean="0"/>
              <a:pPr>
                <a:defRPr/>
              </a:pPr>
              <a:t>11</a:t>
            </a:fld>
            <a:endParaRPr lang="en-US"/>
          </a:p>
        </p:txBody>
      </p:sp>
    </p:spTree>
    <p:extLst>
      <p:ext uri="{BB962C8B-B14F-4D97-AF65-F5344CB8AC3E}">
        <p14:creationId xmlns:p14="http://schemas.microsoft.com/office/powerpoint/2010/main" val="734169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Initial Remarks</a:t>
            </a:r>
          </a:p>
        </p:txBody>
      </p:sp>
      <p:sp>
        <p:nvSpPr>
          <p:cNvPr id="23555"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You feed one group of rats a corn oil enriched diet (the potato chip diet, fun but …)</a:t>
            </a:r>
          </a:p>
          <a:p>
            <a:pPr eaLnBrk="1" hangingPunct="1">
              <a:buClr>
                <a:srgbClr val="0000CC"/>
              </a:buClr>
              <a:buSzPct val="150000"/>
            </a:pPr>
            <a:r>
              <a:rPr lang="en-US" altLang="en-US" dirty="0">
                <a:latin typeface="Tahoma" pitchFamily="34" charset="0"/>
                <a:cs typeface="Tahoma" pitchFamily="34" charset="0"/>
              </a:rPr>
              <a:t>You feed another group a fish oil enhanced diet</a:t>
            </a:r>
          </a:p>
          <a:p>
            <a:pPr eaLnBrk="1" hangingPunct="1">
              <a:buClr>
                <a:srgbClr val="0000CC"/>
              </a:buClr>
              <a:buSzPct val="150000"/>
            </a:pPr>
            <a:r>
              <a:rPr lang="en-US" altLang="en-US" dirty="0">
                <a:latin typeface="Tahoma" pitchFamily="34" charset="0"/>
                <a:cs typeface="Tahoma" pitchFamily="34" charset="0"/>
              </a:rPr>
              <a:t>All else equal</a:t>
            </a:r>
          </a:p>
          <a:p>
            <a:pPr eaLnBrk="1" hangingPunct="1">
              <a:buClr>
                <a:srgbClr val="0000CC"/>
              </a:buClr>
              <a:buSzPct val="150000"/>
            </a:pPr>
            <a:r>
              <a:rPr lang="en-US" altLang="en-US" dirty="0">
                <a:latin typeface="Tahoma" pitchFamily="34" charset="0"/>
                <a:cs typeface="Tahoma" pitchFamily="34" charset="0"/>
              </a:rPr>
              <a:t>Let them munch happily away on their diets for a while </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B1D9BFF8-88E5-13C0-752A-BD6C1486ED75}"/>
              </a:ext>
            </a:extLst>
          </p:cNvPr>
          <p:cNvSpPr>
            <a:spLocks noGrp="1"/>
          </p:cNvSpPr>
          <p:nvPr>
            <p:ph type="sldNum" sz="quarter" idx="11"/>
          </p:nvPr>
        </p:nvSpPr>
        <p:spPr/>
        <p:txBody>
          <a:bodyPr/>
          <a:lstStyle/>
          <a:p>
            <a:pPr>
              <a:defRPr/>
            </a:pPr>
            <a:fld id="{3409ADA3-42B3-456B-8472-9BD85CC2F264}" type="slidenum">
              <a:rPr lang="en-US" smtClean="0"/>
              <a:pPr>
                <a:defRPr/>
              </a:pPr>
              <a:t>12</a:t>
            </a:fld>
            <a:endParaRPr lang="en-US"/>
          </a:p>
        </p:txBody>
      </p:sp>
    </p:spTree>
    <p:extLst>
      <p:ext uri="{BB962C8B-B14F-4D97-AF65-F5344CB8AC3E}">
        <p14:creationId xmlns:p14="http://schemas.microsoft.com/office/powerpoint/2010/main" val="1292753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Initial Remarks</a:t>
            </a:r>
          </a:p>
        </p:txBody>
      </p:sp>
      <p:sp>
        <p:nvSpPr>
          <p:cNvPr id="23555" name="Rectangle 3"/>
          <p:cNvSpPr>
            <a:spLocks noGrp="1" noChangeArrowheads="1"/>
          </p:cNvSpPr>
          <p:nvPr>
            <p:ph type="body" idx="1"/>
          </p:nvPr>
        </p:nvSpPr>
        <p:spPr>
          <a:xfrm>
            <a:off x="457200" y="914400"/>
            <a:ext cx="8458200" cy="5867400"/>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So then “we” exposed them to a potent carcinogen (AOM). </a:t>
            </a:r>
          </a:p>
          <a:p>
            <a:pPr eaLnBrk="1" hangingPunct="1">
              <a:buClr>
                <a:srgbClr val="0000CC"/>
              </a:buClr>
              <a:buSzPct val="150000"/>
            </a:pPr>
            <a:r>
              <a:rPr lang="en-US" altLang="en-US" dirty="0">
                <a:latin typeface="Tahoma" pitchFamily="34" charset="0"/>
                <a:cs typeface="Tahoma" pitchFamily="34" charset="0"/>
              </a:rPr>
              <a:t>We sacrificed them 12 </a:t>
            </a:r>
            <a:r>
              <a:rPr lang="en-US" altLang="en-US" b="1" u="sng" dirty="0">
                <a:solidFill>
                  <a:srgbClr val="993366"/>
                </a:solidFill>
                <a:latin typeface="Tahoma" pitchFamily="34" charset="0"/>
                <a:cs typeface="Tahoma" pitchFamily="34" charset="0"/>
              </a:rPr>
              <a:t>hours</a:t>
            </a:r>
            <a:r>
              <a:rPr lang="en-US" altLang="en-US" dirty="0">
                <a:latin typeface="Tahoma" pitchFamily="34" charset="0"/>
                <a:cs typeface="Tahoma" pitchFamily="34" charset="0"/>
              </a:rPr>
              <a:t> later</a:t>
            </a:r>
          </a:p>
          <a:p>
            <a:pPr eaLnBrk="1" hangingPunct="1">
              <a:buClr>
                <a:srgbClr val="0000CC"/>
              </a:buClr>
              <a:buSzPct val="150000"/>
            </a:pPr>
            <a:r>
              <a:rPr lang="en-US" altLang="en-US" dirty="0">
                <a:latin typeface="Tahoma" pitchFamily="34" charset="0"/>
                <a:cs typeface="Tahoma" pitchFamily="34" charset="0"/>
              </a:rPr>
              <a:t>Wow! </a:t>
            </a:r>
            <a:r>
              <a:rPr lang="en-US" altLang="en-US" b="1" dirty="0">
                <a:solidFill>
                  <a:srgbClr val="C00000"/>
                </a:solidFill>
                <a:latin typeface="Tahoma" pitchFamily="34" charset="0"/>
                <a:cs typeface="Tahoma" pitchFamily="34" charset="0"/>
              </a:rPr>
              <a:t>Everything</a:t>
            </a:r>
            <a:r>
              <a:rPr lang="en-US" altLang="en-US" dirty="0">
                <a:latin typeface="Tahoma" pitchFamily="34" charset="0"/>
                <a:cs typeface="Tahoma" pitchFamily="34" charset="0"/>
              </a:rPr>
              <a:t> lit up showing potato chips are bad (for rats, sigh)</a:t>
            </a:r>
          </a:p>
          <a:p>
            <a:pPr lvl="1" eaLnBrk="1" hangingPunct="1">
              <a:buClr>
                <a:srgbClr val="C00000"/>
              </a:buClr>
              <a:buSzPct val="150000"/>
              <a:buFont typeface="Arial" panose="020B0604020202020204" pitchFamily="34" charset="0"/>
              <a:buChar char="•"/>
            </a:pPr>
            <a:r>
              <a:rPr lang="en-US" altLang="en-US" dirty="0">
                <a:latin typeface="Tahoma" pitchFamily="34" charset="0"/>
                <a:cs typeface="Tahoma" pitchFamily="34" charset="0"/>
              </a:rPr>
              <a:t>DNA Damage</a:t>
            </a:r>
          </a:p>
          <a:p>
            <a:pPr lvl="1" eaLnBrk="1" hangingPunct="1">
              <a:buClr>
                <a:srgbClr val="C00000"/>
              </a:buClr>
              <a:buSzPct val="150000"/>
              <a:buFont typeface="Arial" panose="020B0604020202020204" pitchFamily="34" charset="0"/>
              <a:buChar char="•"/>
            </a:pPr>
            <a:r>
              <a:rPr lang="en-US" altLang="en-US" dirty="0">
                <a:latin typeface="Tahoma" pitchFamily="34" charset="0"/>
                <a:cs typeface="Tahoma" pitchFamily="34" charset="0"/>
              </a:rPr>
              <a:t>DNA Repair</a:t>
            </a:r>
          </a:p>
          <a:p>
            <a:pPr lvl="1" eaLnBrk="1" hangingPunct="1">
              <a:buClr>
                <a:srgbClr val="C00000"/>
              </a:buClr>
              <a:buSzPct val="150000"/>
              <a:buFont typeface="Arial" panose="020B0604020202020204" pitchFamily="34" charset="0"/>
              <a:buChar char="•"/>
            </a:pPr>
            <a:r>
              <a:rPr lang="en-US" altLang="en-US" dirty="0">
                <a:latin typeface="Tahoma" pitchFamily="34" charset="0"/>
                <a:cs typeface="Tahoma" pitchFamily="34" charset="0"/>
              </a:rPr>
              <a:t>Programmed cell death (Apoptosis)</a:t>
            </a:r>
          </a:p>
          <a:p>
            <a:pPr lvl="1" eaLnBrk="1" hangingPunct="1">
              <a:buClr>
                <a:srgbClr val="C00000"/>
              </a:buClr>
              <a:buSzPct val="150000"/>
              <a:buFont typeface="Arial" panose="020B0604020202020204" pitchFamily="34" charset="0"/>
              <a:buChar char="•"/>
            </a:pPr>
            <a:r>
              <a:rPr lang="en-US" altLang="en-US" dirty="0">
                <a:latin typeface="Tahoma" pitchFamily="34" charset="0"/>
                <a:cs typeface="Tahoma" pitchFamily="34" charset="0"/>
              </a:rPr>
              <a:t>Anything else you can think of</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BACCF43E-1B63-8906-5A32-6C7FD72835C7}"/>
              </a:ext>
            </a:extLst>
          </p:cNvPr>
          <p:cNvSpPr>
            <a:spLocks noGrp="1"/>
          </p:cNvSpPr>
          <p:nvPr>
            <p:ph type="sldNum" sz="quarter" idx="11"/>
          </p:nvPr>
        </p:nvSpPr>
        <p:spPr/>
        <p:txBody>
          <a:bodyPr/>
          <a:lstStyle/>
          <a:p>
            <a:pPr>
              <a:defRPr/>
            </a:pPr>
            <a:fld id="{3409ADA3-42B3-456B-8472-9BD85CC2F264}" type="slidenum">
              <a:rPr lang="en-US" smtClean="0"/>
              <a:pPr>
                <a:defRPr/>
              </a:pPr>
              <a:t>13</a:t>
            </a:fld>
            <a:endParaRPr lang="en-US" dirty="0"/>
          </a:p>
        </p:txBody>
      </p:sp>
    </p:spTree>
    <p:extLst>
      <p:ext uri="{BB962C8B-B14F-4D97-AF65-F5344CB8AC3E}">
        <p14:creationId xmlns:p14="http://schemas.microsoft.com/office/powerpoint/2010/main" val="58487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Initial Remarks</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b="1" dirty="0">
                <a:solidFill>
                  <a:srgbClr val="C00000"/>
                </a:solidFill>
                <a:latin typeface="Tahoma" pitchFamily="34" charset="0"/>
                <a:cs typeface="Tahoma" pitchFamily="34" charset="0"/>
              </a:rPr>
              <a:t>Moral I of the story</a:t>
            </a:r>
            <a:r>
              <a:rPr lang="en-US" altLang="en-US" dirty="0">
                <a:latin typeface="Tahoma" pitchFamily="34" charset="0"/>
                <a:cs typeface="Tahoma" pitchFamily="34" charset="0"/>
              </a:rPr>
              <a:t>: Diet is a powerful mechanism and a better diet can help protect against cancers, chronic disease, mortalities, etc. </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b="1" dirty="0">
                <a:solidFill>
                  <a:srgbClr val="C00000"/>
                </a:solidFill>
                <a:latin typeface="Tahoma" pitchFamily="34" charset="0"/>
                <a:cs typeface="Tahoma" pitchFamily="34" charset="0"/>
              </a:rPr>
              <a:t>Moral II of the story</a:t>
            </a:r>
            <a:r>
              <a:rPr lang="en-US" altLang="en-US" dirty="0">
                <a:latin typeface="Tahoma" pitchFamily="34" charset="0"/>
                <a:cs typeface="Tahoma" pitchFamily="34" charset="0"/>
              </a:rPr>
              <a:t>: I used to eat a bag of popcorn or chips almost daily, and stopped </a:t>
            </a:r>
          </a:p>
          <a:p>
            <a:pPr lvl="1" eaLnBrk="1" hangingPunct="1">
              <a:buClr>
                <a:srgbClr val="C00000"/>
              </a:buClr>
              <a:buSzPct val="150000"/>
              <a:buFont typeface="Arial" panose="020B0604020202020204" pitchFamily="34" charset="0"/>
              <a:buChar char="•"/>
            </a:pPr>
            <a:r>
              <a:rPr lang="en-US" altLang="en-US" dirty="0">
                <a:latin typeface="Tahoma" pitchFamily="34" charset="0"/>
                <a:cs typeface="Tahoma" pitchFamily="34" charset="0"/>
              </a:rPr>
              <a:t>I look with longing at Kettel chips in the grocery but (mostly) resist</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116FFA6B-C11F-3DB6-F901-52E921E6AB23}"/>
              </a:ext>
            </a:extLst>
          </p:cNvPr>
          <p:cNvSpPr>
            <a:spLocks noGrp="1"/>
          </p:cNvSpPr>
          <p:nvPr>
            <p:ph type="sldNum" sz="quarter" idx="11"/>
          </p:nvPr>
        </p:nvSpPr>
        <p:spPr/>
        <p:txBody>
          <a:bodyPr/>
          <a:lstStyle/>
          <a:p>
            <a:pPr>
              <a:defRPr/>
            </a:pPr>
            <a:fld id="{3409ADA3-42B3-456B-8472-9BD85CC2F264}" type="slidenum">
              <a:rPr lang="en-US" smtClean="0"/>
              <a:pPr>
                <a:defRPr/>
              </a:pPr>
              <a:t>14</a:t>
            </a:fld>
            <a:endParaRPr lang="en-US"/>
          </a:p>
        </p:txBody>
      </p:sp>
    </p:spTree>
    <p:extLst>
      <p:ext uri="{BB962C8B-B14F-4D97-AF65-F5344CB8AC3E}">
        <p14:creationId xmlns:p14="http://schemas.microsoft.com/office/powerpoint/2010/main" val="769698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Initial Remarks</a:t>
            </a:r>
          </a:p>
        </p:txBody>
      </p:sp>
      <p:sp>
        <p:nvSpPr>
          <p:cNvPr id="23555" name="Rectangle 3"/>
          <p:cNvSpPr>
            <a:spLocks noGrp="1" noChangeArrowheads="1"/>
          </p:cNvSpPr>
          <p:nvPr>
            <p:ph type="body" idx="1"/>
          </p:nvPr>
        </p:nvSpPr>
        <p:spPr>
          <a:xfrm>
            <a:off x="762000" y="914401"/>
            <a:ext cx="8229600" cy="4800600"/>
          </a:xfrm>
        </p:spPr>
        <p:txBody>
          <a:bodyPr/>
          <a:lstStyle/>
          <a:p>
            <a:pPr eaLnBrk="1" hangingPunct="1">
              <a:buClr>
                <a:srgbClr val="0000CC"/>
              </a:buClr>
              <a:buSzPct val="150000"/>
            </a:pPr>
            <a:r>
              <a:rPr lang="en-US" altLang="en-US" b="1" dirty="0">
                <a:solidFill>
                  <a:srgbClr val="C00000"/>
                </a:solidFill>
                <a:latin typeface="Tahoma" pitchFamily="34" charset="0"/>
                <a:cs typeface="Tahoma" pitchFamily="34" charset="0"/>
              </a:rPr>
              <a:t>Statistics Success</a:t>
            </a:r>
            <a:r>
              <a:rPr lang="en-US" altLang="en-US" dirty="0">
                <a:latin typeface="Tahoma" pitchFamily="34" charset="0"/>
                <a:cs typeface="Tahoma" pitchFamily="34" charset="0"/>
              </a:rPr>
              <a:t>: My former student Jeff Morris, now at Penn, wrote his thesis on this problem, and used it to discover Wavelet-based Functional Mixed Models (WFMM)</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 had 2 other students who theses were on these topics. Both are chairs of major bio/stat departments</a:t>
            </a:r>
          </a:p>
          <a:p>
            <a:pPr eaLnBrk="1" hangingPunct="1">
              <a:buClr>
                <a:srgbClr val="0000CC"/>
              </a:buClr>
              <a:buSzPct val="150000"/>
            </a:pPr>
            <a:r>
              <a:rPr lang="en-US" altLang="en-US" dirty="0">
                <a:latin typeface="Tahoma" pitchFamily="34" charset="0"/>
                <a:cs typeface="Tahoma" pitchFamily="34" charset="0"/>
              </a:rPr>
              <a:t>My nutritionists got 6 papers in top statistics journals </a:t>
            </a:r>
            <a:r>
              <a:rPr lang="en-US" altLang="en-US" dirty="0">
                <a:latin typeface="Tahoma" pitchFamily="34" charset="0"/>
                <a:cs typeface="Tahoma" pitchFamily="34" charset="0"/>
                <a:sym typeface="Wingdings" panose="05000000000000000000" pitchFamily="2" charset="2"/>
              </a:rPr>
              <a:t> They could have gotten tenure </a:t>
            </a:r>
            <a:endParaRPr lang="en-US" altLang="en-US" dirty="0">
              <a:latin typeface="Tahoma" pitchFamily="34" charset="0"/>
              <a:cs typeface="Tahoma"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TextBox 2">
            <a:extLst>
              <a:ext uri="{FF2B5EF4-FFF2-40B4-BE49-F238E27FC236}">
                <a16:creationId xmlns:a16="http://schemas.microsoft.com/office/drawing/2014/main" id="{37DC7514-7EA0-C283-A0FF-93AEB873BE71}"/>
              </a:ext>
            </a:extLst>
          </p:cNvPr>
          <p:cNvSpPr txBox="1"/>
          <p:nvPr/>
        </p:nvSpPr>
        <p:spPr>
          <a:xfrm>
            <a:off x="7527634" y="6400800"/>
            <a:ext cx="1159166" cy="461665"/>
          </a:xfrm>
          <a:prstGeom prst="rect">
            <a:avLst/>
          </a:prstGeom>
          <a:noFill/>
        </p:spPr>
        <p:txBody>
          <a:bodyPr wrap="square" rtlCol="0">
            <a:spAutoFit/>
          </a:bodyPr>
          <a:lstStyle/>
          <a:p>
            <a:r>
              <a:rPr lang="en-US" dirty="0"/>
              <a:t>10</a:t>
            </a:r>
          </a:p>
        </p:txBody>
      </p:sp>
    </p:spTree>
    <p:extLst>
      <p:ext uri="{BB962C8B-B14F-4D97-AF65-F5344CB8AC3E}">
        <p14:creationId xmlns:p14="http://schemas.microsoft.com/office/powerpoint/2010/main" val="3020255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4876800" cy="1143000"/>
          </a:xfrm>
        </p:spPr>
        <p:txBody>
          <a:bodyPr/>
          <a:lstStyle/>
          <a:p>
            <a:pPr algn="ctr" eaLnBrk="1" hangingPunct="1">
              <a:defRPr/>
            </a:pPr>
            <a:r>
              <a:rPr lang="en-US" sz="3200" dirty="0">
                <a:solidFill>
                  <a:srgbClr val="0000CC"/>
                </a:solidFill>
                <a:latin typeface="Tahoma" pitchFamily="34" charset="0"/>
              </a:rPr>
              <a:t>Nutrition</a:t>
            </a:r>
          </a:p>
        </p:txBody>
      </p:sp>
      <p:sp>
        <p:nvSpPr>
          <p:cNvPr id="26627" name="Rectangle 3"/>
          <p:cNvSpPr>
            <a:spLocks noGrp="1" noChangeArrowheads="1"/>
          </p:cNvSpPr>
          <p:nvPr>
            <p:ph type="body" idx="1"/>
          </p:nvPr>
        </p:nvSpPr>
        <p:spPr>
          <a:xfrm>
            <a:off x="457200" y="914400"/>
            <a:ext cx="6781800" cy="4525963"/>
          </a:xfrm>
        </p:spPr>
        <p:txBody>
          <a:bodyPr/>
          <a:lstStyle/>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endParaRPr>
          </a:p>
        </p:txBody>
      </p:sp>
      <p:sp>
        <p:nvSpPr>
          <p:cNvPr id="26628"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AutoShape 2" descr="Image result for Arthur Schatzkin"/>
          <p:cNvSpPr>
            <a:spLocks noChangeAspect="1" noChangeArrowheads="1"/>
          </p:cNvSpPr>
          <p:nvPr/>
        </p:nvSpPr>
        <p:spPr bwMode="auto">
          <a:xfrm>
            <a:off x="155575" y="-617538"/>
            <a:ext cx="914400" cy="1295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utoShape 2" descr="Image result for Joanne Lupton"/>
          <p:cNvSpPr>
            <a:spLocks noChangeAspect="1" noChangeArrowheads="1"/>
          </p:cNvSpPr>
          <p:nvPr/>
        </p:nvSpPr>
        <p:spPr bwMode="auto">
          <a:xfrm>
            <a:off x="155575" y="-411163"/>
            <a:ext cx="714375" cy="8572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Image result for Joanne Lupton"/>
          <p:cNvSpPr>
            <a:spLocks noChangeAspect="1" noChangeArrowheads="1"/>
          </p:cNvSpPr>
          <p:nvPr/>
        </p:nvSpPr>
        <p:spPr bwMode="auto">
          <a:xfrm>
            <a:off x="307975" y="-258763"/>
            <a:ext cx="714375" cy="8572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4038" name="Picture 6" descr="https://encrypted-tbn2.gstatic.com/images?q=tbn:ANd9GcSNaxRuaJVgJZj-47JNgWyOHFxfOb_xBS7kHUAvFNxx-WkhJtQKH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2495" y="1189038"/>
            <a:ext cx="1905000" cy="2286001"/>
          </a:xfrm>
          <a:prstGeom prst="rect">
            <a:avLst/>
          </a:prstGeom>
          <a:noFill/>
          <a:extLst>
            <a:ext uri="{909E8E84-426E-40DD-AFC4-6F175D3DCCD1}">
              <a14:hiddenFill xmlns:a14="http://schemas.microsoft.com/office/drawing/2010/main">
                <a:solidFill>
                  <a:srgbClr val="FFFFFF"/>
                </a:solidFill>
              </a14:hiddenFill>
            </a:ext>
          </a:extLst>
        </p:spPr>
      </p:pic>
      <p:pic>
        <p:nvPicPr>
          <p:cNvPr id="44039" name="Picture 7" descr="C:\Users\Carroll\Documents\My_Documents\Tex\papers\morris_directory\wavelet_2004\MGMT_covariates.ep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942363"/>
            <a:ext cx="6223000" cy="5118100"/>
          </a:xfrm>
          <a:prstGeom prst="rect">
            <a:avLst/>
          </a:prstGeom>
          <a:noFill/>
          <a:extLst>
            <a:ext uri="{909E8E84-426E-40DD-AFC4-6F175D3DCCD1}">
              <a14:hiddenFill xmlns:a14="http://schemas.microsoft.com/office/drawing/2010/main">
                <a:solidFill>
                  <a:srgbClr val="FFFFFF"/>
                </a:solidFill>
              </a14:hiddenFill>
            </a:ext>
          </a:extLst>
        </p:spPr>
      </p:pic>
      <p:pic>
        <p:nvPicPr>
          <p:cNvPr id="51202" name="Picture 2" descr="C:\Users\Carroll\Documents\My_Documents\Raymond_new_overheads\Fields_Lecture_2017\Nutrition\Nancy.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2800" y="3962400"/>
            <a:ext cx="1828800" cy="2193925"/>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a:extLst>
              <a:ext uri="{FF2B5EF4-FFF2-40B4-BE49-F238E27FC236}">
                <a16:creationId xmlns:a16="http://schemas.microsoft.com/office/drawing/2014/main" id="{80CDB9E7-64F2-BCD9-CA3D-911FE8953EEF}"/>
              </a:ext>
            </a:extLst>
          </p:cNvPr>
          <p:cNvSpPr>
            <a:spLocks noGrp="1"/>
          </p:cNvSpPr>
          <p:nvPr>
            <p:ph type="sldNum" sz="quarter" idx="11"/>
          </p:nvPr>
        </p:nvSpPr>
        <p:spPr/>
        <p:txBody>
          <a:bodyPr/>
          <a:lstStyle/>
          <a:p>
            <a:pPr>
              <a:defRPr/>
            </a:pPr>
            <a:fld id="{3409ADA3-42B3-456B-8472-9BD85CC2F264}" type="slidenum">
              <a:rPr lang="en-US" smtClean="0"/>
              <a:pPr>
                <a:defRPr/>
              </a:pPr>
              <a:t>16</a:t>
            </a:fld>
            <a:endParaRPr lang="en-US"/>
          </a:p>
        </p:txBody>
      </p:sp>
    </p:spTree>
    <p:extLst>
      <p:ext uri="{BB962C8B-B14F-4D97-AF65-F5344CB8AC3E}">
        <p14:creationId xmlns:p14="http://schemas.microsoft.com/office/powerpoint/2010/main" val="3135035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WHI Dietary Modification Trial	</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r>
              <a:rPr lang="en-US" altLang="en-US" dirty="0">
                <a:latin typeface="Tahoma" pitchFamily="34" charset="0"/>
                <a:cs typeface="Tahoma" pitchFamily="34" charset="0"/>
              </a:rPr>
              <a:t>Randomized study 48,835 women aged 50-79</a:t>
            </a:r>
          </a:p>
          <a:p>
            <a:pPr eaLnBrk="1" hangingPunct="1">
              <a:buClr>
                <a:srgbClr val="0000CC"/>
              </a:buClr>
              <a:buSzPct val="150000"/>
            </a:pPr>
            <a:r>
              <a:rPr lang="en-US" altLang="en-US" dirty="0">
                <a:latin typeface="Tahoma" pitchFamily="34" charset="0"/>
                <a:cs typeface="Tahoma" pitchFamily="34" charset="0"/>
              </a:rPr>
              <a:t>I was not involved</a:t>
            </a:r>
          </a:p>
          <a:p>
            <a:pPr eaLnBrk="1" hangingPunct="1">
              <a:buClr>
                <a:srgbClr val="0000CC"/>
              </a:buClr>
              <a:buSzPct val="150000"/>
            </a:pPr>
            <a:r>
              <a:rPr lang="en-US" altLang="en-US" dirty="0">
                <a:latin typeface="Tahoma" pitchFamily="34" charset="0"/>
                <a:cs typeface="Tahoma" pitchFamily="34" charset="0"/>
              </a:rPr>
              <a:t>Control group: free living</a:t>
            </a:r>
          </a:p>
          <a:p>
            <a:pPr eaLnBrk="1" hangingPunct="1">
              <a:buClr>
                <a:srgbClr val="0000CC"/>
              </a:buClr>
              <a:buSzPct val="150000"/>
            </a:pPr>
            <a:r>
              <a:rPr lang="en-US" altLang="en-US" dirty="0">
                <a:latin typeface="Tahoma" pitchFamily="34" charset="0"/>
                <a:cs typeface="Tahoma" pitchFamily="34" charset="0"/>
              </a:rPr>
              <a:t>Randomized group </a:t>
            </a:r>
            <a:r>
              <a:rPr lang="en-US" altLang="en-US" b="1" dirty="0">
                <a:solidFill>
                  <a:srgbClr val="C00000"/>
                </a:solidFill>
                <a:latin typeface="Tahoma" pitchFamily="34" charset="0"/>
                <a:cs typeface="Tahoma" pitchFamily="34" charset="0"/>
              </a:rPr>
              <a:t>AIMS</a:t>
            </a:r>
            <a:r>
              <a:rPr lang="en-US" altLang="en-US" dirty="0">
                <a:latin typeface="Tahoma" pitchFamily="34" charset="0"/>
                <a:cs typeface="Tahoma" pitchFamily="34" charset="0"/>
              </a:rPr>
              <a:t>: lower fat to 20% of calories, saturated fat to 7%, 5 or more servings of fruit and veggies per day, grains to 6 or more servings per day</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BA0C0AF4-AA91-7D61-A9B1-E49158114884}"/>
              </a:ext>
            </a:extLst>
          </p:cNvPr>
          <p:cNvSpPr>
            <a:spLocks noGrp="1"/>
          </p:cNvSpPr>
          <p:nvPr>
            <p:ph type="sldNum" sz="quarter" idx="11"/>
          </p:nvPr>
        </p:nvSpPr>
        <p:spPr/>
        <p:txBody>
          <a:bodyPr/>
          <a:lstStyle/>
          <a:p>
            <a:pPr>
              <a:defRPr/>
            </a:pPr>
            <a:fld id="{3409ADA3-42B3-456B-8472-9BD85CC2F264}" type="slidenum">
              <a:rPr lang="en-US" smtClean="0"/>
              <a:pPr>
                <a:defRPr/>
              </a:pPr>
              <a:t>17</a:t>
            </a:fld>
            <a:endParaRPr lang="en-US"/>
          </a:p>
        </p:txBody>
      </p:sp>
    </p:spTree>
    <p:extLst>
      <p:ext uri="{BB962C8B-B14F-4D97-AF65-F5344CB8AC3E}">
        <p14:creationId xmlns:p14="http://schemas.microsoft.com/office/powerpoint/2010/main" val="2856418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WHI Dietary Modification Trial	</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r>
              <a:rPr lang="en-US" altLang="en-US" dirty="0">
                <a:latin typeface="Tahoma" pitchFamily="34" charset="0"/>
                <a:cs typeface="Tahoma" pitchFamily="34" charset="0"/>
              </a:rPr>
              <a:t>p-value for breast cancer = 0.07. NYT called it a </a:t>
            </a:r>
            <a:r>
              <a:rPr lang="en-US" altLang="en-US" i="1" dirty="0">
                <a:latin typeface="Tahoma" pitchFamily="34" charset="0"/>
                <a:cs typeface="Tahoma" pitchFamily="34" charset="0"/>
              </a:rPr>
              <a:t>failed study</a:t>
            </a:r>
            <a:r>
              <a:rPr lang="en-US" altLang="en-US" dirty="0">
                <a:latin typeface="Tahoma" pitchFamily="34" charset="0"/>
                <a:cs typeface="Tahoma" pitchFamily="34" charset="0"/>
              </a:rPr>
              <a:t>. </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Expensive</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Lots, and lots of controversy, especially whether it should have been done in the first place (ask Donna Spiegelman)</a:t>
            </a:r>
          </a:p>
          <a:p>
            <a:pPr eaLnBrk="1" hangingPunct="1">
              <a:buClr>
                <a:srgbClr val="0000CC"/>
              </a:buClr>
              <a:buSzPct val="150000"/>
            </a:pPr>
            <a:r>
              <a:rPr lang="en-US" altLang="en-US" dirty="0">
                <a:latin typeface="Tahoma" pitchFamily="34" charset="0"/>
                <a:cs typeface="Tahoma" pitchFamily="34" charset="0"/>
              </a:rPr>
              <a:t>I was not involved</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F5250A26-61B4-F0A3-6EF6-ED0652E8FA2B}"/>
              </a:ext>
            </a:extLst>
          </p:cNvPr>
          <p:cNvSpPr>
            <a:spLocks noGrp="1"/>
          </p:cNvSpPr>
          <p:nvPr>
            <p:ph type="sldNum" sz="quarter" idx="11"/>
          </p:nvPr>
        </p:nvSpPr>
        <p:spPr/>
        <p:txBody>
          <a:bodyPr/>
          <a:lstStyle/>
          <a:p>
            <a:pPr>
              <a:defRPr/>
            </a:pPr>
            <a:fld id="{3409ADA3-42B3-456B-8472-9BD85CC2F264}" type="slidenum">
              <a:rPr lang="en-US" smtClean="0"/>
              <a:pPr>
                <a:defRPr/>
              </a:pPr>
              <a:t>18</a:t>
            </a:fld>
            <a:endParaRPr lang="en-US"/>
          </a:p>
        </p:txBody>
      </p:sp>
    </p:spTree>
    <p:extLst>
      <p:ext uri="{BB962C8B-B14F-4D97-AF65-F5344CB8AC3E}">
        <p14:creationId xmlns:p14="http://schemas.microsoft.com/office/powerpoint/2010/main" val="1633471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More Magic Bullet Work: 	</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r>
              <a:rPr lang="en-US" altLang="en-US" dirty="0">
                <a:latin typeface="Tahoma" pitchFamily="34" charset="0"/>
                <a:cs typeface="Tahoma" pitchFamily="34" charset="0"/>
              </a:rPr>
              <a:t> There are many large cohort studies of diet and health</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Not randomized</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Large sample sizes (hundreds of thousands)</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Includes the Nurse’s Health Study, NIH-AARP Study, UK Biobank, etc.</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6571C561-704D-1FAA-2FFD-D7141AD8CDEB}"/>
              </a:ext>
            </a:extLst>
          </p:cNvPr>
          <p:cNvSpPr>
            <a:spLocks noGrp="1"/>
          </p:cNvSpPr>
          <p:nvPr>
            <p:ph type="sldNum" sz="quarter" idx="11"/>
          </p:nvPr>
        </p:nvSpPr>
        <p:spPr/>
        <p:txBody>
          <a:bodyPr/>
          <a:lstStyle/>
          <a:p>
            <a:pPr>
              <a:defRPr/>
            </a:pPr>
            <a:fld id="{3409ADA3-42B3-456B-8472-9BD85CC2F264}" type="slidenum">
              <a:rPr lang="en-US" smtClean="0"/>
              <a:pPr>
                <a:defRPr/>
              </a:pPr>
              <a:t>19</a:t>
            </a:fld>
            <a:endParaRPr lang="en-US"/>
          </a:p>
        </p:txBody>
      </p:sp>
    </p:spTree>
    <p:extLst>
      <p:ext uri="{BB962C8B-B14F-4D97-AF65-F5344CB8AC3E}">
        <p14:creationId xmlns:p14="http://schemas.microsoft.com/office/powerpoint/2010/main" val="1565049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More Magic Bullet Work: AARP Study	</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r>
              <a:rPr lang="en-US" altLang="en-US" dirty="0">
                <a:latin typeface="Tahoma" pitchFamily="34" charset="0"/>
                <a:cs typeface="Tahoma" pitchFamily="34" charset="0"/>
              </a:rPr>
              <a:t> The NIH-AARP Study of Diet and Health had ~300,000 men and ~200,000 women.</a:t>
            </a:r>
          </a:p>
          <a:p>
            <a:pPr eaLnBrk="1" hangingPunct="1">
              <a:buClr>
                <a:srgbClr val="0000CC"/>
              </a:buClr>
              <a:buSzPct val="150000"/>
            </a:pPr>
            <a:r>
              <a:rPr lang="en-US" altLang="en-US" dirty="0">
                <a:latin typeface="Tahoma" pitchFamily="34" charset="0"/>
                <a:cs typeface="Tahoma" pitchFamily="34" charset="0"/>
              </a:rPr>
              <a:t> They were followed for various cancers, CVD, and various types of mortalities</a:t>
            </a:r>
          </a:p>
          <a:p>
            <a:pPr eaLnBrk="1" hangingPunct="1">
              <a:buClr>
                <a:srgbClr val="0000CC"/>
              </a:buClr>
              <a:buSzPct val="150000"/>
            </a:pPr>
            <a:r>
              <a:rPr lang="en-US" altLang="en-US" dirty="0">
                <a:latin typeface="Tahoma" pitchFamily="34" charset="0"/>
                <a:cs typeface="Tahoma" pitchFamily="34" charset="0"/>
              </a:rPr>
              <a:t> So, I did an analysis of Saturated Fat, adjusted for Energy intake. Also, adjusted for 20+ covariates.</a:t>
            </a:r>
          </a:p>
          <a:p>
            <a:pPr eaLnBrk="1" hangingPunct="1">
              <a:buClr>
                <a:srgbClr val="0000CC"/>
              </a:buClr>
              <a:buSzPct val="150000"/>
            </a:pPr>
            <a:r>
              <a:rPr lang="en-US" altLang="en-US" dirty="0">
                <a:latin typeface="Tahoma" pitchFamily="34" charset="0"/>
                <a:cs typeface="Tahoma" pitchFamily="34" charset="0"/>
              </a:rPr>
              <a:t> Compared the 5</a:t>
            </a:r>
            <a:r>
              <a:rPr lang="en-US" altLang="en-US" baseline="30000" dirty="0">
                <a:latin typeface="Tahoma" pitchFamily="34" charset="0"/>
                <a:cs typeface="Tahoma" pitchFamily="34" charset="0"/>
              </a:rPr>
              <a:t>th</a:t>
            </a:r>
            <a:r>
              <a:rPr lang="en-US" altLang="en-US" dirty="0">
                <a:latin typeface="Tahoma" pitchFamily="34" charset="0"/>
                <a:cs typeface="Tahoma" pitchFamily="34" charset="0"/>
              </a:rPr>
              <a:t> quintile to the 1</a:t>
            </a:r>
            <a:r>
              <a:rPr lang="en-US" altLang="en-US" baseline="30000" dirty="0">
                <a:latin typeface="Tahoma" pitchFamily="34" charset="0"/>
                <a:cs typeface="Tahoma" pitchFamily="34" charset="0"/>
              </a:rPr>
              <a:t>st</a:t>
            </a:r>
            <a:r>
              <a:rPr lang="en-US" altLang="en-US" dirty="0">
                <a:latin typeface="Tahoma" pitchFamily="34" charset="0"/>
                <a:cs typeface="Tahoma" pitchFamily="34" charset="0"/>
              </a:rPr>
              <a:t> quintile, which is typical in nutritional epidemiology</a:t>
            </a:r>
          </a:p>
          <a:p>
            <a:pPr marL="0" indent="0" eaLnBrk="1" hangingPunct="1">
              <a:buClr>
                <a:srgbClr val="0000CC"/>
              </a:buClr>
              <a:buSzPct val="150000"/>
              <a:buNone/>
            </a:pPr>
            <a:r>
              <a:rPr lang="en-US" altLang="en-US" dirty="0">
                <a:latin typeface="Tahoma" pitchFamily="34" charset="0"/>
                <a:cs typeface="Tahoma" pitchFamily="34" charset="0"/>
              </a:rPr>
              <a:t>  </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EDF57A7A-7B9B-B6B8-E892-767270510EA3}"/>
              </a:ext>
            </a:extLst>
          </p:cNvPr>
          <p:cNvSpPr>
            <a:spLocks noGrp="1"/>
          </p:cNvSpPr>
          <p:nvPr>
            <p:ph type="sldNum" sz="quarter" idx="11"/>
          </p:nvPr>
        </p:nvSpPr>
        <p:spPr/>
        <p:txBody>
          <a:bodyPr/>
          <a:lstStyle/>
          <a:p>
            <a:pPr>
              <a:defRPr/>
            </a:pPr>
            <a:fld id="{3409ADA3-42B3-456B-8472-9BD85CC2F264}" type="slidenum">
              <a:rPr lang="en-US" smtClean="0"/>
              <a:pPr>
                <a:defRPr/>
              </a:pPr>
              <a:t>20</a:t>
            </a:fld>
            <a:endParaRPr lang="en-US"/>
          </a:p>
        </p:txBody>
      </p:sp>
    </p:spTree>
    <p:extLst>
      <p:ext uri="{BB962C8B-B14F-4D97-AF65-F5344CB8AC3E}">
        <p14:creationId xmlns:p14="http://schemas.microsoft.com/office/powerpoint/2010/main" val="2926086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387071" y="-24468"/>
            <a:ext cx="8229600" cy="1143000"/>
          </a:xfrm>
        </p:spPr>
        <p:txBody>
          <a:bodyPr/>
          <a:lstStyle/>
          <a:p>
            <a:pPr algn="ctr" eaLnBrk="1" hangingPunct="1">
              <a:defRPr/>
            </a:pPr>
            <a:r>
              <a:rPr lang="en-US" sz="3200">
                <a:solidFill>
                  <a:srgbClr val="0000CC"/>
                </a:solidFill>
                <a:latin typeface="Tahoma" pitchFamily="34" charset="0"/>
              </a:rPr>
              <a:t>Magic Bullet </a:t>
            </a:r>
            <a:r>
              <a:rPr lang="en-US" sz="3200" dirty="0">
                <a:solidFill>
                  <a:srgbClr val="0000CC"/>
                </a:solidFill>
                <a:latin typeface="Tahoma" pitchFamily="34" charset="0"/>
              </a:rPr>
              <a:t>Work: </a:t>
            </a:r>
            <a:r>
              <a:rPr lang="en-US" sz="3200" dirty="0" err="1">
                <a:solidFill>
                  <a:srgbClr val="0000CC"/>
                </a:solidFill>
                <a:latin typeface="Tahoma" pitchFamily="34" charset="0"/>
              </a:rPr>
              <a:t>SatFat</a:t>
            </a:r>
            <a:r>
              <a:rPr lang="en-US" sz="3200" dirty="0">
                <a:solidFill>
                  <a:srgbClr val="0000CC"/>
                </a:solidFill>
                <a:latin typeface="Tahoma" pitchFamily="34" charset="0"/>
              </a:rPr>
              <a:t>	</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 name="Table 1"/>
          <p:cNvGraphicFramePr>
            <a:graphicFrameLocks noGrp="1"/>
          </p:cNvGraphicFramePr>
          <p:nvPr>
            <p:extLst>
              <p:ext uri="{D42A27DB-BD31-4B8C-83A1-F6EECF244321}">
                <p14:modId xmlns:p14="http://schemas.microsoft.com/office/powerpoint/2010/main" val="515407675"/>
              </p:ext>
            </p:extLst>
          </p:nvPr>
        </p:nvGraphicFramePr>
        <p:xfrm>
          <a:off x="685800" y="1142999"/>
          <a:ext cx="7848600" cy="2743201"/>
        </p:xfrm>
        <a:graphic>
          <a:graphicData uri="http://schemas.openxmlformats.org/drawingml/2006/table">
            <a:tbl>
              <a:tblPr firstRow="1" firstCol="1" bandRow="1">
                <a:tableStyleId>{5C22544A-7EE6-4342-B048-85BDC9FD1C3A}</a:tableStyleId>
              </a:tblPr>
              <a:tblGrid>
                <a:gridCol w="4129492">
                  <a:extLst>
                    <a:ext uri="{9D8B030D-6E8A-4147-A177-3AD203B41FA5}">
                      <a16:colId xmlns:a16="http://schemas.microsoft.com/office/drawing/2014/main" val="20000"/>
                    </a:ext>
                  </a:extLst>
                </a:gridCol>
                <a:gridCol w="2051922">
                  <a:extLst>
                    <a:ext uri="{9D8B030D-6E8A-4147-A177-3AD203B41FA5}">
                      <a16:colId xmlns:a16="http://schemas.microsoft.com/office/drawing/2014/main" val="20001"/>
                    </a:ext>
                  </a:extLst>
                </a:gridCol>
                <a:gridCol w="1667186">
                  <a:extLst>
                    <a:ext uri="{9D8B030D-6E8A-4147-A177-3AD203B41FA5}">
                      <a16:colId xmlns:a16="http://schemas.microsoft.com/office/drawing/2014/main" val="20002"/>
                    </a:ext>
                  </a:extLst>
                </a:gridCol>
              </a:tblGrid>
              <a:tr h="685801">
                <a:tc>
                  <a:txBody>
                    <a:bodyPr/>
                    <a:lstStyle/>
                    <a:p>
                      <a:pPr marL="0" marR="0">
                        <a:spcBef>
                          <a:spcPts val="0"/>
                        </a:spcBef>
                        <a:spcAft>
                          <a:spcPts val="0"/>
                        </a:spcAft>
                      </a:pPr>
                      <a:r>
                        <a:rPr lang="en-US" sz="1200" dirty="0">
                          <a:solidFill>
                            <a:schemeClr val="tx1"/>
                          </a:solidFill>
                          <a:effectLst/>
                        </a:rPr>
                        <a:t> </a:t>
                      </a:r>
                      <a:endParaRPr lang="en-US" sz="1200" dirty="0">
                        <a:solidFill>
                          <a:schemeClr val="tx1"/>
                        </a:solidFill>
                        <a:effectLst/>
                        <a:latin typeface="Times New Roman"/>
                        <a:ea typeface="Calibri"/>
                        <a:cs typeface="Times New Roman"/>
                      </a:endParaRPr>
                    </a:p>
                  </a:txBody>
                  <a:tcPr marL="68580" marR="68580" marT="0" marB="0"/>
                </a:tc>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Hazard Ratio</a:t>
                      </a:r>
                    </a:p>
                  </a:txBody>
                  <a:tcPr marL="68580" marR="68580" marT="0" marB="0"/>
                </a:tc>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p-value</a:t>
                      </a:r>
                    </a:p>
                  </a:txBody>
                  <a:tcPr marL="68580" marR="68580" marT="0" marB="0"/>
                </a:tc>
                <a:extLst>
                  <a:ext uri="{0D108BD9-81ED-4DB2-BD59-A6C34878D82A}">
                    <a16:rowId xmlns:a16="http://schemas.microsoft.com/office/drawing/2014/main" val="10000"/>
                  </a:ext>
                </a:extLst>
              </a:tr>
              <a:tr h="342900">
                <a:tc>
                  <a:txBody>
                    <a:bodyPr/>
                    <a:lstStyle/>
                    <a:p>
                      <a:pPr marL="0" marR="0">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Men, Colorectal</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1.01 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0.91 </a:t>
                      </a:r>
                    </a:p>
                  </a:txBody>
                  <a:tcPr marL="68580" marR="68580" marT="0" marB="0"/>
                </a:tc>
                <a:extLst>
                  <a:ext uri="{0D108BD9-81ED-4DB2-BD59-A6C34878D82A}">
                    <a16:rowId xmlns:a16="http://schemas.microsoft.com/office/drawing/2014/main" val="10001"/>
                  </a:ext>
                </a:extLst>
              </a:tr>
              <a:tr h="342900">
                <a:tc>
                  <a:txBody>
                    <a:bodyPr/>
                    <a:lstStyle/>
                    <a:p>
                      <a:pPr marL="0" marR="0">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Lung</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0.99</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0.88</a:t>
                      </a:r>
                    </a:p>
                  </a:txBody>
                  <a:tcPr marL="68580" marR="68580" marT="0" marB="0"/>
                </a:tc>
                <a:extLst>
                  <a:ext uri="{0D108BD9-81ED-4DB2-BD59-A6C34878D82A}">
                    <a16:rowId xmlns:a16="http://schemas.microsoft.com/office/drawing/2014/main" val="10002"/>
                  </a:ext>
                </a:extLst>
              </a:tr>
              <a:tr h="342900">
                <a:tc>
                  <a:txBody>
                    <a:bodyPr/>
                    <a:lstStyle/>
                    <a:p>
                      <a:pPr marL="0" marR="0">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extLst>
                  <a:ext uri="{0D108BD9-81ED-4DB2-BD59-A6C34878D82A}">
                    <a16:rowId xmlns:a16="http://schemas.microsoft.com/office/drawing/2014/main" val="10003"/>
                  </a:ext>
                </a:extLst>
              </a:tr>
              <a:tr h="342900">
                <a:tc>
                  <a:txBody>
                    <a:bodyPr/>
                    <a:lstStyle/>
                    <a:p>
                      <a:pPr marL="0" marR="0">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Women, Colorectal</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0.90</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0.14 </a:t>
                      </a:r>
                    </a:p>
                  </a:txBody>
                  <a:tcPr marL="68580" marR="68580" marT="0" marB="0"/>
                </a:tc>
                <a:extLst>
                  <a:ext uri="{0D108BD9-81ED-4DB2-BD59-A6C34878D82A}">
                    <a16:rowId xmlns:a16="http://schemas.microsoft.com/office/drawing/2014/main" val="10004"/>
                  </a:ext>
                </a:extLst>
              </a:tr>
              <a:tr h="342900">
                <a:tc>
                  <a:txBody>
                    <a:bodyPr/>
                    <a:lstStyle/>
                    <a:p>
                      <a:pPr marL="0" marR="0">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Lung</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1.02</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0.68</a:t>
                      </a:r>
                    </a:p>
                  </a:txBody>
                  <a:tcPr marL="68580" marR="68580" marT="0" marB="0"/>
                </a:tc>
                <a:extLst>
                  <a:ext uri="{0D108BD9-81ED-4DB2-BD59-A6C34878D82A}">
                    <a16:rowId xmlns:a16="http://schemas.microsoft.com/office/drawing/2014/main" val="10005"/>
                  </a:ext>
                </a:extLst>
              </a:tr>
              <a:tr h="342900">
                <a:tc>
                  <a:txBody>
                    <a:bodyPr/>
                    <a:lstStyle/>
                    <a:p>
                      <a:pPr marL="0" marR="0">
                        <a:spcBef>
                          <a:spcPts val="0"/>
                        </a:spcBef>
                        <a:spcAft>
                          <a:spcPts val="0"/>
                        </a:spcAft>
                      </a:pPr>
                      <a:r>
                        <a:rPr lang="en-US" sz="1600" dirty="0">
                          <a:solidFill>
                            <a:schemeClr val="tx1"/>
                          </a:solidFill>
                          <a:effectLst/>
                          <a:latin typeface="Tahoma" panose="020B0604030504040204" pitchFamily="34" charset="0"/>
                          <a:ea typeface="Tahoma" panose="020B0604030504040204" pitchFamily="34" charset="0"/>
                          <a:cs typeface="Tahoma" panose="020B0604030504040204" pitchFamily="34" charset="0"/>
                        </a:rPr>
                        <a:t>Breast</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1.03</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0.42</a:t>
                      </a:r>
                    </a:p>
                  </a:txBody>
                  <a:tcPr marL="68580" marR="68580" marT="0" marB="0"/>
                </a:tc>
                <a:extLst>
                  <a:ext uri="{0D108BD9-81ED-4DB2-BD59-A6C34878D82A}">
                    <a16:rowId xmlns:a16="http://schemas.microsoft.com/office/drawing/2014/main" val="10006"/>
                  </a:ext>
                </a:extLst>
              </a:tr>
            </a:tbl>
          </a:graphicData>
        </a:graphic>
      </p:graphicFrame>
      <p:sp>
        <p:nvSpPr>
          <p:cNvPr id="3" name="TextBox 2"/>
          <p:cNvSpPr txBox="1"/>
          <p:nvPr/>
        </p:nvSpPr>
        <p:spPr>
          <a:xfrm>
            <a:off x="387071" y="4495800"/>
            <a:ext cx="8147329" cy="830997"/>
          </a:xfrm>
          <a:prstGeom prst="rect">
            <a:avLst/>
          </a:prstGeom>
          <a:noFill/>
        </p:spPr>
        <p:txBody>
          <a:bodyPr wrap="square" rtlCol="0">
            <a:spAutoFit/>
          </a:bodyPr>
          <a:lstStyle/>
          <a:p>
            <a:pPr algn="l"/>
            <a:r>
              <a:rPr lang="en-US" dirty="0"/>
              <a:t>Compare the 1</a:t>
            </a:r>
            <a:r>
              <a:rPr lang="en-US" baseline="30000" dirty="0"/>
              <a:t>st</a:t>
            </a:r>
            <a:r>
              <a:rPr lang="en-US" dirty="0"/>
              <a:t> quintile to the 5</a:t>
            </a:r>
            <a:r>
              <a:rPr lang="en-US" baseline="30000" dirty="0"/>
              <a:t>th</a:t>
            </a:r>
            <a:r>
              <a:rPr lang="en-US" dirty="0"/>
              <a:t> quintile</a:t>
            </a:r>
          </a:p>
          <a:p>
            <a:pPr algn="l"/>
            <a:endParaRPr lang="en-US" dirty="0"/>
          </a:p>
        </p:txBody>
      </p:sp>
      <p:sp>
        <p:nvSpPr>
          <p:cNvPr id="9" name="Slide Number Placeholder 8">
            <a:extLst>
              <a:ext uri="{FF2B5EF4-FFF2-40B4-BE49-F238E27FC236}">
                <a16:creationId xmlns:a16="http://schemas.microsoft.com/office/drawing/2014/main" id="{C45A1140-E0C7-7CAF-FA99-CF429857AFD3}"/>
              </a:ext>
            </a:extLst>
          </p:cNvPr>
          <p:cNvSpPr>
            <a:spLocks noGrp="1"/>
          </p:cNvSpPr>
          <p:nvPr>
            <p:ph type="sldNum" sz="quarter" idx="11"/>
          </p:nvPr>
        </p:nvSpPr>
        <p:spPr/>
        <p:txBody>
          <a:bodyPr/>
          <a:lstStyle/>
          <a:p>
            <a:pPr>
              <a:defRPr/>
            </a:pPr>
            <a:fld id="{3409ADA3-42B3-456B-8472-9BD85CC2F264}" type="slidenum">
              <a:rPr lang="en-US" smtClean="0"/>
              <a:pPr>
                <a:defRPr/>
              </a:pPr>
              <a:t>21</a:t>
            </a:fld>
            <a:endParaRPr lang="en-US"/>
          </a:p>
        </p:txBody>
      </p:sp>
    </p:spTree>
    <p:extLst>
      <p:ext uri="{BB962C8B-B14F-4D97-AF65-F5344CB8AC3E}">
        <p14:creationId xmlns:p14="http://schemas.microsoft.com/office/powerpoint/2010/main" val="3388314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More Magic Bullet Work: AARP Study	</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r>
              <a:rPr lang="en-US" altLang="en-US" dirty="0">
                <a:latin typeface="Tahoma" pitchFamily="34" charset="0"/>
                <a:cs typeface="Tahoma" pitchFamily="34" charset="0"/>
              </a:rPr>
              <a:t> That was pretty dismal, was it not?</a:t>
            </a:r>
          </a:p>
          <a:p>
            <a:pPr marL="0" indent="0" eaLnBrk="1" hangingPunct="1">
              <a:buClr>
                <a:srgbClr val="0000CC"/>
              </a:buClr>
              <a:buSzPct val="150000"/>
              <a:buNone/>
            </a:pPr>
            <a:r>
              <a:rPr lang="en-US" altLang="en-US" dirty="0">
                <a:latin typeface="Tahoma" pitchFamily="34" charset="0"/>
                <a:cs typeface="Tahoma" pitchFamily="34" charset="0"/>
              </a:rPr>
              <a:t> </a:t>
            </a:r>
          </a:p>
          <a:p>
            <a:pPr eaLnBrk="1" hangingPunct="1">
              <a:buClr>
                <a:srgbClr val="0000CC"/>
              </a:buClr>
              <a:buSzPct val="150000"/>
            </a:pPr>
            <a:r>
              <a:rPr lang="en-US" altLang="en-US" dirty="0">
                <a:latin typeface="Tahoma" pitchFamily="34" charset="0"/>
                <a:cs typeface="Tahoma" pitchFamily="34" charset="0"/>
              </a:rPr>
              <a:t>I have done this for DOL Veggies (dark green, kale, etc.), and others</a:t>
            </a:r>
          </a:p>
          <a:p>
            <a:pPr marL="0" indent="0" eaLnBrk="1" hangingPunct="1">
              <a:buClr>
                <a:srgbClr val="0000CC"/>
              </a:buClr>
              <a:buSzPct val="150000"/>
              <a:buNone/>
            </a:pPr>
            <a:r>
              <a:rPr lang="en-US" altLang="en-US" dirty="0">
                <a:latin typeface="Tahoma" pitchFamily="34" charset="0"/>
                <a:cs typeface="Tahoma" pitchFamily="34" charset="0"/>
              </a:rPr>
              <a:t> </a:t>
            </a:r>
          </a:p>
          <a:p>
            <a:pPr eaLnBrk="1" hangingPunct="1">
              <a:buClr>
                <a:srgbClr val="0000CC"/>
              </a:buClr>
              <a:buSzPct val="150000"/>
            </a:pPr>
            <a:r>
              <a:rPr lang="en-US" altLang="en-US" dirty="0">
                <a:latin typeface="Tahoma" pitchFamily="34" charset="0"/>
                <a:cs typeface="Tahoma" pitchFamily="34" charset="0"/>
              </a:rPr>
              <a:t>Almost nothing shows up, in a one at a time analysis</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Inconsistent results (CVD excepted, I think)</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C317DDF8-56C9-9C4A-054B-18A73D41DE95}"/>
              </a:ext>
            </a:extLst>
          </p:cNvPr>
          <p:cNvSpPr>
            <a:spLocks noGrp="1"/>
          </p:cNvSpPr>
          <p:nvPr>
            <p:ph type="sldNum" sz="quarter" idx="11"/>
          </p:nvPr>
        </p:nvSpPr>
        <p:spPr/>
        <p:txBody>
          <a:bodyPr/>
          <a:lstStyle/>
          <a:p>
            <a:pPr>
              <a:defRPr/>
            </a:pPr>
            <a:fld id="{3409ADA3-42B3-456B-8472-9BD85CC2F264}" type="slidenum">
              <a:rPr lang="en-US" smtClean="0"/>
              <a:pPr>
                <a:defRPr/>
              </a:pPr>
              <a:t>22</a:t>
            </a:fld>
            <a:endParaRPr lang="en-US"/>
          </a:p>
        </p:txBody>
      </p:sp>
    </p:spTree>
    <p:extLst>
      <p:ext uri="{BB962C8B-B14F-4D97-AF65-F5344CB8AC3E}">
        <p14:creationId xmlns:p14="http://schemas.microsoft.com/office/powerpoint/2010/main" val="4246682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Magic Bullet Miracles	</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r>
              <a:rPr lang="en-US" altLang="en-US" dirty="0">
                <a:latin typeface="Tahoma" pitchFamily="34" charset="0"/>
                <a:cs typeface="Tahoma" pitchFamily="34" charset="0"/>
              </a:rPr>
              <a:t> Nutritionists know a lot</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The literature is massively complex.</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They are faced with trying to make public health recommendations that are </a:t>
            </a:r>
            <a:r>
              <a:rPr lang="en-US" altLang="en-US" b="1" dirty="0">
                <a:solidFill>
                  <a:srgbClr val="7030A0"/>
                </a:solidFill>
                <a:latin typeface="Tahoma" pitchFamily="34" charset="0"/>
                <a:cs typeface="Tahoma" pitchFamily="34" charset="0"/>
              </a:rPr>
              <a:t>simple</a:t>
            </a:r>
            <a:r>
              <a:rPr lang="en-US" altLang="en-US" dirty="0">
                <a:latin typeface="Tahoma" pitchFamily="34" charset="0"/>
                <a:cs typeface="Tahoma" pitchFamily="34" charset="0"/>
              </a:rPr>
              <a:t> and that people can </a:t>
            </a:r>
            <a:r>
              <a:rPr lang="en-US" altLang="en-US" b="1" dirty="0">
                <a:solidFill>
                  <a:srgbClr val="C00000"/>
                </a:solidFill>
                <a:latin typeface="Tahoma" pitchFamily="34" charset="0"/>
                <a:cs typeface="Tahoma" pitchFamily="34" charset="0"/>
              </a:rPr>
              <a:t>implement</a:t>
            </a: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A1F3C9A5-F9DB-FFE3-6596-9C797A34B263}"/>
              </a:ext>
            </a:extLst>
          </p:cNvPr>
          <p:cNvSpPr>
            <a:spLocks noGrp="1"/>
          </p:cNvSpPr>
          <p:nvPr>
            <p:ph type="sldNum" sz="quarter" idx="11"/>
          </p:nvPr>
        </p:nvSpPr>
        <p:spPr/>
        <p:txBody>
          <a:bodyPr/>
          <a:lstStyle/>
          <a:p>
            <a:pPr>
              <a:defRPr/>
            </a:pPr>
            <a:fld id="{3409ADA3-42B3-456B-8472-9BD85CC2F264}" type="slidenum">
              <a:rPr lang="en-US" smtClean="0"/>
              <a:pPr>
                <a:defRPr/>
              </a:pPr>
              <a:t>23</a:t>
            </a:fld>
            <a:endParaRPr lang="en-US"/>
          </a:p>
        </p:txBody>
      </p:sp>
    </p:spTree>
    <p:extLst>
      <p:ext uri="{BB962C8B-B14F-4D97-AF65-F5344CB8AC3E}">
        <p14:creationId xmlns:p14="http://schemas.microsoft.com/office/powerpoint/2010/main" val="1209971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Super Diets	</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r>
              <a:rPr lang="en-US" altLang="en-US" dirty="0">
                <a:latin typeface="Tahoma" pitchFamily="34" charset="0"/>
                <a:cs typeface="Tahoma" pitchFamily="34" charset="0"/>
              </a:rPr>
              <a:t> Restricting calories: hard to do</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Eat lots of kale: easier but not particularly pleasurable (family story follows)</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Blah Blah: we are bombarded with magic bullet diet tips </a:t>
            </a:r>
          </a:p>
          <a:p>
            <a:pPr eaLnBrk="1" hangingPunct="1">
              <a:buClr>
                <a:srgbClr val="0000CC"/>
              </a:buClr>
              <a:buSzPct val="150000"/>
            </a:pPr>
            <a:endParaRPr lang="en-US" altLang="en-US" dirty="0">
              <a:latin typeface="Tahoma" pitchFamily="34" charset="0"/>
              <a:cs typeface="Tahoma" pitchFamily="34" charset="0"/>
            </a:endParaRPr>
          </a:p>
          <a:p>
            <a:pPr marL="0" indent="0" eaLnBrk="1" hangingPunct="1">
              <a:buClr>
                <a:srgbClr val="0000CC"/>
              </a:buClr>
              <a:buSzPct val="150000"/>
              <a:buNone/>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D1EC8EAA-D912-FF44-448D-94E20D183C07}"/>
              </a:ext>
            </a:extLst>
          </p:cNvPr>
          <p:cNvSpPr>
            <a:spLocks noGrp="1"/>
          </p:cNvSpPr>
          <p:nvPr>
            <p:ph type="sldNum" sz="quarter" idx="11"/>
          </p:nvPr>
        </p:nvSpPr>
        <p:spPr/>
        <p:txBody>
          <a:bodyPr/>
          <a:lstStyle/>
          <a:p>
            <a:pPr>
              <a:defRPr/>
            </a:pPr>
            <a:fld id="{3409ADA3-42B3-456B-8472-9BD85CC2F264}" type="slidenum">
              <a:rPr lang="en-US" smtClean="0"/>
              <a:pPr>
                <a:defRPr/>
              </a:pPr>
              <a:t>24</a:t>
            </a:fld>
            <a:endParaRPr lang="en-US"/>
          </a:p>
        </p:txBody>
      </p:sp>
    </p:spTree>
    <p:extLst>
      <p:ext uri="{BB962C8B-B14F-4D97-AF65-F5344CB8AC3E}">
        <p14:creationId xmlns:p14="http://schemas.microsoft.com/office/powerpoint/2010/main" val="723434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Big Picture Miracles: Dietary Patterns</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 problem with the magic bullet approach to diet and health is that it does not take into account the complex structure of human diets (</a:t>
            </a:r>
            <a:r>
              <a:rPr lang="en-US" altLang="en-US" b="1" dirty="0">
                <a:solidFill>
                  <a:srgbClr val="C00000"/>
                </a:solidFill>
                <a:latin typeface="Tahoma" pitchFamily="34" charset="0"/>
                <a:cs typeface="Tahoma" pitchFamily="34" charset="0"/>
              </a:rPr>
              <a:t>my view</a:t>
            </a:r>
            <a:r>
              <a:rPr lang="en-US" altLang="en-US" dirty="0">
                <a:latin typeface="Tahoma" pitchFamily="34" charset="0"/>
                <a:cs typeface="Tahoma" pitchFamily="34" charset="0"/>
              </a:rPr>
              <a:t>)</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Statistically, diet is largely a type of multivariate compositional data</a:t>
            </a:r>
          </a:p>
          <a:p>
            <a:pPr eaLnBrk="1" hangingPunct="1">
              <a:buClr>
                <a:srgbClr val="0000CC"/>
              </a:buClr>
              <a:buSzPct val="150000"/>
            </a:pPr>
            <a:endParaRPr lang="en-US" altLang="en-US" dirty="0">
              <a:latin typeface="Tahoma" pitchFamily="34" charset="0"/>
              <a:cs typeface="Tahoma"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8C11EFD2-41EC-A929-9756-D9BBB815A9AA}"/>
              </a:ext>
            </a:extLst>
          </p:cNvPr>
          <p:cNvSpPr>
            <a:spLocks noGrp="1"/>
          </p:cNvSpPr>
          <p:nvPr>
            <p:ph type="sldNum" sz="quarter" idx="11"/>
          </p:nvPr>
        </p:nvSpPr>
        <p:spPr/>
        <p:txBody>
          <a:bodyPr/>
          <a:lstStyle/>
          <a:p>
            <a:pPr>
              <a:defRPr/>
            </a:pPr>
            <a:fld id="{3409ADA3-42B3-456B-8472-9BD85CC2F264}" type="slidenum">
              <a:rPr lang="en-US" smtClean="0"/>
              <a:pPr>
                <a:defRPr/>
              </a:pPr>
              <a:t>25</a:t>
            </a:fld>
            <a:endParaRPr lang="en-US"/>
          </a:p>
        </p:txBody>
      </p:sp>
    </p:spTree>
    <p:extLst>
      <p:ext uri="{BB962C8B-B14F-4D97-AF65-F5344CB8AC3E}">
        <p14:creationId xmlns:p14="http://schemas.microsoft.com/office/powerpoint/2010/main" val="92379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Big Picture Miracles: Dietary Patterns</a:t>
            </a:r>
          </a:p>
        </p:txBody>
      </p:sp>
      <p:sp>
        <p:nvSpPr>
          <p:cNvPr id="23555" name="Rectangle 3"/>
          <p:cNvSpPr>
            <a:spLocks noGrp="1" noChangeArrowheads="1"/>
          </p:cNvSpPr>
          <p:nvPr>
            <p:ph type="body" idx="1"/>
          </p:nvPr>
        </p:nvSpPr>
        <p:spPr>
          <a:xfrm>
            <a:off x="457200" y="914400"/>
            <a:ext cx="8229600" cy="3200399"/>
          </a:xfrm>
        </p:spPr>
        <p:txBody>
          <a:bodyPr/>
          <a:lstStyle/>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Imagine that it is hard to change one’s energy (caloric) intake for long periods of time</a:t>
            </a:r>
          </a:p>
          <a:p>
            <a:pPr marL="0" indent="0" eaLnBrk="1" hangingPunct="1">
              <a:buClr>
                <a:srgbClr val="0000CC"/>
              </a:buClr>
              <a:buSzPct val="150000"/>
              <a:buNone/>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 know that this is simplistic, but it a good starting point</a:t>
            </a:r>
          </a:p>
          <a:p>
            <a:pPr eaLnBrk="1" hangingPunct="1">
              <a:buClr>
                <a:srgbClr val="0000CC"/>
              </a:buClr>
              <a:buSzPct val="150000"/>
            </a:pPr>
            <a:endParaRPr lang="en-US" altLang="en-US" dirty="0">
              <a:latin typeface="Tahoma" pitchFamily="34" charset="0"/>
              <a:cs typeface="Tahoma" pitchFamily="34" charset="0"/>
            </a:endParaRP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58973AE7-0EAF-BF5D-3F76-D6C3C96A5930}"/>
              </a:ext>
            </a:extLst>
          </p:cNvPr>
          <p:cNvSpPr>
            <a:spLocks noGrp="1"/>
          </p:cNvSpPr>
          <p:nvPr>
            <p:ph type="sldNum" sz="quarter" idx="11"/>
          </p:nvPr>
        </p:nvSpPr>
        <p:spPr/>
        <p:txBody>
          <a:bodyPr/>
          <a:lstStyle/>
          <a:p>
            <a:pPr>
              <a:defRPr/>
            </a:pPr>
            <a:fld id="{3409ADA3-42B3-456B-8472-9BD85CC2F264}" type="slidenum">
              <a:rPr lang="en-US" smtClean="0"/>
              <a:pPr>
                <a:defRPr/>
              </a:pPr>
              <a:t>26</a:t>
            </a:fld>
            <a:endParaRPr lang="en-US"/>
          </a:p>
        </p:txBody>
      </p:sp>
      <p:sp>
        <p:nvSpPr>
          <p:cNvPr id="3" name="TextBox 2">
            <a:extLst>
              <a:ext uri="{FF2B5EF4-FFF2-40B4-BE49-F238E27FC236}">
                <a16:creationId xmlns:a16="http://schemas.microsoft.com/office/drawing/2014/main" id="{186E4597-94EA-AF8C-2941-05DB427D2FDF}"/>
              </a:ext>
            </a:extLst>
          </p:cNvPr>
          <p:cNvSpPr txBox="1"/>
          <p:nvPr/>
        </p:nvSpPr>
        <p:spPr>
          <a:xfrm>
            <a:off x="8022934" y="6400800"/>
            <a:ext cx="1327731" cy="461665"/>
          </a:xfrm>
          <a:prstGeom prst="rect">
            <a:avLst/>
          </a:prstGeom>
          <a:noFill/>
        </p:spPr>
        <p:txBody>
          <a:bodyPr wrap="square" rtlCol="0">
            <a:spAutoFit/>
          </a:bodyPr>
          <a:lstStyle/>
          <a:p>
            <a:r>
              <a:rPr lang="en-US" dirty="0"/>
              <a:t>20</a:t>
            </a:r>
          </a:p>
        </p:txBody>
      </p:sp>
    </p:spTree>
    <p:extLst>
      <p:ext uri="{BB962C8B-B14F-4D97-AF65-F5344CB8AC3E}">
        <p14:creationId xmlns:p14="http://schemas.microsoft.com/office/powerpoint/2010/main" val="39775164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Big Picture Miracles: Dietary Patterns</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In that case, if you decrease your saturated fat intake, something else needs to increase to keep energy intake more or less the same</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This is compositional data, of a sort (I do not want to do the technical definition)</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Nutritionists have long recognized this (without the buzz word), and I have heard it called a substitution effect</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0602293C-3635-B967-5CB7-64F03E043FCE}"/>
              </a:ext>
            </a:extLst>
          </p:cNvPr>
          <p:cNvSpPr>
            <a:spLocks noGrp="1"/>
          </p:cNvSpPr>
          <p:nvPr>
            <p:ph type="sldNum" sz="quarter" idx="11"/>
          </p:nvPr>
        </p:nvSpPr>
        <p:spPr/>
        <p:txBody>
          <a:bodyPr/>
          <a:lstStyle/>
          <a:p>
            <a:pPr>
              <a:defRPr/>
            </a:pPr>
            <a:fld id="{3409ADA3-42B3-456B-8472-9BD85CC2F264}" type="slidenum">
              <a:rPr lang="en-US" smtClean="0"/>
              <a:pPr>
                <a:defRPr/>
              </a:pPr>
              <a:t>27</a:t>
            </a:fld>
            <a:endParaRPr lang="en-US"/>
          </a:p>
        </p:txBody>
      </p:sp>
    </p:spTree>
    <p:extLst>
      <p:ext uri="{BB962C8B-B14F-4D97-AF65-F5344CB8AC3E}">
        <p14:creationId xmlns:p14="http://schemas.microsoft.com/office/powerpoint/2010/main" val="463593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Big Picture Miracles: Dietary Patterns</a:t>
            </a:r>
          </a:p>
        </p:txBody>
      </p:sp>
      <p:sp>
        <p:nvSpPr>
          <p:cNvPr id="23555" name="Rectangle 3"/>
          <p:cNvSpPr>
            <a:spLocks noGrp="1" noChangeArrowheads="1"/>
          </p:cNvSpPr>
          <p:nvPr>
            <p:ph type="body" idx="1"/>
          </p:nvPr>
        </p:nvSpPr>
        <p:spPr>
          <a:xfrm>
            <a:off x="457200" y="914400"/>
            <a:ext cx="8229600" cy="5867400"/>
          </a:xfrm>
        </p:spPr>
        <p:txBody>
          <a:bodyPr/>
          <a:lstStyle/>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There are subsequently a fair number of diet indices that account for lots of things in diets, not just one magic bullet at a time</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The one I know best is the Healthy Eating Index (HEI, before 2005, 2005, 2010, 2015, 2020, …)</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 It is based on dietary guidelines put out by the USDA</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A831D8DE-66A9-5FFA-CAE6-FC0F52F5C72F}"/>
              </a:ext>
            </a:extLst>
          </p:cNvPr>
          <p:cNvSpPr>
            <a:spLocks noGrp="1"/>
          </p:cNvSpPr>
          <p:nvPr>
            <p:ph type="sldNum" sz="quarter" idx="11"/>
          </p:nvPr>
        </p:nvSpPr>
        <p:spPr/>
        <p:txBody>
          <a:bodyPr/>
          <a:lstStyle/>
          <a:p>
            <a:pPr>
              <a:defRPr/>
            </a:pPr>
            <a:fld id="{3409ADA3-42B3-456B-8472-9BD85CC2F264}" type="slidenum">
              <a:rPr lang="en-US" smtClean="0"/>
              <a:pPr>
                <a:defRPr/>
              </a:pPr>
              <a:t>28</a:t>
            </a:fld>
            <a:endParaRPr lang="en-US"/>
          </a:p>
        </p:txBody>
      </p:sp>
    </p:spTree>
    <p:extLst>
      <p:ext uri="{BB962C8B-B14F-4D97-AF65-F5344CB8AC3E}">
        <p14:creationId xmlns:p14="http://schemas.microsoft.com/office/powerpoint/2010/main" val="2469249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The Healthy Eating Index - 2005</a:t>
            </a:r>
          </a:p>
        </p:txBody>
      </p:sp>
      <p:sp>
        <p:nvSpPr>
          <p:cNvPr id="32771"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 HEI-2005 (</a:t>
            </a:r>
            <a:r>
              <a:rPr lang="en-US" altLang="en-US" b="1" dirty="0">
                <a:solidFill>
                  <a:srgbClr val="C00000"/>
                </a:solidFill>
                <a:latin typeface="Tahoma" pitchFamily="34" charset="0"/>
                <a:cs typeface="Tahoma" pitchFamily="34" charset="0"/>
              </a:rPr>
              <a:t>I have the data</a:t>
            </a:r>
            <a:r>
              <a:rPr lang="en-US" altLang="en-US" dirty="0">
                <a:latin typeface="Tahoma" pitchFamily="34" charset="0"/>
                <a:cs typeface="Tahoma" pitchFamily="34" charset="0"/>
              </a:rPr>
              <a:t>) is a composite score that is based on the USDA-2005 Dietary Guidelines</a:t>
            </a:r>
          </a:p>
          <a:p>
            <a:pPr eaLnBrk="1" hangingPunct="1">
              <a:buClr>
                <a:srgbClr val="0000CC"/>
              </a:buClr>
              <a:buSzPct val="150000"/>
            </a:pPr>
            <a:r>
              <a:rPr lang="en-US" altLang="en-US" dirty="0">
                <a:latin typeface="Tahoma" pitchFamily="34" charset="0"/>
                <a:cs typeface="Tahoma" pitchFamily="34" charset="0"/>
              </a:rPr>
              <a:t>It is a multi-component dietary quality index involving ratios of interrelated dietary components to energy (calories): compositional data</a:t>
            </a:r>
          </a:p>
          <a:p>
            <a:pPr eaLnBrk="1" hangingPunct="1">
              <a:buClr>
                <a:srgbClr val="0000CC"/>
              </a:buClr>
              <a:buSzPct val="150000"/>
            </a:pPr>
            <a:r>
              <a:rPr lang="en-US" altLang="en-US" dirty="0">
                <a:latin typeface="Tahoma" pitchFamily="34" charset="0"/>
                <a:cs typeface="Tahoma" pitchFamily="34" charset="0"/>
              </a:rPr>
              <a:t>It ranges from 0 to 100, with higher scores better</a:t>
            </a:r>
          </a:p>
          <a:p>
            <a:pPr eaLnBrk="1" hangingPunct="1">
              <a:buFontTx/>
              <a:buNone/>
            </a:pPr>
            <a:r>
              <a:rPr lang="en-US" altLang="en-US" dirty="0">
                <a:latin typeface="Tahoma" pitchFamily="34" charset="0"/>
                <a:cs typeface="Tahoma" pitchFamily="34" charset="0"/>
              </a:rPr>
              <a:t>	</a:t>
            </a:r>
            <a:endParaRPr lang="en-US" altLang="en-US" dirty="0">
              <a:latin typeface="Tahoma" pitchFamily="34" charset="0"/>
            </a:endParaRPr>
          </a:p>
        </p:txBody>
      </p:sp>
      <p:sp>
        <p:nvSpPr>
          <p:cNvPr id="32772"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74C3AC03-BD14-F894-AFA5-5FE7EDCAB10C}"/>
              </a:ext>
            </a:extLst>
          </p:cNvPr>
          <p:cNvSpPr>
            <a:spLocks noGrp="1"/>
          </p:cNvSpPr>
          <p:nvPr>
            <p:ph type="sldNum" sz="quarter" idx="11"/>
          </p:nvPr>
        </p:nvSpPr>
        <p:spPr/>
        <p:txBody>
          <a:bodyPr/>
          <a:lstStyle/>
          <a:p>
            <a:pPr>
              <a:defRPr/>
            </a:pPr>
            <a:fld id="{3409ADA3-42B3-456B-8472-9BD85CC2F264}"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3794" name="Picture 8" descr="HEI.tiff"/>
          <p:cNvPicPr>
            <a:picLocks noChangeAspect="1"/>
          </p:cNvPicPr>
          <p:nvPr/>
        </p:nvPicPr>
        <p:blipFill>
          <a:blip r:embed="rId2">
            <a:extLst>
              <a:ext uri="{28A0092B-C50C-407E-A947-70E740481C1C}">
                <a14:useLocalDpi xmlns:a14="http://schemas.microsoft.com/office/drawing/2010/main" val="0"/>
              </a:ext>
            </a:extLst>
          </a:blip>
          <a:srcRect l="2596" r="52" b="84444"/>
          <a:stretch>
            <a:fillRect/>
          </a:stretch>
        </p:blipFill>
        <p:spPr bwMode="auto">
          <a:xfrm>
            <a:off x="647700" y="0"/>
            <a:ext cx="7772400"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p:cNvSpPr txBox="1"/>
          <p:nvPr/>
        </p:nvSpPr>
        <p:spPr>
          <a:xfrm>
            <a:off x="609600" y="990600"/>
            <a:ext cx="7864475" cy="1143000"/>
          </a:xfrm>
          <a:prstGeom prst="rect">
            <a:avLst/>
          </a:prstGeom>
          <a:solidFill>
            <a:schemeClr val="bg1"/>
          </a:solidFill>
        </p:spPr>
        <p:txBody>
          <a:bodyPr/>
          <a:lstStyle/>
          <a:p>
            <a:pPr>
              <a:defRPr/>
            </a:pPr>
            <a:r>
              <a:rPr lang="en-US" sz="1050" b="1" cap="small" dirty="0">
                <a:solidFill>
                  <a:srgbClr val="003399"/>
                </a:solidFill>
                <a:ea typeface="+mj-ea"/>
                <a:cs typeface="Times New Roman" pitchFamily="18" charset="0"/>
              </a:rPr>
              <a:t>The Healthy Eating Index</a:t>
            </a:r>
            <a:r>
              <a:rPr lang="en-US" sz="1050" b="1" dirty="0">
                <a:solidFill>
                  <a:srgbClr val="003399"/>
                </a:solidFill>
                <a:ea typeface="+mj-ea"/>
                <a:cs typeface="Times New Roman" pitchFamily="18" charset="0"/>
              </a:rPr>
              <a:t> (HEI) </a:t>
            </a:r>
            <a:r>
              <a:rPr lang="en-US" sz="1050" dirty="0">
                <a:ea typeface="+mj-ea"/>
                <a:cs typeface="Times New Roman" pitchFamily="18" charset="0"/>
              </a:rPr>
              <a:t>is a measure of diet quality that assesses conformance to Federal dietary guidance. The original HEI was created by the U.S. Department of Agriculture (USDA) in 1995. Release of new Dietary Guidelines for Americans in 2005 motivated a revision of the HEI. The food group standards are based on the recommendations found in My Pyramid (see Britten </a:t>
            </a:r>
            <a:r>
              <a:rPr lang="en-US" sz="1050" i="1" dirty="0">
                <a:ea typeface="+mj-ea"/>
                <a:cs typeface="Times New Roman" pitchFamily="18" charset="0"/>
              </a:rPr>
              <a:t>et al.</a:t>
            </a:r>
            <a:r>
              <a:rPr lang="en-US" sz="1050" dirty="0">
                <a:ea typeface="+mj-ea"/>
                <a:cs typeface="Times New Roman" pitchFamily="18" charset="0"/>
              </a:rPr>
              <a:t>, </a:t>
            </a:r>
            <a:r>
              <a:rPr lang="en-US" sz="1050" i="1" dirty="0">
                <a:ea typeface="+mj-ea"/>
                <a:cs typeface="Times New Roman" pitchFamily="18" charset="0"/>
              </a:rPr>
              <a:t>Journal of Nutrition Education and Behavior</a:t>
            </a:r>
            <a:r>
              <a:rPr lang="en-US" sz="1050" dirty="0">
                <a:ea typeface="+mj-ea"/>
                <a:cs typeface="Times New Roman" pitchFamily="18" charset="0"/>
              </a:rPr>
              <a:t> 38(6S) S78-S92). The standards were created using a density approach, that is, they are expressed as a percent of calorie or per 1,000 calories. The components of the HEI-2005 and the scoring standards are shown below.</a:t>
            </a:r>
          </a:p>
        </p:txBody>
      </p:sp>
      <p:graphicFrame>
        <p:nvGraphicFramePr>
          <p:cNvPr id="11" name="Table 10"/>
          <p:cNvGraphicFramePr>
            <a:graphicFrameLocks noGrp="1"/>
          </p:cNvGraphicFramePr>
          <p:nvPr/>
        </p:nvGraphicFramePr>
        <p:xfrm>
          <a:off x="647700" y="1905000"/>
          <a:ext cx="7772401" cy="4359277"/>
        </p:xfrm>
        <a:graphic>
          <a:graphicData uri="http://schemas.openxmlformats.org/drawingml/2006/table">
            <a:tbl>
              <a:tblPr firstRow="1" bandRow="1">
                <a:tableStyleId>{3B4B98B0-60AC-42C2-AFA5-B58CD77FA1E5}</a:tableStyleId>
              </a:tblPr>
              <a:tblGrid>
                <a:gridCol w="28575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1790701">
                  <a:extLst>
                    <a:ext uri="{9D8B030D-6E8A-4147-A177-3AD203B41FA5}">
                      <a16:colId xmlns:a16="http://schemas.microsoft.com/office/drawing/2014/main" val="20003"/>
                    </a:ext>
                  </a:extLst>
                </a:gridCol>
              </a:tblGrid>
              <a:tr h="370894">
                <a:tc gridSpan="4">
                  <a:txBody>
                    <a:bodyPr/>
                    <a:lstStyle/>
                    <a:p>
                      <a:r>
                        <a:rPr lang="en-US" sz="1100" dirty="0">
                          <a:solidFill>
                            <a:schemeClr val="bg1"/>
                          </a:solidFill>
                          <a:latin typeface="Arial" pitchFamily="34" charset="0"/>
                          <a:cs typeface="Arial" pitchFamily="34" charset="0"/>
                        </a:rPr>
                        <a:t>Health Eating Index–2005 component</a:t>
                      </a:r>
                      <a:r>
                        <a:rPr lang="en-US" sz="1100" baseline="0" dirty="0">
                          <a:solidFill>
                            <a:schemeClr val="bg1"/>
                          </a:solidFill>
                          <a:latin typeface="Arial" pitchFamily="34" charset="0"/>
                          <a:cs typeface="Arial" pitchFamily="34" charset="0"/>
                        </a:rPr>
                        <a:t> and standards for scoring</a:t>
                      </a:r>
                      <a:endParaRPr lang="en-US" sz="1100" dirty="0">
                        <a:solidFill>
                          <a:schemeClr val="bg1"/>
                        </a:solidFill>
                        <a:latin typeface="Arial" pitchFamily="34" charset="0"/>
                        <a:cs typeface="Arial" pitchFamily="34" charset="0"/>
                      </a:endParaRPr>
                    </a:p>
                  </a:txBody>
                  <a:tcPr marT="45727" marB="45727" anchor="b">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solidFill>
                      <a:schemeClr val="tx2"/>
                    </a:solidFill>
                  </a:tcPr>
                </a:tc>
                <a:tc hMerge="1">
                  <a:txBody>
                    <a:bodyPr/>
                    <a:lstStyle/>
                    <a:p>
                      <a:pPr algn="ctr"/>
                      <a:endParaRPr lang="en-US" sz="850" dirty="0">
                        <a:solidFill>
                          <a:schemeClr val="tx1"/>
                        </a:solidFill>
                        <a:latin typeface="Times New Roman" pitchFamily="18" charset="0"/>
                        <a:cs typeface="Times New Roman" pitchFamily="18" charset="0"/>
                      </a:endParaRPr>
                    </a:p>
                  </a:txBody>
                  <a:tcPr anchor="b"/>
                </a:tc>
                <a:tc hMerge="1">
                  <a:txBody>
                    <a:bodyPr/>
                    <a:lstStyle/>
                    <a:p>
                      <a:pPr algn="ctr"/>
                      <a:endParaRPr lang="en-US" sz="850" dirty="0">
                        <a:solidFill>
                          <a:schemeClr val="tx1"/>
                        </a:solidFill>
                        <a:latin typeface="Times New Roman" pitchFamily="18" charset="0"/>
                        <a:cs typeface="Times New Roman" pitchFamily="18" charset="0"/>
                      </a:endParaRPr>
                    </a:p>
                  </a:txBody>
                  <a:tcPr anchor="b"/>
                </a:tc>
                <a:tc hMerge="1">
                  <a:txBody>
                    <a:bodyPr/>
                    <a:lstStyle/>
                    <a:p>
                      <a:pPr algn="ctr"/>
                      <a:endParaRPr lang="en-US" sz="850" dirty="0">
                        <a:solidFill>
                          <a:schemeClr val="tx1"/>
                        </a:solidFill>
                        <a:latin typeface="Times New Roman" pitchFamily="18" charset="0"/>
                        <a:cs typeface="Times New Roman" pitchFamily="18" charset="0"/>
                      </a:endParaRPr>
                    </a:p>
                  </a:txBody>
                  <a:tcPr anchor="b"/>
                </a:tc>
                <a:extLst>
                  <a:ext uri="{0D108BD9-81ED-4DB2-BD59-A6C34878D82A}">
                    <a16:rowId xmlns:a16="http://schemas.microsoft.com/office/drawing/2014/main" val="10000"/>
                  </a:ext>
                </a:extLst>
              </a:tr>
              <a:tr h="116857">
                <a:tc>
                  <a:txBody>
                    <a:bodyPr/>
                    <a:lstStyle/>
                    <a:p>
                      <a:pPr>
                        <a:lnSpc>
                          <a:spcPts val="50"/>
                        </a:lnSpc>
                      </a:pPr>
                      <a:endParaRPr lang="en-US" sz="100" b="1" dirty="0">
                        <a:solidFill>
                          <a:schemeClr val="tx1"/>
                        </a:solidFill>
                        <a:latin typeface="Times New Roman" pitchFamily="18" charset="0"/>
                        <a:cs typeface="Times New Roman" pitchFamily="18" charset="0"/>
                      </a:endParaRPr>
                    </a:p>
                  </a:txBody>
                  <a:tcPr marT="45727" marB="45727" anchor="b">
                    <a:lnL w="12700" cap="flat" cmpd="sng" algn="ctr">
                      <a:solidFill>
                        <a:schemeClr val="tx2"/>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lnSpc>
                          <a:spcPts val="50"/>
                        </a:lnSpc>
                      </a:pPr>
                      <a:endParaRPr lang="en-US" sz="100" b="1" dirty="0">
                        <a:solidFill>
                          <a:schemeClr val="tx1"/>
                        </a:solidFill>
                        <a:latin typeface="Times New Roman" pitchFamily="18" charset="0"/>
                        <a:cs typeface="Times New Roman" pitchFamily="18" charset="0"/>
                      </a:endParaRPr>
                    </a:p>
                  </a:txBody>
                  <a:tcPr marT="45727" marB="45727" anchor="b">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lnSpc>
                          <a:spcPts val="50"/>
                        </a:lnSpc>
                      </a:pPr>
                      <a:endParaRPr lang="en-US" sz="100" b="1" dirty="0">
                        <a:solidFill>
                          <a:schemeClr val="tx1"/>
                        </a:solidFill>
                        <a:latin typeface="Times New Roman" pitchFamily="18" charset="0"/>
                        <a:cs typeface="Times New Roman" pitchFamily="18" charset="0"/>
                      </a:endParaRPr>
                    </a:p>
                  </a:txBody>
                  <a:tcPr marT="45727" marB="45727" anchor="b">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lnSpc>
                          <a:spcPts val="50"/>
                        </a:lnSpc>
                      </a:pPr>
                      <a:endParaRPr lang="en-US" sz="100" b="1" dirty="0">
                        <a:solidFill>
                          <a:schemeClr val="tx1"/>
                        </a:solidFill>
                        <a:latin typeface="Times New Roman" pitchFamily="18" charset="0"/>
                        <a:cs typeface="Times New Roman" pitchFamily="18" charset="0"/>
                      </a:endParaRPr>
                    </a:p>
                  </a:txBody>
                  <a:tcPr marT="45727" marB="45727" anchor="b">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1"/>
                  </a:ext>
                </a:extLst>
              </a:tr>
              <a:tr h="426782">
                <a:tc>
                  <a:txBody>
                    <a:bodyPr/>
                    <a:lstStyle/>
                    <a:p>
                      <a:r>
                        <a:rPr lang="en-US" sz="1100" b="1" dirty="0">
                          <a:latin typeface="Times New Roman" pitchFamily="18" charset="0"/>
                          <a:cs typeface="Times New Roman" pitchFamily="18" charset="0"/>
                        </a:rPr>
                        <a:t>Component</a:t>
                      </a:r>
                      <a:endParaRPr lang="en-US" sz="1100" b="1" dirty="0">
                        <a:solidFill>
                          <a:schemeClr val="tx1"/>
                        </a:solidFill>
                        <a:latin typeface="Times New Roman" pitchFamily="18" charset="0"/>
                        <a:cs typeface="Times New Roman" pitchFamily="18" charset="0"/>
                      </a:endParaRPr>
                    </a:p>
                  </a:txBody>
                  <a:tcPr marT="45727" marB="45727" anchor="b">
                    <a:lnL w="12700" cap="flat" cmpd="sng" algn="ctr">
                      <a:solidFill>
                        <a:schemeClr val="tx2"/>
                      </a:solid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n-US" sz="1100" b="1" dirty="0">
                          <a:latin typeface="Times New Roman" pitchFamily="18" charset="0"/>
                          <a:cs typeface="Times New Roman" pitchFamily="18" charset="0"/>
                        </a:rPr>
                        <a:t>Maximum </a:t>
                      </a:r>
                      <a:br>
                        <a:rPr lang="en-US" sz="1100" b="1" dirty="0">
                          <a:latin typeface="Times New Roman" pitchFamily="18" charset="0"/>
                          <a:cs typeface="Times New Roman" pitchFamily="18" charset="0"/>
                        </a:rPr>
                      </a:br>
                      <a:r>
                        <a:rPr lang="en-US" sz="1100" b="1" dirty="0">
                          <a:latin typeface="Times New Roman" pitchFamily="18" charset="0"/>
                          <a:cs typeface="Times New Roman" pitchFamily="18" charset="0"/>
                        </a:rPr>
                        <a:t>points</a:t>
                      </a:r>
                      <a:endParaRPr lang="en-US" sz="1100" b="1" dirty="0">
                        <a:solidFill>
                          <a:schemeClr val="tx1"/>
                        </a:solidFill>
                        <a:latin typeface="Times New Roman" pitchFamily="18" charset="0"/>
                        <a:cs typeface="Times New Roman" pitchFamily="18" charset="0"/>
                      </a:endParaRPr>
                    </a:p>
                  </a:txBody>
                  <a:tcPr marT="45727" marB="45727" anchor="b">
                    <a:lnT w="12700" cap="flat" cmpd="sng" algn="ctr">
                      <a:noFill/>
                      <a:prstDash val="solid"/>
                      <a:round/>
                      <a:headEnd type="none" w="med" len="med"/>
                      <a:tailEnd type="none" w="med" len="med"/>
                    </a:lnT>
                  </a:tcPr>
                </a:tc>
                <a:tc>
                  <a:txBody>
                    <a:bodyPr/>
                    <a:lstStyle/>
                    <a:p>
                      <a:pPr algn="ctr"/>
                      <a:r>
                        <a:rPr lang="en-US" sz="1100" b="1" dirty="0">
                          <a:latin typeface="Times New Roman" pitchFamily="18" charset="0"/>
                          <a:cs typeface="Times New Roman" pitchFamily="18" charset="0"/>
                        </a:rPr>
                        <a:t>Standard for </a:t>
                      </a:r>
                      <a:br>
                        <a:rPr lang="en-US" sz="1100" b="1" dirty="0">
                          <a:latin typeface="Times New Roman" pitchFamily="18" charset="0"/>
                          <a:cs typeface="Times New Roman" pitchFamily="18" charset="0"/>
                        </a:rPr>
                      </a:br>
                      <a:r>
                        <a:rPr lang="en-US" sz="1100" b="1" dirty="0">
                          <a:latin typeface="Times New Roman" pitchFamily="18" charset="0"/>
                          <a:cs typeface="Times New Roman" pitchFamily="18" charset="0"/>
                        </a:rPr>
                        <a:t>maximum score</a:t>
                      </a:r>
                      <a:endParaRPr lang="en-US" sz="1100" b="1" dirty="0">
                        <a:solidFill>
                          <a:schemeClr val="tx1"/>
                        </a:solidFill>
                        <a:latin typeface="Times New Roman" pitchFamily="18" charset="0"/>
                        <a:cs typeface="Times New Roman" pitchFamily="18" charset="0"/>
                      </a:endParaRPr>
                    </a:p>
                  </a:txBody>
                  <a:tcPr marT="45727" marB="45727" anchor="b">
                    <a:lnT w="12700" cap="flat" cmpd="sng" algn="ctr">
                      <a:noFill/>
                      <a:prstDash val="solid"/>
                      <a:round/>
                      <a:headEnd type="none" w="med" len="med"/>
                      <a:tailEnd type="none" w="med" len="med"/>
                    </a:lnT>
                  </a:tcPr>
                </a:tc>
                <a:tc>
                  <a:txBody>
                    <a:bodyPr/>
                    <a:lstStyle/>
                    <a:p>
                      <a:pPr algn="ctr"/>
                      <a:r>
                        <a:rPr lang="en-US" sz="1100" b="1" dirty="0">
                          <a:latin typeface="Times New Roman" pitchFamily="18" charset="0"/>
                          <a:cs typeface="Times New Roman" pitchFamily="18" charset="0"/>
                        </a:rPr>
                        <a:t>Standard for </a:t>
                      </a:r>
                      <a:br>
                        <a:rPr lang="en-US" sz="1100" b="1" dirty="0">
                          <a:latin typeface="Times New Roman" pitchFamily="18" charset="0"/>
                          <a:cs typeface="Times New Roman" pitchFamily="18" charset="0"/>
                        </a:rPr>
                      </a:br>
                      <a:r>
                        <a:rPr lang="en-US" sz="1100" b="1" dirty="0">
                          <a:latin typeface="Times New Roman" pitchFamily="18" charset="0"/>
                          <a:cs typeface="Times New Roman" pitchFamily="18" charset="0"/>
                        </a:rPr>
                        <a:t>minimum score of zero</a:t>
                      </a:r>
                      <a:endParaRPr lang="en-US" sz="1100" b="1" dirty="0">
                        <a:solidFill>
                          <a:schemeClr val="tx1"/>
                        </a:solidFill>
                        <a:latin typeface="Times New Roman" pitchFamily="18" charset="0"/>
                        <a:cs typeface="Times New Roman" pitchFamily="18" charset="0"/>
                      </a:endParaRPr>
                    </a:p>
                  </a:txBody>
                  <a:tcPr marT="45727" marB="45727" anchor="b">
                    <a:lnR w="12700" cap="flat" cmpd="sng" algn="ctr">
                      <a:solidFill>
                        <a:schemeClr val="tx2"/>
                      </a:solid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0002"/>
                  </a:ext>
                </a:extLst>
              </a:tr>
              <a:tr h="259118">
                <a:tc>
                  <a:txBody>
                    <a:bodyPr/>
                    <a:lstStyle/>
                    <a:p>
                      <a:r>
                        <a:rPr lang="en-US" sz="1100" dirty="0">
                          <a:latin typeface="Times New Roman" pitchFamily="18" charset="0"/>
                          <a:cs typeface="Times New Roman" pitchFamily="18" charset="0"/>
                        </a:rPr>
                        <a:t>Total Fruit (includes 100% juice)</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5</a:t>
                      </a:r>
                    </a:p>
                  </a:txBody>
                  <a:tcPr marT="45727" marB="45727" anchor="b"/>
                </a:tc>
                <a:tc>
                  <a:txBody>
                    <a:bodyPr/>
                    <a:lstStyle/>
                    <a:p>
                      <a:r>
                        <a:rPr lang="en-US" sz="1100" dirty="0">
                          <a:latin typeface="Times New Roman" pitchFamily="18" charset="0"/>
                          <a:cs typeface="Times New Roman" pitchFamily="18" charset="0"/>
                        </a:rPr>
                        <a:t>≥0.8 cup equiv. per 1,000 kcal</a:t>
                      </a:r>
                    </a:p>
                  </a:txBody>
                  <a:tcPr marT="45727" marB="45727" anchor="b"/>
                </a:tc>
                <a:tc>
                  <a:txBody>
                    <a:bodyPr/>
                    <a:lstStyle/>
                    <a:p>
                      <a:r>
                        <a:rPr lang="en-US" sz="1100" dirty="0">
                          <a:latin typeface="Times New Roman" pitchFamily="18" charset="0"/>
                          <a:cs typeface="Times New Roman" pitchFamily="18" charset="0"/>
                        </a:rPr>
                        <a:t>No Fruit</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03"/>
                  </a:ext>
                </a:extLst>
              </a:tr>
              <a:tr h="259118">
                <a:tc>
                  <a:txBody>
                    <a:bodyPr/>
                    <a:lstStyle/>
                    <a:p>
                      <a:r>
                        <a:rPr lang="en-US" sz="1100" dirty="0">
                          <a:latin typeface="Times New Roman" pitchFamily="18" charset="0"/>
                          <a:cs typeface="Times New Roman" pitchFamily="18" charset="0"/>
                        </a:rPr>
                        <a:t>Whole Fruit</a:t>
                      </a:r>
                      <a:r>
                        <a:rPr lang="en-US" sz="1100" baseline="0" dirty="0">
                          <a:latin typeface="Times New Roman" pitchFamily="18" charset="0"/>
                          <a:cs typeface="Times New Roman" pitchFamily="18" charset="0"/>
                        </a:rPr>
                        <a:t> (not juice)</a:t>
                      </a:r>
                      <a:endParaRPr lang="en-US" sz="1100" dirty="0">
                        <a:latin typeface="Times New Roman" pitchFamily="18" charset="0"/>
                        <a:cs typeface="Times New Roman" pitchFamily="18" charset="0"/>
                      </a:endParaRP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5</a:t>
                      </a:r>
                    </a:p>
                  </a:txBody>
                  <a:tcPr marT="45727" marB="45727" anchor="b"/>
                </a:tc>
                <a:tc>
                  <a:txBody>
                    <a:bodyPr/>
                    <a:lstStyle/>
                    <a:p>
                      <a:r>
                        <a:rPr lang="en-US" sz="1100" dirty="0">
                          <a:latin typeface="Times New Roman" pitchFamily="18" charset="0"/>
                          <a:cs typeface="Times New Roman" pitchFamily="18" charset="0"/>
                        </a:rPr>
                        <a:t>≥0.4 cup equiv. per 1,000 kcal</a:t>
                      </a:r>
                    </a:p>
                  </a:txBody>
                  <a:tcPr marT="45727" marB="45727" anchor="b"/>
                </a:tc>
                <a:tc>
                  <a:txBody>
                    <a:bodyPr/>
                    <a:lstStyle/>
                    <a:p>
                      <a:r>
                        <a:rPr lang="en-US" sz="1100" dirty="0">
                          <a:latin typeface="Times New Roman" pitchFamily="18" charset="0"/>
                          <a:cs typeface="Times New Roman" pitchFamily="18" charset="0"/>
                        </a:rPr>
                        <a:t>No Whole Fruit</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04"/>
                  </a:ext>
                </a:extLst>
              </a:tr>
              <a:tr h="259118">
                <a:tc>
                  <a:txBody>
                    <a:bodyPr/>
                    <a:lstStyle/>
                    <a:p>
                      <a:r>
                        <a:rPr lang="en-US" sz="1100" dirty="0">
                          <a:latin typeface="Times New Roman" pitchFamily="18" charset="0"/>
                          <a:cs typeface="Times New Roman" pitchFamily="18" charset="0"/>
                        </a:rPr>
                        <a:t>Total Vegetables</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5</a:t>
                      </a:r>
                    </a:p>
                  </a:txBody>
                  <a:tcPr marT="45727" marB="45727" anchor="b"/>
                </a:tc>
                <a:tc>
                  <a:txBody>
                    <a:bodyPr/>
                    <a:lstStyle/>
                    <a:p>
                      <a:r>
                        <a:rPr lang="en-US" sz="1100" dirty="0">
                          <a:latin typeface="Times New Roman" pitchFamily="18" charset="0"/>
                          <a:cs typeface="Times New Roman" pitchFamily="18" charset="0"/>
                        </a:rPr>
                        <a:t>≥1.1 cup equiv.</a:t>
                      </a:r>
                      <a:r>
                        <a:rPr lang="en-US" sz="1100" baseline="0" dirty="0">
                          <a:latin typeface="Times New Roman" pitchFamily="18" charset="0"/>
                          <a:cs typeface="Times New Roman" pitchFamily="18" charset="0"/>
                        </a:rPr>
                        <a:t> per 1,000 kcal</a:t>
                      </a:r>
                      <a:endParaRPr lang="en-US" sz="1100" dirty="0">
                        <a:latin typeface="Times New Roman" pitchFamily="18" charset="0"/>
                        <a:cs typeface="Times New Roman" pitchFamily="18" charset="0"/>
                      </a:endParaRPr>
                    </a:p>
                  </a:txBody>
                  <a:tcPr marT="45727" marB="45727" anchor="b"/>
                </a:tc>
                <a:tc>
                  <a:txBody>
                    <a:bodyPr/>
                    <a:lstStyle/>
                    <a:p>
                      <a:r>
                        <a:rPr lang="en-US" sz="1100" dirty="0">
                          <a:latin typeface="Times New Roman" pitchFamily="18" charset="0"/>
                          <a:cs typeface="Times New Roman" pitchFamily="18" charset="0"/>
                        </a:rPr>
                        <a:t>No Vegetables</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05"/>
                  </a:ext>
                </a:extLst>
              </a:tr>
              <a:tr h="426782">
                <a:tc>
                  <a:txBody>
                    <a:bodyPr/>
                    <a:lstStyle/>
                    <a:p>
                      <a:r>
                        <a:rPr lang="en-US" sz="1100" dirty="0">
                          <a:latin typeface="Times New Roman" pitchFamily="18" charset="0"/>
                          <a:cs typeface="Times New Roman" pitchFamily="18" charset="0"/>
                        </a:rPr>
                        <a:t>Dark Green and Orange</a:t>
                      </a:r>
                      <a:r>
                        <a:rPr lang="en-US" sz="1100" baseline="0" dirty="0">
                          <a:latin typeface="Times New Roman" pitchFamily="18" charset="0"/>
                          <a:cs typeface="Times New Roman" pitchFamily="18" charset="0"/>
                        </a:rPr>
                        <a:t> Vegetables and Legumes</a:t>
                      </a:r>
                      <a:endParaRPr lang="en-US" sz="1100" dirty="0">
                        <a:latin typeface="Times New Roman" pitchFamily="18" charset="0"/>
                        <a:cs typeface="Times New Roman" pitchFamily="18" charset="0"/>
                      </a:endParaRP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5</a:t>
                      </a:r>
                    </a:p>
                  </a:txBody>
                  <a:tcPr marT="45727" marB="45727" anchor="b"/>
                </a:tc>
                <a:tc>
                  <a:txBody>
                    <a:bodyPr/>
                    <a:lstStyle/>
                    <a:p>
                      <a:r>
                        <a:rPr lang="en-US" sz="1100" dirty="0">
                          <a:latin typeface="Times New Roman" pitchFamily="18" charset="0"/>
                          <a:cs typeface="Times New Roman" pitchFamily="18" charset="0"/>
                        </a:rPr>
                        <a:t>≥0.4 cup equiv. per 1,000 kcal</a:t>
                      </a:r>
                    </a:p>
                  </a:txBody>
                  <a:tcPr marT="45727" marB="45727" anchor="b"/>
                </a:tc>
                <a:tc>
                  <a:txBody>
                    <a:bodyPr/>
                    <a:lstStyle/>
                    <a:p>
                      <a:r>
                        <a:rPr lang="en-US" sz="1100" dirty="0">
                          <a:latin typeface="Times New Roman" pitchFamily="18" charset="0"/>
                          <a:cs typeface="Times New Roman" pitchFamily="18" charset="0"/>
                        </a:rPr>
                        <a:t>No Dark Green or Orange</a:t>
                      </a:r>
                      <a:r>
                        <a:rPr lang="en-US" sz="1100" baseline="0" dirty="0">
                          <a:latin typeface="Times New Roman" pitchFamily="18" charset="0"/>
                          <a:cs typeface="Times New Roman" pitchFamily="18" charset="0"/>
                        </a:rPr>
                        <a:t> Vegetables or Legumes</a:t>
                      </a:r>
                      <a:endParaRPr lang="en-US" sz="1100" dirty="0">
                        <a:latin typeface="Times New Roman" pitchFamily="18" charset="0"/>
                        <a:cs typeface="Times New Roman" pitchFamily="18" charset="0"/>
                      </a:endParaRP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06"/>
                  </a:ext>
                </a:extLst>
              </a:tr>
              <a:tr h="259118">
                <a:tc>
                  <a:txBody>
                    <a:bodyPr/>
                    <a:lstStyle/>
                    <a:p>
                      <a:r>
                        <a:rPr lang="en-US" sz="1100" dirty="0">
                          <a:latin typeface="Times New Roman" pitchFamily="18" charset="0"/>
                          <a:cs typeface="Times New Roman" pitchFamily="18" charset="0"/>
                        </a:rPr>
                        <a:t>Total Grains</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5</a:t>
                      </a:r>
                    </a:p>
                  </a:txBody>
                  <a:tcPr marT="45727" marB="45727" anchor="b"/>
                </a:tc>
                <a:tc>
                  <a:txBody>
                    <a:bodyPr/>
                    <a:lstStyle/>
                    <a:p>
                      <a:r>
                        <a:rPr lang="en-US" sz="1100" dirty="0">
                          <a:latin typeface="Times New Roman" pitchFamily="18" charset="0"/>
                          <a:cs typeface="Times New Roman" pitchFamily="18" charset="0"/>
                        </a:rPr>
                        <a:t>≥3.0 oz equiv. per 1,000</a:t>
                      </a:r>
                      <a:r>
                        <a:rPr lang="en-US" sz="1100" baseline="0" dirty="0">
                          <a:latin typeface="Times New Roman" pitchFamily="18" charset="0"/>
                          <a:cs typeface="Times New Roman" pitchFamily="18" charset="0"/>
                        </a:rPr>
                        <a:t> kcal</a:t>
                      </a:r>
                      <a:endParaRPr lang="en-US" sz="1100" dirty="0">
                        <a:latin typeface="Times New Roman" pitchFamily="18" charset="0"/>
                        <a:cs typeface="Times New Roman" pitchFamily="18" charset="0"/>
                      </a:endParaRPr>
                    </a:p>
                  </a:txBody>
                  <a:tcPr marT="45727" marB="45727" anchor="b"/>
                </a:tc>
                <a:tc>
                  <a:txBody>
                    <a:bodyPr/>
                    <a:lstStyle/>
                    <a:p>
                      <a:r>
                        <a:rPr lang="en-US" sz="1100" dirty="0">
                          <a:latin typeface="Times New Roman" pitchFamily="18" charset="0"/>
                          <a:cs typeface="Times New Roman" pitchFamily="18" charset="0"/>
                        </a:rPr>
                        <a:t>No Grains</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07"/>
                  </a:ext>
                </a:extLst>
              </a:tr>
              <a:tr h="259118">
                <a:tc>
                  <a:txBody>
                    <a:bodyPr/>
                    <a:lstStyle/>
                    <a:p>
                      <a:r>
                        <a:rPr lang="en-US" sz="1100" dirty="0">
                          <a:latin typeface="Times New Roman" pitchFamily="18" charset="0"/>
                          <a:cs typeface="Times New Roman" pitchFamily="18" charset="0"/>
                        </a:rPr>
                        <a:t>Whole Grains</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5</a:t>
                      </a:r>
                    </a:p>
                  </a:txBody>
                  <a:tcPr marT="45727" marB="45727" anchor="b"/>
                </a:tc>
                <a:tc>
                  <a:txBody>
                    <a:bodyPr/>
                    <a:lstStyle/>
                    <a:p>
                      <a:r>
                        <a:rPr lang="en-US" sz="1100" dirty="0">
                          <a:latin typeface="Times New Roman" pitchFamily="18" charset="0"/>
                          <a:cs typeface="Times New Roman" pitchFamily="18" charset="0"/>
                        </a:rPr>
                        <a:t>≥1.5 oz equiv. per 1,000 kcal</a:t>
                      </a:r>
                    </a:p>
                  </a:txBody>
                  <a:tcPr marT="45727" marB="45727" anchor="b"/>
                </a:tc>
                <a:tc>
                  <a:txBody>
                    <a:bodyPr/>
                    <a:lstStyle/>
                    <a:p>
                      <a:r>
                        <a:rPr lang="en-US" sz="1100" dirty="0">
                          <a:latin typeface="Times New Roman" pitchFamily="18" charset="0"/>
                          <a:cs typeface="Times New Roman" pitchFamily="18" charset="0"/>
                        </a:rPr>
                        <a:t>No Whole Grains</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08"/>
                  </a:ext>
                </a:extLst>
              </a:tr>
              <a:tr h="259118">
                <a:tc>
                  <a:txBody>
                    <a:bodyPr/>
                    <a:lstStyle/>
                    <a:p>
                      <a:r>
                        <a:rPr lang="en-US" sz="1100" dirty="0">
                          <a:latin typeface="Times New Roman" pitchFamily="18" charset="0"/>
                          <a:cs typeface="Times New Roman" pitchFamily="18" charset="0"/>
                        </a:rPr>
                        <a:t>Milk</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10</a:t>
                      </a:r>
                    </a:p>
                  </a:txBody>
                  <a:tcPr marT="45727" marB="45727" anchor="b"/>
                </a:tc>
                <a:tc>
                  <a:txBody>
                    <a:bodyPr/>
                    <a:lstStyle/>
                    <a:p>
                      <a:r>
                        <a:rPr lang="en-US" sz="1100" dirty="0">
                          <a:latin typeface="Times New Roman" pitchFamily="18" charset="0"/>
                          <a:cs typeface="Times New Roman" pitchFamily="18" charset="0"/>
                        </a:rPr>
                        <a:t>≥1.3 cup equiv. per 1,000 kcal</a:t>
                      </a:r>
                    </a:p>
                  </a:txBody>
                  <a:tcPr marT="45727" marB="45727" anchor="b"/>
                </a:tc>
                <a:tc>
                  <a:txBody>
                    <a:bodyPr/>
                    <a:lstStyle/>
                    <a:p>
                      <a:r>
                        <a:rPr lang="en-US" sz="1100" dirty="0">
                          <a:latin typeface="Times New Roman" pitchFamily="18" charset="0"/>
                          <a:cs typeface="Times New Roman" pitchFamily="18" charset="0"/>
                        </a:rPr>
                        <a:t>No Milk</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09"/>
                  </a:ext>
                </a:extLst>
              </a:tr>
              <a:tr h="259118">
                <a:tc>
                  <a:txBody>
                    <a:bodyPr/>
                    <a:lstStyle/>
                    <a:p>
                      <a:r>
                        <a:rPr lang="en-US" sz="1100" dirty="0">
                          <a:latin typeface="Times New Roman" pitchFamily="18" charset="0"/>
                          <a:cs typeface="Times New Roman" pitchFamily="18" charset="0"/>
                        </a:rPr>
                        <a:t>Meat and Beans</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10</a:t>
                      </a:r>
                    </a:p>
                  </a:txBody>
                  <a:tcPr marT="45727" marB="45727" anchor="b"/>
                </a:tc>
                <a:tc>
                  <a:txBody>
                    <a:bodyPr/>
                    <a:lstStyle/>
                    <a:p>
                      <a:r>
                        <a:rPr lang="en-US" sz="1100" dirty="0">
                          <a:latin typeface="Times New Roman" pitchFamily="18" charset="0"/>
                          <a:cs typeface="Times New Roman" pitchFamily="18" charset="0"/>
                        </a:rPr>
                        <a:t>≥2.5 oz equiv.</a:t>
                      </a:r>
                      <a:r>
                        <a:rPr lang="en-US" sz="1100" baseline="0" dirty="0">
                          <a:latin typeface="Times New Roman" pitchFamily="18" charset="0"/>
                          <a:cs typeface="Times New Roman" pitchFamily="18" charset="0"/>
                        </a:rPr>
                        <a:t> per 1,000 kcal</a:t>
                      </a:r>
                      <a:endParaRPr lang="en-US" sz="1100" dirty="0">
                        <a:latin typeface="Times New Roman" pitchFamily="18" charset="0"/>
                        <a:cs typeface="Times New Roman" pitchFamily="18" charset="0"/>
                      </a:endParaRPr>
                    </a:p>
                  </a:txBody>
                  <a:tcPr marT="45727" marB="45727" anchor="b"/>
                </a:tc>
                <a:tc>
                  <a:txBody>
                    <a:bodyPr/>
                    <a:lstStyle/>
                    <a:p>
                      <a:r>
                        <a:rPr lang="en-US" sz="1100" dirty="0">
                          <a:latin typeface="Times New Roman" pitchFamily="18" charset="0"/>
                          <a:cs typeface="Times New Roman" pitchFamily="18" charset="0"/>
                        </a:rPr>
                        <a:t>No Meat or Beans</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10"/>
                  </a:ext>
                </a:extLst>
              </a:tr>
              <a:tr h="259118">
                <a:tc>
                  <a:txBody>
                    <a:bodyPr/>
                    <a:lstStyle/>
                    <a:p>
                      <a:r>
                        <a:rPr lang="en-US" sz="1100" dirty="0">
                          <a:latin typeface="Times New Roman" pitchFamily="18" charset="0"/>
                          <a:cs typeface="Times New Roman" pitchFamily="18" charset="0"/>
                        </a:rPr>
                        <a:t>Oils</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10</a:t>
                      </a:r>
                    </a:p>
                  </a:txBody>
                  <a:tcPr marT="45727" marB="45727" anchor="b"/>
                </a:tc>
                <a:tc>
                  <a:txBody>
                    <a:bodyPr/>
                    <a:lstStyle/>
                    <a:p>
                      <a:r>
                        <a:rPr lang="en-US" sz="1100" dirty="0">
                          <a:latin typeface="Times New Roman" pitchFamily="18" charset="0"/>
                          <a:cs typeface="Times New Roman" pitchFamily="18" charset="0"/>
                        </a:rPr>
                        <a:t>≥12 grams per 1,000 kcal</a:t>
                      </a:r>
                    </a:p>
                  </a:txBody>
                  <a:tcPr marT="45727" marB="45727" anchor="b"/>
                </a:tc>
                <a:tc>
                  <a:txBody>
                    <a:bodyPr/>
                    <a:lstStyle/>
                    <a:p>
                      <a:r>
                        <a:rPr lang="en-US" sz="1100" dirty="0">
                          <a:latin typeface="Times New Roman" pitchFamily="18" charset="0"/>
                          <a:cs typeface="Times New Roman" pitchFamily="18" charset="0"/>
                        </a:rPr>
                        <a:t>No Oil</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11"/>
                  </a:ext>
                </a:extLst>
              </a:tr>
              <a:tr h="259118">
                <a:tc>
                  <a:txBody>
                    <a:bodyPr/>
                    <a:lstStyle/>
                    <a:p>
                      <a:r>
                        <a:rPr lang="en-US" sz="1100" dirty="0">
                          <a:latin typeface="Times New Roman" pitchFamily="18" charset="0"/>
                          <a:cs typeface="Times New Roman" pitchFamily="18" charset="0"/>
                        </a:rPr>
                        <a:t>Saturated Fat</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10</a:t>
                      </a:r>
                    </a:p>
                  </a:txBody>
                  <a:tcPr marT="45727" marB="45727" anchor="b"/>
                </a:tc>
                <a:tc>
                  <a:txBody>
                    <a:bodyPr/>
                    <a:lstStyle/>
                    <a:p>
                      <a:r>
                        <a:rPr lang="en-US" sz="1100" dirty="0">
                          <a:latin typeface="Times New Roman" pitchFamily="18" charset="0"/>
                          <a:cs typeface="Times New Roman" pitchFamily="18" charset="0"/>
                        </a:rPr>
                        <a:t>≤7% of energy</a:t>
                      </a:r>
                    </a:p>
                  </a:txBody>
                  <a:tcPr marT="45727" marB="45727" anchor="b"/>
                </a:tc>
                <a:tc>
                  <a:txBody>
                    <a:bodyPr/>
                    <a:lstStyle/>
                    <a:p>
                      <a:r>
                        <a:rPr lang="en-US" sz="1100" dirty="0">
                          <a:latin typeface="Times New Roman" pitchFamily="18" charset="0"/>
                          <a:cs typeface="Times New Roman" pitchFamily="18" charset="0"/>
                        </a:rPr>
                        <a:t>≥15% of energy</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12"/>
                  </a:ext>
                </a:extLst>
              </a:tr>
              <a:tr h="259118">
                <a:tc>
                  <a:txBody>
                    <a:bodyPr/>
                    <a:lstStyle/>
                    <a:p>
                      <a:r>
                        <a:rPr lang="en-US" sz="1100" dirty="0">
                          <a:latin typeface="Times New Roman" pitchFamily="18" charset="0"/>
                          <a:cs typeface="Times New Roman" pitchFamily="18" charset="0"/>
                        </a:rPr>
                        <a:t>Sodium</a:t>
                      </a:r>
                    </a:p>
                  </a:txBody>
                  <a:tcPr marT="45727" marB="45727" anchor="b">
                    <a:lnL w="12700" cap="flat" cmpd="sng" algn="ctr">
                      <a:solidFill>
                        <a:schemeClr val="tx2"/>
                      </a:solidFill>
                      <a:prstDash val="solid"/>
                      <a:round/>
                      <a:headEnd type="none" w="med" len="med"/>
                      <a:tailEnd type="none" w="med" len="med"/>
                    </a:lnL>
                  </a:tcPr>
                </a:tc>
                <a:tc>
                  <a:txBody>
                    <a:bodyPr/>
                    <a:lstStyle/>
                    <a:p>
                      <a:pPr algn="ctr"/>
                      <a:r>
                        <a:rPr lang="en-US" sz="1100" dirty="0">
                          <a:latin typeface="Times New Roman" pitchFamily="18" charset="0"/>
                          <a:cs typeface="Times New Roman" pitchFamily="18" charset="0"/>
                        </a:rPr>
                        <a:t>10</a:t>
                      </a:r>
                    </a:p>
                  </a:txBody>
                  <a:tcPr marT="45727" marB="45727" anchor="b"/>
                </a:tc>
                <a:tc>
                  <a:txBody>
                    <a:bodyPr/>
                    <a:lstStyle/>
                    <a:p>
                      <a:r>
                        <a:rPr lang="en-US" sz="1100" dirty="0">
                          <a:latin typeface="Times New Roman" pitchFamily="18" charset="0"/>
                          <a:cs typeface="Times New Roman" pitchFamily="18" charset="0"/>
                        </a:rPr>
                        <a:t>≤0.7 gram per 1,000 kcal</a:t>
                      </a:r>
                    </a:p>
                  </a:txBody>
                  <a:tcPr marT="45727" marB="45727" anchor="b"/>
                </a:tc>
                <a:tc>
                  <a:txBody>
                    <a:bodyPr/>
                    <a:lstStyle/>
                    <a:p>
                      <a:r>
                        <a:rPr lang="en-US" sz="1100" dirty="0">
                          <a:latin typeface="Times New Roman" pitchFamily="18" charset="0"/>
                          <a:cs typeface="Times New Roman" pitchFamily="18" charset="0"/>
                        </a:rPr>
                        <a:t>≥2.0 grams per 1,000 kcal</a:t>
                      </a:r>
                    </a:p>
                  </a:txBody>
                  <a:tcPr marT="45727" marB="45727" anchor="b">
                    <a:lnR w="12700" cap="flat" cmpd="sng" algn="ctr">
                      <a:solidFill>
                        <a:schemeClr val="tx2"/>
                      </a:solidFill>
                      <a:prstDash val="solid"/>
                      <a:round/>
                      <a:headEnd type="none" w="med" len="med"/>
                      <a:tailEnd type="none" w="med" len="med"/>
                    </a:lnR>
                  </a:tcPr>
                </a:tc>
                <a:extLst>
                  <a:ext uri="{0D108BD9-81ED-4DB2-BD59-A6C34878D82A}">
                    <a16:rowId xmlns:a16="http://schemas.microsoft.com/office/drawing/2014/main" val="10013"/>
                  </a:ext>
                </a:extLst>
              </a:tr>
              <a:tr h="426782">
                <a:tc>
                  <a:txBody>
                    <a:bodyPr/>
                    <a:lstStyle/>
                    <a:p>
                      <a:r>
                        <a:rPr lang="en-US" sz="1100" dirty="0">
                          <a:latin typeface="Times New Roman" pitchFamily="18" charset="0"/>
                          <a:cs typeface="Times New Roman" pitchFamily="18" charset="0"/>
                        </a:rPr>
                        <a:t>Calories</a:t>
                      </a:r>
                      <a:r>
                        <a:rPr lang="en-US" sz="1100" baseline="0" dirty="0">
                          <a:latin typeface="Times New Roman" pitchFamily="18" charset="0"/>
                          <a:cs typeface="Times New Roman" pitchFamily="18" charset="0"/>
                        </a:rPr>
                        <a:t> from Solid Fats, Alcoholic beverages, and Added Sugars (</a:t>
                      </a:r>
                      <a:r>
                        <a:rPr lang="en-US" sz="1100" baseline="0" dirty="0" err="1">
                          <a:latin typeface="Times New Roman" pitchFamily="18" charset="0"/>
                          <a:cs typeface="Times New Roman" pitchFamily="18" charset="0"/>
                        </a:rPr>
                        <a:t>SoFAAS</a:t>
                      </a:r>
                      <a:r>
                        <a:rPr lang="en-US" sz="1100" baseline="0" dirty="0">
                          <a:latin typeface="Times New Roman" pitchFamily="18" charset="0"/>
                          <a:cs typeface="Times New Roman" pitchFamily="18" charset="0"/>
                        </a:rPr>
                        <a:t>)</a:t>
                      </a:r>
                      <a:endParaRPr lang="en-US" sz="1100" dirty="0">
                        <a:latin typeface="Times New Roman" pitchFamily="18" charset="0"/>
                        <a:cs typeface="Times New Roman" pitchFamily="18" charset="0"/>
                      </a:endParaRPr>
                    </a:p>
                  </a:txBody>
                  <a:tcPr marT="45727" marB="45727" anchor="b">
                    <a:lnL w="12700" cap="flat" cmpd="sng" algn="ctr">
                      <a:solidFill>
                        <a:schemeClr val="tx2"/>
                      </a:solidFill>
                      <a:prstDash val="solid"/>
                      <a:round/>
                      <a:headEnd type="none" w="med" len="med"/>
                      <a:tailEnd type="none" w="med" len="med"/>
                    </a:lnL>
                    <a:lnB w="12700" cap="flat" cmpd="sng" algn="ctr">
                      <a:solidFill>
                        <a:schemeClr val="tx2"/>
                      </a:solidFill>
                      <a:prstDash val="solid"/>
                      <a:round/>
                      <a:headEnd type="none" w="med" len="med"/>
                      <a:tailEnd type="none" w="med" len="med"/>
                    </a:lnB>
                  </a:tcPr>
                </a:tc>
                <a:tc>
                  <a:txBody>
                    <a:bodyPr/>
                    <a:lstStyle/>
                    <a:p>
                      <a:pPr algn="ctr"/>
                      <a:r>
                        <a:rPr lang="en-US" sz="1100" dirty="0">
                          <a:latin typeface="Times New Roman" pitchFamily="18" charset="0"/>
                          <a:cs typeface="Times New Roman" pitchFamily="18" charset="0"/>
                        </a:rPr>
                        <a:t>20</a:t>
                      </a:r>
                    </a:p>
                  </a:txBody>
                  <a:tcPr marT="45727" marB="45727" anchor="b">
                    <a:lnB w="12700" cap="flat" cmpd="sng" algn="ctr">
                      <a:solidFill>
                        <a:schemeClr val="tx2"/>
                      </a:solidFill>
                      <a:prstDash val="solid"/>
                      <a:round/>
                      <a:headEnd type="none" w="med" len="med"/>
                      <a:tailEnd type="none" w="med" len="med"/>
                    </a:lnB>
                  </a:tcPr>
                </a:tc>
                <a:tc>
                  <a:txBody>
                    <a:bodyPr/>
                    <a:lstStyle/>
                    <a:p>
                      <a:r>
                        <a:rPr lang="en-US" sz="1100" dirty="0">
                          <a:latin typeface="Times New Roman" pitchFamily="18" charset="0"/>
                          <a:cs typeface="Times New Roman" pitchFamily="18" charset="0"/>
                        </a:rPr>
                        <a:t>≤20%</a:t>
                      </a:r>
                      <a:r>
                        <a:rPr lang="en-US" sz="1100" baseline="0" dirty="0">
                          <a:latin typeface="Times New Roman" pitchFamily="18" charset="0"/>
                          <a:cs typeface="Times New Roman" pitchFamily="18" charset="0"/>
                        </a:rPr>
                        <a:t> of energy</a:t>
                      </a:r>
                      <a:endParaRPr lang="en-US" sz="1100" dirty="0">
                        <a:latin typeface="Times New Roman" pitchFamily="18" charset="0"/>
                        <a:cs typeface="Times New Roman" pitchFamily="18" charset="0"/>
                      </a:endParaRPr>
                    </a:p>
                  </a:txBody>
                  <a:tcPr marT="45727" marB="45727" anchor="b">
                    <a:lnB w="12700" cap="flat" cmpd="sng" algn="ctr">
                      <a:solidFill>
                        <a:schemeClr val="tx2"/>
                      </a:solidFill>
                      <a:prstDash val="solid"/>
                      <a:round/>
                      <a:headEnd type="none" w="med" len="med"/>
                      <a:tailEnd type="none" w="med" len="med"/>
                    </a:lnB>
                  </a:tcPr>
                </a:tc>
                <a:tc>
                  <a:txBody>
                    <a:bodyPr/>
                    <a:lstStyle/>
                    <a:p>
                      <a:r>
                        <a:rPr lang="en-US" sz="1100" dirty="0">
                          <a:latin typeface="Times New Roman" pitchFamily="18" charset="0"/>
                          <a:cs typeface="Times New Roman" pitchFamily="18" charset="0"/>
                        </a:rPr>
                        <a:t>≥50% of energy</a:t>
                      </a:r>
                    </a:p>
                  </a:txBody>
                  <a:tcPr marT="45727" marB="45727" anchor="b">
                    <a:lnR w="12700" cap="flat" cmpd="sng" algn="ctr">
                      <a:solidFill>
                        <a:schemeClr val="tx2"/>
                      </a:solidFill>
                      <a:prstDash val="solid"/>
                      <a:round/>
                      <a:headEnd type="none" w="med" len="med"/>
                      <a:tailEnd type="none" w="med" len="med"/>
                    </a:lnR>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The Healthy Eating Index - 2005</a:t>
            </a:r>
          </a:p>
        </p:txBody>
      </p:sp>
      <p:sp>
        <p:nvSpPr>
          <p:cNvPr id="34819" name="Rectangle 3"/>
          <p:cNvSpPr>
            <a:spLocks noGrp="1" noChangeArrowheads="1"/>
          </p:cNvSpPr>
          <p:nvPr>
            <p:ph type="body" idx="1"/>
          </p:nvPr>
        </p:nvSpPr>
        <p:spPr>
          <a:xfrm>
            <a:off x="457200" y="914400"/>
            <a:ext cx="8229600" cy="4525963"/>
          </a:xfrm>
        </p:spPr>
        <p:txBody>
          <a:bodyPr/>
          <a:lstStyle/>
          <a:p>
            <a:pPr eaLnBrk="1" hangingPunct="1">
              <a:buClr>
                <a:srgbClr val="000066"/>
              </a:buClr>
            </a:pPr>
            <a:endParaRPr lang="en-US" altLang="en-US" dirty="0">
              <a:latin typeface="Tahoma" pitchFamily="34" charset="0"/>
              <a:cs typeface="Tahoma" pitchFamily="34" charset="0"/>
            </a:endParaRPr>
          </a:p>
          <a:p>
            <a:pPr>
              <a:buClr>
                <a:srgbClr val="0000CC"/>
              </a:buClr>
            </a:pPr>
            <a:r>
              <a:rPr lang="en-US" altLang="en-US" dirty="0">
                <a:latin typeface="Tahoma" pitchFamily="34" charset="0"/>
                <a:cs typeface="Tahoma" pitchFamily="34" charset="0"/>
              </a:rPr>
              <a:t>A component of HEI-2005 is dark green and orange vegetables and legumes, which we call </a:t>
            </a:r>
            <a:r>
              <a:rPr lang="en-US" altLang="en-US" b="1" dirty="0">
                <a:solidFill>
                  <a:srgbClr val="CC0000"/>
                </a:solidFill>
                <a:latin typeface="Tahoma" pitchFamily="34" charset="0"/>
                <a:cs typeface="Tahoma" pitchFamily="34" charset="0"/>
              </a:rPr>
              <a:t>DOL</a:t>
            </a:r>
            <a:endParaRPr lang="en-US" altLang="en-US" dirty="0">
              <a:solidFill>
                <a:srgbClr val="CC0000"/>
              </a:solidFill>
              <a:latin typeface="Tahoma" pitchFamily="34" charset="0"/>
              <a:cs typeface="Tahoma" pitchFamily="34" charset="0"/>
            </a:endParaRPr>
          </a:p>
          <a:p>
            <a:pPr>
              <a:buClr>
                <a:srgbClr val="0000CC"/>
              </a:buClr>
            </a:pPr>
            <a:r>
              <a:rPr lang="en-US" altLang="en-US" dirty="0">
                <a:latin typeface="Tahoma" pitchFamily="34" charset="0"/>
                <a:cs typeface="Tahoma" pitchFamily="34" charset="0"/>
              </a:rPr>
              <a:t>Another component is calories from </a:t>
            </a:r>
            <a:r>
              <a:rPr lang="en-US" altLang="en-US" b="1" dirty="0">
                <a:solidFill>
                  <a:srgbClr val="C00000"/>
                </a:solidFill>
                <a:latin typeface="Tahoma" pitchFamily="34" charset="0"/>
                <a:cs typeface="Tahoma" pitchFamily="34" charset="0"/>
              </a:rPr>
              <a:t>So</a:t>
            </a:r>
            <a:r>
              <a:rPr lang="en-US" altLang="en-US" dirty="0">
                <a:latin typeface="Tahoma" pitchFamily="34" charset="0"/>
                <a:cs typeface="Tahoma" pitchFamily="34" charset="0"/>
              </a:rPr>
              <a:t>lid </a:t>
            </a:r>
            <a:r>
              <a:rPr lang="en-US" altLang="en-US" b="1" dirty="0">
                <a:solidFill>
                  <a:srgbClr val="C00000"/>
                </a:solidFill>
                <a:latin typeface="Tahoma" pitchFamily="34" charset="0"/>
                <a:cs typeface="Tahoma" pitchFamily="34" charset="0"/>
              </a:rPr>
              <a:t>F</a:t>
            </a:r>
            <a:r>
              <a:rPr lang="en-US" altLang="en-US" dirty="0">
                <a:latin typeface="Tahoma" pitchFamily="34" charset="0"/>
                <a:cs typeface="Tahoma" pitchFamily="34" charset="0"/>
              </a:rPr>
              <a:t>ats, </a:t>
            </a:r>
            <a:r>
              <a:rPr lang="en-US" altLang="en-US" b="1" dirty="0">
                <a:solidFill>
                  <a:srgbClr val="C00000"/>
                </a:solidFill>
                <a:latin typeface="Tahoma" pitchFamily="34" charset="0"/>
                <a:cs typeface="Tahoma" pitchFamily="34" charset="0"/>
              </a:rPr>
              <a:t>A</a:t>
            </a:r>
            <a:r>
              <a:rPr lang="en-US" altLang="en-US" dirty="0">
                <a:latin typeface="Tahoma" pitchFamily="34" charset="0"/>
                <a:cs typeface="Tahoma" pitchFamily="34" charset="0"/>
              </a:rPr>
              <a:t>lcoholic beverages and </a:t>
            </a:r>
            <a:r>
              <a:rPr lang="en-US" altLang="en-US" b="1" dirty="0">
                <a:solidFill>
                  <a:srgbClr val="C00000"/>
                </a:solidFill>
                <a:latin typeface="Tahoma" pitchFamily="34" charset="0"/>
                <a:cs typeface="Tahoma" pitchFamily="34" charset="0"/>
              </a:rPr>
              <a:t>A</a:t>
            </a:r>
            <a:r>
              <a:rPr lang="en-US" altLang="en-US" dirty="0">
                <a:latin typeface="Tahoma" pitchFamily="34" charset="0"/>
                <a:cs typeface="Tahoma" pitchFamily="34" charset="0"/>
              </a:rPr>
              <a:t>dded </a:t>
            </a:r>
            <a:r>
              <a:rPr lang="en-US" altLang="en-US" b="1" dirty="0">
                <a:solidFill>
                  <a:srgbClr val="C00000"/>
                </a:solidFill>
                <a:latin typeface="Tahoma" pitchFamily="34" charset="0"/>
                <a:cs typeface="Tahoma" pitchFamily="34" charset="0"/>
              </a:rPr>
              <a:t>S</a:t>
            </a:r>
            <a:r>
              <a:rPr lang="en-US" altLang="en-US" dirty="0">
                <a:latin typeface="Tahoma" pitchFamily="34" charset="0"/>
                <a:cs typeface="Tahoma" pitchFamily="34" charset="0"/>
              </a:rPr>
              <a:t>ugars, which is called </a:t>
            </a:r>
            <a:r>
              <a:rPr lang="en-US" altLang="en-US" b="1" dirty="0" err="1">
                <a:solidFill>
                  <a:srgbClr val="CC0000"/>
                </a:solidFill>
                <a:latin typeface="Tahoma" pitchFamily="34" charset="0"/>
                <a:cs typeface="Tahoma" pitchFamily="34" charset="0"/>
              </a:rPr>
              <a:t>SoFAAS</a:t>
            </a:r>
            <a:endParaRPr lang="en-US" altLang="en-US" dirty="0">
              <a:solidFill>
                <a:srgbClr val="CC0000"/>
              </a:solidFill>
              <a:latin typeface="Tahoma" pitchFamily="34" charset="0"/>
              <a:cs typeface="Tahoma" pitchFamily="34" charset="0"/>
            </a:endParaRPr>
          </a:p>
          <a:p>
            <a:pPr lvl="1">
              <a:buClr>
                <a:srgbClr val="C00000"/>
              </a:buClr>
              <a:buFont typeface="Arial" panose="020B0604020202020204" pitchFamily="34" charset="0"/>
              <a:buChar char="•"/>
            </a:pPr>
            <a:r>
              <a:rPr lang="en-US" altLang="en-US" dirty="0">
                <a:latin typeface="Tahoma" pitchFamily="34" charset="0"/>
                <a:cs typeface="Tahoma" pitchFamily="34" charset="0"/>
              </a:rPr>
              <a:t>These might be thought of as “empty calories”. They are not good for you!</a:t>
            </a:r>
          </a:p>
          <a:p>
            <a:pPr lvl="1">
              <a:buClr>
                <a:srgbClr val="C00000"/>
              </a:buClr>
              <a:buFont typeface="Arial" panose="020B0604020202020204" pitchFamily="34" charset="0"/>
              <a:buChar char="•"/>
            </a:pPr>
            <a:r>
              <a:rPr lang="en-US" altLang="en-US" dirty="0">
                <a:latin typeface="Tahoma" pitchFamily="34" charset="0"/>
                <a:cs typeface="Tahoma" pitchFamily="34" charset="0"/>
              </a:rPr>
              <a:t>They penalize red wine. </a:t>
            </a:r>
            <a:r>
              <a:rPr lang="en-US" altLang="en-US" dirty="0">
                <a:latin typeface="Tahoma" pitchFamily="34" charset="0"/>
                <a:cs typeface="Tahoma" pitchFamily="34" charset="0"/>
                <a:sym typeface="Wingdings" panose="05000000000000000000" pitchFamily="2" charset="2"/>
              </a:rPr>
              <a:t></a:t>
            </a: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p:txBody>
      </p:sp>
      <p:sp>
        <p:nvSpPr>
          <p:cNvPr id="34820"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D7369A99-4E04-19EC-8619-93C3FDA60A75}"/>
              </a:ext>
            </a:extLst>
          </p:cNvPr>
          <p:cNvSpPr>
            <a:spLocks noGrp="1"/>
          </p:cNvSpPr>
          <p:nvPr>
            <p:ph type="sldNum" sz="quarter" idx="11"/>
          </p:nvPr>
        </p:nvSpPr>
        <p:spPr/>
        <p:txBody>
          <a:bodyPr/>
          <a:lstStyle/>
          <a:p>
            <a:pPr>
              <a:defRPr/>
            </a:pPr>
            <a:fld id="{3409ADA3-42B3-456B-8472-9BD85CC2F264}"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The Healthy Eating Index - 2005</a:t>
            </a:r>
          </a:p>
        </p:txBody>
      </p:sp>
      <p:sp>
        <p:nvSpPr>
          <p:cNvPr id="37891" name="Rectangle 3"/>
          <p:cNvSpPr>
            <a:spLocks noGrp="1" noChangeArrowheads="1"/>
          </p:cNvSpPr>
          <p:nvPr>
            <p:ph type="body" idx="1"/>
          </p:nvPr>
        </p:nvSpPr>
        <p:spPr>
          <a:xfrm>
            <a:off x="457200" y="990600"/>
            <a:ext cx="8229600" cy="4525963"/>
          </a:xfrm>
        </p:spPr>
        <p:txBody>
          <a:bodyPr/>
          <a:lstStyle/>
          <a:p>
            <a:pPr eaLnBrk="1" hangingPunct="1">
              <a:buClr>
                <a:srgbClr val="000066"/>
              </a:buClr>
            </a:pPr>
            <a:r>
              <a:rPr lang="en-US" altLang="en-US">
                <a:latin typeface="Tahoma" pitchFamily="34" charset="0"/>
                <a:cs typeface="Tahoma" pitchFamily="34" charset="0"/>
              </a:rPr>
              <a:t>The score for </a:t>
            </a:r>
            <a:r>
              <a:rPr lang="en-US" altLang="en-US" b="1">
                <a:solidFill>
                  <a:srgbClr val="CC0000"/>
                </a:solidFill>
                <a:latin typeface="Tahoma" pitchFamily="34" charset="0"/>
                <a:cs typeface="Tahoma" pitchFamily="34" charset="0"/>
              </a:rPr>
              <a:t>SoFAAS</a:t>
            </a:r>
            <a:r>
              <a:rPr lang="en-US" altLang="en-US">
                <a:latin typeface="Tahoma" pitchFamily="34" charset="0"/>
                <a:cs typeface="Tahoma" pitchFamily="34" charset="0"/>
              </a:rPr>
              <a:t> as a percentage of energy is</a:t>
            </a:r>
          </a:p>
        </p:txBody>
      </p:sp>
      <p:sp>
        <p:nvSpPr>
          <p:cNvPr id="37892"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37893" name="Object 1"/>
          <p:cNvGraphicFramePr>
            <a:graphicFrameLocks noChangeAspect="1"/>
          </p:cNvGraphicFramePr>
          <p:nvPr>
            <p:extLst>
              <p:ext uri="{D42A27DB-BD31-4B8C-83A1-F6EECF244321}">
                <p14:modId xmlns:p14="http://schemas.microsoft.com/office/powerpoint/2010/main" val="3199436722"/>
              </p:ext>
            </p:extLst>
          </p:nvPr>
        </p:nvGraphicFramePr>
        <p:xfrm>
          <a:off x="990600" y="2209800"/>
          <a:ext cx="5313363" cy="1728788"/>
        </p:xfrm>
        <a:graphic>
          <a:graphicData uri="http://schemas.openxmlformats.org/presentationml/2006/ole">
            <mc:AlternateContent xmlns:mc="http://schemas.openxmlformats.org/markup-compatibility/2006">
              <mc:Choice xmlns:v="urn:schemas-microsoft-com:vml" Requires="v">
                <p:oleObj name="Equation" r:id="rId2" imgW="2031840" imgH="660240" progId="Equation.DSMT4">
                  <p:embed/>
                </p:oleObj>
              </mc:Choice>
              <mc:Fallback>
                <p:oleObj name="Equation" r:id="rId2" imgW="2031840" imgH="660240" progId="Equation.DSMT4">
                  <p:embed/>
                  <p:pic>
                    <p:nvPicPr>
                      <p:cNvPr id="37893" name="Object 1"/>
                      <p:cNvPicPr>
                        <a:picLocks noChangeAspect="1" noChangeArrowheads="1"/>
                      </p:cNvPicPr>
                      <p:nvPr/>
                    </p:nvPicPr>
                    <p:blipFill>
                      <a:blip r:embed="rId3"/>
                      <a:srcRect/>
                      <a:stretch>
                        <a:fillRect/>
                      </a:stretch>
                    </p:blipFill>
                    <p:spPr bwMode="auto">
                      <a:xfrm>
                        <a:off x="990600" y="2209800"/>
                        <a:ext cx="5313363" cy="1728788"/>
                      </a:xfrm>
                      <a:prstGeom prst="rect">
                        <a:avLst/>
                      </a:prstGeom>
                      <a:solidFill>
                        <a:srgbClr val="C6D9F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0180" name="Picture 4" descr="C:\Users\Carroll\Documents\My_Documents\Raymond_new_overheads\HEI_Talks\temp0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191000"/>
            <a:ext cx="3429000" cy="2571750"/>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E0A1421C-8831-F88F-21D5-43C6BC00BE9E}"/>
              </a:ext>
            </a:extLst>
          </p:cNvPr>
          <p:cNvSpPr>
            <a:spLocks noGrp="1"/>
          </p:cNvSpPr>
          <p:nvPr>
            <p:ph type="sldNum" sz="quarter" idx="11"/>
          </p:nvPr>
        </p:nvSpPr>
        <p:spPr/>
        <p:txBody>
          <a:bodyPr/>
          <a:lstStyle/>
          <a:p>
            <a:pPr>
              <a:defRPr/>
            </a:pPr>
            <a:fld id="{3409ADA3-42B3-456B-8472-9BD85CC2F264}" type="slidenum">
              <a:rPr lang="en-US" smtClean="0"/>
              <a:pPr>
                <a:defRPr/>
              </a:pPr>
              <a:t>32</a:t>
            </a:fld>
            <a:endParaRPr lang="en-US"/>
          </a:p>
        </p:txBody>
      </p:sp>
    </p:spTree>
    <p:extLst>
      <p:ext uri="{BB962C8B-B14F-4D97-AF65-F5344CB8AC3E}">
        <p14:creationId xmlns:p14="http://schemas.microsoft.com/office/powerpoint/2010/main" val="2923901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Global Patterns: HEI-2005	</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 name="Table 1"/>
          <p:cNvGraphicFramePr>
            <a:graphicFrameLocks noGrp="1"/>
          </p:cNvGraphicFramePr>
          <p:nvPr>
            <p:extLst>
              <p:ext uri="{D42A27DB-BD31-4B8C-83A1-F6EECF244321}">
                <p14:modId xmlns:p14="http://schemas.microsoft.com/office/powerpoint/2010/main" val="2703067275"/>
              </p:ext>
            </p:extLst>
          </p:nvPr>
        </p:nvGraphicFramePr>
        <p:xfrm>
          <a:off x="685800" y="1143000"/>
          <a:ext cx="7848600" cy="2994661"/>
        </p:xfrm>
        <a:graphic>
          <a:graphicData uri="http://schemas.openxmlformats.org/drawingml/2006/table">
            <a:tbl>
              <a:tblPr firstRow="1" firstCol="1" bandRow="1">
                <a:tableStyleId>{5C22544A-7EE6-4342-B048-85BDC9FD1C3A}</a:tableStyleId>
              </a:tblPr>
              <a:tblGrid>
                <a:gridCol w="4129492">
                  <a:extLst>
                    <a:ext uri="{9D8B030D-6E8A-4147-A177-3AD203B41FA5}">
                      <a16:colId xmlns:a16="http://schemas.microsoft.com/office/drawing/2014/main" val="20000"/>
                    </a:ext>
                  </a:extLst>
                </a:gridCol>
                <a:gridCol w="2051922">
                  <a:extLst>
                    <a:ext uri="{9D8B030D-6E8A-4147-A177-3AD203B41FA5}">
                      <a16:colId xmlns:a16="http://schemas.microsoft.com/office/drawing/2014/main" val="20001"/>
                    </a:ext>
                  </a:extLst>
                </a:gridCol>
                <a:gridCol w="1667186">
                  <a:extLst>
                    <a:ext uri="{9D8B030D-6E8A-4147-A177-3AD203B41FA5}">
                      <a16:colId xmlns:a16="http://schemas.microsoft.com/office/drawing/2014/main" val="20002"/>
                    </a:ext>
                  </a:extLst>
                </a:gridCol>
              </a:tblGrid>
              <a:tr h="685801">
                <a:tc>
                  <a:txBody>
                    <a:bodyPr/>
                    <a:lstStyle/>
                    <a:p>
                      <a:pPr marL="0" marR="0">
                        <a:spcBef>
                          <a:spcPts val="0"/>
                        </a:spcBef>
                        <a:spcAft>
                          <a:spcPts val="0"/>
                        </a:spcAft>
                      </a:pPr>
                      <a:r>
                        <a:rPr lang="en-US" sz="1200" dirty="0">
                          <a:solidFill>
                            <a:schemeClr val="tx1"/>
                          </a:solidFill>
                          <a:effectLst/>
                        </a:rPr>
                        <a:t> </a:t>
                      </a:r>
                      <a:endParaRPr lang="en-US" sz="1200" dirty="0">
                        <a:solidFill>
                          <a:schemeClr val="tx1"/>
                        </a:solidFill>
                        <a:effectLst/>
                        <a:latin typeface="Times New Roman"/>
                        <a:ea typeface="Calibri"/>
                        <a:cs typeface="Times New Roman"/>
                      </a:endParaRPr>
                    </a:p>
                  </a:txBody>
                  <a:tcPr marL="68580" marR="68580" marT="0" marB="0"/>
                </a:tc>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Hazard Ratio</a:t>
                      </a:r>
                    </a:p>
                  </a:txBody>
                  <a:tcPr marL="68580" marR="68580" marT="0" marB="0"/>
                </a:tc>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p-value</a:t>
                      </a:r>
                    </a:p>
                  </a:txBody>
                  <a:tcPr marL="68580" marR="68580" marT="0" marB="0"/>
                </a:tc>
                <a:extLst>
                  <a:ext uri="{0D108BD9-81ED-4DB2-BD59-A6C34878D82A}">
                    <a16:rowId xmlns:a16="http://schemas.microsoft.com/office/drawing/2014/main" val="10000"/>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Men, Colorectal</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0.67</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&lt; 0.001</a:t>
                      </a:r>
                    </a:p>
                  </a:txBody>
                  <a:tcPr marL="68580" marR="68580" marT="0" marB="0"/>
                </a:tc>
                <a:extLst>
                  <a:ext uri="{0D108BD9-81ED-4DB2-BD59-A6C34878D82A}">
                    <a16:rowId xmlns:a16="http://schemas.microsoft.com/office/drawing/2014/main" val="10001"/>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Lung</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0.35</a:t>
                      </a:r>
                    </a:p>
                  </a:txBody>
                  <a:tcPr marL="68580" marR="6858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&lt; 0.001</a:t>
                      </a:r>
                    </a:p>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extLst>
                  <a:ext uri="{0D108BD9-81ED-4DB2-BD59-A6C34878D82A}">
                    <a16:rowId xmlns:a16="http://schemas.microsoft.com/office/drawing/2014/main" val="10002"/>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extLst>
                  <a:ext uri="{0D108BD9-81ED-4DB2-BD59-A6C34878D82A}">
                    <a16:rowId xmlns:a16="http://schemas.microsoft.com/office/drawing/2014/main" val="10003"/>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Women, Colorectal</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0.76</a:t>
                      </a:r>
                    </a:p>
                  </a:txBody>
                  <a:tcPr marL="68580" marR="6858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&lt; 0.001</a:t>
                      </a:r>
                    </a:p>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extLst>
                  <a:ext uri="{0D108BD9-81ED-4DB2-BD59-A6C34878D82A}">
                    <a16:rowId xmlns:a16="http://schemas.microsoft.com/office/drawing/2014/main" val="10004"/>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Lung</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0.42</a:t>
                      </a:r>
                    </a:p>
                  </a:txBody>
                  <a:tcPr marL="68580" marR="6858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&lt; 0.001</a:t>
                      </a:r>
                    </a:p>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extLst>
                  <a:ext uri="{0D108BD9-81ED-4DB2-BD59-A6C34878D82A}">
                    <a16:rowId xmlns:a16="http://schemas.microsoft.com/office/drawing/2014/main" val="10005"/>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Breast</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r>
                        <a:rPr lang="en-US" sz="1400" b="1" dirty="0">
                          <a:solidFill>
                            <a:srgbClr val="C00000"/>
                          </a:solidFill>
                          <a:effectLst/>
                          <a:latin typeface="Tahoma" panose="020B0604030504040204" pitchFamily="34" charset="0"/>
                          <a:ea typeface="Tahoma" panose="020B0604030504040204" pitchFamily="34" charset="0"/>
                          <a:cs typeface="Tahoma" panose="020B0604030504040204" pitchFamily="34" charset="0"/>
                        </a:rPr>
                        <a:t>0.97</a:t>
                      </a:r>
                    </a:p>
                  </a:txBody>
                  <a:tcPr marL="68580" marR="68580" marT="0" marB="0"/>
                </a:tc>
                <a:tc>
                  <a:txBody>
                    <a:bodyPr/>
                    <a:lstStyle/>
                    <a:p>
                      <a:pPr marL="0" marR="0" algn="ctr">
                        <a:spcBef>
                          <a:spcPts val="0"/>
                        </a:spcBef>
                        <a:spcAft>
                          <a:spcPts val="0"/>
                        </a:spcAft>
                      </a:pPr>
                      <a:r>
                        <a:rPr lang="en-US" sz="1400" b="1" dirty="0">
                          <a:solidFill>
                            <a:srgbClr val="C00000"/>
                          </a:solidFill>
                          <a:effectLst/>
                          <a:latin typeface="Tahoma" panose="020B0604030504040204" pitchFamily="34" charset="0"/>
                          <a:ea typeface="Tahoma" panose="020B0604030504040204" pitchFamily="34" charset="0"/>
                          <a:cs typeface="Tahoma" panose="020B0604030504040204" pitchFamily="34" charset="0"/>
                        </a:rPr>
                        <a:t>0.44</a:t>
                      </a: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extLst>
                  <a:ext uri="{0D108BD9-81ED-4DB2-BD59-A6C34878D82A}">
                    <a16:rowId xmlns:a16="http://schemas.microsoft.com/office/drawing/2014/main" val="10006"/>
                  </a:ext>
                </a:extLst>
              </a:tr>
            </a:tbl>
          </a:graphicData>
        </a:graphic>
      </p:graphicFrame>
      <p:sp>
        <p:nvSpPr>
          <p:cNvPr id="3" name="TextBox 2"/>
          <p:cNvSpPr txBox="1"/>
          <p:nvPr/>
        </p:nvSpPr>
        <p:spPr>
          <a:xfrm>
            <a:off x="838200" y="4876800"/>
            <a:ext cx="9296400" cy="830997"/>
          </a:xfrm>
          <a:prstGeom prst="rect">
            <a:avLst/>
          </a:prstGeom>
          <a:noFill/>
        </p:spPr>
        <p:txBody>
          <a:bodyPr wrap="square" rtlCol="0">
            <a:spAutoFit/>
          </a:bodyPr>
          <a:lstStyle/>
          <a:p>
            <a:r>
              <a:rPr lang="en-US" dirty="0"/>
              <a:t>HEI-2005 total score in quintiles</a:t>
            </a:r>
          </a:p>
          <a:p>
            <a:r>
              <a:rPr lang="en-US" dirty="0"/>
              <a:t>Notice this with regard to the WHI results</a:t>
            </a:r>
          </a:p>
        </p:txBody>
      </p:sp>
      <p:sp>
        <p:nvSpPr>
          <p:cNvPr id="9" name="Slide Number Placeholder 8">
            <a:extLst>
              <a:ext uri="{FF2B5EF4-FFF2-40B4-BE49-F238E27FC236}">
                <a16:creationId xmlns:a16="http://schemas.microsoft.com/office/drawing/2014/main" id="{21D6475F-00A8-DF02-B171-C53D983A36C7}"/>
              </a:ext>
            </a:extLst>
          </p:cNvPr>
          <p:cNvSpPr>
            <a:spLocks noGrp="1"/>
          </p:cNvSpPr>
          <p:nvPr>
            <p:ph type="sldNum" sz="quarter" idx="11"/>
          </p:nvPr>
        </p:nvSpPr>
        <p:spPr/>
        <p:txBody>
          <a:bodyPr/>
          <a:lstStyle/>
          <a:p>
            <a:pPr>
              <a:defRPr/>
            </a:pPr>
            <a:fld id="{3409ADA3-42B3-456B-8472-9BD85CC2F264}" type="slidenum">
              <a:rPr lang="en-US" smtClean="0"/>
              <a:pPr>
                <a:defRPr/>
              </a:pPr>
              <a:t>33</a:t>
            </a:fld>
            <a:endParaRPr lang="en-US"/>
          </a:p>
        </p:txBody>
      </p:sp>
    </p:spTree>
    <p:extLst>
      <p:ext uri="{BB962C8B-B14F-4D97-AF65-F5344CB8AC3E}">
        <p14:creationId xmlns:p14="http://schemas.microsoft.com/office/powerpoint/2010/main" val="13809854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Global Patterns: HEI-2005	</a:t>
            </a:r>
          </a:p>
        </p:txBody>
      </p:sp>
      <p:sp>
        <p:nvSpPr>
          <p:cNvPr id="2355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2" name="Table 1"/>
          <p:cNvGraphicFramePr>
            <a:graphicFrameLocks noGrp="1"/>
          </p:cNvGraphicFramePr>
          <p:nvPr>
            <p:extLst>
              <p:ext uri="{D42A27DB-BD31-4B8C-83A1-F6EECF244321}">
                <p14:modId xmlns:p14="http://schemas.microsoft.com/office/powerpoint/2010/main" val="2132392452"/>
              </p:ext>
            </p:extLst>
          </p:nvPr>
        </p:nvGraphicFramePr>
        <p:xfrm>
          <a:off x="685800" y="1143000"/>
          <a:ext cx="7848600" cy="2994661"/>
        </p:xfrm>
        <a:graphic>
          <a:graphicData uri="http://schemas.openxmlformats.org/drawingml/2006/table">
            <a:tbl>
              <a:tblPr firstRow="1" firstCol="1" bandRow="1">
                <a:tableStyleId>{5C22544A-7EE6-4342-B048-85BDC9FD1C3A}</a:tableStyleId>
              </a:tblPr>
              <a:tblGrid>
                <a:gridCol w="4129492">
                  <a:extLst>
                    <a:ext uri="{9D8B030D-6E8A-4147-A177-3AD203B41FA5}">
                      <a16:colId xmlns:a16="http://schemas.microsoft.com/office/drawing/2014/main" val="20000"/>
                    </a:ext>
                  </a:extLst>
                </a:gridCol>
                <a:gridCol w="2051922">
                  <a:extLst>
                    <a:ext uri="{9D8B030D-6E8A-4147-A177-3AD203B41FA5}">
                      <a16:colId xmlns:a16="http://schemas.microsoft.com/office/drawing/2014/main" val="20001"/>
                    </a:ext>
                  </a:extLst>
                </a:gridCol>
                <a:gridCol w="1667186">
                  <a:extLst>
                    <a:ext uri="{9D8B030D-6E8A-4147-A177-3AD203B41FA5}">
                      <a16:colId xmlns:a16="http://schemas.microsoft.com/office/drawing/2014/main" val="20002"/>
                    </a:ext>
                  </a:extLst>
                </a:gridCol>
              </a:tblGrid>
              <a:tr h="685801">
                <a:tc>
                  <a:txBody>
                    <a:bodyPr/>
                    <a:lstStyle/>
                    <a:p>
                      <a:pPr marL="0" marR="0">
                        <a:spcBef>
                          <a:spcPts val="0"/>
                        </a:spcBef>
                        <a:spcAft>
                          <a:spcPts val="0"/>
                        </a:spcAft>
                      </a:pPr>
                      <a:r>
                        <a:rPr lang="en-US" sz="1200" dirty="0">
                          <a:solidFill>
                            <a:schemeClr val="tx1"/>
                          </a:solidFill>
                          <a:effectLst/>
                        </a:rPr>
                        <a:t> </a:t>
                      </a:r>
                      <a:endParaRPr lang="en-US" sz="1200" dirty="0">
                        <a:solidFill>
                          <a:schemeClr val="tx1"/>
                        </a:solidFill>
                        <a:effectLst/>
                        <a:latin typeface="Times New Roman"/>
                        <a:ea typeface="Calibri"/>
                        <a:cs typeface="Times New Roman"/>
                      </a:endParaRPr>
                    </a:p>
                  </a:txBody>
                  <a:tcPr marL="68580" marR="68580" marT="0" marB="0"/>
                </a:tc>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Hazard Ratio</a:t>
                      </a:r>
                    </a:p>
                  </a:txBody>
                  <a:tcPr marL="68580" marR="68580" marT="0" marB="0"/>
                </a:tc>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p-value</a:t>
                      </a:r>
                    </a:p>
                  </a:txBody>
                  <a:tcPr marL="68580" marR="68580" marT="0" marB="0"/>
                </a:tc>
                <a:extLst>
                  <a:ext uri="{0D108BD9-81ED-4DB2-BD59-A6C34878D82A}">
                    <a16:rowId xmlns:a16="http://schemas.microsoft.com/office/drawing/2014/main" val="10000"/>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Men</a:t>
                      </a:r>
                    </a:p>
                  </a:txBody>
                  <a:tcPr marL="68580" marR="68580" marT="0" marB="0"/>
                </a:tc>
                <a:tc>
                  <a:txBody>
                    <a:bodyPr/>
                    <a:lstStyle/>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extLst>
                  <a:ext uri="{0D108BD9-81ED-4DB2-BD59-A6C34878D82A}">
                    <a16:rowId xmlns:a16="http://schemas.microsoft.com/office/drawing/2014/main" val="10001"/>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All</a:t>
                      </a:r>
                      <a:r>
                        <a:rPr lang="en-US" sz="1400" baseline="0" dirty="0">
                          <a:solidFill>
                            <a:schemeClr val="tx1"/>
                          </a:solidFill>
                          <a:effectLst/>
                          <a:latin typeface="Tahoma" panose="020B0604030504040204" pitchFamily="34" charset="0"/>
                          <a:ea typeface="Tahoma" panose="020B0604030504040204" pitchFamily="34" charset="0"/>
                          <a:cs typeface="Tahoma" panose="020B0604030504040204" pitchFamily="34" charset="0"/>
                        </a:rPr>
                        <a:t> cause mortality</a:t>
                      </a: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0.37</a:t>
                      </a:r>
                    </a:p>
                  </a:txBody>
                  <a:tcPr marL="68580" marR="6858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&lt; 0.0001</a:t>
                      </a:r>
                    </a:p>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extLst>
                  <a:ext uri="{0D108BD9-81ED-4DB2-BD59-A6C34878D82A}">
                    <a16:rowId xmlns:a16="http://schemas.microsoft.com/office/drawing/2014/main" val="10002"/>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extLst>
                  <a:ext uri="{0D108BD9-81ED-4DB2-BD59-A6C34878D82A}">
                    <a16:rowId xmlns:a16="http://schemas.microsoft.com/office/drawing/2014/main" val="10003"/>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Women</a:t>
                      </a:r>
                    </a:p>
                  </a:txBody>
                  <a:tcPr marL="68580" marR="68580" marT="0" marB="0"/>
                </a:tc>
                <a:tc>
                  <a:txBody>
                    <a:bodyPr/>
                    <a:lstStyle/>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extLst>
                  <a:ext uri="{0D108BD9-81ED-4DB2-BD59-A6C34878D82A}">
                    <a16:rowId xmlns:a16="http://schemas.microsoft.com/office/drawing/2014/main" val="10004"/>
                  </a:ext>
                </a:extLst>
              </a:tr>
              <a:tr h="342900">
                <a:tc>
                  <a:txBody>
                    <a:bodyPr/>
                    <a:lstStyle/>
                    <a:p>
                      <a:pPr marL="0" marR="0">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All-Cause</a:t>
                      </a:r>
                      <a:r>
                        <a:rPr lang="en-US" sz="1400" baseline="0" dirty="0">
                          <a:solidFill>
                            <a:schemeClr val="tx1"/>
                          </a:solidFill>
                          <a:effectLst/>
                          <a:latin typeface="Tahoma" panose="020B0604030504040204" pitchFamily="34" charset="0"/>
                          <a:ea typeface="Tahoma" panose="020B0604030504040204" pitchFamily="34" charset="0"/>
                          <a:cs typeface="Tahoma" panose="020B0604030504040204" pitchFamily="34" charset="0"/>
                        </a:rPr>
                        <a:t> mortality</a:t>
                      </a: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0.32</a:t>
                      </a:r>
                    </a:p>
                  </a:txBody>
                  <a:tcPr marL="68580" marR="68580" marT="0" marB="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&lt; 0.0001</a:t>
                      </a:r>
                    </a:p>
                    <a:p>
                      <a:pPr marL="0" marR="0" algn="ctr">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extLst>
                  <a:ext uri="{0D108BD9-81ED-4DB2-BD59-A6C34878D82A}">
                    <a16:rowId xmlns:a16="http://schemas.microsoft.com/office/drawing/2014/main" val="10005"/>
                  </a:ext>
                </a:extLst>
              </a:tr>
              <a:tr h="342900">
                <a:tc>
                  <a:txBody>
                    <a:bodyPr/>
                    <a:lstStyle/>
                    <a:p>
                      <a:pPr marL="0" marR="0">
                        <a:spcBef>
                          <a:spcPts val="0"/>
                        </a:spcBef>
                        <a:spcAft>
                          <a:spcPts val="0"/>
                        </a:spcAft>
                      </a:pPr>
                      <a:endPar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tc>
                  <a:txBody>
                    <a:bodyPr/>
                    <a:lstStyle/>
                    <a:p>
                      <a:pPr marL="0" marR="0" algn="ctr">
                        <a:spcBef>
                          <a:spcPts val="0"/>
                        </a:spcBef>
                        <a:spcAft>
                          <a:spcPts val="0"/>
                        </a:spcAft>
                      </a:pPr>
                      <a:r>
                        <a:rPr lang="en-US" sz="1400" dirty="0">
                          <a:solidFill>
                            <a:schemeClr val="tx1"/>
                          </a:solidFill>
                          <a:effectLst/>
                          <a:latin typeface="Tahoma" panose="020B0604030504040204" pitchFamily="34" charset="0"/>
                          <a:ea typeface="Tahoma" panose="020B0604030504040204" pitchFamily="34" charset="0"/>
                          <a:cs typeface="Tahoma" panose="020B0604030504040204" pitchFamily="34" charset="0"/>
                        </a:rPr>
                        <a:t> </a:t>
                      </a:r>
                    </a:p>
                  </a:txBody>
                  <a:tcPr marL="68580" marR="68580" marT="0" marB="0"/>
                </a:tc>
                <a:extLst>
                  <a:ext uri="{0D108BD9-81ED-4DB2-BD59-A6C34878D82A}">
                    <a16:rowId xmlns:a16="http://schemas.microsoft.com/office/drawing/2014/main" val="10006"/>
                  </a:ext>
                </a:extLst>
              </a:tr>
            </a:tbl>
          </a:graphicData>
        </a:graphic>
      </p:graphicFrame>
      <p:sp>
        <p:nvSpPr>
          <p:cNvPr id="8" name="Slide Number Placeholder 7">
            <a:extLst>
              <a:ext uri="{FF2B5EF4-FFF2-40B4-BE49-F238E27FC236}">
                <a16:creationId xmlns:a16="http://schemas.microsoft.com/office/drawing/2014/main" id="{DA5AA1BC-5AAA-C851-F2B8-21CE27BC077E}"/>
              </a:ext>
            </a:extLst>
          </p:cNvPr>
          <p:cNvSpPr>
            <a:spLocks noGrp="1"/>
          </p:cNvSpPr>
          <p:nvPr>
            <p:ph type="sldNum" sz="quarter" idx="11"/>
          </p:nvPr>
        </p:nvSpPr>
        <p:spPr/>
        <p:txBody>
          <a:bodyPr/>
          <a:lstStyle/>
          <a:p>
            <a:pPr>
              <a:defRPr/>
            </a:pPr>
            <a:fld id="{3409ADA3-42B3-456B-8472-9BD85CC2F264}" type="slidenum">
              <a:rPr lang="en-US" smtClean="0"/>
              <a:pPr>
                <a:defRPr/>
              </a:pPr>
              <a:t>34</a:t>
            </a:fld>
            <a:endParaRPr lang="en-US"/>
          </a:p>
        </p:txBody>
      </p:sp>
    </p:spTree>
    <p:extLst>
      <p:ext uri="{BB962C8B-B14F-4D97-AF65-F5344CB8AC3E}">
        <p14:creationId xmlns:p14="http://schemas.microsoft.com/office/powerpoint/2010/main" val="27792632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My conclusions</a:t>
            </a:r>
          </a:p>
        </p:txBody>
      </p:sp>
      <p:sp>
        <p:nvSpPr>
          <p:cNvPr id="37891" name="Rectangle 3"/>
          <p:cNvSpPr>
            <a:spLocks noGrp="1" noChangeArrowheads="1"/>
          </p:cNvSpPr>
          <p:nvPr>
            <p:ph type="body" idx="1"/>
          </p:nvPr>
        </p:nvSpPr>
        <p:spPr>
          <a:xfrm>
            <a:off x="457200" y="990600"/>
            <a:ext cx="8229600" cy="4525963"/>
          </a:xfrm>
        </p:spPr>
        <p:txBody>
          <a:bodyPr/>
          <a:lstStyle/>
          <a:p>
            <a:pPr eaLnBrk="1" hangingPunct="1">
              <a:buClr>
                <a:srgbClr val="0000CC"/>
              </a:buClr>
            </a:pPr>
            <a:r>
              <a:rPr lang="en-US" altLang="en-US" dirty="0">
                <a:latin typeface="Tahoma" pitchFamily="34" charset="0"/>
                <a:cs typeface="Tahoma" pitchFamily="34" charset="0"/>
              </a:rPr>
              <a:t>These and other results convinces me that diet matters</a:t>
            </a:r>
          </a:p>
          <a:p>
            <a:pPr eaLnBrk="1" hangingPunct="1">
              <a:buClr>
                <a:srgbClr val="0000CC"/>
              </a:buClr>
            </a:pPr>
            <a:endParaRPr lang="en-US" altLang="en-US" dirty="0">
              <a:latin typeface="Tahoma" pitchFamily="34" charset="0"/>
              <a:cs typeface="Tahoma" pitchFamily="34" charset="0"/>
            </a:endParaRPr>
          </a:p>
          <a:p>
            <a:pPr eaLnBrk="1" hangingPunct="1">
              <a:buClr>
                <a:srgbClr val="0000CC"/>
              </a:buClr>
            </a:pPr>
            <a:r>
              <a:rPr lang="en-US" altLang="en-US" dirty="0">
                <a:latin typeface="Tahoma" pitchFamily="34" charset="0"/>
                <a:cs typeface="Tahoma" pitchFamily="34" charset="0"/>
              </a:rPr>
              <a:t>It is highly multivariate</a:t>
            </a:r>
          </a:p>
          <a:p>
            <a:pPr lvl="1" eaLnBrk="1" hangingPunct="1">
              <a:buClr>
                <a:srgbClr val="C00000"/>
              </a:buClr>
              <a:buFont typeface="Arial" panose="020B0604020202020204" pitchFamily="34" charset="0"/>
              <a:buChar char="•"/>
            </a:pPr>
            <a:r>
              <a:rPr lang="en-US" altLang="en-US" dirty="0">
                <a:latin typeface="Tahoma" pitchFamily="34" charset="0"/>
                <a:cs typeface="Tahoma" pitchFamily="34" charset="0"/>
              </a:rPr>
              <a:t>Lots of things light up in a multivariate analysis</a:t>
            </a:r>
          </a:p>
          <a:p>
            <a:pPr lvl="1" eaLnBrk="1" hangingPunct="1">
              <a:buClr>
                <a:srgbClr val="C00000"/>
              </a:buClr>
              <a:buFont typeface="Arial" panose="020B0604020202020204" pitchFamily="34" charset="0"/>
              <a:buChar char="•"/>
            </a:pPr>
            <a:r>
              <a:rPr lang="en-US" altLang="en-US" dirty="0">
                <a:latin typeface="Tahoma" pitchFamily="34" charset="0"/>
                <a:cs typeface="Tahoma" pitchFamily="34" charset="0"/>
              </a:rPr>
              <a:t>The components though are fairly highly correlated (if you eat whole grains, you eat total grains)</a:t>
            </a:r>
          </a:p>
          <a:p>
            <a:pPr lvl="1" eaLnBrk="1" hangingPunct="1">
              <a:buClr>
                <a:srgbClr val="C00000"/>
              </a:buClr>
              <a:buFont typeface="Arial" panose="020B0604020202020204" pitchFamily="34" charset="0"/>
              <a:buChar char="•"/>
            </a:pPr>
            <a:r>
              <a:rPr lang="en-US" altLang="en-US" dirty="0">
                <a:latin typeface="Tahoma" pitchFamily="34" charset="0"/>
                <a:cs typeface="Tahoma" pitchFamily="34" charset="0"/>
              </a:rPr>
              <a:t>Substantial evidence that better diets are useful</a:t>
            </a:r>
          </a:p>
          <a:p>
            <a:pPr marL="0" indent="0" eaLnBrk="1" hangingPunct="1">
              <a:buClr>
                <a:srgbClr val="C00000"/>
              </a:buClr>
              <a:buNone/>
            </a:pPr>
            <a:endParaRPr lang="en-US" altLang="en-US" dirty="0">
              <a:latin typeface="Tahoma" pitchFamily="34" charset="0"/>
              <a:cs typeface="Tahoma" pitchFamily="34" charset="0"/>
            </a:endParaRPr>
          </a:p>
        </p:txBody>
      </p:sp>
      <p:sp>
        <p:nvSpPr>
          <p:cNvPr id="37892"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89840795-83E7-8370-4FA6-81B04975E568}"/>
              </a:ext>
            </a:extLst>
          </p:cNvPr>
          <p:cNvSpPr>
            <a:spLocks noGrp="1"/>
          </p:cNvSpPr>
          <p:nvPr>
            <p:ph type="sldNum" sz="quarter" idx="11"/>
          </p:nvPr>
        </p:nvSpPr>
        <p:spPr/>
        <p:txBody>
          <a:bodyPr/>
          <a:lstStyle/>
          <a:p>
            <a:pPr>
              <a:defRPr/>
            </a:pPr>
            <a:fld id="{3409ADA3-42B3-456B-8472-9BD85CC2F264}" type="slidenum">
              <a:rPr lang="en-US" smtClean="0"/>
              <a:pPr>
                <a:defRPr/>
              </a:pPr>
              <a:t>35</a:t>
            </a:fld>
            <a:endParaRPr lang="en-US"/>
          </a:p>
        </p:txBody>
      </p:sp>
    </p:spTree>
    <p:extLst>
      <p:ext uri="{BB962C8B-B14F-4D97-AF65-F5344CB8AC3E}">
        <p14:creationId xmlns:p14="http://schemas.microsoft.com/office/powerpoint/2010/main" val="988297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Measuring Diet</a:t>
            </a:r>
          </a:p>
        </p:txBody>
      </p:sp>
      <p:sp>
        <p:nvSpPr>
          <p:cNvPr id="37891" name="Rectangle 3"/>
          <p:cNvSpPr>
            <a:spLocks noGrp="1" noChangeArrowheads="1"/>
          </p:cNvSpPr>
          <p:nvPr>
            <p:ph type="body" idx="1"/>
          </p:nvPr>
        </p:nvSpPr>
        <p:spPr>
          <a:xfrm>
            <a:off x="457200" y="990601"/>
            <a:ext cx="8229600" cy="3581400"/>
          </a:xfrm>
        </p:spPr>
        <p:txBody>
          <a:bodyPr/>
          <a:lstStyle/>
          <a:p>
            <a:pPr eaLnBrk="1" hangingPunct="1">
              <a:buClr>
                <a:srgbClr val="0000CC"/>
              </a:buClr>
            </a:pPr>
            <a:r>
              <a:rPr lang="en-US" altLang="en-US" dirty="0">
                <a:latin typeface="Tahoma" pitchFamily="34" charset="0"/>
                <a:cs typeface="Tahoma" pitchFamily="34" charset="0"/>
              </a:rPr>
              <a:t>The results I just showed you are based on food frequency questionnaires.</a:t>
            </a:r>
          </a:p>
          <a:p>
            <a:pPr eaLnBrk="1" hangingPunct="1">
              <a:buClr>
                <a:srgbClr val="0000CC"/>
              </a:buClr>
            </a:pPr>
            <a:endParaRPr lang="en-US" altLang="en-US" dirty="0">
              <a:latin typeface="Tahoma" pitchFamily="34" charset="0"/>
              <a:cs typeface="Tahoma" pitchFamily="34" charset="0"/>
            </a:endParaRPr>
          </a:p>
          <a:p>
            <a:pPr eaLnBrk="1" hangingPunct="1">
              <a:buClr>
                <a:srgbClr val="0000CC"/>
              </a:buClr>
            </a:pPr>
            <a:r>
              <a:rPr lang="en-US" altLang="en-US" dirty="0">
                <a:latin typeface="Tahoma" pitchFamily="34" charset="0"/>
                <a:cs typeface="Tahoma" pitchFamily="34" charset="0"/>
              </a:rPr>
              <a:t>You answer questions about your diet, then are followed</a:t>
            </a:r>
          </a:p>
          <a:p>
            <a:pPr eaLnBrk="1" hangingPunct="1">
              <a:buClr>
                <a:srgbClr val="0000CC"/>
              </a:buClr>
            </a:pPr>
            <a:endParaRPr lang="en-US" altLang="en-US" dirty="0">
              <a:latin typeface="Tahoma" pitchFamily="34" charset="0"/>
              <a:cs typeface="Tahoma" pitchFamily="34" charset="0"/>
            </a:endParaRPr>
          </a:p>
          <a:p>
            <a:pPr eaLnBrk="1" hangingPunct="1">
              <a:buClr>
                <a:srgbClr val="0000CC"/>
              </a:buClr>
            </a:pPr>
            <a:r>
              <a:rPr lang="en-US" altLang="en-US" dirty="0">
                <a:latin typeface="Tahoma" pitchFamily="34" charset="0"/>
                <a:cs typeface="Tahoma" pitchFamily="34" charset="0"/>
              </a:rPr>
              <a:t>Tough exercise</a:t>
            </a:r>
          </a:p>
        </p:txBody>
      </p:sp>
      <p:sp>
        <p:nvSpPr>
          <p:cNvPr id="37892"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3155744C-65C5-3CCC-715E-F90B6AC57296}"/>
              </a:ext>
            </a:extLst>
          </p:cNvPr>
          <p:cNvSpPr>
            <a:spLocks noGrp="1"/>
          </p:cNvSpPr>
          <p:nvPr>
            <p:ph type="sldNum" sz="quarter" idx="11"/>
          </p:nvPr>
        </p:nvSpPr>
        <p:spPr/>
        <p:txBody>
          <a:bodyPr/>
          <a:lstStyle/>
          <a:p>
            <a:pPr>
              <a:defRPr/>
            </a:pPr>
            <a:fld id="{3409ADA3-42B3-456B-8472-9BD85CC2F264}" type="slidenum">
              <a:rPr lang="en-US" smtClean="0"/>
              <a:pPr>
                <a:defRPr/>
              </a:pPr>
              <a:t>36</a:t>
            </a:fld>
            <a:endParaRPr lang="en-US"/>
          </a:p>
        </p:txBody>
      </p:sp>
      <p:sp>
        <p:nvSpPr>
          <p:cNvPr id="2" name="TextBox 1">
            <a:extLst>
              <a:ext uri="{FF2B5EF4-FFF2-40B4-BE49-F238E27FC236}">
                <a16:creationId xmlns:a16="http://schemas.microsoft.com/office/drawing/2014/main" id="{CF8EE4D1-B01D-8DC1-C0B8-BB9AAE443190}"/>
              </a:ext>
            </a:extLst>
          </p:cNvPr>
          <p:cNvSpPr txBox="1"/>
          <p:nvPr/>
        </p:nvSpPr>
        <p:spPr>
          <a:xfrm>
            <a:off x="8183417" y="6178827"/>
            <a:ext cx="701966" cy="461665"/>
          </a:xfrm>
          <a:prstGeom prst="rect">
            <a:avLst/>
          </a:prstGeom>
          <a:noFill/>
        </p:spPr>
        <p:txBody>
          <a:bodyPr wrap="square" rtlCol="0">
            <a:spAutoFit/>
          </a:bodyPr>
          <a:lstStyle/>
          <a:p>
            <a:r>
              <a:rPr lang="en-US" dirty="0"/>
              <a:t>30</a:t>
            </a:r>
          </a:p>
        </p:txBody>
      </p:sp>
    </p:spTree>
    <p:extLst>
      <p:ext uri="{BB962C8B-B14F-4D97-AF65-F5344CB8AC3E}">
        <p14:creationId xmlns:p14="http://schemas.microsoft.com/office/powerpoint/2010/main" val="30477563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381000" y="0"/>
            <a:ext cx="8305800" cy="1143000"/>
          </a:xfrm>
        </p:spPr>
        <p:txBody>
          <a:bodyPr/>
          <a:lstStyle/>
          <a:p>
            <a:pPr algn="ctr" eaLnBrk="1" hangingPunct="1">
              <a:defRPr/>
            </a:pPr>
            <a:r>
              <a:rPr lang="en-US" sz="3200" dirty="0">
                <a:solidFill>
                  <a:srgbClr val="0000CC"/>
                </a:solidFill>
                <a:latin typeface="Tahoma" pitchFamily="34" charset="0"/>
              </a:rPr>
              <a:t>The Pizza Question</a:t>
            </a:r>
          </a:p>
        </p:txBody>
      </p:sp>
      <p:sp>
        <p:nvSpPr>
          <p:cNvPr id="37892"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5" name="Picture 2" descr="C:\Users\Carroll\Documents\My_Documents\Raymond_new_overheads\Measuring_Diet\Measuring_Diet_200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990600"/>
            <a:ext cx="5705936" cy="4993506"/>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Arrow Connector 2"/>
          <p:cNvCxnSpPr/>
          <p:nvPr/>
        </p:nvCxnSpPr>
        <p:spPr bwMode="auto">
          <a:xfrm flipH="1">
            <a:off x="6629400" y="1905000"/>
            <a:ext cx="1371600" cy="83820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9" name="Slide Number Placeholder 8">
            <a:extLst>
              <a:ext uri="{FF2B5EF4-FFF2-40B4-BE49-F238E27FC236}">
                <a16:creationId xmlns:a16="http://schemas.microsoft.com/office/drawing/2014/main" id="{F85C891E-3FD3-0776-F7D0-37E80A542FE5}"/>
              </a:ext>
            </a:extLst>
          </p:cNvPr>
          <p:cNvSpPr>
            <a:spLocks noGrp="1"/>
          </p:cNvSpPr>
          <p:nvPr>
            <p:ph type="sldNum" sz="quarter" idx="11"/>
          </p:nvPr>
        </p:nvSpPr>
        <p:spPr/>
        <p:txBody>
          <a:bodyPr/>
          <a:lstStyle/>
          <a:p>
            <a:pPr>
              <a:defRPr/>
            </a:pPr>
            <a:fld id="{3409ADA3-42B3-456B-8472-9BD85CC2F264}" type="slidenum">
              <a:rPr lang="en-US" smtClean="0"/>
              <a:pPr>
                <a:defRPr/>
              </a:pPr>
              <a:t>37</a:t>
            </a:fld>
            <a:endParaRPr lang="en-US"/>
          </a:p>
        </p:txBody>
      </p:sp>
    </p:spTree>
    <p:extLst>
      <p:ext uri="{BB962C8B-B14F-4D97-AF65-F5344CB8AC3E}">
        <p14:creationId xmlns:p14="http://schemas.microsoft.com/office/powerpoint/2010/main" val="18536464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172450" cy="1143000"/>
          </a:xfrm>
        </p:spPr>
        <p:txBody>
          <a:bodyPr/>
          <a:lstStyle/>
          <a:p>
            <a:pPr algn="ctr" eaLnBrk="1" hangingPunct="1">
              <a:defRPr/>
            </a:pPr>
            <a:r>
              <a:rPr lang="en-US" sz="3200" dirty="0">
                <a:solidFill>
                  <a:srgbClr val="0000CC"/>
                </a:solidFill>
                <a:latin typeface="Tahoma" pitchFamily="34" charset="0"/>
              </a:rPr>
              <a:t>Nutritional Surveillance</a:t>
            </a:r>
          </a:p>
        </p:txBody>
      </p:sp>
      <p:sp>
        <p:nvSpPr>
          <p:cNvPr id="26627" name="Rectangle 3"/>
          <p:cNvSpPr>
            <a:spLocks noGrp="1" noChangeArrowheads="1"/>
          </p:cNvSpPr>
          <p:nvPr>
            <p:ph type="body" idx="1"/>
          </p:nvPr>
        </p:nvSpPr>
        <p:spPr>
          <a:xfrm>
            <a:off x="457200" y="914400"/>
            <a:ext cx="8382000" cy="4525963"/>
          </a:xfrm>
        </p:spPr>
        <p:txBody>
          <a:bodyPr/>
          <a:lstStyle/>
          <a:p>
            <a:pPr eaLnBrk="1" hangingPunct="1">
              <a:buClr>
                <a:srgbClr val="0000CC"/>
              </a:buClr>
              <a:buSzPct val="150000"/>
            </a:pPr>
            <a:r>
              <a:rPr lang="en-US" altLang="en-US" dirty="0">
                <a:latin typeface="Tahoma" pitchFamily="34" charset="0"/>
              </a:rPr>
              <a:t>I have worked with NCI, USDA and Waterloo nutritionists</a:t>
            </a:r>
          </a:p>
          <a:p>
            <a:pPr eaLnBrk="1" hangingPunct="1">
              <a:buClr>
                <a:srgbClr val="0000CC"/>
              </a:buClr>
              <a:buSzPct val="150000"/>
            </a:pPr>
            <a:endParaRPr lang="en-US" altLang="en-US" dirty="0">
              <a:latin typeface="Tahoma" pitchFamily="34" charset="0"/>
            </a:endParaRPr>
          </a:p>
          <a:p>
            <a:pPr eaLnBrk="1" hangingPunct="1">
              <a:buClr>
                <a:srgbClr val="0000CC"/>
              </a:buClr>
              <a:buSzPct val="150000"/>
            </a:pPr>
            <a:r>
              <a:rPr lang="en-US" altLang="en-US" dirty="0">
                <a:latin typeface="Tahoma" pitchFamily="34" charset="0"/>
              </a:rPr>
              <a:t>They said to me that “We are being told that 30% of US children aged 3-8 have an alarmingly bad diet. We do not believe it. Can you investigate?”</a:t>
            </a:r>
          </a:p>
          <a:p>
            <a:pPr eaLnBrk="1" hangingPunct="1">
              <a:buClr>
                <a:srgbClr val="0000CC"/>
              </a:buClr>
              <a:buSzPct val="150000"/>
            </a:pPr>
            <a:endParaRPr lang="en-US" altLang="en-US" dirty="0">
              <a:latin typeface="Tahoma" pitchFamily="34" charset="0"/>
            </a:endParaRPr>
          </a:p>
          <a:p>
            <a:pPr eaLnBrk="1" hangingPunct="1">
              <a:buClr>
                <a:srgbClr val="0000CC"/>
              </a:buClr>
              <a:buSzPct val="150000"/>
            </a:pPr>
            <a:r>
              <a:rPr lang="en-US" altLang="en-US" dirty="0">
                <a:latin typeface="Tahoma" pitchFamily="34" charset="0"/>
              </a:rPr>
              <a:t>Nice challenge. I could not resist it </a:t>
            </a:r>
            <a:r>
              <a:rPr lang="en-US" altLang="en-US" dirty="0">
                <a:latin typeface="Tahoma" pitchFamily="34" charset="0"/>
                <a:sym typeface="Wingdings" panose="05000000000000000000" pitchFamily="2" charset="2"/>
              </a:rPr>
              <a:t></a:t>
            </a:r>
            <a:endParaRPr lang="en-US" altLang="en-US" dirty="0">
              <a:latin typeface="Tahoma" pitchFamily="34" charset="0"/>
            </a:endParaRPr>
          </a:p>
          <a:p>
            <a:pPr eaLnBrk="1" hangingPunct="1">
              <a:buClr>
                <a:srgbClr val="0000CC"/>
              </a:buClr>
              <a:buSzPct val="150000"/>
            </a:pPr>
            <a:endParaRPr lang="en-US" altLang="en-US" dirty="0">
              <a:latin typeface="Tahoma" pitchFamily="34" charset="0"/>
            </a:endParaRPr>
          </a:p>
        </p:txBody>
      </p:sp>
      <p:sp>
        <p:nvSpPr>
          <p:cNvPr id="26628"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AutoShape 2" descr="Image result for Arthur Schatzkin"/>
          <p:cNvSpPr>
            <a:spLocks noChangeAspect="1" noChangeArrowheads="1"/>
          </p:cNvSpPr>
          <p:nvPr/>
        </p:nvSpPr>
        <p:spPr bwMode="auto">
          <a:xfrm>
            <a:off x="155575" y="-617538"/>
            <a:ext cx="914400" cy="12954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AutoShape 2" descr="Image result for Joanne Lupton"/>
          <p:cNvSpPr>
            <a:spLocks noChangeAspect="1" noChangeArrowheads="1"/>
          </p:cNvSpPr>
          <p:nvPr/>
        </p:nvSpPr>
        <p:spPr bwMode="auto">
          <a:xfrm>
            <a:off x="155575" y="-411163"/>
            <a:ext cx="714375" cy="8572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4" descr="Image result for Joanne Lupton"/>
          <p:cNvSpPr>
            <a:spLocks noChangeAspect="1" noChangeArrowheads="1"/>
          </p:cNvSpPr>
          <p:nvPr/>
        </p:nvSpPr>
        <p:spPr bwMode="auto">
          <a:xfrm>
            <a:off x="307975" y="-258763"/>
            <a:ext cx="714375" cy="8572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Slide Number Placeholder 9">
            <a:extLst>
              <a:ext uri="{FF2B5EF4-FFF2-40B4-BE49-F238E27FC236}">
                <a16:creationId xmlns:a16="http://schemas.microsoft.com/office/drawing/2014/main" id="{D3B01572-9CF3-6265-6B0D-0622BAEE4DBA}"/>
              </a:ext>
            </a:extLst>
          </p:cNvPr>
          <p:cNvSpPr>
            <a:spLocks noGrp="1"/>
          </p:cNvSpPr>
          <p:nvPr>
            <p:ph type="sldNum" sz="quarter" idx="11"/>
          </p:nvPr>
        </p:nvSpPr>
        <p:spPr/>
        <p:txBody>
          <a:bodyPr/>
          <a:lstStyle/>
          <a:p>
            <a:pPr>
              <a:defRPr/>
            </a:pPr>
            <a:fld id="{3409ADA3-42B3-456B-8472-9BD85CC2F264}" type="slidenum">
              <a:rPr lang="en-US" smtClean="0"/>
              <a:pPr>
                <a:defRPr/>
              </a:pPr>
              <a:t>38</a:t>
            </a:fld>
            <a:endParaRPr lang="en-US"/>
          </a:p>
        </p:txBody>
      </p:sp>
    </p:spTree>
    <p:extLst>
      <p:ext uri="{BB962C8B-B14F-4D97-AF65-F5344CB8AC3E}">
        <p14:creationId xmlns:p14="http://schemas.microsoft.com/office/powerpoint/2010/main" val="4009767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Measuring Dietary Intake</a:t>
            </a:r>
          </a:p>
        </p:txBody>
      </p:sp>
      <p:sp>
        <p:nvSpPr>
          <p:cNvPr id="25603" name="Rectangle 3"/>
          <p:cNvSpPr>
            <a:spLocks noGrp="1" noChangeArrowheads="1"/>
          </p:cNvSpPr>
          <p:nvPr>
            <p:ph type="body" idx="1"/>
          </p:nvPr>
        </p:nvSpPr>
        <p:spPr>
          <a:xfrm>
            <a:off x="457200" y="914400"/>
            <a:ext cx="8229600" cy="4525963"/>
          </a:xfrm>
        </p:spPr>
        <p:txBody>
          <a:bodyPr/>
          <a:lstStyle/>
          <a:p>
            <a:pPr eaLnBrk="1" hangingPunct="1">
              <a:buClr>
                <a:srgbClr val="0000CC"/>
              </a:buClr>
              <a:buSzPct val="150000"/>
            </a:pPr>
            <a:r>
              <a:rPr lang="en-US" altLang="en-US" dirty="0">
                <a:latin typeface="Tahoma" pitchFamily="34" charset="0"/>
                <a:cs typeface="Tahoma" pitchFamily="34" charset="0"/>
              </a:rPr>
              <a:t>The National Health and Nutrition Examination Survey (NHANES) is a rolling 2-year wave of interviews, nationally representative of the U.S.</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They measure diet by one-two 24-hour recalls (24HR)</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Random days selected, etc.</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p:txBody>
      </p:sp>
      <p:sp>
        <p:nvSpPr>
          <p:cNvPr id="25604"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46BCB93E-CF01-BB8C-7E9B-55705ACA1D8C}"/>
              </a:ext>
            </a:extLst>
          </p:cNvPr>
          <p:cNvSpPr>
            <a:spLocks noGrp="1"/>
          </p:cNvSpPr>
          <p:nvPr>
            <p:ph type="sldNum" sz="quarter" idx="11"/>
          </p:nvPr>
        </p:nvSpPr>
        <p:spPr/>
        <p:txBody>
          <a:bodyPr/>
          <a:lstStyle/>
          <a:p>
            <a:pPr>
              <a:defRPr/>
            </a:pPr>
            <a:fld id="{3409ADA3-42B3-456B-8472-9BD85CC2F264}" type="slidenum">
              <a:rPr lang="en-US" smtClean="0"/>
              <a:pPr>
                <a:defRPr/>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The 24HR Recall</a:t>
            </a:r>
          </a:p>
        </p:txBody>
      </p:sp>
      <p:sp>
        <p:nvSpPr>
          <p:cNvPr id="25603" name="Rectangle 3"/>
          <p:cNvSpPr>
            <a:spLocks noGrp="1" noChangeArrowheads="1"/>
          </p:cNvSpPr>
          <p:nvPr>
            <p:ph type="body" idx="1"/>
          </p:nvPr>
        </p:nvSpPr>
        <p:spPr>
          <a:xfrm>
            <a:off x="457200" y="914400"/>
            <a:ext cx="8229600" cy="4525963"/>
          </a:xfrm>
        </p:spPr>
        <p:txBody>
          <a:bodyPr/>
          <a:lstStyle/>
          <a:p>
            <a:pPr eaLnBrk="1" hangingPunct="1">
              <a:buClr>
                <a:srgbClr val="0000CC"/>
              </a:buClr>
              <a:buSzPct val="150000"/>
            </a:pPr>
            <a:r>
              <a:rPr lang="en-US" altLang="en-US" dirty="0">
                <a:latin typeface="Tahoma" pitchFamily="34" charset="0"/>
                <a:cs typeface="Tahoma" pitchFamily="34" charset="0"/>
              </a:rPr>
              <a:t>Often done by a trained interviewer over the phone or in person</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There are now web-based tools being deployed</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 key is that it is a measure of what you ate yesterday</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It is not a measure of habitual (long-term) average) intake</a:t>
            </a:r>
          </a:p>
        </p:txBody>
      </p:sp>
      <p:sp>
        <p:nvSpPr>
          <p:cNvPr id="25604"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C2D631F4-A759-191B-F5D3-32E104AE1A1B}"/>
              </a:ext>
            </a:extLst>
          </p:cNvPr>
          <p:cNvSpPr>
            <a:spLocks noGrp="1"/>
          </p:cNvSpPr>
          <p:nvPr>
            <p:ph type="sldNum" sz="quarter" idx="11"/>
          </p:nvPr>
        </p:nvSpPr>
        <p:spPr/>
        <p:txBody>
          <a:bodyPr/>
          <a:lstStyle/>
          <a:p>
            <a:pPr>
              <a:defRPr/>
            </a:pPr>
            <a:fld id="{3409ADA3-42B3-456B-8472-9BD85CC2F264}" type="slidenum">
              <a:rPr lang="en-US" smtClean="0"/>
              <a:pPr>
                <a:defRPr/>
              </a:pPr>
              <a:t>40</a:t>
            </a:fld>
            <a:endParaRPr lang="en-US"/>
          </a:p>
        </p:txBody>
      </p:sp>
    </p:spTree>
    <p:extLst>
      <p:ext uri="{BB962C8B-B14F-4D97-AF65-F5344CB8AC3E}">
        <p14:creationId xmlns:p14="http://schemas.microsoft.com/office/powerpoint/2010/main" val="27091233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The 24HR Recall</a:t>
            </a:r>
          </a:p>
        </p:txBody>
      </p:sp>
      <p:sp>
        <p:nvSpPr>
          <p:cNvPr id="25603" name="Rectangle 3"/>
          <p:cNvSpPr>
            <a:spLocks noGrp="1" noChangeArrowheads="1"/>
          </p:cNvSpPr>
          <p:nvPr>
            <p:ph type="body" idx="1"/>
          </p:nvPr>
        </p:nvSpPr>
        <p:spPr>
          <a:xfrm>
            <a:off x="457200" y="914400"/>
            <a:ext cx="8229600" cy="4525963"/>
          </a:xfrm>
        </p:spPr>
        <p:txBody>
          <a:bodyPr/>
          <a:lstStyle/>
          <a:p>
            <a:pPr eaLnBrk="1" hangingPunct="1">
              <a:buClr>
                <a:srgbClr val="0000CC"/>
              </a:buClr>
              <a:buSzPct val="150000"/>
            </a:pPr>
            <a:r>
              <a:rPr lang="en-US" altLang="en-US" dirty="0">
                <a:latin typeface="Tahoma" pitchFamily="34" charset="0"/>
                <a:cs typeface="Tahoma" pitchFamily="34" charset="0"/>
              </a:rPr>
              <a:t>The 24HR is a good measure of intake on a single day, but as a measure of usual intake it does not account for day-day variability </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 sample mean 24HR value can be used as an estimate of the population mean usual intake</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b="1" dirty="0">
                <a:solidFill>
                  <a:srgbClr val="7030A0"/>
                </a:solidFill>
                <a:latin typeface="Tahoma" pitchFamily="34" charset="0"/>
                <a:cs typeface="Tahoma" pitchFamily="34" charset="0"/>
              </a:rPr>
              <a:t>My claim</a:t>
            </a:r>
            <a:r>
              <a:rPr lang="en-US" altLang="en-US" dirty="0">
                <a:latin typeface="Tahoma" pitchFamily="34" charset="0"/>
                <a:cs typeface="Tahoma" pitchFamily="34" charset="0"/>
              </a:rPr>
              <a:t>: The sample </a:t>
            </a:r>
            <a:r>
              <a:rPr lang="en-US" altLang="en-US" b="1" dirty="0">
                <a:solidFill>
                  <a:srgbClr val="0000CC"/>
                </a:solidFill>
                <a:latin typeface="Tahoma" pitchFamily="34" charset="0"/>
                <a:cs typeface="Tahoma" pitchFamily="34" charset="0"/>
              </a:rPr>
              <a:t>distribution</a:t>
            </a:r>
            <a:r>
              <a:rPr lang="en-US" altLang="en-US" dirty="0">
                <a:latin typeface="Tahoma" pitchFamily="34" charset="0"/>
                <a:cs typeface="Tahoma" pitchFamily="34" charset="0"/>
              </a:rPr>
              <a:t> of 24HR is a </a:t>
            </a:r>
            <a:r>
              <a:rPr lang="en-US" altLang="en-US" b="1" dirty="0">
                <a:solidFill>
                  <a:srgbClr val="C00000"/>
                </a:solidFill>
                <a:latin typeface="Tahoma" pitchFamily="34" charset="0"/>
                <a:cs typeface="Tahoma" pitchFamily="34" charset="0"/>
              </a:rPr>
              <a:t>terrible, abysmal, ridiculous</a:t>
            </a:r>
            <a:r>
              <a:rPr lang="en-US" altLang="en-US" dirty="0">
                <a:latin typeface="Tahoma" pitchFamily="34" charset="0"/>
                <a:cs typeface="Tahoma" pitchFamily="34" charset="0"/>
              </a:rPr>
              <a:t> estimate of the population distribution of usual intake</a:t>
            </a:r>
          </a:p>
          <a:p>
            <a:pPr eaLnBrk="1" hangingPunct="1">
              <a:buClr>
                <a:srgbClr val="0000CC"/>
              </a:buClr>
              <a:buSzPct val="150000"/>
            </a:pPr>
            <a:endParaRPr lang="en-US" altLang="en-US" dirty="0">
              <a:latin typeface="Tahoma" pitchFamily="34" charset="0"/>
            </a:endParaRPr>
          </a:p>
        </p:txBody>
      </p:sp>
      <p:sp>
        <p:nvSpPr>
          <p:cNvPr id="25604"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3D712B59-3ED7-1374-AFDE-3628D8E74743}"/>
              </a:ext>
            </a:extLst>
          </p:cNvPr>
          <p:cNvSpPr>
            <a:spLocks noGrp="1"/>
          </p:cNvSpPr>
          <p:nvPr>
            <p:ph type="sldNum" sz="quarter" idx="11"/>
          </p:nvPr>
        </p:nvSpPr>
        <p:spPr/>
        <p:txBody>
          <a:bodyPr/>
          <a:lstStyle/>
          <a:p>
            <a:pPr>
              <a:defRPr/>
            </a:pPr>
            <a:fld id="{3409ADA3-42B3-456B-8472-9BD85CC2F264}" type="slidenum">
              <a:rPr lang="en-US" smtClean="0"/>
              <a:pPr>
                <a:defRPr/>
              </a:pPr>
              <a:t>41</a:t>
            </a:fld>
            <a:endParaRPr lang="en-US"/>
          </a:p>
        </p:txBody>
      </p:sp>
    </p:spTree>
    <p:extLst>
      <p:ext uri="{BB962C8B-B14F-4D97-AF65-F5344CB8AC3E}">
        <p14:creationId xmlns:p14="http://schemas.microsoft.com/office/powerpoint/2010/main" val="7159645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Context</a:t>
            </a:r>
          </a:p>
        </p:txBody>
      </p:sp>
      <p:sp>
        <p:nvSpPr>
          <p:cNvPr id="28675" name="Rectangle 3"/>
          <p:cNvSpPr>
            <a:spLocks noGrp="1" noChangeArrowheads="1"/>
          </p:cNvSpPr>
          <p:nvPr>
            <p:ph type="body" idx="1"/>
          </p:nvPr>
        </p:nvSpPr>
        <p:spPr>
          <a:xfrm>
            <a:off x="457200" y="914400"/>
            <a:ext cx="8229600" cy="4525963"/>
          </a:xfrm>
        </p:spPr>
        <p:txBody>
          <a:bodyPr/>
          <a:lstStyle/>
          <a:p>
            <a:pPr eaLnBrk="1" hangingPunct="1">
              <a:buClr>
                <a:srgbClr val="0000CC"/>
              </a:buClr>
              <a:buSzPct val="150000"/>
            </a:pPr>
            <a:r>
              <a:rPr lang="en-US" altLang="en-US">
                <a:latin typeface="Tahoma" pitchFamily="34" charset="0"/>
                <a:cs typeface="Tahoma" pitchFamily="34" charset="0"/>
              </a:rPr>
              <a:t>The data we use are from the NHANES survey of children aged 2-8 in the U.S.</a:t>
            </a:r>
          </a:p>
          <a:p>
            <a:pPr eaLnBrk="1" hangingPunct="1">
              <a:buClr>
                <a:srgbClr val="0000CC"/>
              </a:buClr>
              <a:buSzPct val="150000"/>
            </a:pPr>
            <a:endParaRPr lang="en-US" altLang="en-US">
              <a:latin typeface="Tahoma" pitchFamily="34" charset="0"/>
              <a:cs typeface="Tahoma" pitchFamily="34" charset="0"/>
            </a:endParaRPr>
          </a:p>
          <a:p>
            <a:pPr eaLnBrk="1" hangingPunct="1">
              <a:buClr>
                <a:srgbClr val="0000CC"/>
              </a:buClr>
              <a:buSzPct val="150000"/>
            </a:pPr>
            <a:r>
              <a:rPr lang="en-US" altLang="en-US">
                <a:latin typeface="Tahoma" pitchFamily="34" charset="0"/>
                <a:cs typeface="Tahoma" pitchFamily="34" charset="0"/>
              </a:rPr>
              <a:t>The data set has 2,300 children with a 24hr</a:t>
            </a:r>
          </a:p>
          <a:p>
            <a:pPr eaLnBrk="1" hangingPunct="1">
              <a:buClr>
                <a:srgbClr val="0000CC"/>
              </a:buClr>
              <a:buSzPct val="150000"/>
            </a:pPr>
            <a:endParaRPr lang="en-US" altLang="en-US">
              <a:latin typeface="Tahoma" pitchFamily="34" charset="0"/>
              <a:cs typeface="Tahoma" pitchFamily="34" charset="0"/>
            </a:endParaRPr>
          </a:p>
          <a:p>
            <a:pPr eaLnBrk="1" hangingPunct="1">
              <a:buClr>
                <a:srgbClr val="0000CC"/>
              </a:buClr>
              <a:buSzPct val="150000"/>
            </a:pPr>
            <a:r>
              <a:rPr lang="en-US" altLang="en-US">
                <a:latin typeface="Tahoma" pitchFamily="34" charset="0"/>
                <a:cs typeface="Tahoma" pitchFamily="34" charset="0"/>
              </a:rPr>
              <a:t>There are roughly 700 with two 24hr</a:t>
            </a:r>
          </a:p>
          <a:p>
            <a:pPr eaLnBrk="1" hangingPunct="1">
              <a:buClr>
                <a:srgbClr val="0000CC"/>
              </a:buClr>
              <a:buSzPct val="150000"/>
            </a:pPr>
            <a:endParaRPr lang="en-US" altLang="en-US">
              <a:latin typeface="Tahoma" pitchFamily="34" charset="0"/>
              <a:cs typeface="Tahoma" pitchFamily="34" charset="0"/>
            </a:endParaRPr>
          </a:p>
          <a:p>
            <a:pPr eaLnBrk="1" hangingPunct="1">
              <a:buClr>
                <a:srgbClr val="0000CC"/>
              </a:buClr>
              <a:buSzPct val="150000"/>
            </a:pPr>
            <a:r>
              <a:rPr lang="en-US" altLang="en-US">
                <a:latin typeface="Tahoma" pitchFamily="34" charset="0"/>
                <a:cs typeface="Tahoma" pitchFamily="34" charset="0"/>
              </a:rPr>
              <a:t>This is a real survey, and survey weights are incorporated into the analysis</a:t>
            </a:r>
            <a:endParaRPr lang="en-US" altLang="en-US">
              <a:latin typeface="Tahoma" pitchFamily="34" charset="0"/>
            </a:endParaRPr>
          </a:p>
        </p:txBody>
      </p:sp>
      <p:sp>
        <p:nvSpPr>
          <p:cNvPr id="2867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C448A1FA-F83A-93AB-32E5-76F9D738C12F}"/>
              </a:ext>
            </a:extLst>
          </p:cNvPr>
          <p:cNvSpPr>
            <a:spLocks noGrp="1"/>
          </p:cNvSpPr>
          <p:nvPr>
            <p:ph type="sldNum" sz="quarter" idx="11"/>
          </p:nvPr>
        </p:nvSpPr>
        <p:spPr/>
        <p:txBody>
          <a:bodyPr/>
          <a:lstStyle/>
          <a:p>
            <a:pPr>
              <a:defRPr/>
            </a:pPr>
            <a:fld id="{3409ADA3-42B3-456B-8472-9BD85CC2F264}" type="slidenum">
              <a:rPr lang="en-US" smtClean="0"/>
              <a:pPr>
                <a:defRPr/>
              </a:pPr>
              <a:t>42</a:t>
            </a:fld>
            <a:endParaRPr lang="en-US"/>
          </a:p>
        </p:txBody>
      </p:sp>
    </p:spTree>
    <p:extLst>
      <p:ext uri="{BB962C8B-B14F-4D97-AF65-F5344CB8AC3E}">
        <p14:creationId xmlns:p14="http://schemas.microsoft.com/office/powerpoint/2010/main" val="37618840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Context</a:t>
            </a:r>
          </a:p>
        </p:txBody>
      </p:sp>
      <p:sp>
        <p:nvSpPr>
          <p:cNvPr id="30723" name="Rectangle 3"/>
          <p:cNvSpPr>
            <a:spLocks noGrp="1" noChangeArrowheads="1"/>
          </p:cNvSpPr>
          <p:nvPr>
            <p:ph type="body" idx="1"/>
          </p:nvPr>
        </p:nvSpPr>
        <p:spPr>
          <a:xfrm>
            <a:off x="457200" y="914400"/>
            <a:ext cx="8229600" cy="5943600"/>
          </a:xfrm>
        </p:spPr>
        <p:txBody>
          <a:bodyPr/>
          <a:lstStyle/>
          <a:p>
            <a:pPr eaLnBrk="1" hangingPunct="1">
              <a:buClr>
                <a:srgbClr val="0000CC"/>
              </a:buClr>
              <a:buSzPct val="150000"/>
            </a:pPr>
            <a:r>
              <a:rPr lang="en-US" altLang="en-US" dirty="0">
                <a:latin typeface="Tahoma" pitchFamily="34" charset="0"/>
                <a:cs typeface="Tahoma" pitchFamily="34" charset="0"/>
              </a:rPr>
              <a:t>Our goal is to give realistic estimates of dietary intake distributions and dietary patterns that account for the day-to-day variability</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We also want to estimate the real relationship between nutrition and cancer, while accounting for day-to-day variability</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Today we focus on the first problem. But we have also done the second</a:t>
            </a:r>
          </a:p>
        </p:txBody>
      </p:sp>
      <p:sp>
        <p:nvSpPr>
          <p:cNvPr id="30724"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54935D85-2065-AA81-53B4-DBC15DE6C3B2}"/>
              </a:ext>
            </a:extLst>
          </p:cNvPr>
          <p:cNvSpPr>
            <a:spLocks noGrp="1"/>
          </p:cNvSpPr>
          <p:nvPr>
            <p:ph type="sldNum" sz="quarter" idx="11"/>
          </p:nvPr>
        </p:nvSpPr>
        <p:spPr/>
        <p:txBody>
          <a:bodyPr/>
          <a:lstStyle/>
          <a:p>
            <a:pPr>
              <a:defRPr/>
            </a:pPr>
            <a:fld id="{3409ADA3-42B3-456B-8472-9BD85CC2F264}" type="slidenum">
              <a:rPr lang="en-US" smtClean="0"/>
              <a:pPr>
                <a:defRPr/>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Goal</a:t>
            </a:r>
          </a:p>
        </p:txBody>
      </p:sp>
      <p:sp>
        <p:nvSpPr>
          <p:cNvPr id="38915" name="Rectangle 3"/>
          <p:cNvSpPr>
            <a:spLocks noGrp="1" noChangeArrowheads="1"/>
          </p:cNvSpPr>
          <p:nvPr>
            <p:ph type="body" idx="1"/>
          </p:nvPr>
        </p:nvSpPr>
        <p:spPr>
          <a:xfrm>
            <a:off x="457200" y="914400"/>
            <a:ext cx="8229600" cy="5943600"/>
          </a:xfrm>
        </p:spPr>
        <p:txBody>
          <a:bodyPr/>
          <a:lstStyle/>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rPr>
              <a:t>What is the distribution of </a:t>
            </a:r>
            <a:r>
              <a:rPr lang="en-US" altLang="en-US" b="1" dirty="0">
                <a:solidFill>
                  <a:srgbClr val="C00000"/>
                </a:solidFill>
                <a:latin typeface="Tahoma" pitchFamily="34" charset="0"/>
              </a:rPr>
              <a:t>long term</a:t>
            </a:r>
            <a:r>
              <a:rPr lang="en-US" altLang="en-US" dirty="0">
                <a:latin typeface="Tahoma" pitchFamily="34" charset="0"/>
              </a:rPr>
              <a:t> dietary pattern scores, such as the HEI-2005 or the Mediterranean index?</a:t>
            </a:r>
          </a:p>
          <a:p>
            <a:pPr eaLnBrk="1" hangingPunct="1">
              <a:buClr>
                <a:srgbClr val="0000CC"/>
              </a:buClr>
              <a:buSzPct val="150000"/>
            </a:pPr>
            <a:endParaRPr lang="en-US" altLang="en-US" dirty="0">
              <a:latin typeface="Tahoma" pitchFamily="34" charset="0"/>
            </a:endParaRPr>
          </a:p>
          <a:p>
            <a:pPr eaLnBrk="1" hangingPunct="1">
              <a:buClr>
                <a:srgbClr val="0000CC"/>
              </a:buClr>
              <a:buSzPct val="150000"/>
            </a:pPr>
            <a:endParaRPr lang="en-US" altLang="en-US" dirty="0">
              <a:latin typeface="Tahoma" pitchFamily="34" charset="0"/>
            </a:endParaRPr>
          </a:p>
          <a:p>
            <a:pPr eaLnBrk="1" hangingPunct="1">
              <a:buClr>
                <a:srgbClr val="0000CC"/>
              </a:buClr>
              <a:buSzPct val="150000"/>
            </a:pPr>
            <a:endParaRPr lang="en-US" altLang="en-US" dirty="0">
              <a:latin typeface="Tahoma" pitchFamily="34" charset="0"/>
            </a:endParaRPr>
          </a:p>
        </p:txBody>
      </p:sp>
      <p:sp>
        <p:nvSpPr>
          <p:cNvPr id="38916"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F6F7D958-9D75-20E1-A790-0B05246E8E48}"/>
              </a:ext>
            </a:extLst>
          </p:cNvPr>
          <p:cNvSpPr>
            <a:spLocks noGrp="1"/>
          </p:cNvSpPr>
          <p:nvPr>
            <p:ph type="sldNum" sz="quarter" idx="11"/>
          </p:nvPr>
        </p:nvSpPr>
        <p:spPr/>
        <p:txBody>
          <a:bodyPr/>
          <a:lstStyle/>
          <a:p>
            <a:pPr>
              <a:defRPr/>
            </a:pPr>
            <a:fld id="{3409ADA3-42B3-456B-8472-9BD85CC2F264}" type="slidenum">
              <a:rPr lang="en-US" smtClean="0"/>
              <a:pPr>
                <a:defRPr/>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a:xfrm>
            <a:off x="457200" y="0"/>
            <a:ext cx="8229600" cy="1143000"/>
          </a:xfrm>
        </p:spPr>
        <p:txBody>
          <a:bodyPr/>
          <a:lstStyle/>
          <a:p>
            <a:pPr algn="ctr" eaLnBrk="1" hangingPunct="1">
              <a:defRPr/>
            </a:pPr>
            <a:r>
              <a:rPr lang="en-US" sz="3200" dirty="0">
                <a:solidFill>
                  <a:srgbClr val="0000CC"/>
                </a:solidFill>
                <a:latin typeface="Tahoma" pitchFamily="34" charset="0"/>
              </a:rPr>
              <a:t>The Healthy Eating Index - 2005</a:t>
            </a:r>
          </a:p>
        </p:txBody>
      </p:sp>
      <p:sp>
        <p:nvSpPr>
          <p:cNvPr id="40963" name="Rectangle 3"/>
          <p:cNvSpPr>
            <a:spLocks noGrp="1" noChangeArrowheads="1"/>
          </p:cNvSpPr>
          <p:nvPr>
            <p:ph type="body" idx="1"/>
          </p:nvPr>
        </p:nvSpPr>
        <p:spPr>
          <a:xfrm>
            <a:off x="457200" y="914400"/>
            <a:ext cx="8229600" cy="4525963"/>
          </a:xfrm>
        </p:spPr>
        <p:txBody>
          <a:bodyPr/>
          <a:lstStyle/>
          <a:p>
            <a:pPr eaLnBrk="1" hangingPunct="1">
              <a:buClr>
                <a:srgbClr val="000066"/>
              </a:buClr>
            </a:pPr>
            <a:r>
              <a:rPr lang="en-US" altLang="en-US" dirty="0">
                <a:latin typeface="Tahoma" pitchFamily="34" charset="0"/>
                <a:cs typeface="Tahoma" pitchFamily="34" charset="0"/>
              </a:rPr>
              <a:t>Now comes the hard part. An example:</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In this formula, “Cups” is </a:t>
            </a:r>
            <a:r>
              <a:rPr lang="en-US" altLang="en-US" b="1" dirty="0">
                <a:solidFill>
                  <a:srgbClr val="0000CC"/>
                </a:solidFill>
                <a:latin typeface="Tahoma" pitchFamily="34" charset="0"/>
                <a:cs typeface="Tahoma" pitchFamily="34" charset="0"/>
              </a:rPr>
              <a:t>long-term </a:t>
            </a:r>
            <a:r>
              <a:rPr lang="en-US" altLang="en-US" dirty="0">
                <a:latin typeface="Tahoma" pitchFamily="34" charset="0"/>
                <a:cs typeface="Tahoma" pitchFamily="34" charset="0"/>
              </a:rPr>
              <a:t>daily average number of cups consumed.</a:t>
            </a:r>
          </a:p>
          <a:p>
            <a:pPr eaLnBrk="1" hangingPunct="1">
              <a:buClr>
                <a:srgbClr val="0000CC"/>
              </a:buClr>
              <a:buSzPct val="150000"/>
            </a:pPr>
            <a:r>
              <a:rPr lang="en-US" altLang="en-US" dirty="0">
                <a:latin typeface="Tahoma" pitchFamily="34" charset="0"/>
                <a:cs typeface="Tahoma" pitchFamily="34" charset="0"/>
              </a:rPr>
              <a:t>“Energy” is </a:t>
            </a:r>
            <a:r>
              <a:rPr lang="en-US" altLang="en-US" b="1" dirty="0">
                <a:solidFill>
                  <a:schemeClr val="bg2"/>
                </a:solidFill>
                <a:latin typeface="Tahoma" pitchFamily="34" charset="0"/>
                <a:cs typeface="Tahoma" pitchFamily="34" charset="0"/>
              </a:rPr>
              <a:t>long-term </a:t>
            </a:r>
            <a:r>
              <a:rPr lang="en-US" altLang="en-US" dirty="0">
                <a:latin typeface="Tahoma" pitchFamily="34" charset="0"/>
                <a:cs typeface="Tahoma" pitchFamily="34" charset="0"/>
              </a:rPr>
              <a:t>daily average number of calories consumed</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r>
              <a:rPr lang="en-US" altLang="en-US" dirty="0">
                <a:latin typeface="Tahoma" pitchFamily="34" charset="0"/>
                <a:cs typeface="Tahoma" pitchFamily="34" charset="0"/>
              </a:rPr>
              <a:t>These are called </a:t>
            </a:r>
            <a:r>
              <a:rPr lang="en-US" altLang="en-US" b="1" dirty="0">
                <a:solidFill>
                  <a:srgbClr val="C00000"/>
                </a:solidFill>
                <a:latin typeface="Tahoma" pitchFamily="34" charset="0"/>
                <a:cs typeface="Tahoma" pitchFamily="34" charset="0"/>
              </a:rPr>
              <a:t>Usual Intakes</a:t>
            </a: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a:p>
            <a:pPr eaLnBrk="1" hangingPunct="1">
              <a:buClr>
                <a:srgbClr val="0000CC"/>
              </a:buClr>
              <a:buSzPct val="150000"/>
            </a:pPr>
            <a:endParaRPr lang="en-US" altLang="en-US" dirty="0">
              <a:latin typeface="Tahoma" pitchFamily="34" charset="0"/>
              <a:cs typeface="Tahoma" pitchFamily="34" charset="0"/>
            </a:endParaRPr>
          </a:p>
        </p:txBody>
      </p:sp>
      <p:sp>
        <p:nvSpPr>
          <p:cNvPr id="40964" name="Line 4"/>
          <p:cNvSpPr>
            <a:spLocks noChangeShapeType="1"/>
          </p:cNvSpPr>
          <p:nvPr/>
        </p:nvSpPr>
        <p:spPr bwMode="auto">
          <a:xfrm>
            <a:off x="457200" y="914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40965" name="Object 2"/>
          <p:cNvGraphicFramePr>
            <a:graphicFrameLocks noChangeAspect="1"/>
          </p:cNvGraphicFramePr>
          <p:nvPr/>
        </p:nvGraphicFramePr>
        <p:xfrm>
          <a:off x="1295400" y="1752600"/>
          <a:ext cx="6111875" cy="1096963"/>
        </p:xfrm>
        <a:graphic>
          <a:graphicData uri="http://schemas.openxmlformats.org/presentationml/2006/ole">
            <mc:AlternateContent xmlns:mc="http://schemas.openxmlformats.org/markup-compatibility/2006">
              <mc:Choice xmlns:v="urn:schemas-microsoft-com:vml" Requires="v">
                <p:oleObj name="Equation" r:id="rId2" imgW="2336800" imgH="419100" progId="Equation.DSMT4">
                  <p:embed/>
                </p:oleObj>
              </mc:Choice>
              <mc:Fallback>
                <p:oleObj name="Equation" r:id="rId2" imgW="2336800" imgH="419100" progId="Equation.DSMT4">
                  <p:embed/>
                  <p:pic>
                    <p:nvPicPr>
                      <p:cNvPr id="40965"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752600"/>
                        <a:ext cx="6111875" cy="1096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Slide Number Placeholder 6">
            <a:extLst>
              <a:ext uri="{FF2B5EF4-FFF2-40B4-BE49-F238E27FC236}">
                <a16:creationId xmlns:a16="http://schemas.microsoft.com/office/drawing/2014/main" id="{C981CBD8-06C3-47CA-D964-6E87FE116226}"/>
              </a:ext>
            </a:extLst>
          </p:cNvPr>
          <p:cNvSpPr>
            <a:spLocks noGrp="1"/>
          </p:cNvSpPr>
          <p:nvPr>
            <p:ph type="sldNum" sz="quarter" idx="11"/>
          </p:nvPr>
        </p:nvSpPr>
        <p:spPr/>
        <p:txBody>
          <a:bodyPr/>
          <a:lstStyle/>
          <a:p>
            <a:pPr>
              <a:defRPr/>
            </a:pPr>
            <a:fld id="{3409ADA3-42B3-456B-8472-9BD85CC2F264}" type="slidenum">
              <a:rPr lang="en-US" smtClean="0"/>
              <a:pPr>
                <a:defRPr/>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a:xfrm>
            <a:off x="457200" y="381000"/>
            <a:ext cx="8305800" cy="914400"/>
          </a:xfrm>
        </p:spPr>
        <p:txBody>
          <a:bodyPr/>
          <a:lstStyle/>
          <a:p>
            <a:pPr algn="ctr" eaLnBrk="1" hangingPunct="1">
              <a:defRPr/>
            </a:pPr>
            <a:r>
              <a:rPr lang="en-US" sz="3200" dirty="0">
                <a:solidFill>
                  <a:srgbClr val="0000CC"/>
                </a:solidFill>
                <a:latin typeface="Tahoma" pitchFamily="34" charset="0"/>
              </a:rPr>
              <a:t>Dietary Reality</a:t>
            </a:r>
            <a:endParaRPr lang="en-US" sz="2400" b="0" dirty="0">
              <a:latin typeface="Verdana" pitchFamily="34" charset="0"/>
            </a:endParaRPr>
          </a:p>
        </p:txBody>
      </p:sp>
      <p:sp>
        <p:nvSpPr>
          <p:cNvPr id="48131" name="Rectangle 3"/>
          <p:cNvSpPr>
            <a:spLocks noGrp="1" noChangeArrowheads="1"/>
          </p:cNvSpPr>
          <p:nvPr>
            <p:ph type="body" idx="1"/>
          </p:nvPr>
        </p:nvSpPr>
        <p:spPr/>
        <p:txBody>
          <a:bodyPr/>
          <a:lstStyle/>
          <a:p>
            <a:pPr marL="609600" indent="-609600" eaLnBrk="1" hangingPunct="1">
              <a:buFontTx/>
              <a:buNone/>
            </a:pPr>
            <a:endParaRPr lang="en-US" altLang="en-US" sz="2000">
              <a:latin typeface="Tahoma" pitchFamily="34" charset="0"/>
              <a:cs typeface="Tahoma" pitchFamily="34" charset="0"/>
            </a:endParaRPr>
          </a:p>
          <a:p>
            <a:pPr marL="609600" indent="-609600" eaLnBrk="1" hangingPunct="1">
              <a:buClr>
                <a:srgbClr val="0000CC"/>
              </a:buClr>
              <a:buSzPct val="150000"/>
            </a:pPr>
            <a:r>
              <a:rPr lang="en-US" altLang="en-US" b="1" u="sng">
                <a:solidFill>
                  <a:srgbClr val="C00000"/>
                </a:solidFill>
                <a:latin typeface="Tahoma" pitchFamily="34" charset="0"/>
                <a:cs typeface="Tahoma" pitchFamily="34" charset="0"/>
              </a:rPr>
              <a:t>Assumption</a:t>
            </a:r>
            <a:r>
              <a:rPr lang="en-US" altLang="en-US">
                <a:latin typeface="Tahoma" pitchFamily="34" charset="0"/>
                <a:cs typeface="Tahoma" pitchFamily="34" charset="0"/>
              </a:rPr>
              <a:t>: </a:t>
            </a:r>
            <a:r>
              <a:rPr lang="en-US" altLang="en-US" b="1">
                <a:solidFill>
                  <a:schemeClr val="bg2"/>
                </a:solidFill>
                <a:latin typeface="Tahoma" pitchFamily="34" charset="0"/>
                <a:cs typeface="Tahoma" pitchFamily="34" charset="0"/>
              </a:rPr>
              <a:t>24HR’s </a:t>
            </a:r>
            <a:r>
              <a:rPr lang="en-US" altLang="en-US">
                <a:latin typeface="Tahoma" pitchFamily="34" charset="0"/>
                <a:cs typeface="Tahoma" pitchFamily="34" charset="0"/>
              </a:rPr>
              <a:t>are unbiased measures of usual intake as measured by multiple 24HR</a:t>
            </a:r>
          </a:p>
          <a:p>
            <a:pPr marL="609600" indent="-609600" eaLnBrk="1" hangingPunct="1">
              <a:buClr>
                <a:srgbClr val="0000CC"/>
              </a:buClr>
              <a:buSzPct val="150000"/>
            </a:pPr>
            <a:endParaRPr lang="en-US" altLang="en-US">
              <a:latin typeface="Tahoma" pitchFamily="34" charset="0"/>
              <a:cs typeface="Tahoma" pitchFamily="34" charset="0"/>
            </a:endParaRPr>
          </a:p>
          <a:p>
            <a:pPr marL="609600" indent="-609600" eaLnBrk="1" hangingPunct="1">
              <a:buClr>
                <a:srgbClr val="0000CC"/>
              </a:buClr>
              <a:buSzPct val="150000"/>
            </a:pPr>
            <a:endParaRPr lang="en-US" altLang="en-US">
              <a:latin typeface="Tahoma" pitchFamily="34" charset="0"/>
              <a:cs typeface="Tahoma" pitchFamily="34" charset="0"/>
            </a:endParaRPr>
          </a:p>
        </p:txBody>
      </p:sp>
      <p:sp>
        <p:nvSpPr>
          <p:cNvPr id="48132" name="Line 4"/>
          <p:cNvSpPr>
            <a:spLocks noChangeShapeType="1"/>
          </p:cNvSpPr>
          <p:nvPr/>
        </p:nvSpPr>
        <p:spPr bwMode="auto">
          <a:xfrm>
            <a:off x="457200" y="15240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B26B1BCD-4E2A-8C80-3D68-AC34EBD2542A}"/>
              </a:ext>
            </a:extLst>
          </p:cNvPr>
          <p:cNvSpPr>
            <a:spLocks noGrp="1"/>
          </p:cNvSpPr>
          <p:nvPr>
            <p:ph type="sldNum" sz="quarter" idx="11"/>
          </p:nvPr>
        </p:nvSpPr>
        <p:spPr/>
        <p:txBody>
          <a:bodyPr/>
          <a:lstStyle/>
          <a:p>
            <a:pPr>
              <a:defRPr/>
            </a:pPr>
            <a:fld id="{3409ADA3-42B3-456B-8472-9BD85CC2F264}" type="slidenum">
              <a:rPr lang="en-US" smtClean="0"/>
              <a:pPr>
                <a:defRPr/>
              </a:pPr>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p:txBody>
          <a:bodyPr/>
          <a:lstStyle/>
          <a:p>
            <a:pPr algn="ctr" eaLnBrk="1" hangingPunct="1">
              <a:defRPr/>
            </a:pPr>
            <a:r>
              <a:rPr lang="en-US" sz="3200" dirty="0">
                <a:solidFill>
                  <a:srgbClr val="0000CC"/>
                </a:solidFill>
                <a:latin typeface="Tahoma" pitchFamily="34" charset="0"/>
              </a:rPr>
              <a:t>Folate: Right-Skewed Distributions</a:t>
            </a:r>
          </a:p>
        </p:txBody>
      </p:sp>
      <p:sp>
        <p:nvSpPr>
          <p:cNvPr id="49155" name="Text Box 3"/>
          <p:cNvSpPr txBox="1">
            <a:spLocks noChangeArrowheads="1"/>
          </p:cNvSpPr>
          <p:nvPr/>
        </p:nvSpPr>
        <p:spPr bwMode="auto">
          <a:xfrm>
            <a:off x="55563" y="6461125"/>
            <a:ext cx="20574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eaLnBrk="1" hangingPunct="1">
              <a:lnSpc>
                <a:spcPct val="80000"/>
              </a:lnSpc>
              <a:spcBef>
                <a:spcPct val="50000"/>
              </a:spcBef>
            </a:pPr>
            <a:r>
              <a:rPr lang="en-US" altLang="en-US" sz="1800">
                <a:solidFill>
                  <a:srgbClr val="0000CC"/>
                </a:solidFill>
              </a:rPr>
              <a:t>Source: EATS</a:t>
            </a:r>
          </a:p>
        </p:txBody>
      </p:sp>
      <p:pic>
        <p:nvPicPr>
          <p:cNvPr id="49156" name="Picture 4" descr="folapl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2175" y="1066800"/>
            <a:ext cx="6981825"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Line 5"/>
          <p:cNvSpPr>
            <a:spLocks noChangeShapeType="1"/>
          </p:cNvSpPr>
          <p:nvPr/>
        </p:nvSpPr>
        <p:spPr bwMode="auto">
          <a:xfrm>
            <a:off x="457200" y="9906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158" name="TextBox 5"/>
          <p:cNvSpPr txBox="1">
            <a:spLocks noChangeArrowheads="1"/>
          </p:cNvSpPr>
          <p:nvPr/>
        </p:nvSpPr>
        <p:spPr bwMode="auto">
          <a:xfrm>
            <a:off x="-33338" y="1600200"/>
            <a:ext cx="2166938"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ltLang="en-US" dirty="0"/>
              <a:t>Note here that a single 24hr is shifted left compared to usual intake, although the means are the same due to some unusually high days of intake </a:t>
            </a:r>
          </a:p>
        </p:txBody>
      </p:sp>
      <p:sp>
        <p:nvSpPr>
          <p:cNvPr id="7" name="Slide Number Placeholder 6">
            <a:extLst>
              <a:ext uri="{FF2B5EF4-FFF2-40B4-BE49-F238E27FC236}">
                <a16:creationId xmlns:a16="http://schemas.microsoft.com/office/drawing/2014/main" id="{060D9A69-2213-ED90-AE6C-18FB624FA91A}"/>
              </a:ext>
            </a:extLst>
          </p:cNvPr>
          <p:cNvSpPr>
            <a:spLocks noGrp="1"/>
          </p:cNvSpPr>
          <p:nvPr>
            <p:ph type="sldNum" sz="quarter" idx="11"/>
          </p:nvPr>
        </p:nvSpPr>
        <p:spPr/>
        <p:txBody>
          <a:bodyPr/>
          <a:lstStyle/>
          <a:p>
            <a:pPr>
              <a:defRPr/>
            </a:pPr>
            <a:fld id="{3409ADA3-42B3-456B-8472-9BD85CC2F264}" type="slidenum">
              <a:rPr lang="en-US" smtClean="0"/>
              <a:pPr>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457200" y="228600"/>
            <a:ext cx="8305800" cy="914400"/>
          </a:xfrm>
        </p:spPr>
        <p:txBody>
          <a:bodyPr/>
          <a:lstStyle/>
          <a:p>
            <a:pPr algn="ctr" eaLnBrk="1" hangingPunct="1">
              <a:defRPr/>
            </a:pPr>
            <a:r>
              <a:rPr lang="en-US" sz="3200" dirty="0">
                <a:solidFill>
                  <a:srgbClr val="0000CC"/>
                </a:solidFill>
                <a:latin typeface="Tahoma" pitchFamily="34" charset="0"/>
              </a:rPr>
              <a:t>Transformations</a:t>
            </a:r>
          </a:p>
        </p:txBody>
      </p:sp>
      <p:sp>
        <p:nvSpPr>
          <p:cNvPr id="50179" name="Rectangle 3"/>
          <p:cNvSpPr>
            <a:spLocks noGrp="1" noChangeArrowheads="1"/>
          </p:cNvSpPr>
          <p:nvPr>
            <p:ph type="body" idx="1"/>
          </p:nvPr>
        </p:nvSpPr>
        <p:spPr>
          <a:xfrm>
            <a:off x="381000" y="1219200"/>
            <a:ext cx="8458200" cy="3352799"/>
          </a:xfrm>
        </p:spPr>
        <p:txBody>
          <a:bodyPr/>
          <a:lstStyle/>
          <a:p>
            <a:pPr marL="660400" indent="-660400" eaLnBrk="1" hangingPunct="1">
              <a:buClr>
                <a:srgbClr val="0000CC"/>
              </a:buClr>
              <a:buSzPct val="120000"/>
            </a:pPr>
            <a:r>
              <a:rPr lang="en-US" altLang="en-US" dirty="0">
                <a:latin typeface="Tahoma" pitchFamily="34" charset="0"/>
                <a:cs typeface="Tahoma" pitchFamily="34" charset="0"/>
              </a:rPr>
              <a:t>To deal with the skewness, it is typical to transform the data so that day-to-day variation has a nice Gaussian-like distribution.</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One analyzes in this transformed scale, and then back-transforms to the original nutrient scale</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p:txBody>
      </p:sp>
      <p:sp>
        <p:nvSpPr>
          <p:cNvPr id="50180"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TextBox 2">
            <a:extLst>
              <a:ext uri="{FF2B5EF4-FFF2-40B4-BE49-F238E27FC236}">
                <a16:creationId xmlns:a16="http://schemas.microsoft.com/office/drawing/2014/main" id="{F9067037-41CB-8CF4-9DE8-7AC24CCD4BEB}"/>
              </a:ext>
            </a:extLst>
          </p:cNvPr>
          <p:cNvSpPr txBox="1"/>
          <p:nvPr/>
        </p:nvSpPr>
        <p:spPr>
          <a:xfrm>
            <a:off x="7931825" y="6396335"/>
            <a:ext cx="1235366" cy="461665"/>
          </a:xfrm>
          <a:prstGeom prst="rect">
            <a:avLst/>
          </a:prstGeom>
          <a:noFill/>
        </p:spPr>
        <p:txBody>
          <a:bodyPr wrap="square" rtlCol="0">
            <a:spAutoFit/>
          </a:bodyPr>
          <a:lstStyle/>
          <a:p>
            <a:r>
              <a:rPr lang="en-US" dirty="0"/>
              <a:t>38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sz="quarter"/>
          </p:nvPr>
        </p:nvSpPr>
        <p:spPr/>
        <p:txBody>
          <a:bodyPr/>
          <a:lstStyle/>
          <a:p>
            <a:pPr algn="ctr" eaLnBrk="1" hangingPunct="1">
              <a:defRPr/>
            </a:pPr>
            <a:r>
              <a:rPr lang="en-US" sz="3200">
                <a:solidFill>
                  <a:srgbClr val="0000CC"/>
                </a:solidFill>
                <a:latin typeface="Tahoma" pitchFamily="34" charset="0"/>
              </a:rPr>
              <a:t>Modeling With Transformations</a:t>
            </a:r>
          </a:p>
        </p:txBody>
      </p:sp>
      <p:pic>
        <p:nvPicPr>
          <p:cNvPr id="51203" name="Picture 3" descr="folaplot3"/>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419100" y="1384300"/>
            <a:ext cx="3148013" cy="2362200"/>
          </a:xfrm>
          <a:noFill/>
        </p:spPr>
      </p:pic>
      <p:pic>
        <p:nvPicPr>
          <p:cNvPr id="51204" name="Picture 4" descr="normplot2"/>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664200" y="1384300"/>
            <a:ext cx="3148013" cy="2362200"/>
          </a:xfrm>
          <a:noFill/>
        </p:spPr>
      </p:pic>
      <p:pic>
        <p:nvPicPr>
          <p:cNvPr id="51205" name="Picture 5" descr="normplot3"/>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a:xfrm>
            <a:off x="5645150" y="4127500"/>
            <a:ext cx="3148013" cy="2362200"/>
          </a:xfrm>
          <a:noFill/>
        </p:spPr>
      </p:pic>
      <p:pic>
        <p:nvPicPr>
          <p:cNvPr id="51206" name="Picture 6" descr="folaplot4"/>
          <p:cNvPicPr>
            <a:picLocks noGrp="1" noChangeAspect="1" noChangeArrowheads="1"/>
          </p:cNvPicPr>
          <p:nvPr>
            <p:ph sz="quarter" idx="3"/>
          </p:nvPr>
        </p:nvPicPr>
        <p:blipFill>
          <a:blip r:embed="rId5">
            <a:extLst>
              <a:ext uri="{28A0092B-C50C-407E-A947-70E740481C1C}">
                <a14:useLocalDpi xmlns:a14="http://schemas.microsoft.com/office/drawing/2010/main" val="0"/>
              </a:ext>
            </a:extLst>
          </a:blip>
          <a:srcRect/>
          <a:stretch>
            <a:fillRect/>
          </a:stretch>
        </p:blipFill>
        <p:spPr>
          <a:xfrm>
            <a:off x="412750" y="4102100"/>
            <a:ext cx="3148013" cy="2362200"/>
          </a:xfrm>
          <a:noFill/>
        </p:spPr>
      </p:pic>
      <p:sp>
        <p:nvSpPr>
          <p:cNvPr id="51207" name="Text Box 7"/>
          <p:cNvSpPr txBox="1">
            <a:spLocks noChangeArrowheads="1"/>
          </p:cNvSpPr>
          <p:nvPr/>
        </p:nvSpPr>
        <p:spPr bwMode="auto">
          <a:xfrm>
            <a:off x="69850" y="6461125"/>
            <a:ext cx="20574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eaLnBrk="1" hangingPunct="1">
              <a:lnSpc>
                <a:spcPct val="80000"/>
              </a:lnSpc>
              <a:spcBef>
                <a:spcPct val="50000"/>
              </a:spcBef>
            </a:pPr>
            <a:r>
              <a:rPr lang="en-US" altLang="en-US" sz="1800">
                <a:solidFill>
                  <a:srgbClr val="0000CC"/>
                </a:solidFill>
              </a:rPr>
              <a:t>Source: EATS</a:t>
            </a:r>
          </a:p>
        </p:txBody>
      </p:sp>
      <p:sp>
        <p:nvSpPr>
          <p:cNvPr id="51208" name="Text Box 8"/>
          <p:cNvSpPr txBox="1">
            <a:spLocks noChangeArrowheads="1"/>
          </p:cNvSpPr>
          <p:nvPr/>
        </p:nvSpPr>
        <p:spPr bwMode="auto">
          <a:xfrm>
            <a:off x="457200" y="990600"/>
            <a:ext cx="3048000" cy="3937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50000"/>
              </a:spcBef>
            </a:pPr>
            <a:r>
              <a:rPr lang="en-US" altLang="en-US">
                <a:solidFill>
                  <a:srgbClr val="0000CC"/>
                </a:solidFill>
              </a:rPr>
              <a:t>Original Scale</a:t>
            </a:r>
          </a:p>
        </p:txBody>
      </p:sp>
      <p:sp>
        <p:nvSpPr>
          <p:cNvPr id="51209" name="Text Box 9"/>
          <p:cNvSpPr txBox="1">
            <a:spLocks noChangeArrowheads="1"/>
          </p:cNvSpPr>
          <p:nvPr/>
        </p:nvSpPr>
        <p:spPr bwMode="auto">
          <a:xfrm>
            <a:off x="5715000" y="990600"/>
            <a:ext cx="3048000" cy="3937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50000"/>
              </a:spcBef>
            </a:pPr>
            <a:r>
              <a:rPr lang="en-US" altLang="en-US">
                <a:solidFill>
                  <a:srgbClr val="0000CC"/>
                </a:solidFill>
              </a:rPr>
              <a:t>Transformed Scale</a:t>
            </a:r>
          </a:p>
        </p:txBody>
      </p:sp>
      <p:sp>
        <p:nvSpPr>
          <p:cNvPr id="51210" name="AutoShape 10"/>
          <p:cNvSpPr>
            <a:spLocks noChangeArrowheads="1"/>
          </p:cNvSpPr>
          <p:nvPr/>
        </p:nvSpPr>
        <p:spPr bwMode="auto">
          <a:xfrm>
            <a:off x="3898900" y="2222500"/>
            <a:ext cx="1371600" cy="457200"/>
          </a:xfrm>
          <a:prstGeom prst="rightArrow">
            <a:avLst>
              <a:gd name="adj1" fmla="val 50000"/>
              <a:gd name="adj2" fmla="val 75000"/>
            </a:avLst>
          </a:prstGeom>
          <a:solidFill>
            <a:schemeClr val="accent1"/>
          </a:solidFill>
          <a:ln w="9525" algn="ctr">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30000"/>
              </a:spcBef>
            </a:pPr>
            <a:r>
              <a:rPr lang="en-US" altLang="en-US" sz="1600">
                <a:solidFill>
                  <a:srgbClr val="0000CC"/>
                </a:solidFill>
              </a:rPr>
              <a:t>Transform</a:t>
            </a:r>
          </a:p>
        </p:txBody>
      </p:sp>
      <p:sp>
        <p:nvSpPr>
          <p:cNvPr id="51211" name="AutoShape 11"/>
          <p:cNvSpPr>
            <a:spLocks noChangeArrowheads="1"/>
          </p:cNvSpPr>
          <p:nvPr/>
        </p:nvSpPr>
        <p:spPr bwMode="auto">
          <a:xfrm>
            <a:off x="3886200" y="4978400"/>
            <a:ext cx="1371600" cy="457200"/>
          </a:xfrm>
          <a:prstGeom prst="leftArrow">
            <a:avLst>
              <a:gd name="adj1" fmla="val 50000"/>
              <a:gd name="adj2" fmla="val 75000"/>
            </a:avLst>
          </a:prstGeom>
          <a:solidFill>
            <a:schemeClr val="accent1"/>
          </a:solidFill>
          <a:ln w="9525" algn="ctr">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30000"/>
              </a:spcBef>
            </a:pPr>
            <a:r>
              <a:rPr lang="en-US" altLang="en-US" sz="1600">
                <a:solidFill>
                  <a:srgbClr val="0000CC"/>
                </a:solidFill>
              </a:rPr>
              <a:t>Backtransform</a:t>
            </a:r>
          </a:p>
        </p:txBody>
      </p:sp>
      <p:sp>
        <p:nvSpPr>
          <p:cNvPr id="51212" name="AutoShape 12"/>
          <p:cNvSpPr>
            <a:spLocks noChangeArrowheads="1"/>
          </p:cNvSpPr>
          <p:nvPr/>
        </p:nvSpPr>
        <p:spPr bwMode="auto">
          <a:xfrm>
            <a:off x="7086600" y="3759200"/>
            <a:ext cx="457200" cy="457200"/>
          </a:xfrm>
          <a:prstGeom prst="downArrow">
            <a:avLst>
              <a:gd name="adj1" fmla="val 50000"/>
              <a:gd name="adj2" fmla="val 25000"/>
            </a:avLst>
          </a:prstGeom>
          <a:solidFill>
            <a:schemeClr val="accent1"/>
          </a:solidFill>
          <a:ln w="9525" algn="ctr">
            <a:solidFill>
              <a:schemeClr val="tx1"/>
            </a:solidFill>
            <a:miter lim="800000"/>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lnSpc>
                <a:spcPct val="80000"/>
              </a:lnSpc>
              <a:spcBef>
                <a:spcPct val="30000"/>
              </a:spcBef>
            </a:pPr>
            <a:endParaRPr lang="en-US" altLang="en-US"/>
          </a:p>
        </p:txBody>
      </p:sp>
      <p:sp>
        <p:nvSpPr>
          <p:cNvPr id="51213" name="Line 13"/>
          <p:cNvSpPr>
            <a:spLocks noChangeShapeType="1"/>
          </p:cNvSpPr>
          <p:nvPr/>
        </p:nvSpPr>
        <p:spPr bwMode="auto">
          <a:xfrm>
            <a:off x="304800" y="838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07A126E8-9D33-7877-CD16-10469C69070E}"/>
              </a:ext>
            </a:extLst>
          </p:cNvPr>
          <p:cNvSpPr>
            <a:spLocks noGrp="1"/>
          </p:cNvSpPr>
          <p:nvPr>
            <p:ph type="sldNum" sz="quarter" idx="11"/>
          </p:nvPr>
        </p:nvSpPr>
        <p:spPr/>
        <p:txBody>
          <a:bodyPr/>
          <a:lstStyle/>
          <a:p>
            <a:pPr>
              <a:defRPr/>
            </a:pPr>
            <a:fld id="{9440EE2B-F1DA-4C25-8ADD-349637FB58DA}" type="slidenum">
              <a:rPr lang="en-US" smtClean="0"/>
              <a:pPr>
                <a:defRPr/>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457200" y="228600"/>
            <a:ext cx="8305800" cy="914400"/>
          </a:xfrm>
        </p:spPr>
        <p:txBody>
          <a:bodyPr/>
          <a:lstStyle/>
          <a:p>
            <a:pPr algn="ctr" eaLnBrk="1" hangingPunct="1">
              <a:defRPr/>
            </a:pPr>
            <a:r>
              <a:rPr lang="en-US" sz="3200" dirty="0">
                <a:solidFill>
                  <a:srgbClr val="0000CC"/>
                </a:solidFill>
                <a:latin typeface="Tahoma" pitchFamily="34" charset="0"/>
              </a:rPr>
              <a:t>Episodically Consumed Foods</a:t>
            </a:r>
          </a:p>
        </p:txBody>
      </p:sp>
      <p:sp>
        <p:nvSpPr>
          <p:cNvPr id="52227" name="Rectangle 3"/>
          <p:cNvSpPr>
            <a:spLocks noGrp="1" noChangeArrowheads="1"/>
          </p:cNvSpPr>
          <p:nvPr>
            <p:ph type="body" idx="1"/>
          </p:nvPr>
        </p:nvSpPr>
        <p:spPr>
          <a:xfrm>
            <a:off x="381000" y="1219200"/>
            <a:ext cx="8458200" cy="5638800"/>
          </a:xfrm>
        </p:spPr>
        <p:txBody>
          <a:bodyPr/>
          <a:lstStyle/>
          <a:p>
            <a:pPr marL="660400" indent="-660400" eaLnBrk="1" hangingPunct="1">
              <a:buClr>
                <a:srgbClr val="0000CC"/>
              </a:buClr>
              <a:buSzPct val="120000"/>
            </a:pPr>
            <a:r>
              <a:rPr lang="en-US" altLang="en-US">
                <a:latin typeface="Tahoma" pitchFamily="34" charset="0"/>
                <a:cs typeface="Tahoma" pitchFamily="34" charset="0"/>
              </a:rPr>
              <a:t>The HEI-2005 has 6 components that are episodically consumed. Among children aged 2-8 in the U.S., here are the percentages of reported </a:t>
            </a:r>
            <a:r>
              <a:rPr lang="en-US" altLang="en-US" b="1">
                <a:solidFill>
                  <a:srgbClr val="C00000"/>
                </a:solidFill>
                <a:latin typeface="Tahoma" pitchFamily="34" charset="0"/>
                <a:cs typeface="Tahoma" pitchFamily="34" charset="0"/>
              </a:rPr>
              <a:t>non-consumption</a:t>
            </a:r>
            <a:r>
              <a:rPr lang="en-US" altLang="en-US">
                <a:latin typeface="Tahoma" pitchFamily="34" charset="0"/>
                <a:cs typeface="Tahoma" pitchFamily="34" charset="0"/>
              </a:rPr>
              <a:t> on a 24hr</a:t>
            </a:r>
          </a:p>
          <a:p>
            <a:pPr marL="660400" indent="-660400" eaLnBrk="1" hangingPunct="1">
              <a:buClr>
                <a:srgbClr val="0000CC"/>
              </a:buClr>
              <a:buSzPct val="120000"/>
            </a:pPr>
            <a:r>
              <a:rPr lang="en-US" altLang="en-US">
                <a:solidFill>
                  <a:srgbClr val="000000"/>
                </a:solidFill>
                <a:latin typeface="Tahoma" pitchFamily="34" charset="0"/>
                <a:cs typeface="Tahoma" pitchFamily="34" charset="0"/>
              </a:rPr>
              <a:t>Total Fruit 	 = 17%</a:t>
            </a:r>
          </a:p>
          <a:p>
            <a:pPr marL="660400" indent="-660400" eaLnBrk="1" hangingPunct="1">
              <a:buClr>
                <a:srgbClr val="0000CC"/>
              </a:buClr>
              <a:buSzPct val="120000"/>
            </a:pPr>
            <a:r>
              <a:rPr lang="en-US" altLang="en-US">
                <a:solidFill>
                  <a:srgbClr val="000000"/>
                </a:solidFill>
                <a:latin typeface="Tahoma" pitchFamily="34" charset="0"/>
                <a:cs typeface="Tahoma" pitchFamily="34" charset="0"/>
              </a:rPr>
              <a:t>Whole Fruit 	 = 40%</a:t>
            </a:r>
          </a:p>
          <a:p>
            <a:pPr marL="660400" indent="-660400" eaLnBrk="1" hangingPunct="1">
              <a:buClr>
                <a:srgbClr val="0000CC"/>
              </a:buClr>
              <a:buSzPct val="120000"/>
            </a:pPr>
            <a:r>
              <a:rPr lang="en-US" altLang="en-US">
                <a:solidFill>
                  <a:srgbClr val="000000"/>
                </a:solidFill>
                <a:latin typeface="Tahoma" pitchFamily="34" charset="0"/>
                <a:cs typeface="Tahoma" pitchFamily="34" charset="0"/>
              </a:rPr>
              <a:t>Whole Grains = 42%</a:t>
            </a:r>
          </a:p>
          <a:p>
            <a:pPr marL="660400" indent="-660400" eaLnBrk="1" hangingPunct="1">
              <a:buClr>
                <a:srgbClr val="0000CC"/>
              </a:buClr>
              <a:buSzPct val="120000"/>
            </a:pPr>
            <a:r>
              <a:rPr lang="en-US" altLang="en-US">
                <a:solidFill>
                  <a:srgbClr val="000000"/>
                </a:solidFill>
                <a:latin typeface="Tahoma" pitchFamily="34" charset="0"/>
                <a:cs typeface="Tahoma" pitchFamily="34" charset="0"/>
              </a:rPr>
              <a:t>Total Veggies = 3%</a:t>
            </a:r>
          </a:p>
          <a:p>
            <a:pPr marL="660400" indent="-660400" eaLnBrk="1" hangingPunct="1">
              <a:buClr>
                <a:srgbClr val="0000CC"/>
              </a:buClr>
              <a:buSzPct val="120000"/>
            </a:pPr>
            <a:r>
              <a:rPr lang="en-US" altLang="en-US">
                <a:solidFill>
                  <a:srgbClr val="000000"/>
                </a:solidFill>
                <a:latin typeface="Tahoma" pitchFamily="34" charset="0"/>
                <a:cs typeface="Tahoma" pitchFamily="34" charset="0"/>
              </a:rPr>
              <a:t>DOL 		 = 50%</a:t>
            </a:r>
          </a:p>
          <a:p>
            <a:pPr marL="660400" indent="-660400" eaLnBrk="1" hangingPunct="1">
              <a:buClr>
                <a:srgbClr val="0000CC"/>
              </a:buClr>
              <a:buSzPct val="120000"/>
            </a:pPr>
            <a:r>
              <a:rPr lang="en-US" altLang="en-US">
                <a:solidFill>
                  <a:srgbClr val="000000"/>
                </a:solidFill>
                <a:latin typeface="Tahoma" pitchFamily="34" charset="0"/>
                <a:cs typeface="Tahoma" pitchFamily="34" charset="0"/>
              </a:rPr>
              <a:t>MilK 		 = 12%</a:t>
            </a:r>
          </a:p>
        </p:txBody>
      </p:sp>
      <p:sp>
        <p:nvSpPr>
          <p:cNvPr id="52228"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3F67F3F6-D174-FA2D-E3C7-7F9F9F21E03D}"/>
              </a:ext>
            </a:extLst>
          </p:cNvPr>
          <p:cNvSpPr>
            <a:spLocks noGrp="1"/>
          </p:cNvSpPr>
          <p:nvPr>
            <p:ph type="sldNum" sz="quarter" idx="11"/>
          </p:nvPr>
        </p:nvSpPr>
        <p:spPr/>
        <p:txBody>
          <a:bodyPr/>
          <a:lstStyle/>
          <a:p>
            <a:pPr>
              <a:defRPr/>
            </a:pPr>
            <a:fld id="{3409ADA3-42B3-456B-8472-9BD85CC2F264}" type="slidenum">
              <a:rPr lang="en-US" smtClean="0"/>
              <a:pPr>
                <a:defRPr/>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457200" y="228600"/>
            <a:ext cx="8305800" cy="914400"/>
          </a:xfrm>
        </p:spPr>
        <p:txBody>
          <a:bodyPr/>
          <a:lstStyle/>
          <a:p>
            <a:pPr algn="ctr" eaLnBrk="1" hangingPunct="1">
              <a:defRPr/>
            </a:pPr>
            <a:r>
              <a:rPr lang="en-US" sz="3200" dirty="0">
                <a:solidFill>
                  <a:srgbClr val="0000CC"/>
                </a:solidFill>
                <a:latin typeface="Tahoma" pitchFamily="34" charset="0"/>
              </a:rPr>
              <a:t>Models</a:t>
            </a:r>
          </a:p>
        </p:txBody>
      </p:sp>
      <p:sp>
        <p:nvSpPr>
          <p:cNvPr id="54275" name="Rectangle 3"/>
          <p:cNvSpPr>
            <a:spLocks noGrp="1" noChangeArrowheads="1"/>
          </p:cNvSpPr>
          <p:nvPr>
            <p:ph type="body" idx="1"/>
          </p:nvPr>
        </p:nvSpPr>
        <p:spPr/>
        <p:txBody>
          <a:bodyPr/>
          <a:lstStyle/>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We have developed models and programs for one food at a time</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Just look up NCI Method </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buFontTx/>
              <a:buNone/>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buFontTx/>
              <a:buNone/>
            </a:pPr>
            <a:endParaRPr lang="en-US" altLang="en-US" dirty="0">
              <a:solidFill>
                <a:srgbClr val="000000"/>
              </a:solidFill>
              <a:latin typeface="Tahoma" pitchFamily="34" charset="0"/>
              <a:cs typeface="Tahoma" pitchFamily="34" charset="0"/>
            </a:endParaRPr>
          </a:p>
        </p:txBody>
      </p:sp>
      <p:sp>
        <p:nvSpPr>
          <p:cNvPr id="54276"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00765F54-96A4-A9AE-CE68-C541BF56F3D1}"/>
              </a:ext>
            </a:extLst>
          </p:cNvPr>
          <p:cNvSpPr>
            <a:spLocks noGrp="1"/>
          </p:cNvSpPr>
          <p:nvPr>
            <p:ph type="sldNum" sz="quarter" idx="11"/>
          </p:nvPr>
        </p:nvSpPr>
        <p:spPr/>
        <p:txBody>
          <a:bodyPr/>
          <a:lstStyle/>
          <a:p>
            <a:pPr>
              <a:defRPr/>
            </a:pPr>
            <a:fld id="{3409ADA3-42B3-456B-8472-9BD85CC2F264}" type="slidenum">
              <a:rPr lang="en-US" smtClean="0"/>
              <a:pPr>
                <a:defRPr/>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457200" y="228600"/>
            <a:ext cx="8305800" cy="914400"/>
          </a:xfrm>
        </p:spPr>
        <p:txBody>
          <a:bodyPr/>
          <a:lstStyle/>
          <a:p>
            <a:pPr algn="ctr" eaLnBrk="1" hangingPunct="1">
              <a:defRPr/>
            </a:pPr>
            <a:r>
              <a:rPr lang="en-US" sz="3200" dirty="0">
                <a:solidFill>
                  <a:srgbClr val="0000CC"/>
                </a:solidFill>
                <a:latin typeface="Tahoma" pitchFamily="34" charset="0"/>
              </a:rPr>
              <a:t>So, What’s the Big Deal?</a:t>
            </a:r>
          </a:p>
        </p:txBody>
      </p:sp>
      <p:sp>
        <p:nvSpPr>
          <p:cNvPr id="56323" name="Rectangle 3"/>
          <p:cNvSpPr>
            <a:spLocks noGrp="1" noChangeArrowheads="1"/>
          </p:cNvSpPr>
          <p:nvPr>
            <p:ph type="body" idx="1"/>
          </p:nvPr>
        </p:nvSpPr>
        <p:spPr>
          <a:xfrm>
            <a:off x="381000" y="1219200"/>
            <a:ext cx="8458200" cy="5334000"/>
          </a:xfrm>
        </p:spPr>
        <p:txBody>
          <a:bodyPr/>
          <a:lstStyle/>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HEI is complex, because it has 6 episodically consumed foods,  6 daily-consumed foods and nutrients, and energy.</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p:txBody>
      </p:sp>
      <p:sp>
        <p:nvSpPr>
          <p:cNvPr id="56324"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CF00C1E8-32D0-B04E-E582-6C61315DE8B5}"/>
              </a:ext>
            </a:extLst>
          </p:cNvPr>
          <p:cNvSpPr>
            <a:spLocks noGrp="1"/>
          </p:cNvSpPr>
          <p:nvPr>
            <p:ph type="sldNum" sz="quarter" idx="11"/>
          </p:nvPr>
        </p:nvSpPr>
        <p:spPr/>
        <p:txBody>
          <a:bodyPr/>
          <a:lstStyle/>
          <a:p>
            <a:pPr>
              <a:defRPr/>
            </a:pPr>
            <a:fld id="{3409ADA3-42B3-456B-8472-9BD85CC2F264}" type="slidenum">
              <a:rPr lang="en-US" smtClean="0"/>
              <a:pPr>
                <a:defRPr/>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457200" y="228600"/>
            <a:ext cx="8305800" cy="914400"/>
          </a:xfrm>
        </p:spPr>
        <p:txBody>
          <a:bodyPr/>
          <a:lstStyle/>
          <a:p>
            <a:pPr algn="ctr" eaLnBrk="1" hangingPunct="1">
              <a:defRPr/>
            </a:pPr>
            <a:r>
              <a:rPr lang="en-US" sz="3200" dirty="0">
                <a:solidFill>
                  <a:srgbClr val="0000CC"/>
                </a:solidFill>
                <a:latin typeface="Tahoma" pitchFamily="34" charset="0"/>
              </a:rPr>
              <a:t>A Multivariate Model</a:t>
            </a:r>
          </a:p>
        </p:txBody>
      </p:sp>
      <p:sp>
        <p:nvSpPr>
          <p:cNvPr id="60419" name="Rectangle 3"/>
          <p:cNvSpPr>
            <a:spLocks noGrp="1" noChangeArrowheads="1"/>
          </p:cNvSpPr>
          <p:nvPr>
            <p:ph type="body" idx="1"/>
          </p:nvPr>
        </p:nvSpPr>
        <p:spPr>
          <a:xfrm>
            <a:off x="381000" y="1219200"/>
            <a:ext cx="8458200" cy="5334000"/>
          </a:xfrm>
        </p:spPr>
        <p:txBody>
          <a:bodyPr/>
          <a:lstStyle/>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What features do we need to model?</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Covariates, such as demographics</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That people with the same covariates may differ in their propensity to consume and the amounts they consume</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Day-to-day variability</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p:txBody>
      </p:sp>
      <p:sp>
        <p:nvSpPr>
          <p:cNvPr id="60420"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F75F2EA4-60FB-573E-F32E-857DECA06A0F}"/>
              </a:ext>
            </a:extLst>
          </p:cNvPr>
          <p:cNvSpPr>
            <a:spLocks noGrp="1"/>
          </p:cNvSpPr>
          <p:nvPr>
            <p:ph type="sldNum" sz="quarter" idx="11"/>
          </p:nvPr>
        </p:nvSpPr>
        <p:spPr/>
        <p:txBody>
          <a:bodyPr/>
          <a:lstStyle/>
          <a:p>
            <a:pPr>
              <a:defRPr/>
            </a:pPr>
            <a:fld id="{3409ADA3-42B3-456B-8472-9BD85CC2F264}" type="slidenum">
              <a:rPr lang="en-US" smtClean="0"/>
              <a:pPr>
                <a:defRPr/>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457200" y="228600"/>
            <a:ext cx="8305800" cy="914400"/>
          </a:xfrm>
        </p:spPr>
        <p:txBody>
          <a:bodyPr/>
          <a:lstStyle/>
          <a:p>
            <a:pPr algn="ctr" eaLnBrk="1" hangingPunct="1">
              <a:defRPr/>
            </a:pPr>
            <a:r>
              <a:rPr lang="en-US" sz="3200" dirty="0">
                <a:solidFill>
                  <a:srgbClr val="0000CC"/>
                </a:solidFill>
                <a:latin typeface="Tahoma" pitchFamily="34" charset="0"/>
              </a:rPr>
              <a:t>A Multivariate Model</a:t>
            </a:r>
          </a:p>
        </p:txBody>
      </p:sp>
      <p:sp>
        <p:nvSpPr>
          <p:cNvPr id="61443" name="Rectangle 3"/>
          <p:cNvSpPr>
            <a:spLocks noGrp="1" noChangeArrowheads="1"/>
          </p:cNvSpPr>
          <p:nvPr>
            <p:ph type="body" idx="1"/>
          </p:nvPr>
        </p:nvSpPr>
        <p:spPr>
          <a:xfrm>
            <a:off x="381000" y="1219200"/>
            <a:ext cx="8458200" cy="5334000"/>
          </a:xfrm>
        </p:spPr>
        <p:txBody>
          <a:bodyPr/>
          <a:lstStyle/>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Probability of consumption on a given day</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Correlation of the probabilities</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Variability of the amounts</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Correlation of the amounts</a:t>
            </a:r>
          </a:p>
        </p:txBody>
      </p:sp>
      <p:sp>
        <p:nvSpPr>
          <p:cNvPr id="61444"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898000FA-3AFF-9AFB-0124-4FE5CA5A2061}"/>
              </a:ext>
            </a:extLst>
          </p:cNvPr>
          <p:cNvSpPr>
            <a:spLocks noGrp="1"/>
          </p:cNvSpPr>
          <p:nvPr>
            <p:ph type="sldNum" sz="quarter" idx="11"/>
          </p:nvPr>
        </p:nvSpPr>
        <p:spPr/>
        <p:txBody>
          <a:bodyPr/>
          <a:lstStyle/>
          <a:p>
            <a:pPr>
              <a:defRPr/>
            </a:pPr>
            <a:fld id="{3409ADA3-42B3-456B-8472-9BD85CC2F264}" type="slidenum">
              <a:rPr lang="en-US" smtClean="0"/>
              <a:pPr>
                <a:defRPr/>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51266" name="Rectangle 2"/>
          <p:cNvSpPr>
            <a:spLocks noGrp="1" noChangeArrowheads="1"/>
          </p:cNvSpPr>
          <p:nvPr>
            <p:ph type="title"/>
          </p:nvPr>
        </p:nvSpPr>
        <p:spPr>
          <a:xfrm>
            <a:off x="457200" y="228600"/>
            <a:ext cx="8305800" cy="914400"/>
          </a:xfrm>
        </p:spPr>
        <p:txBody>
          <a:bodyPr/>
          <a:lstStyle/>
          <a:p>
            <a:pPr algn="ctr" eaLnBrk="1" hangingPunct="1">
              <a:defRPr/>
            </a:pPr>
            <a:r>
              <a:rPr lang="en-US" sz="3200" dirty="0">
                <a:solidFill>
                  <a:srgbClr val="0000CC"/>
                </a:solidFill>
                <a:latin typeface="Tahoma" pitchFamily="34" charset="0"/>
              </a:rPr>
              <a:t>A Multivariate Model</a:t>
            </a:r>
          </a:p>
        </p:txBody>
      </p:sp>
      <p:sp>
        <p:nvSpPr>
          <p:cNvPr id="61443" name="Rectangle 3"/>
          <p:cNvSpPr>
            <a:spLocks noGrp="1" noChangeArrowheads="1"/>
          </p:cNvSpPr>
          <p:nvPr>
            <p:ph type="body" idx="1"/>
          </p:nvPr>
        </p:nvSpPr>
        <p:spPr>
          <a:xfrm>
            <a:off x="381000" y="1219200"/>
            <a:ext cx="8458200" cy="5334000"/>
          </a:xfrm>
        </p:spPr>
        <p:txBody>
          <a:bodyPr/>
          <a:lstStyle/>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That the observed amounts are skew</a:t>
            </a:r>
          </a:p>
          <a:p>
            <a:pPr marL="660400" indent="-660400" eaLnBrk="1" hangingPunct="1">
              <a:buClr>
                <a:srgbClr val="0000CC"/>
              </a:buClr>
              <a:buSzPct val="120000"/>
            </a:pPr>
            <a:endParaRPr lang="en-US" altLang="en-US" dirty="0">
              <a:solidFill>
                <a:srgbClr val="000000"/>
              </a:solidFill>
              <a:latin typeface="Tahoma" pitchFamily="34" charset="0"/>
              <a:cs typeface="Tahoma" pitchFamily="34" charset="0"/>
            </a:endParaRPr>
          </a:p>
          <a:p>
            <a:pPr marL="660400" indent="-660400" eaLnBrk="1" hangingPunct="1">
              <a:buClr>
                <a:srgbClr val="0000CC"/>
              </a:buClr>
              <a:buSzPct val="120000"/>
            </a:pPr>
            <a:r>
              <a:rPr lang="en-US" altLang="en-US" dirty="0">
                <a:solidFill>
                  <a:srgbClr val="000000"/>
                </a:solidFill>
                <a:latin typeface="Tahoma" pitchFamily="34" charset="0"/>
                <a:cs typeface="Tahoma" pitchFamily="34" charset="0"/>
              </a:rPr>
              <a:t>Embed all this into a multivariate latent variable model with excess zeros</a:t>
            </a:r>
          </a:p>
        </p:txBody>
      </p:sp>
      <p:sp>
        <p:nvSpPr>
          <p:cNvPr id="61444"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B09556A8-EB18-A89F-0E46-C5E0CA65CD95}"/>
              </a:ext>
            </a:extLst>
          </p:cNvPr>
          <p:cNvSpPr>
            <a:spLocks noGrp="1"/>
          </p:cNvSpPr>
          <p:nvPr>
            <p:ph type="sldNum" sz="quarter" idx="11"/>
          </p:nvPr>
        </p:nvSpPr>
        <p:spPr/>
        <p:txBody>
          <a:bodyPr/>
          <a:lstStyle/>
          <a:p>
            <a:pPr>
              <a:defRPr/>
            </a:pPr>
            <a:fld id="{3409ADA3-42B3-456B-8472-9BD85CC2F264}" type="slidenum">
              <a:rPr lang="en-US" smtClean="0"/>
              <a:pPr>
                <a:defRPr/>
              </a:pPr>
              <a:t>55</a:t>
            </a:fld>
            <a:endParaRPr lang="en-US"/>
          </a:p>
        </p:txBody>
      </p:sp>
    </p:spTree>
    <p:extLst>
      <p:ext uri="{BB962C8B-B14F-4D97-AF65-F5344CB8AC3E}">
        <p14:creationId xmlns:p14="http://schemas.microsoft.com/office/powerpoint/2010/main" val="41617381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Rectangle 3"/>
          <p:cNvSpPr>
            <a:spLocks noGrp="1" noChangeArrowheads="1"/>
          </p:cNvSpPr>
          <p:nvPr>
            <p:ph idx="1"/>
          </p:nvPr>
        </p:nvSpPr>
        <p:spPr>
          <a:xfrm>
            <a:off x="457200" y="990600"/>
            <a:ext cx="8229600" cy="5303838"/>
          </a:xfrm>
        </p:spPr>
        <p:txBody>
          <a:bodyPr/>
          <a:lstStyle/>
          <a:p>
            <a:pPr>
              <a:buClr>
                <a:srgbClr val="0000CC"/>
              </a:buClr>
              <a:buSzPct val="120000"/>
              <a:buFontTx/>
              <a:buChar char="•"/>
            </a:pPr>
            <a:r>
              <a:rPr lang="en-US" altLang="en-US" dirty="0">
                <a:latin typeface="Tahoma" pitchFamily="34" charset="0"/>
                <a:cs typeface="Tahoma" pitchFamily="34" charset="0"/>
              </a:rPr>
              <a:t>There are many </a:t>
            </a:r>
            <a:r>
              <a:rPr lang="en-US" altLang="en-US" b="1" dirty="0">
                <a:solidFill>
                  <a:srgbClr val="CC0000"/>
                </a:solidFill>
                <a:latin typeface="Tahoma" pitchFamily="34" charset="0"/>
                <a:cs typeface="Tahoma" pitchFamily="34" charset="0"/>
              </a:rPr>
              <a:t>technical issues</a:t>
            </a:r>
            <a:r>
              <a:rPr lang="en-US" altLang="en-US" dirty="0">
                <a:solidFill>
                  <a:srgbClr val="CC0000"/>
                </a:solidFill>
                <a:latin typeface="Tahoma" pitchFamily="34" charset="0"/>
                <a:cs typeface="Tahoma" pitchFamily="34" charset="0"/>
              </a:rPr>
              <a:t> </a:t>
            </a:r>
            <a:r>
              <a:rPr lang="en-US" altLang="en-US" dirty="0">
                <a:latin typeface="Tahoma" pitchFamily="34" charset="0"/>
                <a:cs typeface="Tahoma" pitchFamily="34" charset="0"/>
              </a:rPr>
              <a:t>related to fitting the resulting model</a:t>
            </a:r>
          </a:p>
          <a:p>
            <a:pPr>
              <a:buClr>
                <a:srgbClr val="0000CC"/>
              </a:buClr>
              <a:buSzPct val="120000"/>
              <a:buFontTx/>
              <a:buChar char="•"/>
            </a:pPr>
            <a:endParaRPr lang="en-US" altLang="en-US" dirty="0">
              <a:latin typeface="Tahoma" pitchFamily="34" charset="0"/>
              <a:cs typeface="Tahoma" pitchFamily="34" charset="0"/>
            </a:endParaRPr>
          </a:p>
          <a:p>
            <a:pPr>
              <a:buClr>
                <a:srgbClr val="0000CC"/>
              </a:buClr>
              <a:buSzPct val="120000"/>
              <a:buFontTx/>
              <a:buChar char="•"/>
            </a:pPr>
            <a:r>
              <a:rPr lang="en-US" altLang="en-US" dirty="0">
                <a:latin typeface="Tahoma" pitchFamily="34" charset="0"/>
                <a:cs typeface="Tahoma" pitchFamily="34" charset="0"/>
              </a:rPr>
              <a:t>Whoopee!</a:t>
            </a:r>
          </a:p>
        </p:txBody>
      </p:sp>
      <p:sp>
        <p:nvSpPr>
          <p:cNvPr id="651266" name="Rectangle 2"/>
          <p:cNvSpPr>
            <a:spLocks noGrp="1" noChangeArrowheads="1"/>
          </p:cNvSpPr>
          <p:nvPr>
            <p:ph type="title"/>
          </p:nvPr>
        </p:nvSpPr>
        <p:spPr>
          <a:xfrm>
            <a:off x="0" y="228600"/>
            <a:ext cx="9144000" cy="457200"/>
          </a:xfrm>
          <a:noFill/>
        </p:spPr>
        <p:txBody>
          <a:bodyPr/>
          <a:lstStyle/>
          <a:p>
            <a:pPr>
              <a:defRPr/>
            </a:pPr>
            <a:r>
              <a:rPr lang="en-US" sz="3200" dirty="0">
                <a:solidFill>
                  <a:srgbClr val="0000CC"/>
                </a:solidFill>
                <a:latin typeface="Tahoma" pitchFamily="34" charset="0"/>
                <a:ea typeface="Tahoma" pitchFamily="34" charset="0"/>
                <a:cs typeface="Tahoma" pitchFamily="34" charset="0"/>
              </a:rPr>
              <a:t>Computation</a:t>
            </a:r>
          </a:p>
        </p:txBody>
      </p:sp>
      <p:sp>
        <p:nvSpPr>
          <p:cNvPr id="72708" name="Line 4"/>
          <p:cNvSpPr>
            <a:spLocks noChangeShapeType="1"/>
          </p:cNvSpPr>
          <p:nvPr/>
        </p:nvSpPr>
        <p:spPr bwMode="auto">
          <a:xfrm>
            <a:off x="0" y="7620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a:xfrm>
            <a:off x="457200" y="381000"/>
            <a:ext cx="8305800" cy="914400"/>
          </a:xfrm>
        </p:spPr>
        <p:txBody>
          <a:bodyPr/>
          <a:lstStyle/>
          <a:p>
            <a:pPr algn="ctr" eaLnBrk="1" hangingPunct="1">
              <a:defRPr/>
            </a:pPr>
            <a:r>
              <a:rPr lang="en-US" sz="3200" dirty="0">
                <a:solidFill>
                  <a:srgbClr val="0000CC"/>
                </a:solidFill>
                <a:latin typeface="Tahoma" pitchFamily="34" charset="0"/>
              </a:rPr>
              <a:t>HEI Total Score Percentiles</a:t>
            </a:r>
            <a:endParaRPr lang="en-US" sz="2400" b="0" dirty="0">
              <a:latin typeface="Verdana" pitchFamily="34" charset="0"/>
            </a:endParaRPr>
          </a:p>
        </p:txBody>
      </p:sp>
      <p:sp>
        <p:nvSpPr>
          <p:cNvPr id="43011" name="TextBox 6"/>
          <p:cNvSpPr txBox="1">
            <a:spLocks noChangeArrowheads="1"/>
          </p:cNvSpPr>
          <p:nvPr/>
        </p:nvSpPr>
        <p:spPr bwMode="auto">
          <a:xfrm>
            <a:off x="228600" y="1600200"/>
            <a:ext cx="22860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eaLnBrk="1" hangingPunct="1"/>
            <a:r>
              <a:rPr lang="en-US" altLang="en-US" sz="2000" dirty="0">
                <a:latin typeface="Tahoma" pitchFamily="34" charset="0"/>
                <a:cs typeface="Tahoma" pitchFamily="34" charset="0"/>
              </a:rPr>
              <a:t>One 24hr is too pessimistic: thinks 30% have total score &lt; 40 (“alarming”)</a:t>
            </a:r>
          </a:p>
          <a:p>
            <a:pPr eaLnBrk="1" hangingPunct="1"/>
            <a:endParaRPr lang="en-US" altLang="en-US" sz="2000" dirty="0">
              <a:latin typeface="Tahoma" pitchFamily="34" charset="0"/>
              <a:cs typeface="Tahoma" pitchFamily="34" charset="0"/>
            </a:endParaRPr>
          </a:p>
          <a:p>
            <a:pPr eaLnBrk="1" hangingPunct="1"/>
            <a:endParaRPr lang="en-US" altLang="en-US" sz="2000" dirty="0">
              <a:latin typeface="Tahoma" pitchFamily="34" charset="0"/>
              <a:cs typeface="Tahoma" pitchFamily="34" charset="0"/>
            </a:endParaRPr>
          </a:p>
          <a:p>
            <a:pPr algn="just" eaLnBrk="1" hangingPunct="1"/>
            <a:r>
              <a:rPr lang="en-US" altLang="en-US" sz="2000" dirty="0">
                <a:latin typeface="Tahoma" pitchFamily="34" charset="0"/>
                <a:cs typeface="Tahoma" pitchFamily="34" charset="0"/>
              </a:rPr>
              <a:t>We estimate that 8% of children have an HEI-2005 total score &lt; 40</a:t>
            </a:r>
          </a:p>
          <a:p>
            <a:pPr algn="just" eaLnBrk="1" hangingPunct="1"/>
            <a:endParaRPr lang="en-US" altLang="en-US" sz="2000" dirty="0">
              <a:latin typeface="Tahoma" pitchFamily="34" charset="0"/>
              <a:cs typeface="Tahoma" pitchFamily="34" charset="0"/>
            </a:endParaRPr>
          </a:p>
          <a:p>
            <a:pPr algn="just" eaLnBrk="1" hangingPunct="1"/>
            <a:r>
              <a:rPr lang="en-US" altLang="en-US" sz="2000" dirty="0">
                <a:latin typeface="Tahoma" pitchFamily="34" charset="0"/>
                <a:cs typeface="Tahoma" pitchFamily="34" charset="0"/>
              </a:rPr>
              <a:t>Major policy implications?</a:t>
            </a:r>
          </a:p>
        </p:txBody>
      </p:sp>
      <p:sp>
        <p:nvSpPr>
          <p:cNvPr id="43013"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6" name="Picture 6" descr="density_one24.jpg"/>
          <p:cNvPicPr>
            <a:picLocks noChangeAspect="1"/>
          </p:cNvPicPr>
          <p:nvPr/>
        </p:nvPicPr>
        <p:blipFill>
          <a:blip r:embed="rId2">
            <a:extLst>
              <a:ext uri="{28A0092B-C50C-407E-A947-70E740481C1C}">
                <a14:useLocalDpi xmlns:a14="http://schemas.microsoft.com/office/drawing/2010/main" val="0"/>
              </a:ext>
            </a:extLst>
          </a:blip>
          <a:srcRect b="5797"/>
          <a:stretch>
            <a:fillRect/>
          </a:stretch>
        </p:blipFill>
        <p:spPr bwMode="auto">
          <a:xfrm>
            <a:off x="3524250" y="1600200"/>
            <a:ext cx="560705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Slide Number Placeholder 7">
            <a:extLst>
              <a:ext uri="{FF2B5EF4-FFF2-40B4-BE49-F238E27FC236}">
                <a16:creationId xmlns:a16="http://schemas.microsoft.com/office/drawing/2014/main" id="{548C104B-0250-9252-B9E0-773BF75FAF56}"/>
              </a:ext>
            </a:extLst>
          </p:cNvPr>
          <p:cNvSpPr>
            <a:spLocks noGrp="1"/>
          </p:cNvSpPr>
          <p:nvPr>
            <p:ph type="sldNum" sz="quarter" idx="11"/>
          </p:nvPr>
        </p:nvSpPr>
        <p:spPr/>
        <p:txBody>
          <a:bodyPr/>
          <a:lstStyle/>
          <a:p>
            <a:pPr>
              <a:defRPr/>
            </a:pPr>
            <a:fld id="{3409ADA3-42B3-456B-8472-9BD85CC2F264}" type="slidenum">
              <a:rPr lang="en-US" smtClean="0"/>
              <a:pPr>
                <a:defRPr/>
              </a:pPr>
              <a:t>57</a:t>
            </a:fld>
            <a:endParaRPr lang="en-US"/>
          </a:p>
        </p:txBody>
      </p:sp>
    </p:spTree>
    <p:extLst>
      <p:ext uri="{BB962C8B-B14F-4D97-AF65-F5344CB8AC3E}">
        <p14:creationId xmlns:p14="http://schemas.microsoft.com/office/powerpoint/2010/main" val="24383820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a:xfrm>
            <a:off x="457200" y="381000"/>
            <a:ext cx="8305800" cy="914400"/>
          </a:xfrm>
        </p:spPr>
        <p:txBody>
          <a:bodyPr/>
          <a:lstStyle/>
          <a:p>
            <a:pPr algn="ctr" eaLnBrk="1" hangingPunct="1">
              <a:defRPr/>
            </a:pPr>
            <a:r>
              <a:rPr lang="en-US" sz="3200" dirty="0">
                <a:solidFill>
                  <a:srgbClr val="0000CC"/>
                </a:solidFill>
                <a:latin typeface="Tahoma" pitchFamily="34" charset="0"/>
              </a:rPr>
              <a:t>HEI Total Score Density</a:t>
            </a:r>
            <a:endParaRPr lang="en-US" sz="2400" b="0" dirty="0">
              <a:latin typeface="Verdana" pitchFamily="34" charset="0"/>
            </a:endParaRPr>
          </a:p>
        </p:txBody>
      </p:sp>
      <p:sp>
        <p:nvSpPr>
          <p:cNvPr id="44035" name="TextBox 6"/>
          <p:cNvSpPr txBox="1">
            <a:spLocks noChangeArrowheads="1"/>
          </p:cNvSpPr>
          <p:nvPr/>
        </p:nvSpPr>
        <p:spPr bwMode="auto">
          <a:xfrm>
            <a:off x="228600" y="1600200"/>
            <a:ext cx="1905000" cy="3416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lgn="l" eaLnBrk="1" hangingPunct="1"/>
            <a:r>
              <a:rPr lang="en-US" altLang="en-US" dirty="0"/>
              <a:t>Essentially no children in the U.S. have a total HEI score of greater than 80.</a:t>
            </a:r>
          </a:p>
          <a:p>
            <a:pPr algn="l" eaLnBrk="1" hangingPunct="1"/>
            <a:endParaRPr lang="en-US" altLang="en-US" dirty="0"/>
          </a:p>
          <a:p>
            <a:pPr algn="l" eaLnBrk="1" hangingPunct="1"/>
            <a:endParaRPr lang="en-US" altLang="en-US" dirty="0"/>
          </a:p>
        </p:txBody>
      </p:sp>
      <p:sp>
        <p:nvSpPr>
          <p:cNvPr id="44036" name="Line 4"/>
          <p:cNvSpPr>
            <a:spLocks noChangeShapeType="1"/>
          </p:cNvSpPr>
          <p:nvPr/>
        </p:nvSpPr>
        <p:spPr bwMode="auto">
          <a:xfrm>
            <a:off x="457200" y="12192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44037" name="Picture 2" descr="C:\Users\carroll\Documents\Raymond_new_overheads\HEI_Talks\Plots_FixedIhope\density_one24_HEIonl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885950"/>
            <a:ext cx="5867400"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Slide Number Placeholder 6">
            <a:extLst>
              <a:ext uri="{FF2B5EF4-FFF2-40B4-BE49-F238E27FC236}">
                <a16:creationId xmlns:a16="http://schemas.microsoft.com/office/drawing/2014/main" id="{4A1CA502-900C-AB5A-CF0E-AFEBA6CEE2A6}"/>
              </a:ext>
            </a:extLst>
          </p:cNvPr>
          <p:cNvSpPr>
            <a:spLocks noGrp="1"/>
          </p:cNvSpPr>
          <p:nvPr>
            <p:ph type="sldNum" sz="quarter" idx="11"/>
          </p:nvPr>
        </p:nvSpPr>
        <p:spPr/>
        <p:txBody>
          <a:bodyPr/>
          <a:lstStyle/>
          <a:p>
            <a:pPr>
              <a:defRPr/>
            </a:pPr>
            <a:fld id="{3409ADA3-42B3-456B-8472-9BD85CC2F264}" type="slidenum">
              <a:rPr lang="en-US" smtClean="0"/>
              <a:pPr>
                <a:defRPr/>
              </a:pPr>
              <a:t>58</a:t>
            </a:fld>
            <a:endParaRPr lang="en-US"/>
          </a:p>
        </p:txBody>
      </p:sp>
    </p:spTree>
    <p:extLst>
      <p:ext uri="{BB962C8B-B14F-4D97-AF65-F5344CB8AC3E}">
        <p14:creationId xmlns:p14="http://schemas.microsoft.com/office/powerpoint/2010/main" val="38911462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a:xfrm>
            <a:off x="457200" y="381000"/>
            <a:ext cx="8305800" cy="914400"/>
          </a:xfrm>
        </p:spPr>
        <p:txBody>
          <a:bodyPr/>
          <a:lstStyle/>
          <a:p>
            <a:pPr algn="ctr" eaLnBrk="1" hangingPunct="1">
              <a:defRPr/>
            </a:pPr>
            <a:r>
              <a:rPr lang="en-US" sz="3200" dirty="0">
                <a:solidFill>
                  <a:srgbClr val="0000CC"/>
                </a:solidFill>
                <a:latin typeface="Tahoma" pitchFamily="34" charset="0"/>
              </a:rPr>
              <a:t>A Vignette</a:t>
            </a:r>
            <a:endParaRPr lang="en-US" sz="2400" b="0" dirty="0">
              <a:latin typeface="Verdana" pitchFamily="34" charset="0"/>
            </a:endParaRPr>
          </a:p>
        </p:txBody>
      </p:sp>
      <p:sp>
        <p:nvSpPr>
          <p:cNvPr id="45059" name="Rectangle 3"/>
          <p:cNvSpPr>
            <a:spLocks noGrp="1" noChangeArrowheads="1"/>
          </p:cNvSpPr>
          <p:nvPr>
            <p:ph type="body" idx="1"/>
          </p:nvPr>
        </p:nvSpPr>
        <p:spPr/>
        <p:txBody>
          <a:bodyPr/>
          <a:lstStyle/>
          <a:p>
            <a:pPr marL="609600" indent="-609600" eaLnBrk="1" hangingPunct="1">
              <a:buFontTx/>
              <a:buNone/>
            </a:pPr>
            <a:endParaRPr lang="en-US" altLang="en-US" sz="2000"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In about 2011, the </a:t>
            </a:r>
            <a:r>
              <a:rPr lang="en-US" altLang="en-US" b="1" dirty="0">
                <a:solidFill>
                  <a:schemeClr val="bg2"/>
                </a:solidFill>
                <a:latin typeface="Tahoma" pitchFamily="34" charset="0"/>
                <a:cs typeface="Tahoma" pitchFamily="34" charset="0"/>
              </a:rPr>
              <a:t>White House Task Force on Obesity</a:t>
            </a:r>
            <a:r>
              <a:rPr lang="en-US" altLang="en-US" dirty="0">
                <a:latin typeface="Tahoma" pitchFamily="34" charset="0"/>
                <a:cs typeface="Tahoma" pitchFamily="34" charset="0"/>
              </a:rPr>
              <a:t> was about to announce a goal that </a:t>
            </a:r>
            <a:r>
              <a:rPr lang="en-US" altLang="en-US" b="1" dirty="0">
                <a:solidFill>
                  <a:srgbClr val="C00000"/>
                </a:solidFill>
                <a:latin typeface="Tahoma" pitchFamily="34" charset="0"/>
                <a:cs typeface="Tahoma" pitchFamily="34" charset="0"/>
              </a:rPr>
              <a:t>all children would have a HEI-2005 usual intake total score &gt; 80</a:t>
            </a:r>
          </a:p>
          <a:p>
            <a:pPr marL="609600" indent="-609600" eaLnBrk="1" hangingPunct="1">
              <a:buClr>
                <a:srgbClr val="0000CC"/>
              </a:buClr>
            </a:pPr>
            <a:endParaRPr lang="en-US" altLang="en-US"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The 99</a:t>
            </a:r>
            <a:r>
              <a:rPr lang="en-US" altLang="en-US" baseline="30000" dirty="0">
                <a:latin typeface="Tahoma" pitchFamily="34" charset="0"/>
                <a:cs typeface="Tahoma" pitchFamily="34" charset="0"/>
              </a:rPr>
              <a:t>th</a:t>
            </a:r>
            <a:r>
              <a:rPr lang="en-US" altLang="en-US" dirty="0">
                <a:latin typeface="Tahoma" pitchFamily="34" charset="0"/>
                <a:cs typeface="Tahoma" pitchFamily="34" charset="0"/>
              </a:rPr>
              <a:t> percentile = 79.4. </a:t>
            </a:r>
            <a:r>
              <a:rPr lang="en-US" altLang="en-US" b="1" dirty="0">
                <a:solidFill>
                  <a:srgbClr val="7030A0"/>
                </a:solidFill>
                <a:latin typeface="Tahoma" pitchFamily="34" charset="0"/>
                <a:cs typeface="Tahoma" pitchFamily="34" charset="0"/>
                <a:sym typeface="Wingdings" pitchFamily="2" charset="2"/>
              </a:rPr>
              <a:t></a:t>
            </a:r>
            <a:endParaRPr lang="en-US" altLang="en-US" b="1" dirty="0">
              <a:solidFill>
                <a:srgbClr val="7030A0"/>
              </a:solidFill>
              <a:latin typeface="Tahoma" pitchFamily="34" charset="0"/>
              <a:cs typeface="Tahoma" pitchFamily="34" charset="0"/>
            </a:endParaRPr>
          </a:p>
        </p:txBody>
      </p:sp>
      <p:sp>
        <p:nvSpPr>
          <p:cNvPr id="45060" name="Line 4"/>
          <p:cNvSpPr>
            <a:spLocks noChangeShapeType="1"/>
          </p:cNvSpPr>
          <p:nvPr/>
        </p:nvSpPr>
        <p:spPr bwMode="auto">
          <a:xfrm>
            <a:off x="457200" y="1295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DD4F9307-B5B1-B91F-0833-195718E1699C}"/>
              </a:ext>
            </a:extLst>
          </p:cNvPr>
          <p:cNvSpPr>
            <a:spLocks noGrp="1"/>
          </p:cNvSpPr>
          <p:nvPr>
            <p:ph type="sldNum" sz="quarter" idx="11"/>
          </p:nvPr>
        </p:nvSpPr>
        <p:spPr/>
        <p:txBody>
          <a:bodyPr/>
          <a:lstStyle/>
          <a:p>
            <a:pPr>
              <a:defRPr/>
            </a:pPr>
            <a:fld id="{3409ADA3-42B3-456B-8472-9BD85CC2F264}" type="slidenum">
              <a:rPr lang="en-US" smtClean="0"/>
              <a:pPr>
                <a:defRPr/>
              </a:pPr>
              <a:t>59</a:t>
            </a:fld>
            <a:endParaRPr lang="en-US"/>
          </a:p>
        </p:txBody>
      </p:sp>
    </p:spTree>
    <p:extLst>
      <p:ext uri="{BB962C8B-B14F-4D97-AF65-F5344CB8AC3E}">
        <p14:creationId xmlns:p14="http://schemas.microsoft.com/office/powerpoint/2010/main" val="2916280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a:xfrm>
            <a:off x="457200" y="381000"/>
            <a:ext cx="8305800" cy="914400"/>
          </a:xfrm>
        </p:spPr>
        <p:txBody>
          <a:bodyPr/>
          <a:lstStyle/>
          <a:p>
            <a:pPr algn="ctr" eaLnBrk="1" hangingPunct="1">
              <a:defRPr/>
            </a:pPr>
            <a:r>
              <a:rPr lang="en-US" sz="3200" dirty="0">
                <a:solidFill>
                  <a:srgbClr val="0000CC"/>
                </a:solidFill>
                <a:latin typeface="Tahoma" pitchFamily="34" charset="0"/>
              </a:rPr>
              <a:t>A Vignette</a:t>
            </a:r>
            <a:endParaRPr lang="en-US" sz="2400" b="0" dirty="0">
              <a:latin typeface="Verdana" pitchFamily="34" charset="0"/>
            </a:endParaRPr>
          </a:p>
        </p:txBody>
      </p:sp>
      <p:sp>
        <p:nvSpPr>
          <p:cNvPr id="46083" name="Rectangle 3"/>
          <p:cNvSpPr>
            <a:spLocks noGrp="1" noChangeArrowheads="1"/>
          </p:cNvSpPr>
          <p:nvPr>
            <p:ph type="body" idx="1"/>
          </p:nvPr>
        </p:nvSpPr>
        <p:spPr/>
        <p:txBody>
          <a:bodyPr/>
          <a:lstStyle/>
          <a:p>
            <a:pPr marL="609600" indent="-609600" eaLnBrk="1" hangingPunct="1">
              <a:buFontTx/>
              <a:buNone/>
            </a:pPr>
            <a:endParaRPr lang="en-US" altLang="en-US" sz="2000"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Confronted with the results, the Task Force changed their goal to have children move to a mean of 80.</a:t>
            </a:r>
          </a:p>
          <a:p>
            <a:pPr marL="609600" indent="-609600" eaLnBrk="1" hangingPunct="1">
              <a:buClr>
                <a:srgbClr val="0000CC"/>
              </a:buClr>
            </a:pPr>
            <a:endParaRPr lang="en-US" altLang="en-US"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However, the mean is 53, so there was a long way to go. </a:t>
            </a:r>
            <a:r>
              <a:rPr lang="en-US" altLang="en-US" dirty="0">
                <a:latin typeface="Tahoma" pitchFamily="34" charset="0"/>
                <a:cs typeface="Tahoma" pitchFamily="34" charset="0"/>
                <a:sym typeface="Wingdings" panose="05000000000000000000" pitchFamily="2" charset="2"/>
              </a:rPr>
              <a:t></a:t>
            </a:r>
          </a:p>
          <a:p>
            <a:pPr marL="609600" indent="-609600" eaLnBrk="1" hangingPunct="1">
              <a:buClr>
                <a:srgbClr val="0000CC"/>
              </a:buClr>
            </a:pPr>
            <a:endParaRPr lang="en-US" altLang="en-US" dirty="0">
              <a:latin typeface="Tahoma" pitchFamily="34" charset="0"/>
              <a:cs typeface="Tahoma" pitchFamily="34" charset="0"/>
              <a:sym typeface="Wingdings" panose="05000000000000000000" pitchFamily="2" charset="2"/>
            </a:endParaRPr>
          </a:p>
          <a:p>
            <a:pPr marL="609600" indent="-609600" eaLnBrk="1" hangingPunct="1">
              <a:buClr>
                <a:srgbClr val="0000CC"/>
              </a:buClr>
            </a:pPr>
            <a:r>
              <a:rPr lang="en-US" altLang="en-US" dirty="0">
                <a:latin typeface="Tahoma" pitchFamily="34" charset="0"/>
                <a:cs typeface="Tahoma" pitchFamily="34" charset="0"/>
                <a:sym typeface="Wingdings" panose="05000000000000000000" pitchFamily="2" charset="2"/>
              </a:rPr>
              <a:t>There still is (my opinion)</a:t>
            </a:r>
            <a:endParaRPr lang="en-US" altLang="en-US" dirty="0">
              <a:latin typeface="Tahoma" pitchFamily="34" charset="0"/>
              <a:cs typeface="Tahoma" pitchFamily="34" charset="0"/>
            </a:endParaRPr>
          </a:p>
        </p:txBody>
      </p:sp>
      <p:sp>
        <p:nvSpPr>
          <p:cNvPr id="46084" name="Line 4"/>
          <p:cNvSpPr>
            <a:spLocks noChangeShapeType="1"/>
          </p:cNvSpPr>
          <p:nvPr/>
        </p:nvSpPr>
        <p:spPr bwMode="auto">
          <a:xfrm>
            <a:off x="457200" y="1295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1984CD5B-65F4-5610-E782-DB8D94A7AFE5}"/>
              </a:ext>
            </a:extLst>
          </p:cNvPr>
          <p:cNvSpPr>
            <a:spLocks noGrp="1"/>
          </p:cNvSpPr>
          <p:nvPr>
            <p:ph type="sldNum" sz="quarter" idx="11"/>
          </p:nvPr>
        </p:nvSpPr>
        <p:spPr/>
        <p:txBody>
          <a:bodyPr/>
          <a:lstStyle/>
          <a:p>
            <a:pPr>
              <a:defRPr/>
            </a:pPr>
            <a:fld id="{3409ADA3-42B3-456B-8472-9BD85CC2F264}" type="slidenum">
              <a:rPr lang="en-US" smtClean="0"/>
              <a:pPr>
                <a:defRPr/>
              </a:pPr>
              <a:t>60</a:t>
            </a:fld>
            <a:endParaRPr lang="en-US"/>
          </a:p>
        </p:txBody>
      </p:sp>
    </p:spTree>
    <p:extLst>
      <p:ext uri="{BB962C8B-B14F-4D97-AF65-F5344CB8AC3E}">
        <p14:creationId xmlns:p14="http://schemas.microsoft.com/office/powerpoint/2010/main" val="229826652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4" name="Rectangle 2"/>
          <p:cNvSpPr>
            <a:spLocks noGrp="1" noChangeArrowheads="1"/>
          </p:cNvSpPr>
          <p:nvPr>
            <p:ph type="title"/>
          </p:nvPr>
        </p:nvSpPr>
        <p:spPr>
          <a:xfrm>
            <a:off x="457200" y="381000"/>
            <a:ext cx="8305800" cy="914400"/>
          </a:xfrm>
        </p:spPr>
        <p:txBody>
          <a:bodyPr/>
          <a:lstStyle/>
          <a:p>
            <a:pPr algn="ctr" eaLnBrk="1" hangingPunct="1">
              <a:defRPr/>
            </a:pPr>
            <a:r>
              <a:rPr lang="en-US" sz="3200" dirty="0">
                <a:solidFill>
                  <a:srgbClr val="0000CC"/>
                </a:solidFill>
                <a:latin typeface="Tahoma" pitchFamily="34" charset="0"/>
              </a:rPr>
              <a:t>Summary</a:t>
            </a:r>
            <a:endParaRPr lang="en-US" sz="2400" b="0" dirty="0">
              <a:latin typeface="Verdana" pitchFamily="34" charset="0"/>
            </a:endParaRPr>
          </a:p>
        </p:txBody>
      </p:sp>
      <p:sp>
        <p:nvSpPr>
          <p:cNvPr id="46083" name="Rectangle 3"/>
          <p:cNvSpPr>
            <a:spLocks noGrp="1" noChangeArrowheads="1"/>
          </p:cNvSpPr>
          <p:nvPr>
            <p:ph type="body" idx="1"/>
          </p:nvPr>
        </p:nvSpPr>
        <p:spPr/>
        <p:txBody>
          <a:bodyPr/>
          <a:lstStyle/>
          <a:p>
            <a:pPr marL="609600" indent="-609600" eaLnBrk="1" hangingPunct="1">
              <a:buFontTx/>
              <a:buNone/>
            </a:pPr>
            <a:endParaRPr lang="en-US" altLang="en-US" sz="2000"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Diet and its effects on health is very complex</a:t>
            </a:r>
          </a:p>
          <a:p>
            <a:pPr marL="609600" indent="-609600" eaLnBrk="1" hangingPunct="1">
              <a:buClr>
                <a:srgbClr val="0000CC"/>
              </a:buClr>
            </a:pPr>
            <a:endParaRPr lang="en-US" altLang="en-US"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Expensive to do clinical trials</a:t>
            </a:r>
          </a:p>
          <a:p>
            <a:pPr marL="609600" indent="-609600" eaLnBrk="1" hangingPunct="1">
              <a:buClr>
                <a:srgbClr val="0000CC"/>
              </a:buClr>
            </a:pPr>
            <a:endParaRPr lang="en-US" altLang="en-US"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Many scientific papers focus on magic bullets</a:t>
            </a:r>
          </a:p>
          <a:p>
            <a:pPr marL="609600" indent="-609600" eaLnBrk="1" hangingPunct="1">
              <a:buClr>
                <a:srgbClr val="0000CC"/>
              </a:buClr>
            </a:pPr>
            <a:endParaRPr lang="en-US" altLang="en-US" dirty="0">
              <a:latin typeface="Tahoma" pitchFamily="34" charset="0"/>
              <a:cs typeface="Tahoma" pitchFamily="34" charset="0"/>
            </a:endParaRPr>
          </a:p>
          <a:p>
            <a:pPr marL="609600" indent="-609600" eaLnBrk="1" hangingPunct="1">
              <a:buClr>
                <a:srgbClr val="0000CC"/>
              </a:buClr>
            </a:pPr>
            <a:r>
              <a:rPr lang="en-US" altLang="en-US" dirty="0">
                <a:latin typeface="Tahoma" pitchFamily="34" charset="0"/>
                <a:cs typeface="Tahoma" pitchFamily="34" charset="0"/>
              </a:rPr>
              <a:t>I hate kale with a passion: am I doomed?</a:t>
            </a:r>
          </a:p>
        </p:txBody>
      </p:sp>
      <p:sp>
        <p:nvSpPr>
          <p:cNvPr id="46084" name="Line 4"/>
          <p:cNvSpPr>
            <a:spLocks noChangeShapeType="1"/>
          </p:cNvSpPr>
          <p:nvPr/>
        </p:nvSpPr>
        <p:spPr bwMode="auto">
          <a:xfrm>
            <a:off x="457200" y="1295400"/>
            <a:ext cx="8077200" cy="0"/>
          </a:xfrm>
          <a:prstGeom prst="line">
            <a:avLst/>
          </a:prstGeom>
          <a:noFill/>
          <a:ln w="38100">
            <a:solidFill>
              <a:srgbClr val="80008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 name="Slide Number Placeholder 6">
            <a:extLst>
              <a:ext uri="{FF2B5EF4-FFF2-40B4-BE49-F238E27FC236}">
                <a16:creationId xmlns:a16="http://schemas.microsoft.com/office/drawing/2014/main" id="{A5CE8460-FD95-9CA9-05FF-7359E4FAA318}"/>
              </a:ext>
            </a:extLst>
          </p:cNvPr>
          <p:cNvSpPr>
            <a:spLocks noGrp="1"/>
          </p:cNvSpPr>
          <p:nvPr>
            <p:ph type="sldNum" sz="quarter" idx="11"/>
          </p:nvPr>
        </p:nvSpPr>
        <p:spPr/>
        <p:txBody>
          <a:bodyPr/>
          <a:lstStyle/>
          <a:p>
            <a:pPr>
              <a:defRPr/>
            </a:pPr>
            <a:fld id="{3409ADA3-42B3-456B-8472-9BD85CC2F264}" type="slidenum">
              <a:rPr lang="en-US" smtClean="0"/>
              <a:pPr>
                <a:defRPr/>
              </a:pPr>
              <a:t>61</a:t>
            </a:fld>
            <a:endParaRPr lang="en-US"/>
          </a:p>
        </p:txBody>
      </p:sp>
    </p:spTree>
    <p:extLst>
      <p:ext uri="{BB962C8B-B14F-4D97-AF65-F5344CB8AC3E}">
        <p14:creationId xmlns:p14="http://schemas.microsoft.com/office/powerpoint/2010/main" val="27929871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ECBEC-610E-48C5-5336-F775A5DFD14E}"/>
            </a:ext>
          </a:extLst>
        </p:cNvPr>
        <p:cNvGrpSpPr/>
        <p:nvPr/>
      </p:nvGrpSpPr>
      <p:grpSpPr>
        <a:xfrm>
          <a:off x="0" y="0"/>
          <a:ext cx="0" cy="0"/>
          <a:chOff x="0" y="0"/>
          <a:chExt cx="0" cy="0"/>
        </a:xfrm>
      </p:grpSpPr>
      <p:sp>
        <p:nvSpPr>
          <p:cNvPr id="643074" name="Rectangle 2">
            <a:extLst>
              <a:ext uri="{FF2B5EF4-FFF2-40B4-BE49-F238E27FC236}">
                <a16:creationId xmlns:a16="http://schemas.microsoft.com/office/drawing/2014/main" id="{66E361F6-DFA4-1E10-2A1C-C394B256A156}"/>
              </a:ext>
            </a:extLst>
          </p:cNvPr>
          <p:cNvSpPr>
            <a:spLocks noGrp="1" noChangeArrowheads="1"/>
          </p:cNvSpPr>
          <p:nvPr>
            <p:ph type="title"/>
          </p:nvPr>
        </p:nvSpPr>
        <p:spPr>
          <a:xfrm>
            <a:off x="457200" y="381000"/>
            <a:ext cx="8305800" cy="914400"/>
          </a:xfrm>
        </p:spPr>
        <p:txBody>
          <a:bodyPr/>
          <a:lstStyle/>
          <a:p>
            <a:pPr algn="ctr" eaLnBrk="1" hangingPunct="1">
              <a:defRPr/>
            </a:pPr>
            <a:r>
              <a:rPr lang="en-US" sz="3200" dirty="0">
                <a:solidFill>
                  <a:srgbClr val="0000CC"/>
                </a:solidFill>
                <a:latin typeface="Tahoma" pitchFamily="34" charset="0"/>
              </a:rPr>
              <a:t>Thanks for Inviting me!!</a:t>
            </a:r>
            <a:endParaRPr lang="en-US" sz="2400" b="0" dirty="0">
              <a:latin typeface="Verdana" pitchFamily="34" charset="0"/>
            </a:endParaRPr>
          </a:p>
        </p:txBody>
      </p:sp>
      <p:sp>
        <p:nvSpPr>
          <p:cNvPr id="46083" name="Rectangle 3">
            <a:extLst>
              <a:ext uri="{FF2B5EF4-FFF2-40B4-BE49-F238E27FC236}">
                <a16:creationId xmlns:a16="http://schemas.microsoft.com/office/drawing/2014/main" id="{2EB81C0A-FD29-2140-FCCC-2B1E9F9B8D15}"/>
              </a:ext>
            </a:extLst>
          </p:cNvPr>
          <p:cNvSpPr>
            <a:spLocks noGrp="1" noChangeArrowheads="1"/>
          </p:cNvSpPr>
          <p:nvPr>
            <p:ph type="body" idx="1"/>
          </p:nvPr>
        </p:nvSpPr>
        <p:spPr/>
        <p:txBody>
          <a:bodyPr/>
          <a:lstStyle/>
          <a:p>
            <a:pPr marL="609600" indent="-609600" eaLnBrk="1" hangingPunct="1">
              <a:buFontTx/>
              <a:buNone/>
            </a:pPr>
            <a:endParaRPr lang="en-US" altLang="en-US" sz="2000" dirty="0">
              <a:latin typeface="Tahoma" pitchFamily="34" charset="0"/>
              <a:cs typeface="Tahoma" pitchFamily="34" charset="0"/>
            </a:endParaRPr>
          </a:p>
          <a:p>
            <a:pPr marL="609600" indent="-609600" eaLnBrk="1" hangingPunct="1">
              <a:buClr>
                <a:srgbClr val="0000CC"/>
              </a:buClr>
            </a:pPr>
            <a:endParaRPr lang="en-US" altLang="en-US" dirty="0">
              <a:latin typeface="Tahoma" pitchFamily="34" charset="0"/>
              <a:cs typeface="Tahoma" pitchFamily="34" charset="0"/>
            </a:endParaRPr>
          </a:p>
        </p:txBody>
      </p:sp>
      <p:sp>
        <p:nvSpPr>
          <p:cNvPr id="7" name="Slide Number Placeholder 6">
            <a:extLst>
              <a:ext uri="{FF2B5EF4-FFF2-40B4-BE49-F238E27FC236}">
                <a16:creationId xmlns:a16="http://schemas.microsoft.com/office/drawing/2014/main" id="{67FF1C48-2A98-8573-C12B-C9330F25A1EA}"/>
              </a:ext>
            </a:extLst>
          </p:cNvPr>
          <p:cNvSpPr>
            <a:spLocks noGrp="1"/>
          </p:cNvSpPr>
          <p:nvPr>
            <p:ph type="sldNum" sz="quarter" idx="11"/>
          </p:nvPr>
        </p:nvSpPr>
        <p:spPr/>
        <p:txBody>
          <a:bodyPr/>
          <a:lstStyle/>
          <a:p>
            <a:pPr>
              <a:defRPr/>
            </a:pPr>
            <a:fld id="{3409ADA3-42B3-456B-8472-9BD85CC2F264}" type="slidenum">
              <a:rPr lang="en-US" smtClean="0"/>
              <a:pPr>
                <a:defRPr/>
              </a:pPr>
              <a:t>62</a:t>
            </a:fld>
            <a:endParaRPr lang="en-US"/>
          </a:p>
        </p:txBody>
      </p:sp>
    </p:spTree>
    <p:extLst>
      <p:ext uri="{BB962C8B-B14F-4D97-AF65-F5344CB8AC3E}">
        <p14:creationId xmlns:p14="http://schemas.microsoft.com/office/powerpoint/2010/main" val="4231237267"/>
      </p:ext>
    </p:extLst>
  </p:cSld>
  <p:clrMapOvr>
    <a:masterClrMapping/>
  </p:clrMapOvr>
</p:sld>
</file>

<file path=ppt/theme/theme1.xml><?xml version="1.0" encoding="utf-8"?>
<a:theme xmlns:a="http://schemas.openxmlformats.org/drawingml/2006/main" name="Nutrition">
  <a:themeElements>
    <a:clrScheme name="Nutrition 2">
      <a:dk1>
        <a:srgbClr val="000000"/>
      </a:dk1>
      <a:lt1>
        <a:srgbClr val="FFFFFF"/>
      </a:lt1>
      <a:dk2>
        <a:srgbClr val="000000"/>
      </a:dk2>
      <a:lt2>
        <a:srgbClr val="006600"/>
      </a:lt2>
      <a:accent1>
        <a:srgbClr val="F5EBC1"/>
      </a:accent1>
      <a:accent2>
        <a:srgbClr val="FFCC00"/>
      </a:accent2>
      <a:accent3>
        <a:srgbClr val="FFFFFF"/>
      </a:accent3>
      <a:accent4>
        <a:srgbClr val="000000"/>
      </a:accent4>
      <a:accent5>
        <a:srgbClr val="F9F3DD"/>
      </a:accent5>
      <a:accent6>
        <a:srgbClr val="E7B900"/>
      </a:accent6>
      <a:hlink>
        <a:srgbClr val="D4876C"/>
      </a:hlink>
      <a:folHlink>
        <a:srgbClr val="B2B2B2"/>
      </a:folHlink>
    </a:clrScheme>
    <a:fontScheme name="Nutri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Nutrition 1">
        <a:dk1>
          <a:srgbClr val="FF9900"/>
        </a:dk1>
        <a:lt1>
          <a:srgbClr val="FFFFCC"/>
        </a:lt1>
        <a:dk2>
          <a:srgbClr val="000000"/>
        </a:dk2>
        <a:lt2>
          <a:srgbClr val="FFCC00"/>
        </a:lt2>
        <a:accent1>
          <a:srgbClr val="6B6253"/>
        </a:accent1>
        <a:accent2>
          <a:srgbClr val="72543E"/>
        </a:accent2>
        <a:accent3>
          <a:srgbClr val="AAAAAA"/>
        </a:accent3>
        <a:accent4>
          <a:srgbClr val="DADAAE"/>
        </a:accent4>
        <a:accent5>
          <a:srgbClr val="BAB7B3"/>
        </a:accent5>
        <a:accent6>
          <a:srgbClr val="674B37"/>
        </a:accent6>
        <a:hlink>
          <a:srgbClr val="DA9880"/>
        </a:hlink>
        <a:folHlink>
          <a:srgbClr val="B2B2B2"/>
        </a:folHlink>
      </a:clrScheme>
      <a:clrMap bg1="dk2" tx1="lt1" bg2="dk1" tx2="lt2" accent1="accent1" accent2="accent2" accent3="accent3" accent4="accent4" accent5="accent5" accent6="accent6" hlink="hlink" folHlink="folHlink"/>
    </a:extraClrScheme>
    <a:extraClrScheme>
      <a:clrScheme name="Nutrition 2">
        <a:dk1>
          <a:srgbClr val="000000"/>
        </a:dk1>
        <a:lt1>
          <a:srgbClr val="FFFFFF"/>
        </a:lt1>
        <a:dk2>
          <a:srgbClr val="000000"/>
        </a:dk2>
        <a:lt2>
          <a:srgbClr val="006600"/>
        </a:lt2>
        <a:accent1>
          <a:srgbClr val="F5EBC1"/>
        </a:accent1>
        <a:accent2>
          <a:srgbClr val="FFCC00"/>
        </a:accent2>
        <a:accent3>
          <a:srgbClr val="FFFFFF"/>
        </a:accent3>
        <a:accent4>
          <a:srgbClr val="000000"/>
        </a:accent4>
        <a:accent5>
          <a:srgbClr val="F9F3DD"/>
        </a:accent5>
        <a:accent6>
          <a:srgbClr val="E7B900"/>
        </a:accent6>
        <a:hlink>
          <a:srgbClr val="D4876C"/>
        </a:hlink>
        <a:folHlink>
          <a:srgbClr val="B2B2B2"/>
        </a:folHlink>
      </a:clrScheme>
      <a:clrMap bg1="lt1" tx1="dk1" bg2="lt2" tx2="dk2" accent1="accent1" accent2="accent2" accent3="accent3" accent4="accent4" accent5="accent5" accent6="accent6" hlink="hlink" folHlink="folHlink"/>
    </a:extraClrScheme>
    <a:extraClrScheme>
      <a:clrScheme name="Nutrition 3">
        <a:dk1>
          <a:srgbClr val="000000"/>
        </a:dk1>
        <a:lt1>
          <a:srgbClr val="FFFFFF"/>
        </a:lt1>
        <a:dk2>
          <a:srgbClr val="000000"/>
        </a:dk2>
        <a:lt2>
          <a:srgbClr val="292929"/>
        </a:lt2>
        <a:accent1>
          <a:srgbClr val="EAEAEA"/>
        </a:accent1>
        <a:accent2>
          <a:srgbClr val="969696"/>
        </a:accent2>
        <a:accent3>
          <a:srgbClr val="FFFFFF"/>
        </a:accent3>
        <a:accent4>
          <a:srgbClr val="000000"/>
        </a:accent4>
        <a:accent5>
          <a:srgbClr val="F3F3F3"/>
        </a:accent5>
        <a:accent6>
          <a:srgbClr val="878787"/>
        </a:accent6>
        <a:hlink>
          <a:srgbClr val="5F5F5F"/>
        </a:hlink>
        <a:folHlink>
          <a:srgbClr val="B2B2B2"/>
        </a:folHlink>
      </a:clrScheme>
      <a:clrMap bg1="lt1" tx1="dk1" bg2="lt2" tx2="dk2" accent1="accent1" accent2="accent2" accent3="accent3" accent4="accent4" accent5="accent5" accent6="accent6" hlink="hlink" folHlink="folHlink"/>
    </a:extraClrScheme>
    <a:extraClrScheme>
      <a:clrScheme name="Nutrition 4">
        <a:dk1>
          <a:srgbClr val="000000"/>
        </a:dk1>
        <a:lt1>
          <a:srgbClr val="FFFFFF"/>
        </a:lt1>
        <a:dk2>
          <a:srgbClr val="000000"/>
        </a:dk2>
        <a:lt2>
          <a:srgbClr val="006600"/>
        </a:lt2>
        <a:accent1>
          <a:srgbClr val="D8EBB3"/>
        </a:accent1>
        <a:accent2>
          <a:srgbClr val="CCCC00"/>
        </a:accent2>
        <a:accent3>
          <a:srgbClr val="FFFFFF"/>
        </a:accent3>
        <a:accent4>
          <a:srgbClr val="000000"/>
        </a:accent4>
        <a:accent5>
          <a:srgbClr val="E9F3D6"/>
        </a:accent5>
        <a:accent6>
          <a:srgbClr val="B9B900"/>
        </a:accent6>
        <a:hlink>
          <a:srgbClr val="FFBE7D"/>
        </a:hlink>
        <a:folHlink>
          <a:srgbClr val="B2B2B2"/>
        </a:folHlink>
      </a:clrScheme>
      <a:clrMap bg1="lt1" tx1="dk1" bg2="lt2" tx2="dk2" accent1="accent1" accent2="accent2" accent3="accent3" accent4="accent4" accent5="accent5" accent6="accent6" hlink="hlink" folHlink="folHlink"/>
    </a:extraClrScheme>
    <a:extraClrScheme>
      <a:clrScheme name="Nutrition 5">
        <a:dk1>
          <a:srgbClr val="000000"/>
        </a:dk1>
        <a:lt1>
          <a:srgbClr val="E5D3B3"/>
        </a:lt1>
        <a:dk2>
          <a:srgbClr val="800000"/>
        </a:dk2>
        <a:lt2>
          <a:srgbClr val="009900"/>
        </a:lt2>
        <a:accent1>
          <a:srgbClr val="D5B095"/>
        </a:accent1>
        <a:accent2>
          <a:srgbClr val="E28666"/>
        </a:accent2>
        <a:accent3>
          <a:srgbClr val="F0E6D6"/>
        </a:accent3>
        <a:accent4>
          <a:srgbClr val="000000"/>
        </a:accent4>
        <a:accent5>
          <a:srgbClr val="E7D4C8"/>
        </a:accent5>
        <a:accent6>
          <a:srgbClr val="CD795C"/>
        </a:accent6>
        <a:hlink>
          <a:srgbClr val="B75735"/>
        </a:hlink>
        <a:folHlink>
          <a:srgbClr val="B2B2B2"/>
        </a:folHlink>
      </a:clrScheme>
      <a:clrMap bg1="lt1" tx1="dk1" bg2="lt2" tx2="dk2" accent1="accent1" accent2="accent2" accent3="accent3" accent4="accent4" accent5="accent5" accent6="accent6" hlink="hlink" folHlink="folHlink"/>
    </a:extraClrScheme>
    <a:extraClrScheme>
      <a:clrScheme name="Nutrition 6">
        <a:dk1>
          <a:srgbClr val="99CC00"/>
        </a:dk1>
        <a:lt1>
          <a:srgbClr val="FFFFFF"/>
        </a:lt1>
        <a:dk2>
          <a:srgbClr val="51399D"/>
        </a:dk2>
        <a:lt2>
          <a:srgbClr val="FFFFCC"/>
        </a:lt2>
        <a:accent1>
          <a:srgbClr val="877CAA"/>
        </a:accent1>
        <a:accent2>
          <a:srgbClr val="000058"/>
        </a:accent2>
        <a:accent3>
          <a:srgbClr val="B3AECC"/>
        </a:accent3>
        <a:accent4>
          <a:srgbClr val="DADADA"/>
        </a:accent4>
        <a:accent5>
          <a:srgbClr val="C3BFD2"/>
        </a:accent5>
        <a:accent6>
          <a:srgbClr val="00004F"/>
        </a:accent6>
        <a:hlink>
          <a:srgbClr val="FFCC00"/>
        </a:hlink>
        <a:folHlink>
          <a:srgbClr val="B2B2B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Nutrition</Template>
  <TotalTime>6144</TotalTime>
  <Words>2875</Words>
  <Application>Microsoft Office PowerPoint</Application>
  <PresentationFormat>On-screen Show (4:3)</PresentationFormat>
  <Paragraphs>521</Paragraphs>
  <Slides>62</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2" baseType="lpstr">
      <vt:lpstr>Arial</vt:lpstr>
      <vt:lpstr>Arial Narrow</vt:lpstr>
      <vt:lpstr>Calibri</vt:lpstr>
      <vt:lpstr>Courier New</vt:lpstr>
      <vt:lpstr>Tahoma</vt:lpstr>
      <vt:lpstr>Times New Roman</vt:lpstr>
      <vt:lpstr>Verdana</vt:lpstr>
      <vt:lpstr>Wingdings</vt:lpstr>
      <vt:lpstr>Nutrition</vt:lpstr>
      <vt:lpstr>Equation</vt:lpstr>
      <vt:lpstr>  </vt:lpstr>
      <vt:lpstr>Who we Are</vt:lpstr>
      <vt:lpstr>Instructors</vt:lpstr>
      <vt:lpstr>Outline</vt:lpstr>
      <vt:lpstr>Effects of exposure measuremement Error</vt:lpstr>
      <vt:lpstr>Broad Overview</vt:lpstr>
      <vt:lpstr>Broad Overview</vt:lpstr>
      <vt:lpstr>A “Failed” Clinical Trial</vt:lpstr>
      <vt:lpstr>A “Failed” Clinical Trial</vt:lpstr>
      <vt:lpstr>A “Failed” Clinical Trial</vt:lpstr>
      <vt:lpstr>Initial Remarks</vt:lpstr>
      <vt:lpstr>Initial Remarks</vt:lpstr>
      <vt:lpstr>Initial Remarks</vt:lpstr>
      <vt:lpstr>Initial Remarks</vt:lpstr>
      <vt:lpstr>Initial Remarks</vt:lpstr>
      <vt:lpstr>Nutrition</vt:lpstr>
      <vt:lpstr>WHI Dietary Modification Trial </vt:lpstr>
      <vt:lpstr>WHI Dietary Modification Trial </vt:lpstr>
      <vt:lpstr>More Magic Bullet Work:  </vt:lpstr>
      <vt:lpstr>More Magic Bullet Work: AARP Study </vt:lpstr>
      <vt:lpstr>Magic Bullet Work: SatFat </vt:lpstr>
      <vt:lpstr>More Magic Bullet Work: AARP Study </vt:lpstr>
      <vt:lpstr>Magic Bullet Miracles </vt:lpstr>
      <vt:lpstr>Super Diets </vt:lpstr>
      <vt:lpstr>Big Picture Miracles: Dietary Patterns</vt:lpstr>
      <vt:lpstr>Big Picture Miracles: Dietary Patterns</vt:lpstr>
      <vt:lpstr>Big Picture Miracles: Dietary Patterns</vt:lpstr>
      <vt:lpstr>Big Picture Miracles: Dietary Patterns</vt:lpstr>
      <vt:lpstr>The Healthy Eating Index - 2005</vt:lpstr>
      <vt:lpstr>PowerPoint Presentation</vt:lpstr>
      <vt:lpstr>The Healthy Eating Index - 2005</vt:lpstr>
      <vt:lpstr>The Healthy Eating Index - 2005</vt:lpstr>
      <vt:lpstr>Global Patterns: HEI-2005 </vt:lpstr>
      <vt:lpstr>Global Patterns: HEI-2005 </vt:lpstr>
      <vt:lpstr>My conclusions</vt:lpstr>
      <vt:lpstr>Measuring Diet</vt:lpstr>
      <vt:lpstr>The Pizza Question</vt:lpstr>
      <vt:lpstr>Nutritional Surveillance</vt:lpstr>
      <vt:lpstr>Measuring Dietary Intake</vt:lpstr>
      <vt:lpstr>The 24HR Recall</vt:lpstr>
      <vt:lpstr>The 24HR Recall</vt:lpstr>
      <vt:lpstr>Context</vt:lpstr>
      <vt:lpstr>Context</vt:lpstr>
      <vt:lpstr>Goal</vt:lpstr>
      <vt:lpstr>The Healthy Eating Index - 2005</vt:lpstr>
      <vt:lpstr>Dietary Reality</vt:lpstr>
      <vt:lpstr>Folate: Right-Skewed Distributions</vt:lpstr>
      <vt:lpstr>Transformations</vt:lpstr>
      <vt:lpstr>Modeling With Transformations</vt:lpstr>
      <vt:lpstr>Episodically Consumed Foods</vt:lpstr>
      <vt:lpstr>Models</vt:lpstr>
      <vt:lpstr>So, What’s the Big Deal?</vt:lpstr>
      <vt:lpstr>A Multivariate Model</vt:lpstr>
      <vt:lpstr>A Multivariate Model</vt:lpstr>
      <vt:lpstr>A Multivariate Model</vt:lpstr>
      <vt:lpstr>Computation</vt:lpstr>
      <vt:lpstr>HEI Total Score Percentiles</vt:lpstr>
      <vt:lpstr>HEI Total Score Density</vt:lpstr>
      <vt:lpstr>A Vignette</vt:lpstr>
      <vt:lpstr>A Vignette</vt:lpstr>
      <vt:lpstr>Summary</vt:lpstr>
      <vt:lpstr>Thanks for Inviting me!!</vt:lpstr>
    </vt:vector>
  </TitlesOfParts>
  <Company>NCI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Exactly, is the Food Propensity Questionnaire?</dc:title>
  <dc:creator>NCI User</dc:creator>
  <cp:lastModifiedBy>Carroll, Raymond J</cp:lastModifiedBy>
  <cp:revision>368</cp:revision>
  <cp:lastPrinted>2009-04-22T19:24:48Z</cp:lastPrinted>
  <dcterms:created xsi:type="dcterms:W3CDTF">2004-03-25T16:23:49Z</dcterms:created>
  <dcterms:modified xsi:type="dcterms:W3CDTF">2026-02-22T19:29:09Z</dcterms:modified>
</cp:coreProperties>
</file>