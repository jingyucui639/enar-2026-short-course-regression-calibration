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3" r:id="rId4"/>
    <p:sldId id="265" r:id="rId5"/>
    <p:sldId id="261" r:id="rId6"/>
    <p:sldId id="262" r:id="rId7"/>
    <p:sldId id="264" r:id="rId8"/>
    <p:sldId id="259" r:id="rId9"/>
    <p:sldId id="258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5"/>
    <p:restoredTop sz="82332"/>
  </p:normalViewPr>
  <p:slideViewPr>
    <p:cSldViewPr snapToGrid="0">
      <p:cViewPr>
        <p:scale>
          <a:sx n="80" d="100"/>
          <a:sy n="80" d="100"/>
        </p:scale>
        <p:origin x="24" y="-9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2E01-F087-034A-B9B0-2DC03B1267C8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F1DE-95AC-2048-9D6D-05C730A31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41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89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23A0-CFC6-FD12-ACF8-63CC9E9FE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F5AD-1414-7E5D-A22E-0307B9B7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C93F-C967-409E-D6C1-81080F84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41B8-12D9-42B0-03B0-DBC066D7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35BF-8138-B83F-B687-B578CD29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70E5-C6C6-E54F-0906-CD7B71D3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82AAB-8EA8-560A-67B7-24D4932C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5437-DF01-D32D-6339-57920A45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A018-9248-416D-A42D-93C71C54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997F7-C575-A8BA-C95D-57AEE912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1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B3E5-D119-3DA1-D420-51B7C154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A819-66F3-84C5-76D0-DAE2B819B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F4143-ECFC-1630-9B6A-7C6B1BC2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E120-6847-7A49-B07E-BB7F12FE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ECE0C-BE0C-B342-C7F7-8E86F11B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9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A6CC-F477-79B7-ECCA-A2AEFB3A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65AA-9F77-B49E-9472-B76D39F12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941F9-CE95-E08B-E3F5-46CDCC103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C125-2B40-F5BC-FC1D-4B9F26FD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26DD5-BCDA-7C45-029D-674D64A8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504D6-DF67-15DF-737C-21E6BE0D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2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AFF1-C624-955F-32E7-2140DDB9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E5A19-CEEB-246A-670B-AABC7A620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96D79-52B3-C585-5144-036575AE1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428B9-3C1E-ADEC-4BB6-7DC52BCD0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94CD3-CEFC-46C5-109C-74D793CEF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4DEB9-7E2E-4F72-B8CB-9034D3BE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6D214-9098-06E7-CBA5-48DE4C30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AFE3D-80F2-802A-C94C-6840445F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1DFE-E9BC-136A-0E1D-61F69BDF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3D456-5706-5039-85CA-F135E226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B718F-7093-0407-E729-C8924006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C9CDB-1C5B-1F05-2F3A-0C37D077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7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9073E-ABF7-0C43-B809-984F5E9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E4C14-0A18-0A20-E42F-51C14A97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1186E-BA92-90DA-00BA-AFF34D7E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2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7AF5-8253-40AE-7728-6760C97A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40A9-7DDB-EFA2-5270-38583B3A3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228C-EA7C-D16A-3C1B-A2EF4AE1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6EB31-CD33-CA9C-C1C3-59005D417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6D7CB-6992-6CAD-A13E-4869FFC3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41660-FF8A-FE9E-1F27-50426220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1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617-8747-9314-74A2-E6028D41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BFEC7-B601-65ED-7F07-2976D900B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EB059-9BB3-EDA9-97FA-827E2AF9D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2DE5D-B13B-30A3-6C1D-DF8F197B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7731-A507-4CBD-B6C6-479A5BB9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DBD69-5864-304A-6EC2-2D505436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5673-FA08-8F2D-3E40-68D61544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FF467-2E0E-ED1F-9B4B-B227CA088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0F03-C350-3271-D3FD-2CE5D9DD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37B18-0869-1579-D571-2D10F2CF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92450-9214-A62C-C61A-5C12E7F6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2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7FDCD-BB71-59CD-0DD3-AE205AFE0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A97D8-3C88-C8BE-9DB2-B20232297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B4BB-5BA7-8739-D3C4-CA0B246D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2753-0921-145C-DBEB-A2CDD045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58E-D090-6789-C69B-946DB95E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95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D06F0-D619-CC23-2471-2A7CFDC4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B0CD-0524-542C-AEB4-6411295C6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E292B-94F2-216F-7B9A-22BCD6B91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14605-EFA3-3841-90B3-773B39989A2D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4F23-746E-3E30-B1DF-A78BE33DD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BAE4F-0BF6-CA17-4487-E1525D60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4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BB9DFB-3FB1-1AE3-8481-1AF76D54E270}"/>
              </a:ext>
            </a:extLst>
          </p:cNvPr>
          <p:cNvSpPr/>
          <p:nvPr/>
        </p:nvSpPr>
        <p:spPr>
          <a:xfrm>
            <a:off x="48827" y="153884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5A8A1C-8C87-CAAF-7FAE-73AAFDD34865}"/>
              </a:ext>
            </a:extLst>
          </p:cNvPr>
          <p:cNvSpPr txBox="1"/>
          <p:nvPr/>
        </p:nvSpPr>
        <p:spPr>
          <a:xfrm>
            <a:off x="211874" y="153884"/>
            <a:ext cx="10816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Association between red meat intake and coronary heart disease (CHD) in the Nurses’ Health Study)</a:t>
            </a:r>
            <a:r>
              <a:rPr lang="en-US" sz="2400" b="1" dirty="0">
                <a:solidFill>
                  <a:schemeClr val="bg1"/>
                </a:solidFill>
                <a:effectLst/>
                <a:latin typeface="Helvetica" pitchFamily="2" charset="0"/>
                <a:ea typeface="Palatino" pitchFamily="2" charset="77"/>
              </a:rPr>
              <a:t> </a:t>
            </a:r>
            <a:endParaRPr lang="en-US" sz="2400" b="1" dirty="0">
              <a:solidFill>
                <a:schemeClr val="bg1"/>
              </a:solidFill>
              <a:latin typeface="Helvetica" pitchFamily="2" charset="0"/>
              <a:ea typeface="Palatino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AD1FC-5771-81FB-F7FE-287A38C7B4B1}"/>
              </a:ext>
            </a:extLst>
          </p:cNvPr>
          <p:cNvSpPr txBox="1"/>
          <p:nvPr/>
        </p:nvSpPr>
        <p:spPr>
          <a:xfrm>
            <a:off x="386571" y="1908122"/>
            <a:ext cx="556074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Main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056A1-C30C-A9D3-8E80-C0050A8E3D02}"/>
              </a:ext>
            </a:extLst>
          </p:cNvPr>
          <p:cNvSpPr txBox="1"/>
          <p:nvPr/>
        </p:nvSpPr>
        <p:spPr>
          <a:xfrm>
            <a:off x="6244684" y="1908122"/>
            <a:ext cx="556074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Validation Study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1C65AF-EAC2-28BC-DD31-C48F299C518E}"/>
              </a:ext>
            </a:extLst>
          </p:cNvPr>
          <p:cNvSpPr txBox="1"/>
          <p:nvPr/>
        </p:nvSpPr>
        <p:spPr>
          <a:xfrm>
            <a:off x="97654" y="2264878"/>
            <a:ext cx="5849662" cy="4881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Nurses’ Health Study (NHS) recruited 121,700 female registered nurses aged 30 to 55 y in 1976 from 11 US states.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have been followed biennially through mailed questionnaires about diseases and health-related topics.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Dietary intakes were </a:t>
            </a:r>
            <a:r>
              <a:rPr lang="en-US" sz="1600" b="1" dirty="0">
                <a:latin typeface="Helvetica" pitchFamily="2" charset="0"/>
              </a:rPr>
              <a:t>assessed every 2 to 4 y </a:t>
            </a:r>
            <a:r>
              <a:rPr lang="en-US" sz="1600" dirty="0">
                <a:latin typeface="Helvetica" pitchFamily="2" charset="0"/>
              </a:rPr>
              <a:t>using semiquantitative </a:t>
            </a:r>
            <a:r>
              <a:rPr lang="en-US" sz="1600" b="1" dirty="0">
                <a:latin typeface="Helvetica" pitchFamily="2" charset="0"/>
              </a:rPr>
              <a:t>food frequency questionnaires (FFQs).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In this analyses, we start follow-up in 980, the year when the dietary data was first collected.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who reported a baseline history of diabetes, myocardial infarction, angina, stroke, coronary artery bypass grafting, or cancer, and those who had an energy intake of &lt;500 kcal/d or &gt;3500 kcal/d, had missing age or baseline red meat intake were excluded.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final analytical population included </a:t>
            </a:r>
            <a:r>
              <a:rPr lang="en-US" sz="1600" b="1" dirty="0">
                <a:latin typeface="Helvetica" pitchFamily="2" charset="0"/>
              </a:rPr>
              <a:t>84,354</a:t>
            </a:r>
            <a:r>
              <a:rPr lang="en-US" sz="1600" dirty="0">
                <a:latin typeface="Helvetica" pitchFamily="2" charset="0"/>
              </a:rPr>
              <a:t> women.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5E4FA-FC96-8402-7BC5-A02F5950D4FC}"/>
              </a:ext>
            </a:extLst>
          </p:cNvPr>
          <p:cNvSpPr txBox="1"/>
          <p:nvPr/>
        </p:nvSpPr>
        <p:spPr>
          <a:xfrm>
            <a:off x="6244683" y="2277454"/>
            <a:ext cx="5560746" cy="4213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of the Women’s Lifestyle Validation Study (WLVS) were recruited as subsets of the NHS and NHS II.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Dietary intakes were assessed by both </a:t>
            </a:r>
            <a:r>
              <a:rPr lang="en-US" sz="1600" b="1" dirty="0">
                <a:latin typeface="Helvetica" pitchFamily="2" charset="0"/>
              </a:rPr>
              <a:t>FFQs</a:t>
            </a:r>
            <a:r>
              <a:rPr lang="en-US" sz="1600" dirty="0">
                <a:latin typeface="Helvetica" pitchFamily="2" charset="0"/>
              </a:rPr>
              <a:t> and 7-day weighed diet records (</a:t>
            </a:r>
            <a:r>
              <a:rPr lang="en-US" sz="1600" b="1" dirty="0">
                <a:latin typeface="Helvetica" pitchFamily="2" charset="0"/>
              </a:rPr>
              <a:t>7DDRs</a:t>
            </a:r>
            <a:r>
              <a:rPr lang="en-US" sz="1600" dirty="0">
                <a:latin typeface="Helvetica" pitchFamily="2" charset="0"/>
              </a:rPr>
              <a:t>). FFQs were administered at the baseline and end of the 1-year study period.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Two 7DDRs, as the reference assessments, were collected approximately 6 months apart within the study period.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600" dirty="0">
                <a:latin typeface="Helvetica" pitchFamily="2" charset="0"/>
              </a:rPr>
              <a:t>The current analysis included </a:t>
            </a:r>
            <a:r>
              <a:rPr lang="en-US" sz="1600" b="1" dirty="0">
                <a:latin typeface="Helvetica" pitchFamily="2" charset="0"/>
              </a:rPr>
              <a:t>741</a:t>
            </a:r>
            <a:r>
              <a:rPr lang="en-US" sz="1600" dirty="0">
                <a:latin typeface="Helvetica" pitchFamily="2" charset="0"/>
              </a:rPr>
              <a:t> women from WLVS after excluding participants with unplausible dietary data (e.g., extreme energy intake).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600" dirty="0">
                <a:latin typeface="Helvetica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C0F51-8F38-8662-B25E-B58B17C60DD7}"/>
              </a:ext>
            </a:extLst>
          </p:cNvPr>
          <p:cNvSpPr txBox="1"/>
          <p:nvPr/>
        </p:nvSpPr>
        <p:spPr>
          <a:xfrm>
            <a:off x="97654" y="715274"/>
            <a:ext cx="12094346" cy="124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controversial association between red meat intake and CHD could be attributed to unaccounted measurement errors in dietary data.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Here, we compare the risks of CHD associated with red meat intakes assessed only at baseline, with repeated assessments over follow-up, and  with each  corrected for measurement error. </a:t>
            </a:r>
          </a:p>
        </p:txBody>
      </p:sp>
    </p:spTree>
    <p:extLst>
      <p:ext uri="{BB962C8B-B14F-4D97-AF65-F5344CB8AC3E}">
        <p14:creationId xmlns:p14="http://schemas.microsoft.com/office/powerpoint/2010/main" val="2940724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675BE4-4158-F271-B914-2F8DF7D6848A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05E9F-FF7A-7956-544F-1D960622CA1A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Association between red meat intake and coronary heart disease (CHD)</a:t>
            </a:r>
            <a:r>
              <a:rPr lang="en-US" sz="2400" b="1" dirty="0">
                <a:solidFill>
                  <a:schemeClr val="bg1"/>
                </a:solidFill>
                <a:effectLst/>
                <a:latin typeface="Helvetica" pitchFamily="2" charset="0"/>
                <a:ea typeface="Palatino" pitchFamily="2" charset="77"/>
              </a:rPr>
              <a:t> </a:t>
            </a:r>
            <a:endParaRPr lang="en-US" sz="2400" b="1" dirty="0">
              <a:solidFill>
                <a:schemeClr val="bg1"/>
              </a:solidFill>
              <a:latin typeface="Helvetica" pitchFamily="2" charset="0"/>
              <a:ea typeface="Palatino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370C9-24AD-D412-7F93-22D0EE2BCE8C}"/>
              </a:ext>
            </a:extLst>
          </p:cNvPr>
          <p:cNvSpPr txBox="1"/>
          <p:nvPr/>
        </p:nvSpPr>
        <p:spPr>
          <a:xfrm>
            <a:off x="211874" y="864995"/>
            <a:ext cx="1176453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Z (error-prone dietary intakes measured by FFQ):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t/p/</a:t>
            </a:r>
            <a:r>
              <a:rPr lang="en-US" sz="1600" i="1" dirty="0" err="1">
                <a:latin typeface="Helvetica" pitchFamily="2" charset="0"/>
              </a:rPr>
              <a:t>urmeat_ffq</a:t>
            </a:r>
            <a:r>
              <a:rPr lang="en-US" sz="1600" dirty="0">
                <a:latin typeface="Helvetica" pitchFamily="2" charset="0"/>
              </a:rPr>
              <a:t> (total/processed/unprocessed red meat, serving/day), </a:t>
            </a:r>
            <a:r>
              <a:rPr lang="en-US" sz="1600" i="1" dirty="0" err="1">
                <a:latin typeface="Helvetica" pitchFamily="2" charset="0"/>
              </a:rPr>
              <a:t>calorv_ffq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(total energy, kcal/day), </a:t>
            </a:r>
            <a:r>
              <a:rPr lang="en-US" sz="1600" i="1" dirty="0" err="1">
                <a:latin typeface="Helvetica" pitchFamily="2" charset="0"/>
              </a:rPr>
              <a:t>aofib_ffq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(dietary fiber, gram/day), </a:t>
            </a:r>
            <a:r>
              <a:rPr lang="en-US" sz="1600" i="1" dirty="0" err="1">
                <a:latin typeface="Helvetica" pitchFamily="2" charset="0"/>
              </a:rPr>
              <a:t>fruits_ffq</a:t>
            </a:r>
            <a:r>
              <a:rPr lang="en-US" sz="1600" dirty="0">
                <a:latin typeface="Helvetica" pitchFamily="2" charset="0"/>
              </a:rPr>
              <a:t> (fruits, serving/day), </a:t>
            </a:r>
            <a:r>
              <a:rPr lang="en-US" sz="1600" i="1" dirty="0" err="1">
                <a:latin typeface="Helvetica" pitchFamily="2" charset="0"/>
              </a:rPr>
              <a:t>vegeal_ffq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(vegetables, serving/day)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X (reference dietary intakes measured by 7DDR):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t/p/</a:t>
            </a:r>
            <a:r>
              <a:rPr lang="en-US" sz="1600" i="1" dirty="0" err="1">
                <a:latin typeface="Helvetica" pitchFamily="2" charset="0"/>
              </a:rPr>
              <a:t>urmeat_drs</a:t>
            </a:r>
            <a:r>
              <a:rPr lang="en-US" sz="1600" dirty="0">
                <a:latin typeface="Helvetica" pitchFamily="2" charset="0"/>
              </a:rPr>
              <a:t> (total/processed/unprocessed red meat, serving/day), </a:t>
            </a:r>
            <a:r>
              <a:rPr lang="en-US" sz="1600" dirty="0" err="1">
                <a:latin typeface="Helvetica" pitchFamily="2" charset="0"/>
              </a:rPr>
              <a:t>calorv_drs</a:t>
            </a:r>
            <a:r>
              <a:rPr lang="en-US" sz="1600" dirty="0">
                <a:latin typeface="Helvetica" pitchFamily="2" charset="0"/>
              </a:rPr>
              <a:t> (total energy, kcal/day), </a:t>
            </a:r>
            <a:r>
              <a:rPr lang="en-US" sz="1600" dirty="0" err="1">
                <a:latin typeface="Helvetica" pitchFamily="2" charset="0"/>
              </a:rPr>
              <a:t>aofib_drs</a:t>
            </a:r>
            <a:r>
              <a:rPr lang="en-US" sz="1600" dirty="0">
                <a:latin typeface="Helvetica" pitchFamily="2" charset="0"/>
              </a:rPr>
              <a:t> (dietary fiber, gram/day), </a:t>
            </a:r>
            <a:r>
              <a:rPr lang="en-US" sz="1600" dirty="0" err="1">
                <a:latin typeface="Helvetica" pitchFamily="2" charset="0"/>
              </a:rPr>
              <a:t>fruits_drs</a:t>
            </a:r>
            <a:r>
              <a:rPr lang="en-US" sz="1600" dirty="0">
                <a:latin typeface="Helvetica" pitchFamily="2" charset="0"/>
              </a:rPr>
              <a:t> (fruits, serving/day), </a:t>
            </a:r>
            <a:r>
              <a:rPr lang="en-US" sz="1600" dirty="0" err="1">
                <a:latin typeface="Helvetica" pitchFamily="2" charset="0"/>
              </a:rPr>
              <a:t>vegeal_drs</a:t>
            </a:r>
            <a:r>
              <a:rPr lang="en-US" sz="1600" dirty="0">
                <a:latin typeface="Helvetica" pitchFamily="2" charset="0"/>
              </a:rPr>
              <a:t> (vegetables, serving/day)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W (error-free covariates):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white2</a:t>
            </a:r>
            <a:r>
              <a:rPr lang="en-US" sz="1600" dirty="0">
                <a:latin typeface="Helvetica" pitchFamily="2" charset="0"/>
              </a:rPr>
              <a:t> (white: yes/no), </a:t>
            </a:r>
            <a:r>
              <a:rPr lang="en-US" sz="1600" i="1" dirty="0" err="1">
                <a:latin typeface="Helvetica" pitchFamily="2" charset="0"/>
              </a:rPr>
              <a:t>catsmkf</a:t>
            </a:r>
            <a:r>
              <a:rPr lang="en-US" sz="1600" dirty="0">
                <a:latin typeface="Helvetica" pitchFamily="2" charset="0"/>
              </a:rPr>
              <a:t> (current smoker: yes/no), </a:t>
            </a:r>
            <a:r>
              <a:rPr lang="en-US" sz="1600" i="1" dirty="0" err="1">
                <a:latin typeface="Helvetica" pitchFamily="2" charset="0"/>
              </a:rPr>
              <a:t>catact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(physical activity: 5 categories), </a:t>
            </a:r>
            <a:r>
              <a:rPr lang="en-US" sz="1600" i="1" dirty="0">
                <a:latin typeface="Helvetica" pitchFamily="2" charset="0"/>
              </a:rPr>
              <a:t>hormone </a:t>
            </a:r>
            <a:r>
              <a:rPr lang="en-US" sz="1600" dirty="0">
                <a:latin typeface="Helvetica" pitchFamily="2" charset="0"/>
              </a:rPr>
              <a:t>(post-menopausal hormone use: 5 categories), </a:t>
            </a:r>
            <a:r>
              <a:rPr lang="en-US" sz="1600" i="1" dirty="0" err="1">
                <a:latin typeface="Helvetica" pitchFamily="2" charset="0"/>
              </a:rPr>
              <a:t>mlvit</a:t>
            </a:r>
            <a:r>
              <a:rPr lang="en-US" sz="1600" dirty="0">
                <a:latin typeface="Helvetica" pitchFamily="2" charset="0"/>
              </a:rPr>
              <a:t> (multivitamin use: yes/no), </a:t>
            </a:r>
            <a:r>
              <a:rPr lang="en-US" sz="1600" i="1" dirty="0" err="1">
                <a:latin typeface="Helvetica" pitchFamily="2" charset="0"/>
              </a:rPr>
              <a:t>chdfh</a:t>
            </a:r>
            <a:r>
              <a:rPr lang="en-US" sz="1600" dirty="0">
                <a:latin typeface="Helvetica" pitchFamily="2" charset="0"/>
              </a:rPr>
              <a:t> (family history of CHD: yes/no), </a:t>
            </a:r>
            <a:r>
              <a:rPr lang="en-US" sz="1600" i="1" dirty="0">
                <a:latin typeface="Helvetica" pitchFamily="2" charset="0"/>
              </a:rPr>
              <a:t>aspirin</a:t>
            </a:r>
            <a:r>
              <a:rPr lang="en-US" sz="1600" dirty="0">
                <a:latin typeface="Helvetica" pitchFamily="2" charset="0"/>
              </a:rPr>
              <a:t> (aspirin use: yes/no), </a:t>
            </a:r>
            <a:r>
              <a:rPr lang="en-US" sz="1600" i="1" dirty="0" err="1">
                <a:latin typeface="Helvetica" pitchFamily="2" charset="0"/>
              </a:rPr>
              <a:t>nSES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(neighborhood social-economic status: 5 categories), </a:t>
            </a:r>
            <a:r>
              <a:rPr lang="en-US" sz="1600" i="1" dirty="0" err="1">
                <a:latin typeface="Helvetica" pitchFamily="2" charset="0"/>
              </a:rPr>
              <a:t>alcc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(alcohol intake: 6 categories).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FAE70-4FFD-54DE-D839-7D7D13B97838}"/>
                  </a:ext>
                </a:extLst>
              </p:cNvPr>
              <p:cNvSpPr txBox="1"/>
              <p:nvPr/>
            </p:nvSpPr>
            <p:spPr>
              <a:xfrm>
                <a:off x="4819833" y="4965380"/>
                <a:ext cx="28785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FAE70-4FFD-54DE-D839-7D7D13B97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833" y="4965380"/>
                <a:ext cx="2878545" cy="276999"/>
              </a:xfrm>
              <a:prstGeom prst="rect">
                <a:avLst/>
              </a:prstGeom>
              <a:blipFill>
                <a:blip r:embed="rId3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A0D500-1609-9B85-1AF9-7DE31660A0E7}"/>
                  </a:ext>
                </a:extLst>
              </p:cNvPr>
              <p:cNvSpPr txBox="1"/>
              <p:nvPr/>
            </p:nvSpPr>
            <p:spPr>
              <a:xfrm>
                <a:off x="211874" y="5217327"/>
                <a:ext cx="875656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1×5</m:t>
                    </m:r>
                  </m:oMath>
                </a14:m>
                <a:r>
                  <a:rPr lang="en-US" dirty="0"/>
                  <a:t> vector of the reference dietary intakes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vector of error-prone dietary intakes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lang="en-US" dirty="0"/>
                  <a:t> vector of error-free covariates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1×5</m:t>
                    </m:r>
                  </m:oMath>
                </a14:m>
                <a:r>
                  <a:rPr lang="en-US" dirty="0"/>
                  <a:t> vector of residual errors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A0D500-1609-9B85-1AF9-7DE31660A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4" y="5217327"/>
                <a:ext cx="8756569" cy="1754326"/>
              </a:xfrm>
              <a:prstGeom prst="rect">
                <a:avLst/>
              </a:prstGeom>
              <a:blipFill>
                <a:blip r:embed="rId4"/>
                <a:stretch>
                  <a:fillRect l="-627" t="-1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FF095C4-B8EA-3EF6-1089-50142BCD37E3}"/>
              </a:ext>
            </a:extLst>
          </p:cNvPr>
          <p:cNvSpPr txBox="1"/>
          <p:nvPr/>
        </p:nvSpPr>
        <p:spPr>
          <a:xfrm>
            <a:off x="211873" y="3875118"/>
            <a:ext cx="1176453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The Measurement Error Model Fit in The Validation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7266B-03C2-CD59-443D-5E11AE98A7D8}"/>
              </a:ext>
            </a:extLst>
          </p:cNvPr>
          <p:cNvSpPr txBox="1"/>
          <p:nvPr/>
        </p:nvSpPr>
        <p:spPr>
          <a:xfrm>
            <a:off x="211873" y="4273596"/>
            <a:ext cx="1138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We used </a:t>
            </a:r>
            <a:r>
              <a:rPr lang="en-US" b="1" dirty="0">
                <a:latin typeface="Helvetica" pitchFamily="2" charset="0"/>
              </a:rPr>
              <a:t>multivariate linear regression</a:t>
            </a:r>
            <a:r>
              <a:rPr lang="en-US" dirty="0">
                <a:latin typeface="Helvetica" pitchFamily="2" charset="0"/>
              </a:rPr>
              <a:t> to calibrate dietary intakes by regressing 7DDRs (X) on FFQs (Z) and the same error-free covariates (W) used in the disease model.</a:t>
            </a:r>
          </a:p>
        </p:txBody>
      </p:sp>
    </p:spTree>
    <p:extLst>
      <p:ext uri="{BB962C8B-B14F-4D97-AF65-F5344CB8AC3E}">
        <p14:creationId xmlns:p14="http://schemas.microsoft.com/office/powerpoint/2010/main" val="49341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EE0BBB-8F83-27EB-9F65-4037C676E3AC}"/>
              </a:ext>
            </a:extLst>
          </p:cNvPr>
          <p:cNvSpPr txBox="1"/>
          <p:nvPr/>
        </p:nvSpPr>
        <p:spPr>
          <a:xfrm>
            <a:off x="9244208" y="3827047"/>
            <a:ext cx="27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Gu, Wang &amp; Willett, Unpublished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7687D1-6F0C-0155-4683-DD2DE4F87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655644"/>
              </p:ext>
            </p:extLst>
          </p:nvPr>
        </p:nvGraphicFramePr>
        <p:xfrm>
          <a:off x="-85635" y="2635981"/>
          <a:ext cx="9933136" cy="25672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41642">
                  <a:extLst>
                    <a:ext uri="{9D8B030D-6E8A-4147-A177-3AD203B41FA5}">
                      <a16:colId xmlns:a16="http://schemas.microsoft.com/office/drawing/2014/main" val="177991185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1526555727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3699443763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2605946802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1331009956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3842868801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443077929"/>
                    </a:ext>
                  </a:extLst>
                </a:gridCol>
                <a:gridCol w="1241642">
                  <a:extLst>
                    <a:ext uri="{9D8B030D-6E8A-4147-A177-3AD203B41FA5}">
                      <a16:colId xmlns:a16="http://schemas.microsoft.com/office/drawing/2014/main" val="1051084198"/>
                    </a:ext>
                  </a:extLst>
                </a:gridCol>
              </a:tblGrid>
              <a:tr h="338103"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Spearman Correlation Coefficients between X and Z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3919638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trmeat_ffq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prmeat_ffq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urmeat_ffq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calorv_ffq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aofib_ffq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fruits_ffq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vegeal_ffq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637834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trmeat_drs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0.57240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0.47284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0.50666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0.05063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-0.17847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-0.22295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-0.04139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1440157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prmeat_drs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0.36522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0.48530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0.24340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0.07439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-0.08320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-0.13390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-0.03798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153696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urmeat_drs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0.53998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0.33345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0.53557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0.03074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-0.17989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-0.21151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-0.01743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3435450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calorv_drs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0.15602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0.09939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0.14934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0.27031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0.09682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-0.01738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0.04656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7285618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aofib_drs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-0.21741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-0.27050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-0.15209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0.19054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0.50353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0.39099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0.33588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2364285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fruits_drs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-0.18714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-0.23391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-0.13279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0.14741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0.43058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0.61059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0.24933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1787543"/>
                  </a:ext>
                </a:extLst>
              </a:tr>
              <a:tr h="278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vegeal_drs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-0.09883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-0.14786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-0.06062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0.15485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0.35136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0.25469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0.50473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798094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09BF548-6CC9-98B1-108A-EFF010D93F0D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2EC26-7BA9-4CCC-DFFE-A8C1A47730FC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How much measurement error is there?</a:t>
            </a:r>
          </a:p>
        </p:txBody>
      </p:sp>
    </p:spTree>
    <p:extLst>
      <p:ext uri="{BB962C8B-B14F-4D97-AF65-F5344CB8AC3E}">
        <p14:creationId xmlns:p14="http://schemas.microsoft.com/office/powerpoint/2010/main" val="1570601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67B9-0450-6C5A-9D7B-7F0F0C4B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483760-8C9A-3704-5D99-3C1484308581}"/>
              </a:ext>
            </a:extLst>
          </p:cNvPr>
          <p:cNvGraphicFramePr>
            <a:graphicFrameLocks noGrp="1"/>
          </p:cNvGraphicFramePr>
          <p:nvPr/>
        </p:nvGraphicFramePr>
        <p:xfrm>
          <a:off x="182323" y="877626"/>
          <a:ext cx="11827353" cy="29937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1138">
                  <a:extLst>
                    <a:ext uri="{9D8B030D-6E8A-4147-A177-3AD203B41FA5}">
                      <a16:colId xmlns:a16="http://schemas.microsoft.com/office/drawing/2014/main" val="684533200"/>
                    </a:ext>
                  </a:extLst>
                </a:gridCol>
                <a:gridCol w="675353">
                  <a:extLst>
                    <a:ext uri="{9D8B030D-6E8A-4147-A177-3AD203B41FA5}">
                      <a16:colId xmlns:a16="http://schemas.microsoft.com/office/drawing/2014/main" val="538342723"/>
                    </a:ext>
                  </a:extLst>
                </a:gridCol>
                <a:gridCol w="675353">
                  <a:extLst>
                    <a:ext uri="{9D8B030D-6E8A-4147-A177-3AD203B41FA5}">
                      <a16:colId xmlns:a16="http://schemas.microsoft.com/office/drawing/2014/main" val="871456725"/>
                    </a:ext>
                  </a:extLst>
                </a:gridCol>
                <a:gridCol w="1300848">
                  <a:extLst>
                    <a:ext uri="{9D8B030D-6E8A-4147-A177-3AD203B41FA5}">
                      <a16:colId xmlns:a16="http://schemas.microsoft.com/office/drawing/2014/main" val="3395866836"/>
                    </a:ext>
                  </a:extLst>
                </a:gridCol>
                <a:gridCol w="665419">
                  <a:extLst>
                    <a:ext uri="{9D8B030D-6E8A-4147-A177-3AD203B41FA5}">
                      <a16:colId xmlns:a16="http://schemas.microsoft.com/office/drawing/2014/main" val="1830968443"/>
                    </a:ext>
                  </a:extLst>
                </a:gridCol>
                <a:gridCol w="665419">
                  <a:extLst>
                    <a:ext uri="{9D8B030D-6E8A-4147-A177-3AD203B41FA5}">
                      <a16:colId xmlns:a16="http://schemas.microsoft.com/office/drawing/2014/main" val="1780450319"/>
                    </a:ext>
                  </a:extLst>
                </a:gridCol>
                <a:gridCol w="1320716">
                  <a:extLst>
                    <a:ext uri="{9D8B030D-6E8A-4147-A177-3AD203B41FA5}">
                      <a16:colId xmlns:a16="http://schemas.microsoft.com/office/drawing/2014/main" val="3601215970"/>
                    </a:ext>
                  </a:extLst>
                </a:gridCol>
                <a:gridCol w="694516">
                  <a:extLst>
                    <a:ext uri="{9D8B030D-6E8A-4147-A177-3AD203B41FA5}">
                      <a16:colId xmlns:a16="http://schemas.microsoft.com/office/drawing/2014/main" val="2574410935"/>
                    </a:ext>
                  </a:extLst>
                </a:gridCol>
                <a:gridCol w="694516">
                  <a:extLst>
                    <a:ext uri="{9D8B030D-6E8A-4147-A177-3AD203B41FA5}">
                      <a16:colId xmlns:a16="http://schemas.microsoft.com/office/drawing/2014/main" val="3952211955"/>
                    </a:ext>
                  </a:extLst>
                </a:gridCol>
                <a:gridCol w="1262522">
                  <a:extLst>
                    <a:ext uri="{9D8B030D-6E8A-4147-A177-3AD203B41FA5}">
                      <a16:colId xmlns:a16="http://schemas.microsoft.com/office/drawing/2014/main" val="1528800291"/>
                    </a:ext>
                  </a:extLst>
                </a:gridCol>
                <a:gridCol w="662280">
                  <a:extLst>
                    <a:ext uri="{9D8B030D-6E8A-4147-A177-3AD203B41FA5}">
                      <a16:colId xmlns:a16="http://schemas.microsoft.com/office/drawing/2014/main" val="4153261726"/>
                    </a:ext>
                  </a:extLst>
                </a:gridCol>
                <a:gridCol w="662280">
                  <a:extLst>
                    <a:ext uri="{9D8B030D-6E8A-4147-A177-3AD203B41FA5}">
                      <a16:colId xmlns:a16="http://schemas.microsoft.com/office/drawing/2014/main" val="3983990997"/>
                    </a:ext>
                  </a:extLst>
                </a:gridCol>
                <a:gridCol w="1326993">
                  <a:extLst>
                    <a:ext uri="{9D8B030D-6E8A-4147-A177-3AD203B41FA5}">
                      <a16:colId xmlns:a16="http://schemas.microsoft.com/office/drawing/2014/main" val="4222043250"/>
                    </a:ext>
                  </a:extLst>
                </a:gridCol>
              </a:tblGrid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5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only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Cumulative average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472528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879815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4659175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# of cases</a:t>
                      </a: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5,067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0209857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Total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1.06 (1.01, 1.11)</a:t>
                      </a:r>
                      <a:endParaRPr lang="en-US" sz="1200" b="1" i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0.085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0.045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1.09 (1.00, 1.19)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0.151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1.16 (1.09, 1.24)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0.407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 (1.22, 1.84)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795803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Processed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1.13 (1.05, 1.22)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0.205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0.082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1.23 (1.04, 1.44)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0.209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1.23 (1.11, 1.37)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0.501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1.65 (1.20, 2.28)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8140122"/>
                  </a:ext>
                </a:extLst>
              </a:tr>
              <a:tr h="42768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Unprocessed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1.02 (0.96, 1.07)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1.01 (0.89, 1.15)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1.15 (1.06, 1.24)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0.493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1.64 (1.19, 2.26)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90775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1E9595-66A6-AFCC-01E1-F9DB51A8E91B}"/>
              </a:ext>
            </a:extLst>
          </p:cNvPr>
          <p:cNvSpPr txBox="1"/>
          <p:nvPr/>
        </p:nvSpPr>
        <p:spPr>
          <a:xfrm>
            <a:off x="9244208" y="3827047"/>
            <a:ext cx="27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Gu, Wang &amp; Willett, Unpublished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7F1CC-CFF8-AD36-9486-514A8368D3A0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3B2AF-5E27-8F86-AE91-223B275F93BF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Association between red meat intake and coronary heart disease (CHD)</a:t>
            </a:r>
            <a:r>
              <a:rPr lang="en-US" sz="2400" b="1" dirty="0">
                <a:solidFill>
                  <a:schemeClr val="bg1"/>
                </a:solidFill>
                <a:effectLst/>
                <a:latin typeface="Helvetica" pitchFamily="2" charset="0"/>
                <a:ea typeface="Palatino" pitchFamily="2" charset="77"/>
              </a:rPr>
              <a:t> </a:t>
            </a:r>
            <a:endParaRPr lang="en-US" sz="2400" b="1" dirty="0">
              <a:solidFill>
                <a:schemeClr val="bg1"/>
              </a:solidFill>
              <a:latin typeface="Helvetica" pitchFamily="2" charset="0"/>
              <a:ea typeface="Palatino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99D20-B94A-C631-8327-ACBE85C7B50F}"/>
              </a:ext>
            </a:extLst>
          </p:cNvPr>
          <p:cNvSpPr txBox="1"/>
          <p:nvPr/>
        </p:nvSpPr>
        <p:spPr>
          <a:xfrm>
            <a:off x="182323" y="3907863"/>
            <a:ext cx="18942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*Cox proportional hazards models were used to estimate the associations of red meats with CHD, adjusted for dietary and other potential confounders. </a:t>
            </a:r>
          </a:p>
        </p:txBody>
      </p:sp>
    </p:spTree>
    <p:extLst>
      <p:ext uri="{BB962C8B-B14F-4D97-AF65-F5344CB8AC3E}">
        <p14:creationId xmlns:p14="http://schemas.microsoft.com/office/powerpoint/2010/main" val="1025202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6C133-001B-6773-C2DC-6B2F909A7713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2F630-0EA2-F5B2-7C78-FD1CDC7DC566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Baseline Red Meat and CHD –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BLINPLUS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Call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EFAF6E2-73BD-2262-9E93-6D0D16B3B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09" y="1060953"/>
            <a:ext cx="8770328" cy="32633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B400FFC-B6C0-4FFB-77F6-530505F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402" y="1060953"/>
            <a:ext cx="1739689" cy="5264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C1AFBA93-B5FC-ED85-6E50-0966ADAAE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09" y="4615849"/>
            <a:ext cx="9469957" cy="16390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0748A6-8AF9-0768-1515-D63BF9967ECF}"/>
              </a:ext>
            </a:extLst>
          </p:cNvPr>
          <p:cNvSpPr/>
          <p:nvPr/>
        </p:nvSpPr>
        <p:spPr>
          <a:xfrm>
            <a:off x="1943100" y="4094629"/>
            <a:ext cx="578224" cy="154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61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6F83B3-1E36-01E3-367F-A4F47E2DDC5F}"/>
              </a:ext>
            </a:extLst>
          </p:cNvPr>
          <p:cNvSpPr txBox="1"/>
          <p:nvPr/>
        </p:nvSpPr>
        <p:spPr>
          <a:xfrm>
            <a:off x="259401" y="1348545"/>
            <a:ext cx="5691696" cy="438581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Main study regression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coeffiecients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 Uncorrected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WT        B          SE         OR            95% CI             p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0.05459    0.02312    1.05611    1.00931  -  1.10507   0.01823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0.00006    0.00004    1.00006    0.99997  -  1.00015   0.17940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-0.00701    0.00448    0.99301    0.98433  -  1.00176   0.11720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0.01475    0.01673    1.01486    0.98212  -  1.04869   0.37797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0.01506    0.01778    1.01518    0.98041  -  1.05118   0.39686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white2         1.00   0.16960    0.09672    1.18483    0.98023  -  1.43213   0.07951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1.00   0.84709    0.03676    2.33286    2.17071  -  2.50712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catact2        1.00  -0.25056    0.03687    0.77836    0.72409  -  0.83670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catact3        1.00  -0.35745    0.04241    0.69946    0.64366  -  0.76009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catact4        1.00  -0.36285    0.05122    0.69569    0.62924  -  0.76916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catact5        1.00  -0.61674    0.04751    0.53970    0.49171  -  0.59238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hormone2       1.00   0.32160    0.09354    1.37933    1.14828  -  1.65689   0.00059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hormone3       1.00   0.20076    0.09543    1.22234    1.01382  -  1.47373   0.03539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hormone4       1.00   0.25203    0.09605    1.28664    1.06586  -  1.55314   0.00869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0.49876    0.09927    1.64668    1.35553  -  2.00035   0.00000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-0.10755    0.03009    0.89803    0.84661  -  0.95259   0.00035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 0.46720    0.03063    1.59552    1.50255  -  1.69423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aspirin        1.00   0.05260    0.02919    1.05401    0.99539  -  1.11608   0.07156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qnSES1         1.00  -0.03141    0.04327    0.96908    0.89029  -  1.05484   0.46789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qnSES2         1.00  -0.07255    0.04396    0.93002    0.85325  -  1.01370   0.09884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qnSES3         1.00  -0.10169    0.04424    0.90331    0.82828  -  0.98514   0.02153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qnSES4         1.00  -0.21219    0.04616    0.80881    0.73884  -  0.88540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alcc2          1.00  -0.05706    0.03441    0.94454    0.88294  -  1.01043   0.09724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alcc3          1.00  -0.15967    0.05077    0.85243    0.77169  -  0.94161   0.00166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alcc4          1.00  -0.22633    0.05011    0.79746    0.72286  -  0.87975   0.00001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alcc5          1.00  -0.22632    0.06195    0.79747    0.70628  -  0.90042   0.00026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alcc6          1.00  -0.16177    0.06718    0.85064    0.74569  -  0.97036   0.01605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B64ED-4BB9-D063-D8F2-B44EFF22E6C3}"/>
              </a:ext>
            </a:extLst>
          </p:cNvPr>
          <p:cNvSpPr txBox="1"/>
          <p:nvPr/>
        </p:nvSpPr>
        <p:spPr>
          <a:xfrm>
            <a:off x="259400" y="901986"/>
            <a:ext cx="56916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Uncorrected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4814B-B710-AF3F-7021-D1863D32377B}"/>
              </a:ext>
            </a:extLst>
          </p:cNvPr>
          <p:cNvSpPr txBox="1"/>
          <p:nvPr/>
        </p:nvSpPr>
        <p:spPr>
          <a:xfrm>
            <a:off x="6239072" y="901986"/>
            <a:ext cx="569169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Corrected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7B941-D7F3-F93E-4CE9-F8F142339D45}"/>
              </a:ext>
            </a:extLst>
          </p:cNvPr>
          <p:cNvSpPr txBox="1"/>
          <p:nvPr/>
        </p:nvSpPr>
        <p:spPr>
          <a:xfrm>
            <a:off x="6239072" y="1348545"/>
            <a:ext cx="5691696" cy="438581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Main study regression coefficients: Corrected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WT        B          SE         OR            95% CI             p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0.08461    0.04490    1.08830    0.99661  -  1.18842   0.05951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0.00021    0.00018    1.00021    0.99984  -  1.00057   0.26635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-0.00988    0.00885    0.99017    0.97315  -  1.00749   0.26401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0.03340    0.03426    1.03397    0.96682  -  1.10578   0.32956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0.03357    0.05985    1.03414    0.91967  -  1.16286   0.57488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white2         1.00   0.18166    0.10011    1.19920    0.98554  -  1.45919   0.06960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1.00   0.83686    0.04729    2.30911    2.10469  -  2.53339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catact2        1.00  -0.27959    0.05010    0.75610    0.68538  -  0.83411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catact3        1.00  -0.39944    0.05673    0.67070    0.60011  -  0.74958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catact4        1.00  -0.40176    0.06479    0.66914    0.58934  -  0.75974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catact5        1.00  -0.64079    0.06183    0.52688    0.46675  -  0.59476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hormone2       1.00   0.32490    0.09443    1.38389    1.15005  -  1.66528   0.00058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hormone3       1.00   0.20050    0.09641    1.22201    1.01161  -  1.47617   0.03755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hormone4       1.00   0.26910    0.09763    1.30879    1.08085  -  1.58479   0.00584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0.49959    0.10307    1.64804    1.34658  -  2.01699   0.00000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-0.08887    0.03179    0.91497    0.85970  -  0.97379   0.00518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 0.47968    0.03290    1.61556    1.51467  -  1.72317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aspirin        1.00   0.04315    0.03033    1.04410    0.98384  -  1.10804   0.15480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qnSES1         1.00  -0.02259    0.04521    0.97766    0.89476  -  1.06824   0.61726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qnSES2         1.00  -0.05987    0.04607    0.94189    0.86057  -  1.03089   0.19376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qnSES3         1.00  -0.09834    0.04642    0.90634    0.82753  -  0.99266   0.03412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qnSES4         1.00  -0.21049    0.04754    0.81019    0.73811  -  0.88931   0.00001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alcc2          1.00  -0.05378    0.03647    0.94764    0.88227  -  1.01786   0.14030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alcc3          1.00  -0.14742    0.05229    0.86293    0.77888  -  0.95606   0.00481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alcc4          1.00  -0.23425    0.05457    0.79116    0.71091  -  0.88047   0.00002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alcc5          1.00  -0.23839    0.06743    0.78789    0.69036  -  0.89921   0.00041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alcc6          1.00  -0.18096    0.07548    0.83447    0.71972  -  0.96753   0.01651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DA47D-0BB6-FDAA-1EAF-D2433E09C5DB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4CE09-BBEF-3063-14A2-97269F5C0E30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Baseline Red Meat and CHD – 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BLINPLUS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9F435-221F-DD0B-C6FF-776FFB5E1E14}"/>
              </a:ext>
            </a:extLst>
          </p:cNvPr>
          <p:cNvSpPr txBox="1"/>
          <p:nvPr/>
        </p:nvSpPr>
        <p:spPr>
          <a:xfrm>
            <a:off x="259400" y="5786536"/>
            <a:ext cx="11552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Hazard ratios (HR) and 95% confidence intervals (CI) for total red meat, fruits, and vegetables intake are for per 1 serving/day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Total energy intake is expressed per 1 kcal/day increment, and dietary fiber is expressed per 1 gram/day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Categorical covariates, including physical activity (</a:t>
            </a:r>
            <a:r>
              <a:rPr lang="en-US" sz="1400" dirty="0" err="1">
                <a:latin typeface="Helvetica" pitchFamily="2" charset="0"/>
              </a:rPr>
              <a:t>catact</a:t>
            </a:r>
            <a:r>
              <a:rPr lang="en-US" sz="1400" dirty="0">
                <a:latin typeface="Helvetica" pitchFamily="2" charset="0"/>
              </a:rPr>
              <a:t>), post-menopausal hormone use (hormone), and neighborhood socio-economic status (</a:t>
            </a:r>
            <a:r>
              <a:rPr lang="en-US" sz="1400" dirty="0" err="1">
                <a:latin typeface="Helvetica" pitchFamily="2" charset="0"/>
              </a:rPr>
              <a:t>nSES</a:t>
            </a:r>
            <a:r>
              <a:rPr lang="en-US" sz="1400" dirty="0">
                <a:latin typeface="Helvetica" pitchFamily="2" charset="0"/>
              </a:rPr>
              <a:t>), and alcohol intake (</a:t>
            </a:r>
            <a:r>
              <a:rPr lang="en-US" sz="1400" dirty="0" err="1">
                <a:latin typeface="Helvetica" pitchFamily="2" charset="0"/>
              </a:rPr>
              <a:t>alcc</a:t>
            </a:r>
            <a:r>
              <a:rPr lang="en-US" sz="1400" dirty="0">
                <a:latin typeface="Helvetica" pitchFamily="2" charset="0"/>
              </a:rPr>
              <a:t>) are represented as dummy-coded variables.</a:t>
            </a:r>
          </a:p>
        </p:txBody>
      </p:sp>
    </p:spTree>
    <p:extLst>
      <p:ext uri="{BB962C8B-B14F-4D97-AF65-F5344CB8AC3E}">
        <p14:creationId xmlns:p14="http://schemas.microsoft.com/office/powerpoint/2010/main" val="382982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56550F-A39D-EC3F-3C6F-642CC2FB4E08}"/>
              </a:ext>
            </a:extLst>
          </p:cNvPr>
          <p:cNvSpPr/>
          <p:nvPr/>
        </p:nvSpPr>
        <p:spPr>
          <a:xfrm>
            <a:off x="0" y="-274508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48392-EE15-4226-D54B-15500906547D}"/>
              </a:ext>
            </a:extLst>
          </p:cNvPr>
          <p:cNvSpPr txBox="1"/>
          <p:nvPr/>
        </p:nvSpPr>
        <p:spPr>
          <a:xfrm>
            <a:off x="-69113" y="-336071"/>
            <a:ext cx="10816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How to divide up the validation data into age groups with relatively constant measurement error for risk set regression calibration?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9B3872-28D3-D4C8-352E-4F736D999E15}"/>
              </a:ext>
            </a:extLst>
          </p:cNvPr>
          <p:cNvGrpSpPr/>
          <p:nvPr/>
        </p:nvGrpSpPr>
        <p:grpSpPr>
          <a:xfrm>
            <a:off x="7089732" y="2105308"/>
            <a:ext cx="4903902" cy="3460374"/>
            <a:chOff x="6830416" y="3142617"/>
            <a:chExt cx="4903902" cy="3460374"/>
          </a:xfrm>
        </p:grpSpPr>
        <p:pic>
          <p:nvPicPr>
            <p:cNvPr id="4" name="Picture 3" descr="A graph showing a number of g&#10;&#10;AI-generated content may be incorrect.">
              <a:extLst>
                <a:ext uri="{FF2B5EF4-FFF2-40B4-BE49-F238E27FC236}">
                  <a16:creationId xmlns:a16="http://schemas.microsoft.com/office/drawing/2014/main" id="{0A518A7B-68AF-585D-DBFE-37AE2F130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0416" y="3142617"/>
              <a:ext cx="4903902" cy="34603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AC5C3F-3631-AC18-AEB5-B44608409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5376" y="3142617"/>
              <a:ext cx="0" cy="3460374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C6A8234-F2B8-5E60-844B-266B4C665BEF}"/>
              </a:ext>
            </a:extLst>
          </p:cNvPr>
          <p:cNvSpPr txBox="1"/>
          <p:nvPr/>
        </p:nvSpPr>
        <p:spPr>
          <a:xfrm>
            <a:off x="5642975" y="296866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CD2E8-3BE4-DC79-4E6B-1D02D98A6531}"/>
                  </a:ext>
                </a:extLst>
              </p:cNvPr>
              <p:cNvSpPr txBox="1"/>
              <p:nvPr/>
            </p:nvSpPr>
            <p:spPr>
              <a:xfrm>
                <a:off x="122146" y="835636"/>
                <a:ext cx="6967586" cy="525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The “</a:t>
                </a:r>
                <a:r>
                  <a:rPr lang="en-US" sz="1600" b="1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option in  %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RRC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allows setting the minimum number of subjects in each risk set. If “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is too small and there are few subjects in each risk set, results could be instable. We should find the optimal “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before using %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RRC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b="1" dirty="0">
                    <a:latin typeface="Helvetica" pitchFamily="2" charset="0"/>
                    <a:cs typeface="Arial" panose="020B0604020202020204" pitchFamily="34" charset="0"/>
                  </a:rPr>
                  <a:t>Systematic Iterative Testing: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</a:t>
                </a:r>
              </a:p>
              <a:p>
                <a:pPr marL="800100" lvl="1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dirty="0">
                    <a:latin typeface="Helvetica" pitchFamily="2" charset="0"/>
                  </a:rPr>
                  <a:t>In the validation study, we perform an empirical search across a range of values for 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,</a:t>
                </a:r>
                <a:r>
                  <a:rPr lang="en-US" sz="16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, to estimate the bias-variance trade-off. As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 decreases, the model gains the flexibility to capture subtle age-specific variation in the measurement error model, but we prevent overfitting to control random noise. </a:t>
                </a:r>
              </a:p>
              <a:p>
                <a:pPr marL="800100" lvl="1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dirty="0">
                    <a:latin typeface="Helvetica" pitchFamily="2" charset="0"/>
                  </a:rPr>
                  <a:t>By testing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 in fixed increments (e.g., from 5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itchFamily="2" charset="0"/>
                  </a:rPr>
                  <a:t> in increments of 25), we identify the optimal threshold where the model captures essential data patterns while maintaining predictive stability.</a:t>
                </a:r>
                <a:endParaRPr lang="en-US" sz="1600" dirty="0">
                  <a:latin typeface="Helvetica" pitchFamily="2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b="1" dirty="0">
                    <a:latin typeface="Helvetica" pitchFamily="2" charset="0"/>
                    <a:cs typeface="Arial" panose="020B0604020202020204" pitchFamily="34" charset="0"/>
                  </a:rPr>
                  <a:t>Out-of-Sample Validation: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We use 5-fold cross-validation to assess the model's generalizability and predictive performance on new data. The optimal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is identified as the value that minimizes the MSE, representing the point where the model predicts the reference dietary intake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) with the highest accuracy for independent observations.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CD2E8-3BE4-DC79-4E6B-1D02D98A6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46" y="835636"/>
                <a:ext cx="6967586" cy="5254259"/>
              </a:xfrm>
              <a:prstGeom prst="rect">
                <a:avLst/>
              </a:prstGeom>
              <a:blipFill>
                <a:blip r:embed="rId4"/>
                <a:stretch>
                  <a:fillRect l="-437" t="-232" r="-1137" b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704B2-3C2F-EE57-F3AE-6F3C7B5EF8B4}"/>
                  </a:ext>
                </a:extLst>
              </p:cNvPr>
              <p:cNvSpPr txBox="1"/>
              <p:nvPr/>
            </p:nvSpPr>
            <p:spPr>
              <a:xfrm>
                <a:off x="7089732" y="5653032"/>
                <a:ext cx="4609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*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at the minimum out-of-sample MSE is 455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704B2-3C2F-EE57-F3AE-6F3C7B5EF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732" y="5653032"/>
                <a:ext cx="4609575" cy="369332"/>
              </a:xfrm>
              <a:prstGeom prst="rect">
                <a:avLst/>
              </a:prstGeom>
              <a:blipFill>
                <a:blip r:embed="rId5"/>
                <a:stretch>
                  <a:fillRect l="-1058" t="-6557" r="-926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499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CE0E5-CCAE-725F-470A-FD5F4D08CBA7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09C3-0183-D9D9-4662-84A9130C80AF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Cumulative Average Red Meat and CHD – RRC Call</a:t>
            </a:r>
          </a:p>
        </p:txBody>
      </p:sp>
      <p:pic>
        <p:nvPicPr>
          <p:cNvPr id="6" name="Picture 5" descr="A computer screen shot of a computer error&#10;&#10;AI-generated content may be incorrect.">
            <a:extLst>
              <a:ext uri="{FF2B5EF4-FFF2-40B4-BE49-F238E27FC236}">
                <a16:creationId xmlns:a16="http://schemas.microsoft.com/office/drawing/2014/main" id="{90FB506C-5C1F-0EEE-6076-6FBCDF77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13" y="1361199"/>
            <a:ext cx="10487374" cy="4769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277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37429-554D-29DD-58D3-C401D551FCB3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30E46-F5F2-A884-9F62-16F328C4B4DE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Cumulative Average Red Meat and CHD – RRC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05D17-93E6-E65D-4A84-1691AB46BBE0}"/>
              </a:ext>
            </a:extLst>
          </p:cNvPr>
          <p:cNvSpPr txBox="1"/>
          <p:nvPr/>
        </p:nvSpPr>
        <p:spPr>
          <a:xfrm>
            <a:off x="606866" y="1221017"/>
            <a:ext cx="10978267" cy="507831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%%%%%%%%%%%%%%%%%%%%%%%%%%%%%%%%%%%%%%%%%%%%%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This analysis is for cumulatively average updated exposure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with general linear measurement error model.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The increment for each exposure is:   1.0000000000000000        1.0000000000000000        1.0000000000000000        1.0000000000000000        1.0000000000000000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subjects in the main study:       84354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person-year observations in the main study:     1306905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cases in the main study:        5067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unique failure time:          58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subjects in the validation study:         741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person-year observations in the validation study:         741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risk sets in the validation study:           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Information about the measurement error model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fitting in the validation study: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Risk_set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Age_low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Age_up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Person_year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Intercept  slope     R^2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1        39.0    96.0       741        0.761    0.587   -0.000   -0.013   -0.001    0.049    0.331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*******    0.875    0.238   -3.640  -18.317  -11.798    0.069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11.066   -0.773   -0.005    0.701   -0.319   -0.579    0.263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0.205   -0.060   -0.000    0.027    0.438   -0.034    0.371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0.655   -0.026   -0.000    0.025    0.024    0.262    0.217</a:t>
            </a:r>
          </a:p>
        </p:txBody>
      </p:sp>
    </p:spTree>
    <p:extLst>
      <p:ext uri="{BB962C8B-B14F-4D97-AF65-F5344CB8AC3E}">
        <p14:creationId xmlns:p14="http://schemas.microsoft.com/office/powerpoint/2010/main" val="3059885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18FF50-7024-E8F0-71E5-27D59E147297}"/>
              </a:ext>
            </a:extLst>
          </p:cNvPr>
          <p:cNvSpPr txBox="1"/>
          <p:nvPr/>
        </p:nvSpPr>
        <p:spPr>
          <a:xfrm>
            <a:off x="463991" y="606185"/>
            <a:ext cx="5489134" cy="563231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Uncorrected result: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Variable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Para_es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S.E.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p_val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H.R.        95% C.I.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0.151   0.031  0.000  1.163  [  1.09,  1.24]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-0.000   0.000  0.929  1.000  [  1.00,  1.00]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-0.018   0.006  0.002  0.982  [  0.97,  0.99]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0.110   0.021  0.000  1.116  [  1.07,  1.16]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0.041   0.019  0.028  1.042  [  1.00,  1.08]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white2         0.210   0.097  0.030  1.234  [  1.02,  1.49]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0.890   0.037  0.000  2.436  [  2.27,  2.62]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catact2       -0.249   0.037  0.000  0.780  [  0.73,  0.84]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catact3       -0.359   0.043  0.000  0.699  [  0.64,  0.76]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catact4       -0.378   0.051  0.000  0.685  [  0.62,  0.76]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catact5       -0.669   0.048  0.000  0.512  [  0.47,  0.56]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hormone2       0.355   0.093  0.000  1.427  [  1.19,  1.71]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hormone3       0.267   0.095  0.005  1.307  [  1.08,  1.57]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hormone4       0.149   0.095  0.119  1.161  [  0.96,  1.40]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0.413   0.099  0.000  1.512  [  1.25,  1.84]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-0.105   0.030  0.000  0.900  [  0.85,  0.95]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0.460   0.031  0.000  1.584  [  1.49,  1.68]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aspirin        0.078   0.029  0.007  1.081  [  1.02,  1.14]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qnSES1        -0.035   0.043  0.421  0.966  [  0.89,  1.05]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qnSES2        -0.103   0.044  0.019  0.903  [  0.83,  0.98]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qnSES3        -0.114   0.044  0.010  0.893  [  0.82,  0.97]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qnSES4        -0.262   0.046  0.000  0.770  [  0.70,  0.84]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alcc2         -0.085   0.036  0.019  0.919  [  0.86,  0.99]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alcc3         -0.176   0.050  0.000  0.839  [  0.76,  0.92]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alcc4         -0.269   0.060  0.000  0.764  [  0.68,  0.86]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alcc5         -0.313   0.061  0.000  0.731  [  0.65,  0.82]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alcc6         -0.246   0.084  0.003  0.782  [  0.66,  0.92]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140D0-D3BF-5FAE-3293-D102204E1981}"/>
              </a:ext>
            </a:extLst>
          </p:cNvPr>
          <p:cNvSpPr txBox="1"/>
          <p:nvPr/>
        </p:nvSpPr>
        <p:spPr>
          <a:xfrm>
            <a:off x="6274241" y="606185"/>
            <a:ext cx="5489134" cy="563231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RRC result (Zhou):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Variable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Para_es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S.E.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p_val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H.R.        95% C.I.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0.407   0.104  0.000  1.503  [  1.22,  1.84]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-0.001   0.001  0.278  0.999  [  1.00,  1.00]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-0.005   0.025  0.851  0.995  [  0.95,  1.05]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0.177   0.073  0.016  1.194  [  1.03,  1.38]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-0.106   0.157  0.500  0.900  [  0.66,  1.22]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white2         0.337   0.120  0.005  1.401  [  1.11,  1.77]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0.858   0.067  0.000  2.359  [  2.07,  2.69]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catact2       -0.259   0.062  0.000  0.772  [  0.68,  0.87]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catact3       -0.355   0.073  0.000  0.701  [  0.61,  0.81]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catact4       -0.370   0.083  0.000  0.691  [  0.59,  0.81]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catact5       -0.647   0.085  0.000  0.524  [  0.44,  0.62]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hormone2       0.337   0.100  0.001  1.401  [  1.15,  1.70]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hormone3       0.251   0.099  0.011  1.286  [  1.06,  1.56]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hormone4       0.123   0.103  0.232  1.131  [  0.92,  1.38]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0.394   0.114  0.001  1.483  [  1.19,  1.85]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-0.101   0.032  0.002  0.904  [  0.85,  0.96]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0.479   0.045  0.000  1.614  [  1.48,  1.76]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aspirin        0.065   0.030  0.032  1.067  [  1.01,  1.13]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qnSES1        -0.027   0.048  0.580  0.974  [  0.89,  1.07]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qnSES2        -0.102   0.055  0.063  0.903  [  0.81,  1.01]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qnSES3        -0.091   0.051  0.075  0.913  [  0.83,  1.01]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qnSES4        -0.236   0.054  0.000  0.790  [  0.71,  0.88]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alcc2         -0.060   0.047  0.201  0.941  [  0.86,  1.03]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alcc3         -0.142   0.060  0.019  0.868  [  0.77,  0.98]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alcc4         -0.224   0.084  0.007  0.799  [  0.68,  0.94]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alcc5         -0.246   0.098  0.012  0.782  [  0.65,  0.95]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alcc6         -0.166   0.130  0.204  0.847  [  0.66,  1.09]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78064-E7BF-58C2-7FA9-80240DA95213}"/>
              </a:ext>
            </a:extLst>
          </p:cNvPr>
          <p:cNvSpPr txBox="1"/>
          <p:nvPr/>
        </p:nvSpPr>
        <p:spPr>
          <a:xfrm>
            <a:off x="463991" y="197852"/>
            <a:ext cx="54891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Uncorrected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9D0FA-7634-3367-8F74-4C2259D8CEEE}"/>
              </a:ext>
            </a:extLst>
          </p:cNvPr>
          <p:cNvSpPr txBox="1"/>
          <p:nvPr/>
        </p:nvSpPr>
        <p:spPr>
          <a:xfrm>
            <a:off x="6274241" y="197852"/>
            <a:ext cx="54891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Corrected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8AF7E-72FF-D4BE-D0A7-815C5D2F462E}"/>
              </a:ext>
            </a:extLst>
          </p:cNvPr>
          <p:cNvSpPr txBox="1"/>
          <p:nvPr/>
        </p:nvSpPr>
        <p:spPr>
          <a:xfrm>
            <a:off x="463991" y="6277497"/>
            <a:ext cx="11552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1200" dirty="0"/>
              <a:t>Hazard ratios (HR) and 95% confidence intervals (CI) for total red meat, fruits, and vegetables intake are for per 1 serving/day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200" dirty="0"/>
              <a:t>Total energy intake is expressed per 1 kcal/day increment, and dietary fiber is expressed per 1 gram/day increment.</a:t>
            </a:r>
          </a:p>
        </p:txBody>
      </p:sp>
    </p:spTree>
    <p:extLst>
      <p:ext uri="{BB962C8B-B14F-4D97-AF65-F5344CB8AC3E}">
        <p14:creationId xmlns:p14="http://schemas.microsoft.com/office/powerpoint/2010/main" val="5239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2895</Words>
  <Application>Microsoft Office PowerPoint</Application>
  <PresentationFormat>Widescreen</PresentationFormat>
  <Paragraphs>331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Consolas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Gu, Xiao</dc:creator>
  <cp:lastModifiedBy>Spiegelman, Donna</cp:lastModifiedBy>
  <cp:revision>11</cp:revision>
  <dcterms:created xsi:type="dcterms:W3CDTF">2026-03-10T19:19:47Z</dcterms:created>
  <dcterms:modified xsi:type="dcterms:W3CDTF">2026-03-12T21:30:18Z</dcterms:modified>
</cp:coreProperties>
</file>