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E3_0.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E5_0.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handoutMasterIdLst>
    <p:handoutMasterId r:id="rId31"/>
  </p:handoutMasterIdLst>
  <p:sldIdLst>
    <p:sldId id="472" r:id="rId2"/>
    <p:sldId id="470" r:id="rId3"/>
    <p:sldId id="473" r:id="rId4"/>
    <p:sldId id="474" r:id="rId5"/>
    <p:sldId id="475" r:id="rId6"/>
    <p:sldId id="476" r:id="rId7"/>
    <p:sldId id="477" r:id="rId8"/>
    <p:sldId id="478" r:id="rId9"/>
    <p:sldId id="498" r:id="rId10"/>
    <p:sldId id="480" r:id="rId11"/>
    <p:sldId id="496" r:id="rId12"/>
    <p:sldId id="482" r:id="rId13"/>
    <p:sldId id="483" r:id="rId14"/>
    <p:sldId id="484" r:id="rId15"/>
    <p:sldId id="485" r:id="rId16"/>
    <p:sldId id="486" r:id="rId17"/>
    <p:sldId id="487" r:id="rId18"/>
    <p:sldId id="488" r:id="rId19"/>
    <p:sldId id="490" r:id="rId20"/>
    <p:sldId id="503" r:id="rId21"/>
    <p:sldId id="504" r:id="rId22"/>
    <p:sldId id="505" r:id="rId23"/>
    <p:sldId id="502" r:id="rId24"/>
    <p:sldId id="489" r:id="rId25"/>
    <p:sldId id="492" r:id="rId26"/>
    <p:sldId id="494" r:id="rId27"/>
    <p:sldId id="493" r:id="rId28"/>
    <p:sldId id="495" r:id="rId29"/>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8F6193-681F-F1F6-03A8-65DBBA4C0AEE}" name="Spiegelman, Donna" initials="DS" userId="S::donna.spiegelman@yale.edu::fb7e3339-209c-474a-bdc4-68157e32c0c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Donna" initials="D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00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33" autoAdjust="0"/>
    <p:restoredTop sz="97633" autoAdjust="0"/>
  </p:normalViewPr>
  <p:slideViewPr>
    <p:cSldViewPr>
      <p:cViewPr varScale="1">
        <p:scale>
          <a:sx n="52" d="100"/>
          <a:sy n="52" d="100"/>
        </p:scale>
        <p:origin x="1389" y="34"/>
      </p:cViewPr>
      <p:guideLst>
        <p:guide orient="horz" pos="2160"/>
        <p:guide pos="2880"/>
      </p:guideLst>
    </p:cSldViewPr>
  </p:slideViewPr>
  <p:outlineViewPr>
    <p:cViewPr>
      <p:scale>
        <a:sx n="33" d="100"/>
        <a:sy n="33" d="100"/>
      </p:scale>
      <p:origin x="0" y="3903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omments/modernComment_1E3_0.xml><?xml version="1.0" encoding="utf-8"?>
<p188:cmLst xmlns:a="http://schemas.openxmlformats.org/drawingml/2006/main" xmlns:r="http://schemas.openxmlformats.org/officeDocument/2006/relationships" xmlns:p188="http://schemas.microsoft.com/office/powerpoint/2018/8/main">
  <p188:cm id="{976DF74B-E408-4251-A44F-65B49772E226}" authorId="{5F8F6193-681F-F1F6-03A8-65DBBA4C0AEE}" created="2026-03-02T18:47:51.115">
    <ac:deMkLst xmlns:ac="http://schemas.microsoft.com/office/drawing/2013/main/command">
      <pc:docMk xmlns:pc="http://schemas.microsoft.com/office/powerpoint/2013/main/command"/>
      <pc:sldMk xmlns:pc="http://schemas.microsoft.com/office/powerpoint/2013/main/command" cId="0" sldId="483"/>
      <ac:spMk id="28676" creationId="{00000000-0000-0000-0000-000000000000}"/>
    </ac:deMkLst>
    <p188:txBody>
      <a:bodyPr/>
      <a:lstStyle/>
      <a:p>
        <a:r>
          <a:rPr lang="en-US"/>
          <a:t>Software for optimal study design for a binary outcome variable and a
binary misclassified exposure was available here 
http://www.meb.ki.se/~marrei/software/ (Reilly, 1996)
Wrote to reilly who is retired on 3/2/2026 to find out where program is</a:t>
        </a:r>
      </a:p>
    </p188:txBody>
  </p188:cm>
  <p188:cm id="{90EF24F8-43D2-4035-9804-B3207F2F8F49}" authorId="{5F8F6193-681F-F1F6-03A8-65DBBA4C0AEE}" created="2026-03-02T18:51:21.671">
    <pc:sldMkLst xmlns:pc="http://schemas.microsoft.com/office/powerpoint/2013/main/command">
      <pc:docMk/>
      <pc:sldMk cId="0" sldId="483"/>
    </pc:sldMkLst>
    <p188:txBody>
      <a:bodyPr/>
      <a:lstStyle/>
      <a:p>
        <a:r>
          <a:rPr lang="en-US"/>
          <a:t>Does the converse hold – if misclassification is non-differential, the matrix method will be more efficient (or the MLE with a revised non-differential misclassification likelihood).</a:t>
        </a:r>
      </a:p>
    </p188:txBody>
  </p188:cm>
</p188:cmLst>
</file>

<file path=ppt/comments/modernComment_1E5_0.xml><?xml version="1.0" encoding="utf-8"?>
<p188:cmLst xmlns:a="http://schemas.openxmlformats.org/drawingml/2006/main" xmlns:r="http://schemas.openxmlformats.org/officeDocument/2006/relationships" xmlns:p188="http://schemas.microsoft.com/office/powerpoint/2018/8/main">
  <p188:cm id="{DF4155C1-ADD8-47CF-9AD5-5D949D816B67}" authorId="{5F8F6193-681F-F1F6-03A8-65DBBA4C0AEE}" created="2026-03-02T19:02:26.805">
    <ac:deMkLst xmlns:ac="http://schemas.microsoft.com/office/drawing/2013/main/command">
      <pc:docMk xmlns:pc="http://schemas.microsoft.com/office/powerpoint/2013/main/command"/>
      <pc:sldMk xmlns:pc="http://schemas.microsoft.com/office/powerpoint/2013/main/command" cId="0" sldId="485"/>
      <ac:spMk id="28676" creationId="{00000000-0000-0000-0000-000000000000}"/>
    </ac:deMkLst>
    <p188:txBody>
      <a:bodyPr/>
      <a:lstStyle/>
      <a:p>
        <a:r>
          <a:rPr lang="en-US"/>
          <a:t>Asked Molin what she is using for this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583" cy="480388"/>
          </a:xfrm>
          <a:prstGeom prst="rect">
            <a:avLst/>
          </a:prstGeom>
        </p:spPr>
        <p:txBody>
          <a:bodyPr vert="horz" wrap="square" lIns="94851" tIns="47425" rIns="94851" bIns="47425" numCol="1" anchor="t" anchorCtr="0" compatLnSpc="1">
            <a:prstTxWarp prst="textNoShape">
              <a:avLst/>
            </a:prstTxWarp>
          </a:bodyPr>
          <a:lstStyle>
            <a:lvl1pPr>
              <a:defRPr sz="1200">
                <a:latin typeface="Calibri" pitchFamily="34" charset="0"/>
              </a:defRPr>
            </a:lvl1pPr>
          </a:lstStyle>
          <a:p>
            <a:pPr>
              <a:defRPr/>
            </a:pPr>
            <a:endParaRPr lang="zh-CN" altLang="en-US"/>
          </a:p>
        </p:txBody>
      </p:sp>
      <p:sp>
        <p:nvSpPr>
          <p:cNvPr id="3" name="Date Placeholder 2"/>
          <p:cNvSpPr>
            <a:spLocks noGrp="1"/>
          </p:cNvSpPr>
          <p:nvPr>
            <p:ph type="dt" sz="quarter" idx="1"/>
          </p:nvPr>
        </p:nvSpPr>
        <p:spPr>
          <a:xfrm>
            <a:off x="4142962" y="0"/>
            <a:ext cx="3170583" cy="480388"/>
          </a:xfrm>
          <a:prstGeom prst="rect">
            <a:avLst/>
          </a:prstGeom>
        </p:spPr>
        <p:txBody>
          <a:bodyPr vert="horz" wrap="square" lIns="94851" tIns="47425" rIns="94851" bIns="47425" numCol="1" anchor="t" anchorCtr="0" compatLnSpc="1">
            <a:prstTxWarp prst="textNoShape">
              <a:avLst/>
            </a:prstTxWarp>
          </a:bodyPr>
          <a:lstStyle>
            <a:lvl1pPr algn="r">
              <a:defRPr sz="1200">
                <a:latin typeface="Calibri" pitchFamily="34" charset="0"/>
              </a:defRPr>
            </a:lvl1pPr>
          </a:lstStyle>
          <a:p>
            <a:pPr>
              <a:defRPr/>
            </a:pPr>
            <a:fld id="{487B62C1-4971-480C-BA99-2F71DB031E37}" type="datetimeFigureOut">
              <a:rPr lang="zh-CN" altLang="en-US"/>
              <a:pPr>
                <a:defRPr/>
              </a:pPr>
              <a:t>2026/3/2</a:t>
            </a:fld>
            <a:endParaRPr lang="en-US" altLang="zh-CN"/>
          </a:p>
        </p:txBody>
      </p:sp>
      <p:sp>
        <p:nvSpPr>
          <p:cNvPr id="4" name="Footer Placeholder 3"/>
          <p:cNvSpPr>
            <a:spLocks noGrp="1"/>
          </p:cNvSpPr>
          <p:nvPr>
            <p:ph type="ftr" sz="quarter" idx="2"/>
          </p:nvPr>
        </p:nvSpPr>
        <p:spPr>
          <a:xfrm>
            <a:off x="0" y="9119173"/>
            <a:ext cx="3170583" cy="480388"/>
          </a:xfrm>
          <a:prstGeom prst="rect">
            <a:avLst/>
          </a:prstGeom>
        </p:spPr>
        <p:txBody>
          <a:bodyPr vert="horz" wrap="square" lIns="94851" tIns="47425" rIns="94851" bIns="47425" numCol="1" anchor="b" anchorCtr="0" compatLnSpc="1">
            <a:prstTxWarp prst="textNoShape">
              <a:avLst/>
            </a:prstTxWarp>
          </a:bodyPr>
          <a:lstStyle>
            <a:lvl1pPr>
              <a:defRPr sz="1200">
                <a:latin typeface="Calibri" pitchFamily="34" charset="0"/>
              </a:defRPr>
            </a:lvl1pPr>
          </a:lstStyle>
          <a:p>
            <a:pPr>
              <a:defRPr/>
            </a:pPr>
            <a:endParaRPr lang="zh-CN" altLang="en-US"/>
          </a:p>
        </p:txBody>
      </p:sp>
      <p:sp>
        <p:nvSpPr>
          <p:cNvPr id="5" name="Slide Number Placeholder 4"/>
          <p:cNvSpPr>
            <a:spLocks noGrp="1"/>
          </p:cNvSpPr>
          <p:nvPr>
            <p:ph type="sldNum" sz="quarter" idx="3"/>
          </p:nvPr>
        </p:nvSpPr>
        <p:spPr>
          <a:xfrm>
            <a:off x="4142962" y="9119173"/>
            <a:ext cx="3170583" cy="480388"/>
          </a:xfrm>
          <a:prstGeom prst="rect">
            <a:avLst/>
          </a:prstGeom>
        </p:spPr>
        <p:txBody>
          <a:bodyPr vert="horz" wrap="square" lIns="94851" tIns="47425" rIns="94851" bIns="47425" numCol="1" anchor="b" anchorCtr="0" compatLnSpc="1">
            <a:prstTxWarp prst="textNoShape">
              <a:avLst/>
            </a:prstTxWarp>
          </a:bodyPr>
          <a:lstStyle>
            <a:lvl1pPr algn="r">
              <a:defRPr sz="1200">
                <a:latin typeface="Calibri" pitchFamily="34" charset="0"/>
              </a:defRPr>
            </a:lvl1pPr>
          </a:lstStyle>
          <a:p>
            <a:pPr>
              <a:defRPr/>
            </a:pPr>
            <a:fld id="{2C7E07EA-57FE-4E01-B310-55735D9ED4F3}" type="slidenum">
              <a:rPr lang="zh-CN" altLang="en-US"/>
              <a:pPr>
                <a:defRPr/>
              </a:pPr>
              <a:t>‹#›</a:t>
            </a:fld>
            <a:endParaRPr lang="en-US" altLang="zh-CN"/>
          </a:p>
        </p:txBody>
      </p:sp>
    </p:spTree>
    <p:extLst>
      <p:ext uri="{BB962C8B-B14F-4D97-AF65-F5344CB8AC3E}">
        <p14:creationId xmlns:p14="http://schemas.microsoft.com/office/powerpoint/2010/main" val="6744334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583" cy="480388"/>
          </a:xfrm>
          <a:prstGeom prst="rect">
            <a:avLst/>
          </a:prstGeom>
        </p:spPr>
        <p:txBody>
          <a:bodyPr vert="horz" wrap="square" lIns="96653" tIns="48327" rIns="96653" bIns="48327" numCol="1" anchor="t" anchorCtr="0" compatLnSpc="1">
            <a:prstTxWarp prst="textNoShape">
              <a:avLst/>
            </a:prstTxWarp>
          </a:bodyPr>
          <a:lstStyle>
            <a:lvl1pPr>
              <a:defRPr sz="1200">
                <a:latin typeface="Calibri" pitchFamily="34" charset="0"/>
              </a:defRPr>
            </a:lvl1pPr>
          </a:lstStyle>
          <a:p>
            <a:pPr>
              <a:defRPr/>
            </a:pPr>
            <a:endParaRPr lang="zh-CN" altLang="en-US"/>
          </a:p>
        </p:txBody>
      </p:sp>
      <p:sp>
        <p:nvSpPr>
          <p:cNvPr id="3" name="Date Placeholder 2"/>
          <p:cNvSpPr>
            <a:spLocks noGrp="1"/>
          </p:cNvSpPr>
          <p:nvPr>
            <p:ph type="dt" idx="1"/>
          </p:nvPr>
        </p:nvSpPr>
        <p:spPr>
          <a:xfrm>
            <a:off x="4142962" y="0"/>
            <a:ext cx="3170583" cy="480388"/>
          </a:xfrm>
          <a:prstGeom prst="rect">
            <a:avLst/>
          </a:prstGeom>
        </p:spPr>
        <p:txBody>
          <a:bodyPr vert="horz" wrap="square" lIns="96653" tIns="48327" rIns="96653" bIns="48327" numCol="1" anchor="t" anchorCtr="0" compatLnSpc="1">
            <a:prstTxWarp prst="textNoShape">
              <a:avLst/>
            </a:prstTxWarp>
          </a:bodyPr>
          <a:lstStyle>
            <a:lvl1pPr algn="r">
              <a:defRPr sz="1200">
                <a:latin typeface="Calibri" pitchFamily="34" charset="0"/>
              </a:defRPr>
            </a:lvl1pPr>
          </a:lstStyle>
          <a:p>
            <a:pPr>
              <a:defRPr/>
            </a:pPr>
            <a:fld id="{31C4F636-5479-48D5-B40F-0FA34FC072AC}" type="datetimeFigureOut">
              <a:rPr lang="zh-CN" altLang="en-US"/>
              <a:pPr>
                <a:defRPr/>
              </a:pPr>
              <a:t>2026/3/2</a:t>
            </a:fld>
            <a:endParaRPr lang="en-US" altLang="zh-CN"/>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pPr lvl="0"/>
            <a:endParaRPr lang="en-US" noProof="0"/>
          </a:p>
        </p:txBody>
      </p:sp>
      <p:sp>
        <p:nvSpPr>
          <p:cNvPr id="5" name="Notes Placeholder 4"/>
          <p:cNvSpPr>
            <a:spLocks noGrp="1"/>
          </p:cNvSpPr>
          <p:nvPr>
            <p:ph type="body" sz="quarter" idx="3"/>
          </p:nvPr>
        </p:nvSpPr>
        <p:spPr>
          <a:xfrm>
            <a:off x="732183" y="4561226"/>
            <a:ext cx="5850835" cy="4320213"/>
          </a:xfrm>
          <a:prstGeom prst="rect">
            <a:avLst/>
          </a:prstGeom>
        </p:spPr>
        <p:txBody>
          <a:bodyPr vert="horz" lIns="96653" tIns="48327" rIns="96653" bIns="48327"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173"/>
            <a:ext cx="3170583" cy="480388"/>
          </a:xfrm>
          <a:prstGeom prst="rect">
            <a:avLst/>
          </a:prstGeom>
        </p:spPr>
        <p:txBody>
          <a:bodyPr vert="horz" wrap="square" lIns="96653" tIns="48327" rIns="96653" bIns="48327" numCol="1" anchor="b" anchorCtr="0" compatLnSpc="1">
            <a:prstTxWarp prst="textNoShape">
              <a:avLst/>
            </a:prstTxWarp>
          </a:bodyPr>
          <a:lstStyle>
            <a:lvl1pPr>
              <a:defRPr sz="1200">
                <a:latin typeface="Calibri" pitchFamily="34" charset="0"/>
              </a:defRPr>
            </a:lvl1pPr>
          </a:lstStyle>
          <a:p>
            <a:pPr>
              <a:defRPr/>
            </a:pPr>
            <a:endParaRPr lang="zh-CN" altLang="en-US"/>
          </a:p>
        </p:txBody>
      </p:sp>
      <p:sp>
        <p:nvSpPr>
          <p:cNvPr id="7" name="Slide Number Placeholder 6"/>
          <p:cNvSpPr>
            <a:spLocks noGrp="1"/>
          </p:cNvSpPr>
          <p:nvPr>
            <p:ph type="sldNum" sz="quarter" idx="5"/>
          </p:nvPr>
        </p:nvSpPr>
        <p:spPr>
          <a:xfrm>
            <a:off x="4142962" y="9119173"/>
            <a:ext cx="3170583" cy="480388"/>
          </a:xfrm>
          <a:prstGeom prst="rect">
            <a:avLst/>
          </a:prstGeom>
        </p:spPr>
        <p:txBody>
          <a:bodyPr vert="horz" wrap="square" lIns="96653" tIns="48327" rIns="96653" bIns="48327" numCol="1" anchor="b" anchorCtr="0" compatLnSpc="1">
            <a:prstTxWarp prst="textNoShape">
              <a:avLst/>
            </a:prstTxWarp>
          </a:bodyPr>
          <a:lstStyle>
            <a:lvl1pPr algn="r">
              <a:defRPr sz="1200">
                <a:latin typeface="Calibri" pitchFamily="34" charset="0"/>
              </a:defRPr>
            </a:lvl1pPr>
          </a:lstStyle>
          <a:p>
            <a:pPr>
              <a:defRPr/>
            </a:pPr>
            <a:fld id="{29627C84-8AE2-40B3-ADCC-54043863930A}" type="slidenum">
              <a:rPr lang="zh-CN" altLang="en-US"/>
              <a:pPr>
                <a:defRPr/>
              </a:pPr>
              <a:t>‹#›</a:t>
            </a:fld>
            <a:endParaRPr lang="en-US" altLang="zh-CN"/>
          </a:p>
        </p:txBody>
      </p:sp>
    </p:spTree>
    <p:extLst>
      <p:ext uri="{BB962C8B-B14F-4D97-AF65-F5344CB8AC3E}">
        <p14:creationId xmlns:p14="http://schemas.microsoft.com/office/powerpoint/2010/main" val="24044298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5"/>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itchFamily="34" charset="0"/>
              </a:defRPr>
            </a:lvl1pPr>
            <a:lvl2pPr marL="770662" indent="-296408" eaLnBrk="0" hangingPunct="0">
              <a:spcBef>
                <a:spcPct val="30000"/>
              </a:spcBef>
              <a:defRPr sz="1200">
                <a:solidFill>
                  <a:schemeClr val="tx1"/>
                </a:solidFill>
                <a:latin typeface="Calibri" pitchFamily="34" charset="0"/>
              </a:defRPr>
            </a:lvl2pPr>
            <a:lvl3pPr marL="1185634" indent="-237127" eaLnBrk="0" hangingPunct="0">
              <a:spcBef>
                <a:spcPct val="30000"/>
              </a:spcBef>
              <a:defRPr sz="1200">
                <a:solidFill>
                  <a:schemeClr val="tx1"/>
                </a:solidFill>
                <a:latin typeface="Calibri" pitchFamily="34" charset="0"/>
              </a:defRPr>
            </a:lvl3pPr>
            <a:lvl4pPr marL="1659887" indent="-237127" eaLnBrk="0" hangingPunct="0">
              <a:spcBef>
                <a:spcPct val="30000"/>
              </a:spcBef>
              <a:defRPr sz="1200">
                <a:solidFill>
                  <a:schemeClr val="tx1"/>
                </a:solidFill>
                <a:latin typeface="Calibri" pitchFamily="34" charset="0"/>
              </a:defRPr>
            </a:lvl4pPr>
            <a:lvl5pPr marL="2134141" indent="-237127" eaLnBrk="0" hangingPunct="0">
              <a:spcBef>
                <a:spcPct val="30000"/>
              </a:spcBef>
              <a:defRPr sz="1200">
                <a:solidFill>
                  <a:schemeClr val="tx1"/>
                </a:solidFill>
                <a:latin typeface="Calibri" pitchFamily="34" charset="0"/>
              </a:defRPr>
            </a:lvl5pPr>
            <a:lvl6pPr marL="2608395" indent="-237127" eaLnBrk="0" fontAlgn="base" hangingPunct="0">
              <a:spcBef>
                <a:spcPct val="30000"/>
              </a:spcBef>
              <a:spcAft>
                <a:spcPct val="0"/>
              </a:spcAft>
              <a:defRPr sz="1200">
                <a:solidFill>
                  <a:schemeClr val="tx1"/>
                </a:solidFill>
                <a:latin typeface="Calibri" pitchFamily="34" charset="0"/>
              </a:defRPr>
            </a:lvl6pPr>
            <a:lvl7pPr marL="3082648" indent="-237127" eaLnBrk="0" fontAlgn="base" hangingPunct="0">
              <a:spcBef>
                <a:spcPct val="30000"/>
              </a:spcBef>
              <a:spcAft>
                <a:spcPct val="0"/>
              </a:spcAft>
              <a:defRPr sz="1200">
                <a:solidFill>
                  <a:schemeClr val="tx1"/>
                </a:solidFill>
                <a:latin typeface="Calibri" pitchFamily="34" charset="0"/>
              </a:defRPr>
            </a:lvl7pPr>
            <a:lvl8pPr marL="3556902" indent="-237127" eaLnBrk="0" fontAlgn="base" hangingPunct="0">
              <a:spcBef>
                <a:spcPct val="30000"/>
              </a:spcBef>
              <a:spcAft>
                <a:spcPct val="0"/>
              </a:spcAft>
              <a:defRPr sz="1200">
                <a:solidFill>
                  <a:schemeClr val="tx1"/>
                </a:solidFill>
                <a:latin typeface="Calibri" pitchFamily="34" charset="0"/>
              </a:defRPr>
            </a:lvl8pPr>
            <a:lvl9pPr marL="4031155" indent="-237127"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6193383E-A9FB-46F0-BE6B-39682A23AF1A}" type="slidenum">
              <a:rPr lang="en-US" altLang="en-US" smtClean="0"/>
              <a:pPr eaLnBrk="1" hangingPunct="1">
                <a:spcBef>
                  <a:spcPct val="0"/>
                </a:spcBef>
              </a:pPr>
              <a:t>1</a:t>
            </a:fld>
            <a:endParaRPr lang="en-US" altLang="en-US"/>
          </a:p>
        </p:txBody>
      </p:sp>
      <p:sp>
        <p:nvSpPr>
          <p:cNvPr id="28675"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521329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D11F667D-7CBB-45E3-9EF2-9BEE7BBB07B0}" type="slidenum">
              <a:rPr lang="zh-CN" altLang="en-US"/>
              <a:pPr algn="r" eaLnBrk="1" hangingPunct="1">
                <a:spcBef>
                  <a:spcPct val="0"/>
                </a:spcBef>
              </a:pPr>
              <a:t>2</a:t>
            </a:fld>
            <a:endParaRPr lang="en-US" altLang="zh-CN"/>
          </a:p>
        </p:txBody>
      </p:sp>
      <p:sp>
        <p:nvSpPr>
          <p:cNvPr id="29699"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3276101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78CEDD61-1DA1-456B-AB83-9AB04A631EAE}" type="slidenum">
              <a:rPr lang="zh-CN" altLang="en-US"/>
              <a:pPr algn="r" eaLnBrk="1" hangingPunct="1">
                <a:spcBef>
                  <a:spcPct val="0"/>
                </a:spcBef>
              </a:pPr>
              <a:t>3</a:t>
            </a:fld>
            <a:endParaRPr lang="en-US" altLang="zh-CN"/>
          </a:p>
        </p:txBody>
      </p:sp>
      <p:sp>
        <p:nvSpPr>
          <p:cNvPr id="30723"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670159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A61BE271-8753-4D9E-A70C-7ABA3DE47F8B}" type="slidenum">
              <a:rPr lang="zh-CN" altLang="en-US"/>
              <a:pPr algn="r" eaLnBrk="1" hangingPunct="1">
                <a:spcBef>
                  <a:spcPct val="0"/>
                </a:spcBef>
              </a:pPr>
              <a:t>4</a:t>
            </a:fld>
            <a:endParaRPr lang="en-US" altLang="zh-CN"/>
          </a:p>
        </p:txBody>
      </p:sp>
      <p:sp>
        <p:nvSpPr>
          <p:cNvPr id="31747"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1583472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0824FB59-341D-498C-B56E-DAEA69B48DF4}" type="slidenum">
              <a:rPr lang="zh-CN" altLang="en-US"/>
              <a:pPr algn="r" eaLnBrk="1" hangingPunct="1">
                <a:spcBef>
                  <a:spcPct val="0"/>
                </a:spcBef>
              </a:pPr>
              <a:t>5</a:t>
            </a:fld>
            <a:endParaRPr lang="en-US" altLang="zh-CN"/>
          </a:p>
        </p:txBody>
      </p:sp>
      <p:sp>
        <p:nvSpPr>
          <p:cNvPr id="32771"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1501183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BEB8E9D8-DBA0-4081-BF6A-5C5FBEB5F246}" type="slidenum">
              <a:rPr lang="zh-CN" altLang="en-US"/>
              <a:pPr algn="r" eaLnBrk="1" hangingPunct="1">
                <a:spcBef>
                  <a:spcPct val="0"/>
                </a:spcBef>
              </a:pPr>
              <a:t>6</a:t>
            </a:fld>
            <a:endParaRPr lang="en-US" altLang="zh-CN"/>
          </a:p>
        </p:txBody>
      </p:sp>
      <p:sp>
        <p:nvSpPr>
          <p:cNvPr id="33795"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2907868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6B46EA7F-6CC4-45E7-9B61-16A1CB81C906}" type="slidenum">
              <a:rPr lang="zh-CN" altLang="en-US"/>
              <a:pPr algn="r" eaLnBrk="1" hangingPunct="1">
                <a:spcBef>
                  <a:spcPct val="0"/>
                </a:spcBef>
              </a:pPr>
              <a:t>7</a:t>
            </a:fld>
            <a:endParaRPr lang="en-US" altLang="zh-CN"/>
          </a:p>
        </p:txBody>
      </p:sp>
      <p:sp>
        <p:nvSpPr>
          <p:cNvPr id="34819"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132729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D900DFF7-6D98-4B60-AAE7-4F047A34CED7}" type="slidenum">
              <a:rPr lang="zh-CN" altLang="en-US"/>
              <a:pPr algn="r" eaLnBrk="1" hangingPunct="1">
                <a:spcBef>
                  <a:spcPct val="0"/>
                </a:spcBef>
              </a:pPr>
              <a:t>8</a:t>
            </a:fld>
            <a:endParaRPr lang="en-US" altLang="zh-CN"/>
          </a:p>
        </p:txBody>
      </p:sp>
      <p:sp>
        <p:nvSpPr>
          <p:cNvPr id="35843"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3947190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87177024-4A6F-4272-B775-9A00F89C9F5D}" type="slidenum">
              <a:rPr lang="zh-CN" altLang="en-US">
                <a:solidFill>
                  <a:prstClr val="black"/>
                </a:solidFill>
              </a:rPr>
              <a:pPr algn="r" eaLnBrk="1" hangingPunct="1">
                <a:spcBef>
                  <a:spcPct val="0"/>
                </a:spcBef>
              </a:pPr>
              <a:t>9</a:t>
            </a:fld>
            <a:endParaRPr lang="en-US" altLang="zh-CN">
              <a:solidFill>
                <a:prstClr val="black"/>
              </a:solidFill>
            </a:endParaRPr>
          </a:p>
        </p:txBody>
      </p:sp>
      <p:sp>
        <p:nvSpPr>
          <p:cNvPr id="36867"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123959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139F5547-5AD7-4444-868A-FCD5C2D9A2F9}" type="slidenum">
              <a:rPr lang="zh-CN" altLang="en-US"/>
              <a:pPr algn="r" eaLnBrk="1" hangingPunct="1">
                <a:spcBef>
                  <a:spcPct val="0"/>
                </a:spcBef>
              </a:pPr>
              <a:t>10</a:t>
            </a:fld>
            <a:endParaRPr lang="en-US" altLang="zh-CN"/>
          </a:p>
        </p:txBody>
      </p:sp>
      <p:sp>
        <p:nvSpPr>
          <p:cNvPr id="37891"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414947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6B8FC2B3-F161-4B65-8362-68BD88A456E3}" type="slidenum">
              <a:rPr lang="zh-CN" altLang="en-US"/>
              <a:pPr algn="r" eaLnBrk="1" hangingPunct="1">
                <a:spcBef>
                  <a:spcPct val="0"/>
                </a:spcBef>
              </a:pPr>
              <a:t>11</a:t>
            </a:fld>
            <a:endParaRPr lang="en-US" altLang="zh-CN"/>
          </a:p>
        </p:txBody>
      </p:sp>
      <p:sp>
        <p:nvSpPr>
          <p:cNvPr id="38915"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35611298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51ECEFF3-1834-42F5-BE49-05A8B238DDA1}" type="slidenum">
              <a:rPr lang="zh-CN" altLang="en-US"/>
              <a:pPr algn="r" eaLnBrk="1" hangingPunct="1">
                <a:spcBef>
                  <a:spcPct val="0"/>
                </a:spcBef>
              </a:pPr>
              <a:t>12</a:t>
            </a:fld>
            <a:endParaRPr lang="en-US" altLang="zh-CN"/>
          </a:p>
        </p:txBody>
      </p:sp>
      <p:sp>
        <p:nvSpPr>
          <p:cNvPr id="39939"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534368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8896A4D9-C062-4037-BA04-C708C742A081}" type="slidenum">
              <a:rPr lang="zh-CN" altLang="en-US"/>
              <a:pPr algn="r" eaLnBrk="1" hangingPunct="1">
                <a:spcBef>
                  <a:spcPct val="0"/>
                </a:spcBef>
              </a:pPr>
              <a:t>13</a:t>
            </a:fld>
            <a:endParaRPr lang="en-US" altLang="zh-CN"/>
          </a:p>
        </p:txBody>
      </p:sp>
      <p:sp>
        <p:nvSpPr>
          <p:cNvPr id="40963"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175493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2C35FDF8-3891-4874-BAFB-78CDE46945B8}" type="slidenum">
              <a:rPr lang="zh-CN" altLang="en-US"/>
              <a:pPr algn="r" eaLnBrk="1" hangingPunct="1">
                <a:spcBef>
                  <a:spcPct val="0"/>
                </a:spcBef>
              </a:pPr>
              <a:t>14</a:t>
            </a:fld>
            <a:endParaRPr lang="en-US" altLang="zh-CN"/>
          </a:p>
        </p:txBody>
      </p:sp>
      <p:sp>
        <p:nvSpPr>
          <p:cNvPr id="41987"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10446857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28EFC927-6ADC-433F-BBE5-7205AF56410B}" type="slidenum">
              <a:rPr lang="zh-CN" altLang="en-US"/>
              <a:pPr algn="r" eaLnBrk="1" hangingPunct="1">
                <a:spcBef>
                  <a:spcPct val="0"/>
                </a:spcBef>
              </a:pPr>
              <a:t>15</a:t>
            </a:fld>
            <a:endParaRPr lang="en-US" altLang="zh-CN"/>
          </a:p>
        </p:txBody>
      </p:sp>
      <p:sp>
        <p:nvSpPr>
          <p:cNvPr id="43011"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401709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D8650FA7-8025-4CEE-BA5E-5B17CB8CF68C}" type="slidenum">
              <a:rPr lang="zh-CN" altLang="en-US"/>
              <a:pPr algn="r" eaLnBrk="1" hangingPunct="1">
                <a:spcBef>
                  <a:spcPct val="0"/>
                </a:spcBef>
              </a:pPr>
              <a:t>16</a:t>
            </a:fld>
            <a:endParaRPr lang="en-US" altLang="zh-CN"/>
          </a:p>
        </p:txBody>
      </p:sp>
      <p:sp>
        <p:nvSpPr>
          <p:cNvPr id="44035"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1087557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26756E50-16BF-434F-8366-B2C1479C6735}" type="slidenum">
              <a:rPr lang="zh-CN" altLang="en-US"/>
              <a:pPr algn="r" eaLnBrk="1" hangingPunct="1">
                <a:spcBef>
                  <a:spcPct val="0"/>
                </a:spcBef>
              </a:pPr>
              <a:t>17</a:t>
            </a:fld>
            <a:endParaRPr lang="en-US" altLang="zh-CN"/>
          </a:p>
        </p:txBody>
      </p:sp>
      <p:sp>
        <p:nvSpPr>
          <p:cNvPr id="45059"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2764498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6CE5A3CA-74B0-4A38-8553-4485077D8F88}" type="slidenum">
              <a:rPr lang="zh-CN" altLang="en-US"/>
              <a:pPr algn="r" eaLnBrk="1" hangingPunct="1">
                <a:spcBef>
                  <a:spcPct val="0"/>
                </a:spcBef>
              </a:pPr>
              <a:t>18</a:t>
            </a:fld>
            <a:endParaRPr lang="en-US" altLang="zh-CN"/>
          </a:p>
        </p:txBody>
      </p:sp>
      <p:sp>
        <p:nvSpPr>
          <p:cNvPr id="46083"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25188411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D779551E-9770-4691-A19A-DD941BA6C626}" type="slidenum">
              <a:rPr lang="zh-CN" altLang="en-US"/>
              <a:pPr algn="r" eaLnBrk="1" hangingPunct="1">
                <a:spcBef>
                  <a:spcPct val="0"/>
                </a:spcBef>
              </a:pPr>
              <a:t>19</a:t>
            </a:fld>
            <a:endParaRPr lang="en-US" altLang="zh-CN"/>
          </a:p>
        </p:txBody>
      </p:sp>
      <p:sp>
        <p:nvSpPr>
          <p:cNvPr id="47107"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19882560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08A85F82-E012-41AC-A87C-4EB21CE8FE5E}" type="slidenum">
              <a:rPr lang="zh-CN" altLang="en-US"/>
              <a:pPr algn="r" eaLnBrk="1" hangingPunct="1">
                <a:spcBef>
                  <a:spcPct val="0"/>
                </a:spcBef>
              </a:pPr>
              <a:t>24</a:t>
            </a:fld>
            <a:endParaRPr lang="en-US" altLang="zh-CN"/>
          </a:p>
        </p:txBody>
      </p:sp>
      <p:sp>
        <p:nvSpPr>
          <p:cNvPr id="48131"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40434717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74B770B4-DE4C-45D2-B6FE-29FC978B00BD}" type="slidenum">
              <a:rPr lang="zh-CN" altLang="en-US"/>
              <a:pPr algn="r" eaLnBrk="1" hangingPunct="1">
                <a:spcBef>
                  <a:spcPct val="0"/>
                </a:spcBef>
              </a:pPr>
              <a:t>25</a:t>
            </a:fld>
            <a:endParaRPr lang="en-US" altLang="zh-CN"/>
          </a:p>
        </p:txBody>
      </p:sp>
      <p:sp>
        <p:nvSpPr>
          <p:cNvPr id="49155"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3244622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E488DF69-8B13-40FB-9CB3-3DB107F06B13}" type="slidenum">
              <a:rPr lang="zh-CN" altLang="en-US"/>
              <a:pPr algn="r" eaLnBrk="1" hangingPunct="1">
                <a:spcBef>
                  <a:spcPct val="0"/>
                </a:spcBef>
              </a:pPr>
              <a:t>26</a:t>
            </a:fld>
            <a:endParaRPr lang="en-US" altLang="zh-CN"/>
          </a:p>
        </p:txBody>
      </p:sp>
      <p:sp>
        <p:nvSpPr>
          <p:cNvPr id="50179"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33080401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D04B3955-FBD6-4EBF-B59D-C10D0E71CC13}" type="slidenum">
              <a:rPr lang="zh-CN" altLang="en-US"/>
              <a:pPr algn="r" eaLnBrk="1" hangingPunct="1">
                <a:spcBef>
                  <a:spcPct val="0"/>
                </a:spcBef>
              </a:pPr>
              <a:t>27</a:t>
            </a:fld>
            <a:endParaRPr lang="en-US" altLang="zh-CN"/>
          </a:p>
        </p:txBody>
      </p:sp>
      <p:sp>
        <p:nvSpPr>
          <p:cNvPr id="51203"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30381830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85C6023D-AF22-4F2D-BE80-0264F9422D9E}" type="slidenum">
              <a:rPr lang="zh-CN" altLang="en-US"/>
              <a:pPr algn="r" eaLnBrk="1" hangingPunct="1">
                <a:spcBef>
                  <a:spcPct val="0"/>
                </a:spcBef>
              </a:pPr>
              <a:t>28</a:t>
            </a:fld>
            <a:endParaRPr lang="en-US" altLang="zh-CN"/>
          </a:p>
        </p:txBody>
      </p:sp>
      <p:sp>
        <p:nvSpPr>
          <p:cNvPr id="52227"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extLst>
      <p:ext uri="{BB962C8B-B14F-4D97-AF65-F5344CB8AC3E}">
        <p14:creationId xmlns:p14="http://schemas.microsoft.com/office/powerpoint/2010/main" val="2548300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14199983-69C2-4AE9-8DA8-BCD522A328DF}" type="slidenum">
              <a:rPr lang="zh-CN" altLang="en-US"/>
              <a:pPr>
                <a:defRPr/>
              </a:pPr>
              <a:t>‹#›</a:t>
            </a:fld>
            <a:endParaRPr lang="en-US" altLang="zh-CN"/>
          </a:p>
        </p:txBody>
      </p:sp>
    </p:spTree>
    <p:extLst>
      <p:ext uri="{BB962C8B-B14F-4D97-AF65-F5344CB8AC3E}">
        <p14:creationId xmlns:p14="http://schemas.microsoft.com/office/powerpoint/2010/main" val="3894085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198F7EC-1B42-4AC7-B340-E18A20251A83}" type="slidenum">
              <a:rPr lang="zh-CN" altLang="en-US"/>
              <a:pPr>
                <a:defRPr/>
              </a:pPr>
              <a:t>‹#›</a:t>
            </a:fld>
            <a:endParaRPr lang="en-US" altLang="zh-CN"/>
          </a:p>
        </p:txBody>
      </p:sp>
    </p:spTree>
    <p:extLst>
      <p:ext uri="{BB962C8B-B14F-4D97-AF65-F5344CB8AC3E}">
        <p14:creationId xmlns:p14="http://schemas.microsoft.com/office/powerpoint/2010/main" val="2307208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4831D5E1-8459-4E83-9704-73D3CC5E19D2}" type="slidenum">
              <a:rPr lang="zh-CN" altLang="en-US"/>
              <a:pPr>
                <a:defRPr/>
              </a:pPr>
              <a:t>‹#›</a:t>
            </a:fld>
            <a:endParaRPr lang="en-US" altLang="zh-CN"/>
          </a:p>
        </p:txBody>
      </p:sp>
    </p:spTree>
    <p:extLst>
      <p:ext uri="{BB962C8B-B14F-4D97-AF65-F5344CB8AC3E}">
        <p14:creationId xmlns:p14="http://schemas.microsoft.com/office/powerpoint/2010/main" val="3735093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F656EABF-3110-422C-99BF-CB4BBD64661A}" type="slidenum">
              <a:rPr lang="zh-CN" altLang="en-US"/>
              <a:pPr>
                <a:defRPr/>
              </a:pPr>
              <a:t>‹#›</a:t>
            </a:fld>
            <a:endParaRPr lang="en-US" altLang="zh-CN"/>
          </a:p>
        </p:txBody>
      </p:sp>
    </p:spTree>
    <p:extLst>
      <p:ext uri="{BB962C8B-B14F-4D97-AF65-F5344CB8AC3E}">
        <p14:creationId xmlns:p14="http://schemas.microsoft.com/office/powerpoint/2010/main" val="2117854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56B971AE-3E59-47F1-B82E-43B22E8A8CAF}" type="slidenum">
              <a:rPr lang="zh-CN" altLang="en-US"/>
              <a:pPr>
                <a:defRPr/>
              </a:pPr>
              <a:t>‹#›</a:t>
            </a:fld>
            <a:endParaRPr lang="en-US" altLang="zh-CN"/>
          </a:p>
        </p:txBody>
      </p:sp>
    </p:spTree>
    <p:extLst>
      <p:ext uri="{BB962C8B-B14F-4D97-AF65-F5344CB8AC3E}">
        <p14:creationId xmlns:p14="http://schemas.microsoft.com/office/powerpoint/2010/main" val="1764221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zh-CN" altLang="en-US"/>
          </a:p>
        </p:txBody>
      </p:sp>
      <p:sp>
        <p:nvSpPr>
          <p:cNvPr id="4" name="Footer Placeholder 4"/>
          <p:cNvSpPr>
            <a:spLocks noGrp="1"/>
          </p:cNvSpPr>
          <p:nvPr>
            <p:ph type="ftr" sz="quarter" idx="11"/>
          </p:nvPr>
        </p:nvSpPr>
        <p:spPr/>
        <p:txBody>
          <a:bodyPr/>
          <a:lstStyle>
            <a:lvl1pPr>
              <a:defRPr/>
            </a:lvl1pPr>
          </a:lstStyle>
          <a:p>
            <a:pPr>
              <a:defRPr/>
            </a:pP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FE2EEE5B-925D-4B2E-B20B-10DD6A733690}" type="slidenum">
              <a:rPr lang="zh-CN" altLang="en-US"/>
              <a:pPr>
                <a:defRPr/>
              </a:pPr>
              <a:t>‹#›</a:t>
            </a:fld>
            <a:endParaRPr lang="en-US" altLang="zh-CN"/>
          </a:p>
        </p:txBody>
      </p:sp>
    </p:spTree>
    <p:extLst>
      <p:ext uri="{BB962C8B-B14F-4D97-AF65-F5344CB8AC3E}">
        <p14:creationId xmlns:p14="http://schemas.microsoft.com/office/powerpoint/2010/main" val="59124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zh-CN" altLang="en-US"/>
          </a:p>
        </p:txBody>
      </p:sp>
      <p:sp>
        <p:nvSpPr>
          <p:cNvPr id="3" name="Footer Placeholder 4"/>
          <p:cNvSpPr>
            <a:spLocks noGrp="1"/>
          </p:cNvSpPr>
          <p:nvPr>
            <p:ph type="ftr" sz="quarter" idx="11"/>
          </p:nvPr>
        </p:nvSpPr>
        <p:spPr/>
        <p:txBody>
          <a:bodyPr/>
          <a:lstStyle>
            <a:lvl1pPr>
              <a:defRPr/>
            </a:lvl1pPr>
          </a:lstStyle>
          <a:p>
            <a:pPr>
              <a:defRPr/>
            </a:pP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9EC2F25A-7C19-4DC2-ACB6-9E5283462E2A}" type="slidenum">
              <a:rPr lang="zh-CN" altLang="en-US"/>
              <a:pPr>
                <a:defRPr/>
              </a:pPr>
              <a:t>‹#›</a:t>
            </a:fld>
            <a:endParaRPr lang="en-US" altLang="zh-CN"/>
          </a:p>
        </p:txBody>
      </p:sp>
    </p:spTree>
    <p:extLst>
      <p:ext uri="{BB962C8B-B14F-4D97-AF65-F5344CB8AC3E}">
        <p14:creationId xmlns:p14="http://schemas.microsoft.com/office/powerpoint/2010/main" val="2615631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B74379B6-EF1F-44DC-B70A-40D11DFF905E}" type="slidenum">
              <a:rPr lang="zh-CN" altLang="en-US"/>
              <a:pPr>
                <a:defRPr/>
              </a:pPr>
              <a:t>‹#›</a:t>
            </a:fld>
            <a:endParaRPr lang="en-US" altLang="zh-CN"/>
          </a:p>
        </p:txBody>
      </p:sp>
    </p:spTree>
    <p:extLst>
      <p:ext uri="{BB962C8B-B14F-4D97-AF65-F5344CB8AC3E}">
        <p14:creationId xmlns:p14="http://schemas.microsoft.com/office/powerpoint/2010/main" val="2094889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E7A50223-696C-400D-A343-0CC962F88451}" type="slidenum">
              <a:rPr lang="zh-CN" altLang="en-US"/>
              <a:pPr>
                <a:defRPr/>
              </a:pPr>
              <a:t>‹#›</a:t>
            </a:fld>
            <a:endParaRPr lang="en-US" altLang="zh-CN"/>
          </a:p>
        </p:txBody>
      </p:sp>
    </p:spTree>
    <p:extLst>
      <p:ext uri="{BB962C8B-B14F-4D97-AF65-F5344CB8AC3E}">
        <p14:creationId xmlns:p14="http://schemas.microsoft.com/office/powerpoint/2010/main" val="424899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FA3A718-5AEA-41FB-9FEC-7C13AE29D6C0}" type="slidenum">
              <a:rPr lang="zh-CN" altLang="en-US"/>
              <a:pPr>
                <a:defRPr/>
              </a:pPr>
              <a:t>‹#›</a:t>
            </a:fld>
            <a:endParaRPr lang="en-US" altLang="zh-CN"/>
          </a:p>
        </p:txBody>
      </p:sp>
    </p:spTree>
    <p:extLst>
      <p:ext uri="{BB962C8B-B14F-4D97-AF65-F5344CB8AC3E}">
        <p14:creationId xmlns:p14="http://schemas.microsoft.com/office/powerpoint/2010/main" val="2608511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5071618A-A291-4210-91F0-4FBF5DB783B6}" type="slidenum">
              <a:rPr lang="zh-CN" altLang="en-US"/>
              <a:pPr>
                <a:defRPr/>
              </a:pPr>
              <a:t>‹#›</a:t>
            </a:fld>
            <a:endParaRPr lang="en-US" altLang="zh-CN"/>
          </a:p>
        </p:txBody>
      </p:sp>
    </p:spTree>
    <p:extLst>
      <p:ext uri="{BB962C8B-B14F-4D97-AF65-F5344CB8AC3E}">
        <p14:creationId xmlns:p14="http://schemas.microsoft.com/office/powerpoint/2010/main" val="20447678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a:t>Click to edit Master title style</a:t>
            </a:r>
          </a:p>
        </p:txBody>
      </p:sp>
      <p:sp>
        <p:nvSpPr>
          <p:cNvPr id="3" name="Text Placeholder 2"/>
          <p:cNvSpPr>
            <a:spLocks noGrp="1"/>
          </p:cNvSpPr>
          <p:nvPr>
            <p:ph type="body" sz="half" idx="1"/>
          </p:nvPr>
        </p:nvSpPr>
        <p:spPr>
          <a:xfrm>
            <a:off x="328613" y="1941513"/>
            <a:ext cx="402748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08500" y="1941513"/>
            <a:ext cx="4029075"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925DF84-257F-4C45-966B-C0EA4E1475B2}" type="slidenum">
              <a:rPr lang="en-US"/>
              <a:pPr>
                <a:defRPr/>
              </a:pPr>
              <a:t>‹#›</a:t>
            </a:fld>
            <a:endParaRPr lang="en-US"/>
          </a:p>
        </p:txBody>
      </p:sp>
    </p:spTree>
    <p:extLst>
      <p:ext uri="{BB962C8B-B14F-4D97-AF65-F5344CB8AC3E}">
        <p14:creationId xmlns:p14="http://schemas.microsoft.com/office/powerpoint/2010/main" val="29275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34" charset="0"/>
              </a:defRPr>
            </a:lvl1pPr>
          </a:lstStyle>
          <a:p>
            <a:pPr>
              <a:defRPr/>
            </a:pPr>
            <a:endParaRPr lang="zh-CN"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pitchFamily="34" charset="0"/>
              </a:defRPr>
            </a:lvl1pPr>
          </a:lstStyle>
          <a:p>
            <a:pPr>
              <a:defRPr/>
            </a:pPr>
            <a:endParaRPr lang="zh-CN"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34" charset="0"/>
              </a:defRPr>
            </a:lvl1pPr>
          </a:lstStyle>
          <a:p>
            <a:pPr>
              <a:defRPr/>
            </a:pPr>
            <a:fld id="{9F6B171A-01DB-4B39-A277-6E8A2BD9AE84}"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1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1.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18" Type="http://schemas.openxmlformats.org/officeDocument/2006/relationships/image" Target="../media/image65.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png"/><Relationship Id="rId17" Type="http://schemas.openxmlformats.org/officeDocument/2006/relationships/image" Target="../media/image64.png"/><Relationship Id="rId2" Type="http://schemas.openxmlformats.org/officeDocument/2006/relationships/notesSlide" Target="../notesSlides/notesSlide11.xml"/><Relationship Id="rId16" Type="http://schemas.openxmlformats.org/officeDocument/2006/relationships/image" Target="../media/image63.png"/><Relationship Id="rId1" Type="http://schemas.openxmlformats.org/officeDocument/2006/relationships/slideLayout" Target="../slideLayouts/slideLayout7.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5" Type="http://schemas.openxmlformats.org/officeDocument/2006/relationships/image" Target="../media/image6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61.png"/></Relationships>
</file>

<file path=ppt/slides/_rels/slide12.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25.emf"/><Relationship Id="rId7" Type="http://schemas.openxmlformats.org/officeDocument/2006/relationships/image" Target="../media/image27.jpeg"/><Relationship Id="rId12" Type="http://schemas.openxmlformats.org/officeDocument/2006/relationships/image" Target="../media/image7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6.jpeg"/><Relationship Id="rId11" Type="http://schemas.openxmlformats.org/officeDocument/2006/relationships/image" Target="../media/image31.jpeg"/><Relationship Id="rId5" Type="http://schemas.openxmlformats.org/officeDocument/2006/relationships/image" Target="../media/image68.png"/><Relationship Id="rId10" Type="http://schemas.openxmlformats.org/officeDocument/2006/relationships/image" Target="../media/image30.jpeg"/><Relationship Id="rId4" Type="http://schemas.openxmlformats.org/officeDocument/2006/relationships/image" Target="../media/image67.png"/><Relationship Id="rId9" Type="http://schemas.openxmlformats.org/officeDocument/2006/relationships/image" Target="../media/image29.jpeg"/></Relationships>
</file>

<file path=ppt/slides/_rels/slide13.xml.rels><?xml version="1.0" encoding="UTF-8" standalone="yes"?>
<Relationships xmlns="http://schemas.openxmlformats.org/package/2006/relationships"><Relationship Id="rId3" Type="http://schemas.microsoft.com/office/2018/10/relationships/comments" Target="../comments/modernComment_1E3_0.xm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78.png"/><Relationship Id="rId4" Type="http://schemas.openxmlformats.org/officeDocument/2006/relationships/image" Target="../media/image77.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E5_0.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81.png"/><Relationship Id="rId5" Type="http://schemas.openxmlformats.org/officeDocument/2006/relationships/image" Target="../media/image69.png"/><Relationship Id="rId4" Type="http://schemas.openxmlformats.org/officeDocument/2006/relationships/image" Target="../media/image66.png"/></Relationships>
</file>

<file path=ppt/slides/_rels/slide1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71.jpeg"/></Relationships>
</file>

<file path=ppt/slides/_rels/slide1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1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83.jpeg"/><Relationship Id="rId5" Type="http://schemas.openxmlformats.org/officeDocument/2006/relationships/image" Target="../media/image82.png"/><Relationship Id="rId4" Type="http://schemas.openxmlformats.org/officeDocument/2006/relationships/image" Target="../media/image80.png"/></Relationships>
</file>

<file path=ppt/slides/_rels/slide2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oleObject" Target="../embeddings/oleObject6.bin"/><Relationship Id="rId3" Type="http://schemas.openxmlformats.org/officeDocument/2006/relationships/image" Target="../media/image85.emf"/><Relationship Id="rId7" Type="http://schemas.openxmlformats.org/officeDocument/2006/relationships/image" Target="../media/image87.emf"/><Relationship Id="rId12" Type="http://schemas.openxmlformats.org/officeDocument/2006/relationships/image" Target="../media/image89.emf"/><Relationship Id="rId2" Type="http://schemas.openxmlformats.org/officeDocument/2006/relationships/oleObject" Target="../embeddings/oleObject1.bin"/><Relationship Id="rId16" Type="http://schemas.openxmlformats.org/officeDocument/2006/relationships/image" Target="../media/image91.emf"/><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oleObject" Target="../embeddings/oleObject5.bin"/><Relationship Id="rId5" Type="http://schemas.openxmlformats.org/officeDocument/2006/relationships/image" Target="../media/image86.emf"/><Relationship Id="rId15" Type="http://schemas.openxmlformats.org/officeDocument/2006/relationships/oleObject" Target="../embeddings/oleObject7.bin"/><Relationship Id="rId10" Type="http://schemas.openxmlformats.org/officeDocument/2006/relationships/image" Target="../media/image88.emf"/><Relationship Id="rId4" Type="http://schemas.openxmlformats.org/officeDocument/2006/relationships/oleObject" Target="../embeddings/oleObject2.bin"/><Relationship Id="rId9" Type="http://schemas.openxmlformats.org/officeDocument/2006/relationships/oleObject" Target="../embeddings/oleObject4.bin"/><Relationship Id="rId14" Type="http://schemas.openxmlformats.org/officeDocument/2006/relationships/image" Target="../media/image90.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92.emf"/><Relationship Id="rId7" Type="http://schemas.openxmlformats.org/officeDocument/2006/relationships/image" Target="../media/image94.e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image" Target="../media/image93.emf"/><Relationship Id="rId4" Type="http://schemas.openxmlformats.org/officeDocument/2006/relationships/oleObject" Target="../embeddings/oleObject9.bin"/></Relationships>
</file>

<file path=ppt/slides/_rels/slide23.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2.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s>
</file>

<file path=ppt/slides/_rels/slide24.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7" Type="http://schemas.openxmlformats.org/officeDocument/2006/relationships/image" Target="../media/image130.png"/><Relationship Id="rId12" Type="http://schemas.openxmlformats.org/officeDocument/2006/relationships/image" Target="../media/image135.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128.png"/><Relationship Id="rId10" Type="http://schemas.openxmlformats.org/officeDocument/2006/relationships/image" Target="../media/image133.png"/><Relationship Id="rId4" Type="http://schemas.openxmlformats.org/officeDocument/2006/relationships/image" Target="../media/image121.png"/><Relationship Id="rId9" Type="http://schemas.openxmlformats.org/officeDocument/2006/relationships/image" Target="../media/image132.png"/></Relationships>
</file>

<file path=ppt/slides/_rels/slide25.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95.emf"/><Relationship Id="rId7" Type="http://schemas.openxmlformats.org/officeDocument/2006/relationships/image" Target="../media/image141.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96.jpeg"/><Relationship Id="rId5" Type="http://schemas.openxmlformats.org/officeDocument/2006/relationships/image" Target="../media/image139.png"/><Relationship Id="rId4" Type="http://schemas.openxmlformats.org/officeDocument/2006/relationships/image" Target="../media/image138.png"/></Relationships>
</file>

<file path=ppt/slides/_rels/slide26.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44.png"/></Relationships>
</file>

<file path=ppt/slides/_rels/slide27.xml.rels><?xml version="1.0" encoding="UTF-8" standalone="yes"?>
<Relationships xmlns="http://schemas.openxmlformats.org/package/2006/relationships"><Relationship Id="rId8" Type="http://schemas.openxmlformats.org/officeDocument/2006/relationships/image" Target="../media/image150.png"/><Relationship Id="rId18" Type="http://schemas.openxmlformats.org/officeDocument/2006/relationships/image" Target="../media/image1230.png"/><Relationship Id="rId3" Type="http://schemas.openxmlformats.org/officeDocument/2006/relationships/image" Target="../media/image97.emf"/><Relationship Id="rId7" Type="http://schemas.openxmlformats.org/officeDocument/2006/relationships/image" Target="../media/image149.png"/><Relationship Id="rId17" Type="http://schemas.openxmlformats.org/officeDocument/2006/relationships/image" Target="../media/image122.png"/><Relationship Id="rId2" Type="http://schemas.openxmlformats.org/officeDocument/2006/relationships/notesSlide" Target="../notesSlides/notesSlide23.xml"/><Relationship Id="rId16" Type="http://schemas.openxmlformats.org/officeDocument/2006/relationships/image" Target="../media/image1210.png"/><Relationship Id="rId1" Type="http://schemas.openxmlformats.org/officeDocument/2006/relationships/slideLayout" Target="../slideLayouts/slideLayout7.xml"/><Relationship Id="rId6" Type="http://schemas.openxmlformats.org/officeDocument/2006/relationships/image" Target="../media/image148.png"/><Relationship Id="rId5" Type="http://schemas.openxmlformats.org/officeDocument/2006/relationships/image" Target="../media/image147.png"/><Relationship Id="rId19" Type="http://schemas.openxmlformats.org/officeDocument/2006/relationships/image" Target="../media/image1240.png"/><Relationship Id="rId4" Type="http://schemas.openxmlformats.org/officeDocument/2006/relationships/image" Target="../media/image14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body" sz="half" idx="1"/>
          </p:nvPr>
        </p:nvSpPr>
        <p:spPr>
          <a:xfrm>
            <a:off x="228600" y="228600"/>
            <a:ext cx="8610600" cy="6400800"/>
          </a:xfrm>
        </p:spPr>
        <p:txBody>
          <a:bodyPr lIns="92075" tIns="46038" rIns="92075" bIns="46038"/>
          <a:lstStyle/>
          <a:p>
            <a:pPr algn="ctr" eaLnBrk="1" hangingPunct="1">
              <a:buFont typeface="Arial" charset="0"/>
              <a:buNone/>
            </a:pPr>
            <a:r>
              <a:rPr lang="en-US" altLang="zh-CN" dirty="0">
                <a:solidFill>
                  <a:srgbClr val="000000"/>
                </a:solidFill>
                <a:latin typeface="Times New Roman" pitchFamily="18" charset="0"/>
              </a:rPr>
              <a:t>Measurement Error and Misclassification</a:t>
            </a:r>
          </a:p>
          <a:p>
            <a:pPr algn="ctr" eaLnBrk="1" hangingPunct="1">
              <a:buFont typeface="Arial" charset="0"/>
              <a:buNone/>
            </a:pPr>
            <a:r>
              <a:rPr lang="en-US" altLang="zh-CN" sz="2200" dirty="0">
                <a:solidFill>
                  <a:srgbClr val="FF3300"/>
                </a:solidFill>
                <a:latin typeface="Times New Roman" pitchFamily="18" charset="0"/>
              </a:rPr>
              <a:t>EPI515 Fall 1</a:t>
            </a:r>
          </a:p>
          <a:p>
            <a:pPr algn="ctr" eaLnBrk="1" hangingPunct="1">
              <a:buFont typeface="Arial" charset="0"/>
              <a:buNone/>
            </a:pPr>
            <a:r>
              <a:rPr lang="en-US" altLang="zh-CN" sz="2200" dirty="0">
                <a:solidFill>
                  <a:srgbClr val="FF3300"/>
                </a:solidFill>
                <a:latin typeface="Times New Roman" pitchFamily="18" charset="0"/>
              </a:rPr>
              <a:t>BST254  Fall </a:t>
            </a:r>
          </a:p>
          <a:p>
            <a:pPr algn="ctr" eaLnBrk="1" hangingPunct="1">
              <a:buFont typeface="Arial" charset="0"/>
              <a:buNone/>
            </a:pPr>
            <a:endParaRPr lang="en-US" altLang="en-US" dirty="0">
              <a:solidFill>
                <a:srgbClr val="000000"/>
              </a:solidFill>
              <a:latin typeface="Times New Roman" pitchFamily="18" charset="0"/>
              <a:ea typeface="宋体" pitchFamily="2" charset="-122"/>
            </a:endParaRPr>
          </a:p>
          <a:p>
            <a:pPr algn="ctr" eaLnBrk="1" hangingPunct="1">
              <a:buFont typeface="Arial" charset="0"/>
              <a:buNone/>
            </a:pPr>
            <a:endParaRPr lang="en-US" altLang="en-US" sz="4000" dirty="0">
              <a:solidFill>
                <a:srgbClr val="000000"/>
              </a:solidFill>
              <a:latin typeface="Times New Roman" pitchFamily="18" charset="0"/>
              <a:ea typeface="宋体" pitchFamily="2" charset="-122"/>
            </a:endParaRPr>
          </a:p>
          <a:p>
            <a:pPr algn="ctr" eaLnBrk="1" hangingPunct="1">
              <a:buFont typeface="Arial" charset="0"/>
              <a:buNone/>
            </a:pPr>
            <a:endParaRPr lang="en-US" altLang="en-US" sz="4000" dirty="0">
              <a:solidFill>
                <a:srgbClr val="000000"/>
              </a:solidFill>
              <a:latin typeface="Times New Roman" pitchFamily="18" charset="0"/>
              <a:ea typeface="宋体" pitchFamily="2" charset="-122"/>
            </a:endParaRPr>
          </a:p>
          <a:p>
            <a:pPr algn="ctr" eaLnBrk="1" hangingPunct="1">
              <a:buFont typeface="Arial" charset="0"/>
              <a:buNone/>
            </a:pPr>
            <a:endParaRPr lang="en-US" altLang="en-US" sz="2400" b="1" dirty="0">
              <a:solidFill>
                <a:srgbClr val="000000"/>
              </a:solidFill>
              <a:latin typeface="Times New Roman" pitchFamily="18" charset="0"/>
              <a:ea typeface="宋体" pitchFamily="2" charset="-122"/>
            </a:endParaRPr>
          </a:p>
          <a:p>
            <a:pPr algn="ctr" eaLnBrk="1" hangingPunct="1">
              <a:buFont typeface="Arial" charset="0"/>
              <a:buNone/>
            </a:pPr>
            <a:r>
              <a:rPr lang="en-US" altLang="en-US" sz="4200" b="1" dirty="0">
                <a:solidFill>
                  <a:srgbClr val="FF3300"/>
                </a:solidFill>
                <a:latin typeface="Times New Roman" pitchFamily="18" charset="0"/>
                <a:ea typeface="宋体" pitchFamily="2" charset="-122"/>
              </a:rPr>
              <a:t>Lecture 4</a:t>
            </a:r>
          </a:p>
          <a:p>
            <a:pPr algn="ctr">
              <a:buFont typeface="Arial" charset="0"/>
              <a:buNone/>
            </a:pPr>
            <a:r>
              <a:rPr lang="en-US" altLang="en-US" dirty="0">
                <a:latin typeface="Times New Roman" pitchFamily="18" charset="0"/>
                <a:cs typeface="Times New Roman" pitchFamily="18" charset="0"/>
              </a:rPr>
              <a:t>   </a:t>
            </a:r>
            <a:r>
              <a:rPr lang="en-US" altLang="en-US" sz="2800" dirty="0">
                <a:latin typeface="Times New Roman" pitchFamily="18" charset="0"/>
                <a:cs typeface="Times New Roman" pitchFamily="18" charset="0"/>
              </a:rPr>
              <a:t>Study Design in the Presence of Exposure Misclassification or Measurement Error</a:t>
            </a:r>
          </a:p>
          <a:p>
            <a:pPr algn="ctr">
              <a:buFont typeface="Arial" charset="0"/>
              <a:buNone/>
            </a:pPr>
            <a:endParaRPr lang="en-US" altLang="en-US" sz="1400" dirty="0">
              <a:latin typeface="Times New Roman" pitchFamily="18" charset="0"/>
              <a:cs typeface="Times New Roman" pitchFamily="18" charset="0"/>
            </a:endParaRPr>
          </a:p>
          <a:p>
            <a:pPr algn="ctr">
              <a:buFont typeface="Arial" charset="0"/>
              <a:buNone/>
            </a:pPr>
            <a:r>
              <a:rPr lang="en-US" altLang="en-US" sz="1400">
                <a:solidFill>
                  <a:srgbClr val="FF0000"/>
                </a:solidFill>
                <a:latin typeface="Times New Roman" pitchFamily="18" charset="0"/>
                <a:cs typeface="Times New Roman" pitchFamily="18" charset="0"/>
              </a:rPr>
              <a:t>Updated 10.1.2016</a:t>
            </a:r>
            <a:endParaRPr lang="en-US" altLang="en-US" sz="1400" dirty="0">
              <a:solidFill>
                <a:srgbClr val="FF0000"/>
              </a:solidFill>
              <a:latin typeface="Times New Roman" pitchFamily="18" charset="0"/>
              <a:cs typeface="Times New Roman" pitchFamily="18" charset="0"/>
            </a:endParaRPr>
          </a:p>
          <a:p>
            <a:pPr algn="ctr">
              <a:buFont typeface="Arial" charset="0"/>
              <a:buNone/>
            </a:pPr>
            <a:endParaRPr lang="en-US" altLang="en-US" sz="2800" dirty="0">
              <a:latin typeface="Times New Roman" pitchFamily="18" charset="0"/>
              <a:cs typeface="Times New Roman" pitchFamily="18" charset="0"/>
            </a:endParaRPr>
          </a:p>
          <a:p>
            <a:pPr algn="ctr" eaLnBrk="1" hangingPunct="1">
              <a:buFont typeface="Arial" charset="0"/>
              <a:buNone/>
            </a:pPr>
            <a:endParaRPr lang="en-US" altLang="en-US" dirty="0">
              <a:solidFill>
                <a:srgbClr val="000000"/>
              </a:solidFill>
              <a:latin typeface="Times New Roman" pitchFamily="18" charset="0"/>
              <a:ea typeface="宋体" pitchFamily="2" charset="-122"/>
            </a:endParaRPr>
          </a:p>
          <a:p>
            <a:pPr algn="ctr" eaLnBrk="1" hangingPunct="1">
              <a:buFont typeface="Arial" charset="0"/>
              <a:buNone/>
            </a:pPr>
            <a:endParaRPr lang="en-US" altLang="en-US" dirty="0">
              <a:solidFill>
                <a:srgbClr val="000000"/>
              </a:solidFill>
              <a:latin typeface="Times New Roman" pitchFamily="18" charset="0"/>
              <a:ea typeface="宋体" pitchFamily="2" charset="-122"/>
            </a:endParaRPr>
          </a:p>
          <a:p>
            <a:pPr eaLnBrk="1" hangingPunct="1">
              <a:buFont typeface="Arial" charset="0"/>
              <a:buNone/>
            </a:pPr>
            <a:endParaRPr lang="en-US" altLang="en-US" dirty="0">
              <a:latin typeface="Times New Roman" pitchFamily="18" charset="0"/>
              <a:ea typeface="宋体" pitchFamily="2" charset="-122"/>
            </a:endParaRPr>
          </a:p>
          <a:p>
            <a:pPr eaLnBrk="1" hangingPunct="1">
              <a:lnSpc>
                <a:spcPct val="80000"/>
              </a:lnSpc>
              <a:buFontTx/>
              <a:buNone/>
            </a:pPr>
            <a:endParaRPr lang="en-US" altLang="en-US" sz="2400" dirty="0">
              <a:solidFill>
                <a:srgbClr val="000000"/>
              </a:solidFill>
              <a:ea typeface="宋体" pitchFamily="2" charset="-122"/>
            </a:endParaRPr>
          </a:p>
          <a:p>
            <a:pPr eaLnBrk="1" hangingPunct="1">
              <a:lnSpc>
                <a:spcPct val="80000"/>
              </a:lnSpc>
              <a:buFontTx/>
              <a:buNone/>
            </a:pPr>
            <a:endParaRPr lang="en-US" altLang="en-US" sz="2400" dirty="0">
              <a:solidFill>
                <a:srgbClr val="000000"/>
              </a:solidFill>
              <a:ea typeface="宋体" pitchFamily="2" charset="-122"/>
            </a:endParaRPr>
          </a:p>
          <a:p>
            <a:pPr eaLnBrk="1" hangingPunct="1">
              <a:lnSpc>
                <a:spcPct val="80000"/>
              </a:lnSpc>
              <a:buFontTx/>
              <a:buNone/>
            </a:pPr>
            <a:endParaRPr lang="en-US" altLang="en-US" sz="2000" dirty="0">
              <a:solidFill>
                <a:srgbClr val="000000"/>
              </a:solidFill>
              <a:ea typeface="宋体" pitchFamily="2" charset="-122"/>
            </a:endParaRPr>
          </a:p>
          <a:p>
            <a:pPr eaLnBrk="1" hangingPunct="1">
              <a:lnSpc>
                <a:spcPct val="80000"/>
              </a:lnSpc>
              <a:buFontTx/>
              <a:buNone/>
            </a:pPr>
            <a:endParaRPr lang="en-US" altLang="en-US" sz="2000" dirty="0">
              <a:solidFill>
                <a:srgbClr val="000000"/>
              </a:solidFill>
              <a:ea typeface="宋体" pitchFamily="2" charset="-122"/>
            </a:endParaRPr>
          </a:p>
          <a:p>
            <a:pPr eaLnBrk="1" hangingPunct="1">
              <a:lnSpc>
                <a:spcPct val="80000"/>
              </a:lnSpc>
              <a:buFontTx/>
              <a:buNone/>
            </a:pPr>
            <a:endParaRPr lang="en-US" altLang="en-US" sz="2000" dirty="0">
              <a:solidFill>
                <a:srgbClr val="000000"/>
              </a:solidFill>
              <a:ea typeface="宋体" pitchFamily="2" charset="-122"/>
            </a:endParaRPr>
          </a:p>
          <a:p>
            <a:pPr eaLnBrk="1" hangingPunct="1">
              <a:lnSpc>
                <a:spcPct val="80000"/>
              </a:lnSpc>
              <a:buFontTx/>
              <a:buNone/>
            </a:pPr>
            <a:endParaRPr lang="en-US" altLang="en-US" sz="2000" dirty="0">
              <a:solidFill>
                <a:srgbClr val="000000"/>
              </a:solidFill>
              <a:ea typeface="宋体" pitchFamily="2" charset="-122"/>
            </a:endParaRPr>
          </a:p>
          <a:p>
            <a:pPr eaLnBrk="1" hangingPunct="1">
              <a:lnSpc>
                <a:spcPct val="80000"/>
              </a:lnSpc>
              <a:buFontTx/>
              <a:buNone/>
            </a:pPr>
            <a:endParaRPr lang="en-US" altLang="en-US" sz="2000" dirty="0">
              <a:solidFill>
                <a:srgbClr val="000000"/>
              </a:solidFill>
              <a:ea typeface="宋体" pitchFamily="2" charset="-122"/>
            </a:endParaRPr>
          </a:p>
          <a:p>
            <a:pPr eaLnBrk="1" hangingPunct="1">
              <a:lnSpc>
                <a:spcPct val="80000"/>
              </a:lnSpc>
              <a:buFontTx/>
              <a:buNone/>
            </a:pPr>
            <a:endParaRPr lang="en-US" altLang="en-US" sz="2000" dirty="0">
              <a:solidFill>
                <a:srgbClr val="000000"/>
              </a:solidFill>
              <a:ea typeface="宋体" pitchFamily="2" charset="-122"/>
            </a:endParaRPr>
          </a:p>
          <a:p>
            <a:pPr eaLnBrk="1" hangingPunct="1">
              <a:lnSpc>
                <a:spcPct val="80000"/>
              </a:lnSpc>
              <a:buFontTx/>
              <a:buNone/>
            </a:pPr>
            <a:r>
              <a:rPr lang="en-US" altLang="en-US" sz="2400" dirty="0">
                <a:solidFill>
                  <a:srgbClr val="000000"/>
                </a:solidFill>
                <a:ea typeface="宋体" pitchFamily="2" charset="-122"/>
              </a:rPr>
              <a:t>                                                                   </a:t>
            </a:r>
          </a:p>
          <a:p>
            <a:pPr eaLnBrk="1" hangingPunct="1">
              <a:lnSpc>
                <a:spcPct val="80000"/>
              </a:lnSpc>
              <a:buFontTx/>
              <a:buNone/>
            </a:pPr>
            <a:endParaRPr lang="en-US" altLang="en-US" sz="2400" dirty="0">
              <a:solidFill>
                <a:srgbClr val="000000"/>
              </a:solidFill>
              <a:ea typeface="宋体" pitchFamily="2" charset="-122"/>
            </a:endParaRPr>
          </a:p>
          <a:p>
            <a:pPr eaLnBrk="1" hangingPunct="1">
              <a:lnSpc>
                <a:spcPct val="80000"/>
              </a:lnSpc>
              <a:buFontTx/>
              <a:buNone/>
            </a:pPr>
            <a:endParaRPr lang="en-US" altLang="en-US" sz="2400" dirty="0">
              <a:solidFill>
                <a:srgbClr val="000000"/>
              </a:solidFill>
              <a:ea typeface="宋体" pitchFamily="2" charset="-122"/>
            </a:endParaRPr>
          </a:p>
          <a:p>
            <a:pPr eaLnBrk="1" hangingPunct="1">
              <a:lnSpc>
                <a:spcPct val="80000"/>
              </a:lnSpc>
              <a:buFontTx/>
              <a:buNone/>
            </a:pPr>
            <a:r>
              <a:rPr lang="en-US" altLang="en-US" sz="2400" dirty="0">
                <a:solidFill>
                  <a:srgbClr val="000000"/>
                </a:solidFill>
                <a:ea typeface="宋体" pitchFamily="2" charset="-122"/>
              </a:rPr>
              <a:t>         </a:t>
            </a:r>
            <a:endParaRPr lang="en-US" altLang="en-US" sz="1800" dirty="0">
              <a:solidFill>
                <a:srgbClr val="000000"/>
              </a:solidFill>
              <a:latin typeface="Verdana" pitchFamily="34" charset="0"/>
              <a:ea typeface="宋体" pitchFamily="2" charset="-122"/>
            </a:endParaRPr>
          </a:p>
        </p:txBody>
      </p:sp>
      <p:cxnSp>
        <p:nvCxnSpPr>
          <p:cNvPr id="3075" name="AutoShape 3"/>
          <p:cNvCxnSpPr>
            <a:cxnSpLocks noChangeShapeType="1"/>
            <a:stCxn id="3074" idx="3"/>
            <a:endCxn id="3074" idx="3"/>
          </p:cNvCxnSpPr>
          <p:nvPr/>
        </p:nvCxnSpPr>
        <p:spPr bwMode="auto">
          <a:xfrm>
            <a:off x="8839200" y="3429000"/>
            <a:ext cx="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3076"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US" altLang="en-US" sz="1800">
              <a:latin typeface="Arial" charset="0"/>
            </a:endParaRPr>
          </a:p>
        </p:txBody>
      </p:sp>
      <p:sp>
        <p:nvSpPr>
          <p:cNvPr id="3077"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3078"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3079"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fld id="{7D9C0FEE-A46A-4D1E-92E1-FDDDDF4C2937}" type="slidenum">
              <a:rPr lang="en-US" altLang="en-US" sz="1200" smtClean="0">
                <a:solidFill>
                  <a:srgbClr val="898989"/>
                </a:solidFill>
              </a:rPr>
              <a:pPr eaLnBrk="1" hangingPunct="1">
                <a:spcBef>
                  <a:spcPct val="0"/>
                </a:spcBef>
                <a:buFontTx/>
                <a:buNone/>
              </a:pPr>
              <a:t>1</a:t>
            </a:fld>
            <a:endParaRPr lang="en-US" altLang="en-US" sz="1200">
              <a:solidFill>
                <a:srgbClr val="898989"/>
              </a:solidFill>
            </a:endParaRPr>
          </a:p>
        </p:txBody>
      </p:sp>
      <p:pic>
        <p:nvPicPr>
          <p:cNvPr id="308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1584325"/>
            <a:ext cx="259715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81000" y="457200"/>
            <a:ext cx="8382000" cy="6172200"/>
          </a:xfrm>
        </p:spPr>
        <p:txBody>
          <a:bodyPr lIns="92075" tIns="46038" rIns="92075" bIns="46038"/>
          <a:lstStyle/>
          <a:p>
            <a:pPr>
              <a:buFont typeface="Arial" charset="0"/>
              <a:buNone/>
              <a:defRPr/>
            </a:pPr>
            <a:r>
              <a:rPr lang="en-US" sz="2400" u="sng" dirty="0">
                <a:latin typeface="Times New Roman" pitchFamily="18" charset="0"/>
                <a:cs typeface="Times New Roman" pitchFamily="18" charset="0"/>
              </a:rPr>
              <a:t>Study design in the presence of misclassification</a:t>
            </a: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 </a:t>
            </a:r>
          </a:p>
          <a:p>
            <a:pPr>
              <a:buFont typeface="Arial" charset="0"/>
              <a:buNone/>
              <a:defRPr/>
            </a:pPr>
            <a:r>
              <a:rPr lang="en-US" sz="2400" b="1" dirty="0">
                <a:latin typeface="Times New Roman" pitchFamily="18" charset="0"/>
                <a:cs typeface="Times New Roman" pitchFamily="18" charset="0"/>
              </a:rPr>
              <a:t>Fully validated </a:t>
            </a:r>
            <a:r>
              <a:rPr lang="en-US" sz="2400" dirty="0">
                <a:latin typeface="Times New Roman" pitchFamily="18" charset="0"/>
                <a:cs typeface="Times New Roman" pitchFamily="18" charset="0"/>
              </a:rPr>
              <a:t>design </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i="1" dirty="0">
                <a:latin typeface="Times New Roman" pitchFamily="18" charset="0"/>
                <a:cs typeface="Times New Roman" pitchFamily="18" charset="0"/>
              </a:rPr>
              <a:t>Advantages</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Easy to analyze</a:t>
            </a:r>
            <a:r>
              <a:rPr lang="en-US" sz="2400" dirty="0">
                <a:latin typeface="Times New Roman" pitchFamily="18" charset="0"/>
                <a:cs typeface="Times New Roman" pitchFamily="18" charset="0"/>
              </a:rPr>
              <a:t>, no questions about </a:t>
            </a:r>
            <a:r>
              <a:rPr lang="en-US" sz="2400" b="1" dirty="0">
                <a:latin typeface="Times New Roman" pitchFamily="18" charset="0"/>
                <a:cs typeface="Times New Roman" pitchFamily="18" charset="0"/>
              </a:rPr>
              <a:t>validity</a:t>
            </a:r>
            <a:r>
              <a:rPr lang="en-US" sz="2400" dirty="0">
                <a:latin typeface="Times New Roman" pitchFamily="18" charset="0"/>
                <a:cs typeface="Times New Roman" pitchFamily="18" charset="0"/>
              </a:rPr>
              <a:t> in terms</a:t>
            </a:r>
          </a:p>
          <a:p>
            <a:pPr>
              <a:buFont typeface="Arial" charset="0"/>
              <a:buNone/>
              <a:defRPr/>
            </a:pPr>
            <a:r>
              <a:rPr lang="en-US" sz="2400" dirty="0">
                <a:latin typeface="Times New Roman" pitchFamily="18" charset="0"/>
                <a:cs typeface="Times New Roman" pitchFamily="18" charset="0"/>
              </a:rPr>
              <a:t>of transportability, form of the measurement error/misclassification </a:t>
            </a:r>
          </a:p>
          <a:p>
            <a:pPr>
              <a:buFont typeface="Arial" charset="0"/>
              <a:buNone/>
              <a:defRPr/>
            </a:pPr>
            <a:r>
              <a:rPr lang="en-US" sz="2400" dirty="0">
                <a:latin typeface="Times New Roman" pitchFamily="18" charset="0"/>
                <a:cs typeface="Times New Roman" pitchFamily="18" charset="0"/>
              </a:rPr>
              <a:t>model</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i="1" dirty="0">
                <a:latin typeface="Times New Roman" pitchFamily="18" charset="0"/>
                <a:cs typeface="Times New Roman" pitchFamily="18" charset="0"/>
              </a:rPr>
              <a:t>Disadvantages</a:t>
            </a:r>
            <a:r>
              <a:rPr lang="en-US" sz="2400" dirty="0">
                <a:latin typeface="Times New Roman" pitchFamily="18" charset="0"/>
                <a:cs typeface="Times New Roman" pitchFamily="18" charset="0"/>
              </a:rPr>
              <a:t>: May be unethical or unfeasible; even when not, </a:t>
            </a:r>
          </a:p>
          <a:p>
            <a:pPr>
              <a:buFont typeface="Arial" charset="0"/>
              <a:buNone/>
              <a:defRPr/>
            </a:pPr>
            <a:r>
              <a:rPr lang="en-US" sz="2400" b="1" dirty="0">
                <a:latin typeface="Times New Roman" pitchFamily="18" charset="0"/>
                <a:cs typeface="Times New Roman" pitchFamily="18" charset="0"/>
              </a:rPr>
              <a:t>cost</a:t>
            </a:r>
            <a:r>
              <a:rPr lang="en-US" sz="2400" dirty="0">
                <a:latin typeface="Times New Roman" pitchFamily="18" charset="0"/>
                <a:cs typeface="Times New Roman" pitchFamily="18" charset="0"/>
              </a:rPr>
              <a:t> may be prohibitive</a:t>
            </a:r>
          </a:p>
          <a:p>
            <a:pPr marL="533400" indent="-533400">
              <a:lnSpc>
                <a:spcPct val="80000"/>
              </a:lnSpc>
              <a:buFont typeface="Arial" charset="0"/>
              <a:buNone/>
              <a:defRPr/>
            </a:pPr>
            <a:endParaRPr lang="en-US" altLang="zh-CN" sz="2400" dirty="0">
              <a:latin typeface="Times New Roman" pitchFamily="18" charset="0"/>
            </a:endParaRPr>
          </a:p>
        </p:txBody>
      </p:sp>
      <p:cxnSp>
        <p:nvCxnSpPr>
          <p:cNvPr id="4099" name="AutoShape 3"/>
          <p:cNvCxnSpPr>
            <a:cxnSpLocks noChangeShapeType="1"/>
            <a:stCxn id="28676" idx="3"/>
            <a:endCxn id="28676" idx="3"/>
          </p:cNvCxnSpPr>
          <p:nvPr/>
        </p:nvCxnSpPr>
        <p:spPr bwMode="auto">
          <a:xfrm>
            <a:off x="8763000" y="35433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4100"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4101"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4102"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4103"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4104"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082D8EB9-E1ED-496E-9928-E64EB0777B10}" type="slidenum">
              <a:rPr lang="zh-CN" altLang="en-US" sz="1200">
                <a:solidFill>
                  <a:srgbClr val="898989"/>
                </a:solidFill>
              </a:rPr>
              <a:pPr algn="r" eaLnBrk="1" hangingPunct="1">
                <a:spcBef>
                  <a:spcPct val="0"/>
                </a:spcBef>
                <a:buFontTx/>
                <a:buNone/>
              </a:pPr>
              <a:t>2</a:t>
            </a:fld>
            <a:endParaRPr lang="en-US" altLang="zh-CN" sz="1200">
              <a:solidFill>
                <a:srgbClr val="898989"/>
              </a:solidFill>
            </a:endParaRPr>
          </a:p>
        </p:txBody>
      </p:sp>
      <mc:AlternateContent xmlns:mc="http://schemas.openxmlformats.org/markup-compatibility/2006" xmlns:a14="http://schemas.microsoft.com/office/drawing/2010/main">
        <mc:Choice Requires="a14">
          <p:sp>
            <p:nvSpPr>
              <p:cNvPr id="4105" name="Object 9"/>
              <p:cNvSpPr txBox="1"/>
              <p:nvPr/>
            </p:nvSpPr>
            <p:spPr bwMode="auto">
              <a:xfrm>
                <a:off x="3276600" y="1371600"/>
                <a:ext cx="2957513" cy="5016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),=1,...,</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𝑀</m:t>
                          </m:r>
                        </m:sub>
                      </m:sSub>
                      <m:r>
                        <a:rPr lang="en-US" i="1">
                          <a:solidFill>
                            <a:srgbClr val="000000"/>
                          </a:solidFill>
                          <a:latin typeface="Cambria Math" panose="02040503050406030204" pitchFamily="18" charset="0"/>
                        </a:rPr>
                        <m:t>}</m:t>
                      </m:r>
                    </m:oMath>
                  </m:oMathPara>
                </a14:m>
                <a:endParaRPr lang="en-US"/>
              </a:p>
            </p:txBody>
          </p:sp>
        </mc:Choice>
        <mc:Fallback xmlns="">
          <p:sp>
            <p:nvSpPr>
              <p:cNvPr id="4105" name="Object 9"/>
              <p:cNvSpPr txBox="1">
                <a:spLocks noRot="1" noChangeAspect="1" noMove="1" noResize="1" noEditPoints="1" noAdjustHandles="1" noChangeArrowheads="1" noChangeShapeType="1" noTextEdit="1"/>
              </p:cNvSpPr>
              <p:nvPr/>
            </p:nvSpPr>
            <p:spPr bwMode="auto">
              <a:xfrm>
                <a:off x="3276600" y="1371600"/>
                <a:ext cx="2957513" cy="501650"/>
              </a:xfrm>
              <a:prstGeom prst="rect">
                <a:avLst/>
              </a:prstGeom>
              <a:blipFill>
                <a:blip r:embed="rId3"/>
                <a:stretch>
                  <a:fillRect l="-825"/>
                </a:stretch>
              </a:blipFill>
              <a:ln>
                <a:noFill/>
              </a:ln>
              <a:effectLst/>
            </p:spPr>
            <p:txBody>
              <a:bodyPr/>
              <a:lstStyle/>
              <a:p>
                <a:r>
                  <a:rPr lang="en-US">
                    <a:noFill/>
                  </a:rPr>
                  <a:t> </a:t>
                </a:r>
              </a:p>
            </p:txBody>
          </p:sp>
        </mc:Fallback>
      </mc:AlternateContent>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81000" y="457200"/>
            <a:ext cx="8382000" cy="6172200"/>
          </a:xfrm>
        </p:spPr>
        <p:txBody>
          <a:bodyPr lIns="92075" tIns="46038" rIns="92075" bIns="46038"/>
          <a:lstStyle/>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 Main study/</a:t>
            </a:r>
            <a:r>
              <a:rPr lang="en-US" sz="2400" b="1" dirty="0">
                <a:latin typeface="Times New Roman" pitchFamily="18" charset="0"/>
                <a:cs typeface="Times New Roman" pitchFamily="18" charset="0"/>
              </a:rPr>
              <a:t>internal</a:t>
            </a:r>
            <a:r>
              <a:rPr lang="en-US" sz="2400" dirty="0">
                <a:latin typeface="Times New Roman" pitchFamily="18" charset="0"/>
                <a:cs typeface="Times New Roman" pitchFamily="18" charset="0"/>
              </a:rPr>
              <a:t> validation study design  </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i="1" dirty="0">
                <a:latin typeface="Times New Roman" pitchFamily="18" charset="0"/>
                <a:cs typeface="Times New Roman" pitchFamily="18" charset="0"/>
              </a:rPr>
              <a:t>Advantages</a:t>
            </a:r>
            <a:r>
              <a:rPr lang="en-US" sz="2400" dirty="0">
                <a:latin typeface="Times New Roman" pitchFamily="18" charset="0"/>
                <a:cs typeface="Times New Roman" pitchFamily="18" charset="0"/>
              </a:rPr>
              <a:t>: Guaranteed to be </a:t>
            </a:r>
            <a:r>
              <a:rPr lang="en-US" sz="2400" b="1" dirty="0">
                <a:latin typeface="Times New Roman" pitchFamily="18" charset="0"/>
                <a:cs typeface="Times New Roman" pitchFamily="18" charset="0"/>
              </a:rPr>
              <a:t>transportable</a:t>
            </a:r>
            <a:r>
              <a:rPr lang="en-US" sz="2400" dirty="0">
                <a:latin typeface="Times New Roman" pitchFamily="18" charset="0"/>
                <a:cs typeface="Times New Roman" pitchFamily="18" charset="0"/>
              </a:rPr>
              <a:t>, more </a:t>
            </a:r>
            <a:r>
              <a:rPr lang="en-US" sz="2400" b="1" dirty="0">
                <a:latin typeface="Times New Roman" pitchFamily="18" charset="0"/>
                <a:cs typeface="Times New Roman" pitchFamily="18" charset="0"/>
              </a:rPr>
              <a:t>efficient</a:t>
            </a:r>
            <a:r>
              <a:rPr lang="en-US" sz="2400" dirty="0">
                <a:latin typeface="Times New Roman" pitchFamily="18" charset="0"/>
                <a:cs typeface="Times New Roman" pitchFamily="18" charset="0"/>
              </a:rPr>
              <a:t> than </a:t>
            </a:r>
          </a:p>
          <a:p>
            <a:pPr>
              <a:buFont typeface="Arial" charset="0"/>
              <a:buNone/>
              <a:defRPr/>
            </a:pPr>
            <a:r>
              <a:rPr lang="en-US" sz="2400" dirty="0">
                <a:latin typeface="Times New Roman" pitchFamily="18" charset="0"/>
                <a:cs typeface="Times New Roman" pitchFamily="18" charset="0"/>
              </a:rPr>
              <a:t>main study / external validation study</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i="1" dirty="0">
                <a:latin typeface="Times New Roman" pitchFamily="18" charset="0"/>
                <a:cs typeface="Times New Roman" pitchFamily="18" charset="0"/>
              </a:rPr>
              <a:t>Disadvantages:</a:t>
            </a:r>
            <a:r>
              <a:rPr lang="en-US" sz="2400" dirty="0">
                <a:latin typeface="Times New Roman" pitchFamily="18" charset="0"/>
                <a:cs typeface="Times New Roman" pitchFamily="18" charset="0"/>
              </a:rPr>
              <a:t> Almost always needs to be </a:t>
            </a:r>
            <a:r>
              <a:rPr lang="en-US" sz="2400" b="1" dirty="0">
                <a:latin typeface="Times New Roman" pitchFamily="18" charset="0"/>
                <a:cs typeface="Times New Roman" pitchFamily="18" charset="0"/>
              </a:rPr>
              <a:t>planned in advance</a:t>
            </a:r>
            <a:r>
              <a:rPr lang="en-US" sz="2400" dirty="0">
                <a:latin typeface="Times New Roman" pitchFamily="18" charset="0"/>
                <a:cs typeface="Times New Roman" pitchFamily="18" charset="0"/>
              </a:rPr>
              <a:t>, </a:t>
            </a:r>
          </a:p>
          <a:p>
            <a:pPr>
              <a:buFont typeface="Arial" charset="0"/>
              <a:buNone/>
              <a:defRPr/>
            </a:pPr>
            <a:r>
              <a:rPr lang="en-US" sz="2400" dirty="0">
                <a:latin typeface="Times New Roman" pitchFamily="18" charset="0"/>
                <a:cs typeface="Times New Roman" pitchFamily="18" charset="0"/>
              </a:rPr>
              <a:t>although there are exceptions</a:t>
            </a:r>
          </a:p>
          <a:p>
            <a:pPr marL="533400" indent="-533400">
              <a:lnSpc>
                <a:spcPct val="80000"/>
              </a:lnSpc>
              <a:buFont typeface="Arial" charset="0"/>
              <a:buNone/>
              <a:defRPr/>
            </a:pPr>
            <a:endParaRPr lang="en-US" altLang="zh-CN" sz="2400" dirty="0">
              <a:latin typeface="Times New Roman" pitchFamily="18" charset="0"/>
            </a:endParaRPr>
          </a:p>
        </p:txBody>
      </p:sp>
      <p:cxnSp>
        <p:nvCxnSpPr>
          <p:cNvPr id="5123" name="AutoShape 3"/>
          <p:cNvCxnSpPr>
            <a:cxnSpLocks noChangeShapeType="1"/>
            <a:stCxn id="28676" idx="3"/>
            <a:endCxn id="28676" idx="3"/>
          </p:cNvCxnSpPr>
          <p:nvPr/>
        </p:nvCxnSpPr>
        <p:spPr bwMode="auto">
          <a:xfrm>
            <a:off x="8763000" y="35433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5124"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5125"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5126"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5127"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5128"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08899678-B307-4980-8F0D-F8252D66EFD3}" type="slidenum">
              <a:rPr lang="zh-CN" altLang="en-US" sz="1200">
                <a:solidFill>
                  <a:srgbClr val="898989"/>
                </a:solidFill>
              </a:rPr>
              <a:pPr algn="r" eaLnBrk="1" hangingPunct="1">
                <a:spcBef>
                  <a:spcPct val="0"/>
                </a:spcBef>
                <a:buFontTx/>
                <a:buNone/>
              </a:pPr>
              <a:t>3</a:t>
            </a:fld>
            <a:endParaRPr lang="en-US" altLang="zh-CN" sz="1200">
              <a:solidFill>
                <a:srgbClr val="898989"/>
              </a:solidFill>
            </a:endParaRPr>
          </a:p>
        </p:txBody>
      </p:sp>
      <mc:AlternateContent xmlns:mc="http://schemas.openxmlformats.org/markup-compatibility/2006" xmlns:a14="http://schemas.microsoft.com/office/drawing/2010/main">
        <mc:Choice Requires="a14">
          <p:sp>
            <p:nvSpPr>
              <p:cNvPr id="5129" name="Object 5"/>
              <p:cNvSpPr txBox="1"/>
              <p:nvPr/>
            </p:nvSpPr>
            <p:spPr bwMode="auto">
              <a:xfrm>
                <a:off x="457200" y="1524000"/>
                <a:ext cx="8421688" cy="5334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smtClean="0">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𝑍</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𝑖</m:t>
                      </m:r>
                      <m:r>
                        <a:rPr lang="en-US" i="1">
                          <a:solidFill>
                            <a:srgbClr val="000000"/>
                          </a:solidFill>
                          <a:latin typeface="Cambria Math" panose="02040503050406030204" pitchFamily="18" charset="0"/>
                        </a:rPr>
                        <m:t>=1,...,</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𝑚</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𝑍</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𝑖</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𝑚</m:t>
                          </m:r>
                        </m:sub>
                      </m:sSub>
                      <m:r>
                        <a:rPr lang="en-US" i="1">
                          <a:solidFill>
                            <a:srgbClr val="000000"/>
                          </a:solidFill>
                          <a:latin typeface="Cambria Math" panose="02040503050406030204" pitchFamily="18" charset="0"/>
                        </a:rPr>
                        <m:t>+1,...,</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𝑚</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𝑣</m:t>
                          </m:r>
                        </m:sub>
                      </m:sSub>
                    </m:oMath>
                  </m:oMathPara>
                </a14:m>
                <a:endParaRPr lang="en-US" dirty="0"/>
              </a:p>
            </p:txBody>
          </p:sp>
        </mc:Choice>
        <mc:Fallback xmlns="">
          <p:sp>
            <p:nvSpPr>
              <p:cNvPr id="5129" name="Object 5"/>
              <p:cNvSpPr txBox="1">
                <a:spLocks noRot="1" noChangeAspect="1" noMove="1" noResize="1" noEditPoints="1" noAdjustHandles="1" noChangeArrowheads="1" noChangeShapeType="1" noTextEdit="1"/>
              </p:cNvSpPr>
              <p:nvPr/>
            </p:nvSpPr>
            <p:spPr bwMode="auto">
              <a:xfrm>
                <a:off x="457200" y="1524000"/>
                <a:ext cx="8421688" cy="533400"/>
              </a:xfrm>
              <a:prstGeom prst="rect">
                <a:avLst/>
              </a:prstGeom>
              <a:blipFill>
                <a:blip r:embed="rId3"/>
                <a:stretch>
                  <a:fillRect l="-217"/>
                </a:stretch>
              </a:blipFill>
              <a:ln>
                <a:noFill/>
              </a:ln>
              <a:effectLst/>
            </p:spPr>
            <p:txBody>
              <a:bodyPr/>
              <a:lstStyle/>
              <a:p>
                <a:r>
                  <a:rPr lang="en-US">
                    <a:noFill/>
                  </a:rPr>
                  <a:t> </a:t>
                </a:r>
              </a:p>
            </p:txBody>
          </p:sp>
        </mc:Fallback>
      </mc:AlternateContent>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81000" y="457200"/>
            <a:ext cx="8382000" cy="6172200"/>
          </a:xfrm>
        </p:spPr>
        <p:txBody>
          <a:bodyPr lIns="92075" tIns="46038" rIns="92075" bIns="46038"/>
          <a:lstStyle/>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Main study/</a:t>
            </a:r>
            <a:r>
              <a:rPr lang="en-US" sz="2400" b="1" dirty="0">
                <a:latin typeface="Times New Roman" pitchFamily="18" charset="0"/>
                <a:cs typeface="Times New Roman" pitchFamily="18" charset="0"/>
              </a:rPr>
              <a:t>external</a:t>
            </a:r>
            <a:r>
              <a:rPr lang="en-US" sz="2400" dirty="0">
                <a:latin typeface="Times New Roman" pitchFamily="18" charset="0"/>
                <a:cs typeface="Times New Roman" pitchFamily="18" charset="0"/>
              </a:rPr>
              <a:t> validation study design  </a:t>
            </a:r>
          </a:p>
          <a:p>
            <a:pPr>
              <a:buFont typeface="Arial" charset="0"/>
              <a:buNone/>
              <a:defRPr/>
            </a:pPr>
            <a:r>
              <a:rPr lang="en-US" sz="2400" dirty="0">
                <a:latin typeface="Times New Roman" pitchFamily="18" charset="0"/>
                <a:cs typeface="Times New Roman" pitchFamily="18" charset="0"/>
              </a:rPr>
              <a:t> </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i="1" dirty="0">
                <a:latin typeface="Times New Roman" pitchFamily="18" charset="0"/>
                <a:cs typeface="Times New Roman" pitchFamily="18" charset="0"/>
              </a:rPr>
              <a:t>Advantages: </a:t>
            </a:r>
            <a:r>
              <a:rPr lang="en-US" sz="2400" dirty="0">
                <a:latin typeface="Times New Roman" pitchFamily="18" charset="0"/>
                <a:cs typeface="Times New Roman" pitchFamily="18" charset="0"/>
              </a:rPr>
              <a:t>Often, </a:t>
            </a:r>
            <a:r>
              <a:rPr lang="en-US" sz="2400" b="1" dirty="0">
                <a:latin typeface="Times New Roman" pitchFamily="18" charset="0"/>
                <a:cs typeface="Times New Roman" pitchFamily="18" charset="0"/>
              </a:rPr>
              <a:t>the only option </a:t>
            </a:r>
            <a:r>
              <a:rPr lang="en-US" sz="2400" dirty="0">
                <a:latin typeface="Times New Roman" pitchFamily="18" charset="0"/>
                <a:cs typeface="Times New Roman" pitchFamily="18" charset="0"/>
              </a:rPr>
              <a:t>for valid analysis of studies in </a:t>
            </a:r>
          </a:p>
          <a:p>
            <a:pPr>
              <a:buFont typeface="Arial" charset="0"/>
              <a:buNone/>
              <a:defRPr/>
            </a:pPr>
            <a:r>
              <a:rPr lang="en-US" sz="2400" dirty="0">
                <a:latin typeface="Times New Roman" pitchFamily="18" charset="0"/>
                <a:cs typeface="Times New Roman" pitchFamily="18" charset="0"/>
              </a:rPr>
              <a:t>which there is measurement error or misclassification</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i="1" dirty="0">
                <a:latin typeface="Times New Roman" pitchFamily="18" charset="0"/>
                <a:cs typeface="Times New Roman" pitchFamily="18" charset="0"/>
              </a:rPr>
              <a:t>Disadvantages:</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Transportability</a:t>
            </a:r>
            <a:r>
              <a:rPr lang="en-US" sz="2400" dirty="0">
                <a:latin typeface="Times New Roman" pitchFamily="18" charset="0"/>
                <a:cs typeface="Times New Roman" pitchFamily="18" charset="0"/>
              </a:rPr>
              <a:t> may be questionable, and cannot</a:t>
            </a:r>
          </a:p>
          <a:p>
            <a:pPr>
              <a:buFont typeface="Arial" charset="0"/>
              <a:buNone/>
              <a:defRPr/>
            </a:pPr>
            <a:r>
              <a:rPr lang="en-US" sz="2400" dirty="0">
                <a:latin typeface="Times New Roman" pitchFamily="18" charset="0"/>
                <a:cs typeface="Times New Roman" pitchFamily="18" charset="0"/>
              </a:rPr>
              <a:t>be empirically verified; </a:t>
            </a:r>
            <a:r>
              <a:rPr lang="en-US" sz="2400" b="1" dirty="0">
                <a:latin typeface="Times New Roman" pitchFamily="18" charset="0"/>
                <a:cs typeface="Times New Roman" pitchFamily="18" charset="0"/>
              </a:rPr>
              <a:t>less efficient </a:t>
            </a:r>
            <a:r>
              <a:rPr lang="en-US" sz="2400" dirty="0">
                <a:latin typeface="Times New Roman" pitchFamily="18" charset="0"/>
                <a:cs typeface="Times New Roman" pitchFamily="18" charset="0"/>
              </a:rPr>
              <a:t>than the main study/internal</a:t>
            </a:r>
          </a:p>
          <a:p>
            <a:pPr>
              <a:buFont typeface="Arial" charset="0"/>
              <a:buNone/>
              <a:defRPr/>
            </a:pPr>
            <a:r>
              <a:rPr lang="en-US" sz="2400" dirty="0">
                <a:latin typeface="Times New Roman" pitchFamily="18" charset="0"/>
                <a:cs typeface="Times New Roman" pitchFamily="18" charset="0"/>
              </a:rPr>
              <a:t>validation study design</a:t>
            </a:r>
          </a:p>
          <a:p>
            <a:pPr>
              <a:buFont typeface="Arial" charset="0"/>
              <a:buNone/>
              <a:defRPr/>
            </a:pPr>
            <a:r>
              <a:rPr lang="en-US" sz="2400" dirty="0">
                <a:latin typeface="Times New Roman" pitchFamily="18" charset="0"/>
                <a:cs typeface="Times New Roman" pitchFamily="18" charset="0"/>
              </a:rPr>
              <a:t> </a:t>
            </a:r>
          </a:p>
          <a:p>
            <a:pPr marL="533400" indent="-533400">
              <a:lnSpc>
                <a:spcPct val="80000"/>
              </a:lnSpc>
              <a:buFont typeface="Arial" charset="0"/>
              <a:buNone/>
              <a:defRPr/>
            </a:pPr>
            <a:endParaRPr lang="en-US" altLang="zh-CN" sz="2400" dirty="0">
              <a:latin typeface="Times New Roman" pitchFamily="18" charset="0"/>
            </a:endParaRPr>
          </a:p>
        </p:txBody>
      </p:sp>
      <p:cxnSp>
        <p:nvCxnSpPr>
          <p:cNvPr id="6147" name="AutoShape 3"/>
          <p:cNvCxnSpPr>
            <a:cxnSpLocks noChangeShapeType="1"/>
            <a:stCxn id="28676" idx="3"/>
            <a:endCxn id="28676" idx="3"/>
          </p:cNvCxnSpPr>
          <p:nvPr/>
        </p:nvCxnSpPr>
        <p:spPr bwMode="auto">
          <a:xfrm>
            <a:off x="8763000" y="35433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6148"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6149"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6150"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6151"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6152"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E63603EB-4BC9-4324-B705-AAA7B84AFF20}" type="slidenum">
              <a:rPr lang="zh-CN" altLang="en-US" sz="1200">
                <a:solidFill>
                  <a:srgbClr val="898989"/>
                </a:solidFill>
              </a:rPr>
              <a:pPr algn="r" eaLnBrk="1" hangingPunct="1">
                <a:spcBef>
                  <a:spcPct val="0"/>
                </a:spcBef>
                <a:buFontTx/>
                <a:buNone/>
              </a:pPr>
              <a:t>4</a:t>
            </a:fld>
            <a:endParaRPr lang="en-US" altLang="zh-CN" sz="1200">
              <a:solidFill>
                <a:srgbClr val="898989"/>
              </a:solidFill>
            </a:endParaRPr>
          </a:p>
        </p:txBody>
      </p:sp>
      <mc:AlternateContent xmlns:mc="http://schemas.openxmlformats.org/markup-compatibility/2006" xmlns:a14="http://schemas.microsoft.com/office/drawing/2010/main">
        <mc:Choice Requires="a14">
          <p:sp>
            <p:nvSpPr>
              <p:cNvPr id="6153" name="Object 5"/>
              <p:cNvSpPr txBox="1"/>
              <p:nvPr/>
            </p:nvSpPr>
            <p:spPr bwMode="auto">
              <a:xfrm>
                <a:off x="381000" y="1524000"/>
                <a:ext cx="7888288" cy="5334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smtClean="0">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𝑍</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𝑖</m:t>
                      </m:r>
                      <m:r>
                        <a:rPr lang="en-US" i="1">
                          <a:solidFill>
                            <a:srgbClr val="000000"/>
                          </a:solidFill>
                          <a:latin typeface="Cambria Math" panose="02040503050406030204" pitchFamily="18" charset="0"/>
                        </a:rPr>
                        <m:t>=1,...,</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𝑚</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𝑍</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𝑖</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𝑚</m:t>
                          </m:r>
                        </m:sub>
                      </m:sSub>
                      <m:r>
                        <a:rPr lang="en-US" i="1">
                          <a:solidFill>
                            <a:srgbClr val="000000"/>
                          </a:solidFill>
                          <a:latin typeface="Cambria Math" panose="02040503050406030204" pitchFamily="18" charset="0"/>
                        </a:rPr>
                        <m:t>+1,...,</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𝑚</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𝑣</m:t>
                          </m:r>
                        </m:sub>
                      </m:sSub>
                    </m:oMath>
                  </m:oMathPara>
                </a14:m>
                <a:endParaRPr lang="en-US" dirty="0"/>
              </a:p>
            </p:txBody>
          </p:sp>
        </mc:Choice>
        <mc:Fallback xmlns="">
          <p:sp>
            <p:nvSpPr>
              <p:cNvPr id="6153" name="Object 5"/>
              <p:cNvSpPr txBox="1">
                <a:spLocks noRot="1" noChangeAspect="1" noMove="1" noResize="1" noEditPoints="1" noAdjustHandles="1" noChangeArrowheads="1" noChangeShapeType="1" noTextEdit="1"/>
              </p:cNvSpPr>
              <p:nvPr/>
            </p:nvSpPr>
            <p:spPr bwMode="auto">
              <a:xfrm>
                <a:off x="381000" y="1524000"/>
                <a:ext cx="7888288" cy="533400"/>
              </a:xfrm>
              <a:prstGeom prst="rect">
                <a:avLst/>
              </a:prstGeom>
              <a:blipFill>
                <a:blip r:embed="rId3"/>
                <a:stretch>
                  <a:fillRect l="-232"/>
                </a:stretch>
              </a:blipFill>
              <a:ln>
                <a:noFill/>
              </a:ln>
              <a:effectLst/>
            </p:spPr>
            <p:txBody>
              <a:bodyPr/>
              <a:lstStyle/>
              <a:p>
                <a:r>
                  <a:rPr lang="en-US">
                    <a:noFill/>
                  </a:rPr>
                  <a:t> </a:t>
                </a:r>
              </a:p>
            </p:txBody>
          </p:sp>
        </mc:Fallback>
      </mc:AlternateContent>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152400" y="457200"/>
            <a:ext cx="8610600" cy="6172200"/>
          </a:xfrm>
        </p:spPr>
        <p:txBody>
          <a:bodyPr lIns="92075" tIns="46038" rIns="92075" bIns="46038"/>
          <a:lstStyle/>
          <a:p>
            <a:pPr>
              <a:buFont typeface="Arial" charset="0"/>
              <a:buNone/>
              <a:defRPr/>
            </a:pPr>
            <a:r>
              <a:rPr lang="en-US" sz="2400" dirty="0">
                <a:latin typeface="Times New Roman" pitchFamily="18" charset="0"/>
                <a:cs typeface="Times New Roman" pitchFamily="18" charset="0"/>
              </a:rPr>
              <a:t>Two design problems are most important</a:t>
            </a:r>
          </a:p>
          <a:p>
            <a:pPr>
              <a:buFont typeface="Arial" charset="0"/>
              <a:buNone/>
              <a:defRPr/>
            </a:pPr>
            <a:endParaRPr lang="en-US" sz="12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	a. </a:t>
            </a:r>
            <a:r>
              <a:rPr lang="en-US" sz="2400" b="1" dirty="0">
                <a:latin typeface="Times New Roman" pitchFamily="18" charset="0"/>
                <a:cs typeface="Times New Roman" pitchFamily="18" charset="0"/>
              </a:rPr>
              <a:t>Minimize the cost </a:t>
            </a:r>
            <a:r>
              <a:rPr lang="en-US" sz="2400" dirty="0">
                <a:latin typeface="Times New Roman" pitchFamily="18" charset="0"/>
                <a:cs typeface="Times New Roman" pitchFamily="18" charset="0"/>
              </a:rPr>
              <a:t>of the study as a function of                 , </a:t>
            </a:r>
          </a:p>
          <a:p>
            <a:pPr>
              <a:buFont typeface="Arial" charset="0"/>
              <a:buNone/>
              <a:defRPr/>
            </a:pPr>
            <a:r>
              <a:rPr lang="en-US" sz="2400" dirty="0">
                <a:latin typeface="Times New Roman" pitchFamily="18" charset="0"/>
                <a:cs typeface="Times New Roman" pitchFamily="18" charset="0"/>
              </a:rPr>
              <a:t>        subject to </a:t>
            </a:r>
            <a:r>
              <a:rPr lang="en-US" sz="2400" b="1" dirty="0">
                <a:latin typeface="Times New Roman" pitchFamily="18" charset="0"/>
                <a:cs typeface="Times New Roman" pitchFamily="18" charset="0"/>
              </a:rPr>
              <a:t>a minimum acceptable pow</a:t>
            </a:r>
            <a:r>
              <a:rPr lang="en-US" sz="2400" dirty="0">
                <a:latin typeface="Times New Roman" pitchFamily="18" charset="0"/>
                <a:cs typeface="Times New Roman" pitchFamily="18" charset="0"/>
              </a:rPr>
              <a:t>er (     )</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    b. </a:t>
            </a:r>
            <a:r>
              <a:rPr lang="en-US" sz="2400" b="1" dirty="0">
                <a:latin typeface="Times New Roman" pitchFamily="18" charset="0"/>
                <a:cs typeface="Times New Roman" pitchFamily="18" charset="0"/>
              </a:rPr>
              <a:t>Maximize the power </a:t>
            </a:r>
            <a:r>
              <a:rPr lang="en-US" sz="2400" dirty="0">
                <a:latin typeface="Times New Roman" pitchFamily="18" charset="0"/>
                <a:cs typeface="Times New Roman" pitchFamily="18" charset="0"/>
              </a:rPr>
              <a:t>of the study as a function of                 , </a:t>
            </a:r>
          </a:p>
          <a:p>
            <a:pPr>
              <a:buFont typeface="Arial" charset="0"/>
              <a:buNone/>
              <a:defRPr/>
            </a:pPr>
            <a:r>
              <a:rPr lang="en-US" sz="2400" dirty="0">
                <a:latin typeface="Times New Roman" pitchFamily="18" charset="0"/>
                <a:cs typeface="Times New Roman" pitchFamily="18" charset="0"/>
              </a:rPr>
              <a:t>        subject to </a:t>
            </a:r>
            <a:r>
              <a:rPr lang="en-US" sz="2400" b="1" dirty="0">
                <a:latin typeface="Times New Roman" pitchFamily="18" charset="0"/>
                <a:cs typeface="Times New Roman" pitchFamily="18" charset="0"/>
              </a:rPr>
              <a:t>a fixed total cost</a:t>
            </a:r>
            <a:r>
              <a:rPr lang="en-US" sz="2400" dirty="0">
                <a:latin typeface="Times New Roman" pitchFamily="18" charset="0"/>
                <a:cs typeface="Times New Roman" pitchFamily="18" charset="0"/>
              </a:rPr>
              <a:t>.</a:t>
            </a:r>
          </a:p>
          <a:p>
            <a:pPr>
              <a:buFont typeface="Arial" charset="0"/>
              <a:buNone/>
              <a:defRPr/>
            </a:pPr>
            <a:r>
              <a:rPr lang="en-US" sz="2400" dirty="0">
                <a:latin typeface="Times New Roman" pitchFamily="18" charset="0"/>
                <a:cs typeface="Times New Roman" pitchFamily="18" charset="0"/>
              </a:rPr>
              <a:t> </a:t>
            </a:r>
          </a:p>
          <a:p>
            <a:pPr>
              <a:buFont typeface="Arial" charset="0"/>
              <a:buNone/>
              <a:defRPr/>
            </a:pPr>
            <a:r>
              <a:rPr lang="en-US" sz="2400" dirty="0">
                <a:latin typeface="Times New Roman" pitchFamily="18" charset="0"/>
                <a:cs typeface="Times New Roman" pitchFamily="18" charset="0"/>
              </a:rPr>
              <a:t> A closely related, but less useful, problem is </a:t>
            </a:r>
          </a:p>
          <a:p>
            <a:pPr>
              <a:buFont typeface="Arial" charset="0"/>
              <a:buNone/>
              <a:defRPr/>
            </a:pPr>
            <a:endParaRPr lang="en-US" sz="10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    c. Minimize                 subject to a fixed total cost. </a:t>
            </a:r>
          </a:p>
          <a:p>
            <a:pPr>
              <a:buFont typeface="Arial" charset="0"/>
              <a:buNone/>
              <a:defRPr/>
            </a:pPr>
            <a:r>
              <a:rPr lang="en-US" sz="2400" dirty="0">
                <a:latin typeface="Times New Roman" pitchFamily="18" charset="0"/>
                <a:cs typeface="Times New Roman" pitchFamily="18" charset="0"/>
              </a:rPr>
              <a:t>        For a case-control study,                  is substituted with </a:t>
            </a:r>
          </a:p>
          <a:p>
            <a:pPr>
              <a:buFont typeface="Arial" charset="0"/>
              <a:buNone/>
              <a:defRPr/>
            </a:pPr>
            <a:r>
              <a:rPr lang="en-US" sz="2200" dirty="0">
                <a:latin typeface="Times New Roman" pitchFamily="18" charset="0"/>
                <a:cs typeface="Times New Roman" pitchFamily="18" charset="0"/>
              </a:rPr>
              <a:t> </a:t>
            </a:r>
          </a:p>
          <a:p>
            <a:pPr marL="533400" indent="-533400">
              <a:lnSpc>
                <a:spcPct val="80000"/>
              </a:lnSpc>
              <a:buFont typeface="Arial" charset="0"/>
              <a:buNone/>
              <a:defRPr/>
            </a:pPr>
            <a:endParaRPr lang="en-US" altLang="zh-CN" sz="2400" dirty="0">
              <a:latin typeface="Times New Roman" pitchFamily="18" charset="0"/>
            </a:endParaRPr>
          </a:p>
        </p:txBody>
      </p:sp>
      <p:cxnSp>
        <p:nvCxnSpPr>
          <p:cNvPr id="7171" name="AutoShape 3"/>
          <p:cNvCxnSpPr>
            <a:cxnSpLocks noChangeShapeType="1"/>
            <a:stCxn id="28676" idx="3"/>
            <a:endCxn id="28676" idx="3"/>
          </p:cNvCxnSpPr>
          <p:nvPr/>
        </p:nvCxnSpPr>
        <p:spPr bwMode="auto">
          <a:xfrm>
            <a:off x="8763000" y="35433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7172"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7173"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7174"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7175"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7176"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A72F671D-67E8-41FE-8570-8DA62472B94B}" type="slidenum">
              <a:rPr lang="zh-CN" altLang="en-US" sz="1200">
                <a:solidFill>
                  <a:srgbClr val="898989"/>
                </a:solidFill>
              </a:rPr>
              <a:pPr algn="r" eaLnBrk="1" hangingPunct="1">
                <a:spcBef>
                  <a:spcPct val="0"/>
                </a:spcBef>
                <a:buFontTx/>
                <a:buNone/>
              </a:pPr>
              <a:t>5</a:t>
            </a:fld>
            <a:endParaRPr lang="en-US" altLang="zh-CN" sz="1200">
              <a:solidFill>
                <a:srgbClr val="898989"/>
              </a:solidFill>
            </a:endParaRPr>
          </a:p>
        </p:txBody>
      </p:sp>
      <mc:AlternateContent xmlns:mc="http://schemas.openxmlformats.org/markup-compatibility/2006" xmlns:a14="http://schemas.microsoft.com/office/drawing/2010/main">
        <mc:Choice Requires="a14">
          <p:sp>
            <p:nvSpPr>
              <p:cNvPr id="7177" name="Object 5"/>
              <p:cNvSpPr txBox="1"/>
              <p:nvPr/>
            </p:nvSpPr>
            <p:spPr bwMode="auto">
              <a:xfrm>
                <a:off x="6705600" y="1143000"/>
                <a:ext cx="1155700" cy="4572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smtClean="0">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𝑚</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𝑣</m:t>
                          </m:r>
                        </m:sub>
                      </m:sSub>
                      <m:r>
                        <a:rPr lang="en-US" i="1">
                          <a:solidFill>
                            <a:srgbClr val="000000"/>
                          </a:solidFill>
                          <a:latin typeface="Cambria Math" panose="02040503050406030204" pitchFamily="18" charset="0"/>
                        </a:rPr>
                        <m:t>)</m:t>
                      </m:r>
                    </m:oMath>
                  </m:oMathPara>
                </a14:m>
                <a:endParaRPr lang="en-US" dirty="0"/>
              </a:p>
            </p:txBody>
          </p:sp>
        </mc:Choice>
        <mc:Fallback xmlns="">
          <p:sp>
            <p:nvSpPr>
              <p:cNvPr id="7177" name="Object 5"/>
              <p:cNvSpPr txBox="1">
                <a:spLocks noRot="1" noChangeAspect="1" noMove="1" noResize="1" noEditPoints="1" noAdjustHandles="1" noChangeArrowheads="1" noChangeShapeType="1" noTextEdit="1"/>
              </p:cNvSpPr>
              <p:nvPr/>
            </p:nvSpPr>
            <p:spPr bwMode="auto">
              <a:xfrm>
                <a:off x="6705600" y="1143000"/>
                <a:ext cx="1155700" cy="457200"/>
              </a:xfrm>
              <a:prstGeom prst="rect">
                <a:avLst/>
              </a:prstGeom>
              <a:blipFill>
                <a:blip r:embed="rId3"/>
                <a:stretch>
                  <a:fillRect l="-157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78" name="Object 6"/>
              <p:cNvSpPr txBox="1"/>
              <p:nvPr/>
            </p:nvSpPr>
            <p:spPr bwMode="auto">
              <a:xfrm>
                <a:off x="6122521" y="1600200"/>
                <a:ext cx="412750" cy="3810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𝜋</m:t>
                      </m:r>
                    </m:oMath>
                  </m:oMathPara>
                </a14:m>
                <a:endParaRPr lang="en-US"/>
              </a:p>
            </p:txBody>
          </p:sp>
        </mc:Choice>
        <mc:Fallback xmlns="">
          <p:sp>
            <p:nvSpPr>
              <p:cNvPr id="7178" name="Object 6"/>
              <p:cNvSpPr txBox="1">
                <a:spLocks noRot="1" noChangeAspect="1" noMove="1" noResize="1" noEditPoints="1" noAdjustHandles="1" noChangeArrowheads="1" noChangeShapeType="1" noTextEdit="1"/>
              </p:cNvSpPr>
              <p:nvPr/>
            </p:nvSpPr>
            <p:spPr bwMode="auto">
              <a:xfrm>
                <a:off x="6122521" y="1600200"/>
                <a:ext cx="412750" cy="381000"/>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79" name="Object 9"/>
              <p:cNvSpPr txBox="1"/>
              <p:nvPr/>
            </p:nvSpPr>
            <p:spPr bwMode="auto">
              <a:xfrm>
                <a:off x="2133600" y="4343400"/>
                <a:ext cx="1109663" cy="49053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𝑉𝑎𝑟</m:t>
                      </m:r>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𝑅𝑅</m:t>
                          </m:r>
                        </m:e>
                      </m:acc>
                      <m:r>
                        <a:rPr lang="en-US" i="1">
                          <a:solidFill>
                            <a:srgbClr val="000000"/>
                          </a:solidFill>
                          <a:latin typeface="Cambria Math" panose="02040503050406030204" pitchFamily="18" charset="0"/>
                        </a:rPr>
                        <m:t>)</m:t>
                      </m:r>
                    </m:oMath>
                  </m:oMathPara>
                </a14:m>
                <a:endParaRPr lang="en-US" dirty="0"/>
              </a:p>
            </p:txBody>
          </p:sp>
        </mc:Choice>
        <mc:Fallback xmlns="">
          <p:sp>
            <p:nvSpPr>
              <p:cNvPr id="7179" name="Object 9"/>
              <p:cNvSpPr txBox="1">
                <a:spLocks noRot="1" noChangeAspect="1" noMove="1" noResize="1" noEditPoints="1" noAdjustHandles="1" noChangeArrowheads="1" noChangeShapeType="1" noTextEdit="1"/>
              </p:cNvSpPr>
              <p:nvPr/>
            </p:nvSpPr>
            <p:spPr bwMode="auto">
              <a:xfrm>
                <a:off x="2133600" y="4343400"/>
                <a:ext cx="1109663" cy="490538"/>
              </a:xfrm>
              <a:prstGeom prst="rect">
                <a:avLst/>
              </a:prstGeom>
              <a:blipFill>
                <a:blip r:embed="rId5"/>
                <a:stretch>
                  <a:fillRect r="-3956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80" name="Object 11"/>
              <p:cNvSpPr txBox="1"/>
              <p:nvPr/>
            </p:nvSpPr>
            <p:spPr bwMode="auto">
              <a:xfrm>
                <a:off x="7543800" y="4737100"/>
                <a:ext cx="1200150" cy="5207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𝑉𝑎𝑟</m:t>
                      </m:r>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𝑂𝑅</m:t>
                          </m:r>
                        </m:e>
                      </m:acc>
                      <m:r>
                        <a:rPr lang="en-US" i="1">
                          <a:solidFill>
                            <a:srgbClr val="000000"/>
                          </a:solidFill>
                          <a:latin typeface="Cambria Math" panose="02040503050406030204" pitchFamily="18" charset="0"/>
                        </a:rPr>
                        <m:t>)</m:t>
                      </m:r>
                    </m:oMath>
                  </m:oMathPara>
                </a14:m>
                <a:endParaRPr lang="en-US" dirty="0"/>
              </a:p>
            </p:txBody>
          </p:sp>
        </mc:Choice>
        <mc:Fallback xmlns="">
          <p:sp>
            <p:nvSpPr>
              <p:cNvPr id="7180" name="Object 11"/>
              <p:cNvSpPr txBox="1">
                <a:spLocks noRot="1" noChangeAspect="1" noMove="1" noResize="1" noEditPoints="1" noAdjustHandles="1" noChangeArrowheads="1" noChangeShapeType="1" noTextEdit="1"/>
              </p:cNvSpPr>
              <p:nvPr/>
            </p:nvSpPr>
            <p:spPr bwMode="auto">
              <a:xfrm>
                <a:off x="7543800" y="4737100"/>
                <a:ext cx="1200150" cy="520700"/>
              </a:xfrm>
              <a:prstGeom prst="rect">
                <a:avLst/>
              </a:prstGeom>
              <a:blipFill>
                <a:blip r:embed="rId6"/>
                <a:stretch>
                  <a:fillRect r="-3010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81" name="Object 12"/>
              <p:cNvSpPr txBox="1"/>
              <p:nvPr/>
            </p:nvSpPr>
            <p:spPr bwMode="auto">
              <a:xfrm>
                <a:off x="4114800" y="4800600"/>
                <a:ext cx="990600" cy="4381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𝑉𝑎𝑟</m:t>
                      </m:r>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𝑅𝑅</m:t>
                          </m:r>
                        </m:e>
                      </m:acc>
                      <m:r>
                        <a:rPr lang="en-US" i="1">
                          <a:solidFill>
                            <a:srgbClr val="000000"/>
                          </a:solidFill>
                          <a:latin typeface="Cambria Math" panose="02040503050406030204" pitchFamily="18" charset="0"/>
                        </a:rPr>
                        <m:t>)</m:t>
                      </m:r>
                    </m:oMath>
                  </m:oMathPara>
                </a14:m>
                <a:endParaRPr lang="en-US" dirty="0"/>
              </a:p>
            </p:txBody>
          </p:sp>
        </mc:Choice>
        <mc:Fallback xmlns="">
          <p:sp>
            <p:nvSpPr>
              <p:cNvPr id="7181" name="Object 12"/>
              <p:cNvSpPr txBox="1">
                <a:spLocks noRot="1" noChangeAspect="1" noMove="1" noResize="1" noEditPoints="1" noAdjustHandles="1" noChangeArrowheads="1" noChangeShapeType="1" noTextEdit="1"/>
              </p:cNvSpPr>
              <p:nvPr/>
            </p:nvSpPr>
            <p:spPr bwMode="auto">
              <a:xfrm>
                <a:off x="4114800" y="4800600"/>
                <a:ext cx="990600" cy="438150"/>
              </a:xfrm>
              <a:prstGeom prst="rect">
                <a:avLst/>
              </a:prstGeom>
              <a:blipFill>
                <a:blip r:embed="rId7"/>
                <a:stretch>
                  <a:fillRect r="-48466"/>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82" name="Object 14"/>
              <p:cNvSpPr txBox="1"/>
              <p:nvPr/>
            </p:nvSpPr>
            <p:spPr bwMode="auto">
              <a:xfrm>
                <a:off x="7042150" y="2438400"/>
                <a:ext cx="1155700" cy="4572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smtClean="0">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𝑚</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𝑣</m:t>
                          </m:r>
                        </m:sub>
                      </m:sSub>
                      <m:r>
                        <a:rPr lang="en-US" i="1">
                          <a:solidFill>
                            <a:srgbClr val="000000"/>
                          </a:solidFill>
                          <a:latin typeface="Cambria Math" panose="02040503050406030204" pitchFamily="18" charset="0"/>
                        </a:rPr>
                        <m:t>)</m:t>
                      </m:r>
                    </m:oMath>
                  </m:oMathPara>
                </a14:m>
                <a:endParaRPr lang="en-US" dirty="0"/>
              </a:p>
            </p:txBody>
          </p:sp>
        </mc:Choice>
        <mc:Fallback xmlns="">
          <p:sp>
            <p:nvSpPr>
              <p:cNvPr id="7182" name="Object 14"/>
              <p:cNvSpPr txBox="1">
                <a:spLocks noRot="1" noChangeAspect="1" noMove="1" noResize="1" noEditPoints="1" noAdjustHandles="1" noChangeArrowheads="1" noChangeShapeType="1" noTextEdit="1"/>
              </p:cNvSpPr>
              <p:nvPr/>
            </p:nvSpPr>
            <p:spPr bwMode="auto">
              <a:xfrm>
                <a:off x="7042150" y="2438400"/>
                <a:ext cx="1155700" cy="457200"/>
              </a:xfrm>
              <a:prstGeom prst="rect">
                <a:avLst/>
              </a:prstGeom>
              <a:blipFill>
                <a:blip r:embed="rId8"/>
                <a:stretch>
                  <a:fillRect l="-1579"/>
                </a:stretch>
              </a:blipFill>
              <a:ln>
                <a:noFill/>
              </a:ln>
              <a:effectLst/>
            </p:spPr>
            <p:txBody>
              <a:bodyPr/>
              <a:lstStyle/>
              <a:p>
                <a:r>
                  <a:rPr lang="en-US">
                    <a:noFill/>
                  </a:rPr>
                  <a:t> </a:t>
                </a:r>
              </a:p>
            </p:txBody>
          </p:sp>
        </mc:Fallback>
      </mc:AlternateContent>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152400" y="152400"/>
            <a:ext cx="8610600" cy="6172200"/>
          </a:xfrm>
        </p:spPr>
        <p:txBody>
          <a:bodyPr lIns="92075" tIns="46038" rIns="92075" bIns="46038"/>
          <a:lstStyle/>
          <a:p>
            <a:pPr>
              <a:buFont typeface="Arial" charset="0"/>
              <a:buNone/>
              <a:defRPr/>
            </a:pPr>
            <a:r>
              <a:rPr lang="en-US" sz="2200" dirty="0">
                <a:latin typeface="Times New Roman" pitchFamily="18" charset="0"/>
                <a:cs typeface="Times New Roman" pitchFamily="18" charset="0"/>
              </a:rPr>
              <a:t> </a:t>
            </a:r>
          </a:p>
          <a:p>
            <a:pPr>
              <a:buFont typeface="Arial" charset="0"/>
              <a:buNone/>
              <a:defRPr/>
            </a:pPr>
            <a:r>
              <a:rPr lang="en-US" sz="2400" dirty="0">
                <a:latin typeface="Times New Roman" pitchFamily="18" charset="0"/>
                <a:cs typeface="Times New Roman" pitchFamily="18" charset="0"/>
              </a:rPr>
              <a:t>Note that                  can be rewritten as             , </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where </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Greenland (Greenland, 1988) addressed problem (c) in detail for </a:t>
            </a:r>
          </a:p>
          <a:p>
            <a:pPr marL="0" indent="0">
              <a:buFont typeface="Arial" charset="0"/>
              <a:buNone/>
              <a:defRPr/>
            </a:pPr>
            <a:r>
              <a:rPr lang="en-US" sz="2400" b="1" dirty="0">
                <a:latin typeface="Times New Roman" pitchFamily="18" charset="0"/>
                <a:cs typeface="Times New Roman" pitchFamily="18" charset="0"/>
              </a:rPr>
              <a:t>case-control studies </a:t>
            </a:r>
            <a:r>
              <a:rPr lang="en-US" sz="2400" dirty="0">
                <a:latin typeface="Times New Roman" pitchFamily="18" charset="0"/>
                <a:cs typeface="Times New Roman" pitchFamily="18" charset="0"/>
              </a:rPr>
              <a:t>on the</a:t>
            </a:r>
            <a:r>
              <a:rPr lang="en-US" sz="2400" b="1" dirty="0">
                <a:latin typeface="Times New Roman" pitchFamily="18" charset="0"/>
                <a:cs typeface="Times New Roman" pitchFamily="18" charset="0"/>
              </a:rPr>
              <a:t> matrix method estimator</a:t>
            </a:r>
            <a:r>
              <a:rPr lang="en-US" sz="2400" dirty="0">
                <a:latin typeface="Times New Roman" pitchFamily="18" charset="0"/>
                <a:cs typeface="Times New Roman" pitchFamily="18" charset="0"/>
              </a:rPr>
              <a:t>, and, in his Appendix, provides the formulas to address problem (c) in </a:t>
            </a:r>
            <a:r>
              <a:rPr lang="en-US" sz="2400" b="1" dirty="0">
                <a:latin typeface="Times New Roman" pitchFamily="18" charset="0"/>
                <a:cs typeface="Times New Roman" pitchFamily="18" charset="0"/>
              </a:rPr>
              <a:t>cohort studies</a:t>
            </a:r>
            <a:r>
              <a:rPr lang="en-US" sz="2400" dirty="0">
                <a:latin typeface="Times New Roman" pitchFamily="18" charset="0"/>
                <a:cs typeface="Times New Roman" pitchFamily="18" charset="0"/>
              </a:rPr>
              <a:t>.</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1600" dirty="0">
                <a:latin typeface="Times New Roman" pitchFamily="18" charset="0"/>
                <a:cs typeface="Times New Roman" pitchFamily="18" charset="0"/>
              </a:rPr>
              <a:t>Greenland S. (1988) Statistical uncertainty due to misclassification- implications for validation </a:t>
            </a:r>
          </a:p>
          <a:p>
            <a:pPr>
              <a:buFont typeface="Arial" charset="0"/>
              <a:buNone/>
              <a:defRPr/>
            </a:pPr>
            <a:r>
              <a:rPr lang="en-US" sz="1600" dirty="0" err="1">
                <a:latin typeface="Times New Roman" pitchFamily="18" charset="0"/>
                <a:cs typeface="Times New Roman" pitchFamily="18" charset="0"/>
              </a:rPr>
              <a:t>substudies</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Journal Of Clinical Epidemiology </a:t>
            </a:r>
            <a:r>
              <a:rPr lang="en-US" sz="1600" dirty="0">
                <a:latin typeface="Times New Roman" pitchFamily="18" charset="0"/>
                <a:cs typeface="Times New Roman" pitchFamily="18" charset="0"/>
              </a:rPr>
              <a:t>41:1167-1174.</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p:cxnSp>
        <p:nvCxnSpPr>
          <p:cNvPr id="8195" name="AutoShape 3"/>
          <p:cNvCxnSpPr>
            <a:cxnSpLocks noChangeShapeType="1"/>
            <a:stCxn id="28676" idx="3"/>
            <a:endCxn id="28676" idx="3"/>
          </p:cNvCxnSpPr>
          <p:nvPr/>
        </p:nvCxnSpPr>
        <p:spPr bwMode="auto">
          <a:xfrm>
            <a:off x="8763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8196"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8197"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8198"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8199"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8200"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722360E9-9F4A-4A02-9D3E-33244382855C}" type="slidenum">
              <a:rPr lang="zh-CN" altLang="en-US" sz="1200">
                <a:solidFill>
                  <a:srgbClr val="898989"/>
                </a:solidFill>
              </a:rPr>
              <a:pPr algn="r" eaLnBrk="1" hangingPunct="1">
                <a:spcBef>
                  <a:spcPct val="0"/>
                </a:spcBef>
                <a:buFontTx/>
                <a:buNone/>
              </a:pPr>
              <a:t>6</a:t>
            </a:fld>
            <a:endParaRPr lang="en-US" altLang="zh-CN" sz="1200">
              <a:solidFill>
                <a:srgbClr val="898989"/>
              </a:solidFill>
            </a:endParaRPr>
          </a:p>
        </p:txBody>
      </p:sp>
      <mc:AlternateContent xmlns:mc="http://schemas.openxmlformats.org/markup-compatibility/2006" xmlns:a14="http://schemas.microsoft.com/office/drawing/2010/main">
        <mc:Choice Requires="a14">
          <p:sp>
            <p:nvSpPr>
              <p:cNvPr id="8201" name="Object 7"/>
              <p:cNvSpPr txBox="1"/>
              <p:nvPr/>
            </p:nvSpPr>
            <p:spPr bwMode="auto">
              <a:xfrm>
                <a:off x="1447800" y="609600"/>
                <a:ext cx="1155700" cy="4572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smtClean="0">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𝑚</m:t>
                          </m:r>
                        </m:sub>
                      </m:sSub>
                      <m:r>
                        <a:rPr lang="en-US" b="0" i="1" smtClean="0">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𝑣</m:t>
                          </m:r>
                        </m:sub>
                      </m:sSub>
                      <m:r>
                        <a:rPr lang="en-US" i="1">
                          <a:solidFill>
                            <a:srgbClr val="000000"/>
                          </a:solidFill>
                          <a:latin typeface="Cambria Math" panose="02040503050406030204" pitchFamily="18" charset="0"/>
                        </a:rPr>
                        <m:t>)</m:t>
                      </m:r>
                    </m:oMath>
                  </m:oMathPara>
                </a14:m>
                <a:endParaRPr lang="en-US" dirty="0"/>
              </a:p>
            </p:txBody>
          </p:sp>
        </mc:Choice>
        <mc:Fallback xmlns="">
          <p:sp>
            <p:nvSpPr>
              <p:cNvPr id="8201" name="Object 7"/>
              <p:cNvSpPr txBox="1">
                <a:spLocks noRot="1" noChangeAspect="1" noMove="1" noResize="1" noEditPoints="1" noAdjustHandles="1" noChangeArrowheads="1" noChangeShapeType="1" noTextEdit="1"/>
              </p:cNvSpPr>
              <p:nvPr/>
            </p:nvSpPr>
            <p:spPr bwMode="auto">
              <a:xfrm>
                <a:off x="1447800" y="609600"/>
                <a:ext cx="1155700" cy="457200"/>
              </a:xfrm>
              <a:prstGeom prst="rect">
                <a:avLst/>
              </a:prstGeom>
              <a:blipFill>
                <a:blip r:embed="rId3"/>
                <a:stretch>
                  <a:fillRect l="-158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02" name="Object 8"/>
              <p:cNvSpPr txBox="1"/>
              <p:nvPr/>
            </p:nvSpPr>
            <p:spPr bwMode="auto">
              <a:xfrm>
                <a:off x="5105400" y="609600"/>
                <a:ext cx="863600" cy="4572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oMath>
                  </m:oMathPara>
                </a14:m>
                <a:endParaRPr lang="en-US" dirty="0"/>
              </a:p>
            </p:txBody>
          </p:sp>
        </mc:Choice>
        <mc:Fallback xmlns="">
          <p:sp>
            <p:nvSpPr>
              <p:cNvPr id="8202" name="Object 8"/>
              <p:cNvSpPr txBox="1">
                <a:spLocks noRot="1" noChangeAspect="1" noMove="1" noResize="1" noEditPoints="1" noAdjustHandles="1" noChangeArrowheads="1" noChangeShapeType="1" noTextEdit="1"/>
              </p:cNvSpPr>
              <p:nvPr/>
            </p:nvSpPr>
            <p:spPr bwMode="auto">
              <a:xfrm>
                <a:off x="5105400" y="609600"/>
                <a:ext cx="863600" cy="457200"/>
              </a:xfrm>
              <a:prstGeom prst="rect">
                <a:avLst/>
              </a:prstGeom>
              <a:blipFill>
                <a:blip r:embed="rId4"/>
                <a:stretch>
                  <a:fillRect l="-212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03" name="Object 9"/>
              <p:cNvSpPr txBox="1"/>
              <p:nvPr/>
            </p:nvSpPr>
            <p:spPr bwMode="auto">
              <a:xfrm>
                <a:off x="1219200" y="1295400"/>
                <a:ext cx="2344738" cy="9144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𝑣</m:t>
                              </m:r>
                            </m:sub>
                          </m:sSub>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𝑣</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𝑚</m:t>
                              </m:r>
                            </m:sub>
                          </m:sSub>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𝑣</m:t>
                              </m:r>
                            </m:sub>
                          </m:sSub>
                        </m:num>
                        <m:den>
                          <m:r>
                            <a:rPr lang="en-US" i="1">
                              <a:solidFill>
                                <a:srgbClr val="000000"/>
                              </a:solidFill>
                              <a:latin typeface="Cambria Math" panose="02040503050406030204" pitchFamily="18" charset="0"/>
                            </a:rPr>
                            <m:t>𝑛</m:t>
                          </m:r>
                        </m:den>
                      </m:f>
                    </m:oMath>
                  </m:oMathPara>
                </a14:m>
                <a:endParaRPr lang="en-US" dirty="0"/>
              </a:p>
            </p:txBody>
          </p:sp>
        </mc:Choice>
        <mc:Fallback xmlns="">
          <p:sp>
            <p:nvSpPr>
              <p:cNvPr id="8203" name="Object 9"/>
              <p:cNvSpPr txBox="1">
                <a:spLocks noRot="1" noChangeAspect="1" noMove="1" noResize="1" noEditPoints="1" noAdjustHandles="1" noChangeArrowheads="1" noChangeShapeType="1" noTextEdit="1"/>
              </p:cNvSpPr>
              <p:nvPr/>
            </p:nvSpPr>
            <p:spPr bwMode="auto">
              <a:xfrm>
                <a:off x="1219200" y="1295400"/>
                <a:ext cx="2344738" cy="914400"/>
              </a:xfrm>
              <a:prstGeom prst="rect">
                <a:avLst/>
              </a:prstGeom>
              <a:blipFill>
                <a:blip r:embed="rId5"/>
                <a:stretch>
                  <a:fillRect/>
                </a:stretch>
              </a:blipFill>
              <a:ln>
                <a:noFill/>
              </a:ln>
              <a:effectLst/>
            </p:spPr>
            <p:txBody>
              <a:bodyPr/>
              <a:lstStyle/>
              <a:p>
                <a:r>
                  <a:rPr lang="en-US">
                    <a:noFill/>
                  </a:rPr>
                  <a:t> </a:t>
                </a:r>
              </a:p>
            </p:txBody>
          </p:sp>
        </mc:Fallback>
      </mc:AlternateContent>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152400" y="152400"/>
            <a:ext cx="8686800" cy="6386513"/>
          </a:xfrm>
        </p:spPr>
        <p:txBody>
          <a:bodyPr lIns="92075" tIns="46038" rIns="92075" bIns="46038"/>
          <a:lstStyle/>
          <a:p>
            <a:pPr>
              <a:buFont typeface="Arial" charset="0"/>
              <a:buNone/>
              <a:defRPr/>
            </a:pPr>
            <a:r>
              <a:rPr lang="en-US" sz="800" dirty="0">
                <a:latin typeface="Times New Roman" pitchFamily="18" charset="0"/>
                <a:cs typeface="Times New Roman" pitchFamily="18" charset="0"/>
              </a:rPr>
              <a:t> </a:t>
            </a:r>
          </a:p>
          <a:p>
            <a:pPr>
              <a:buNone/>
              <a:defRPr/>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Greenland S. (1988)</a:t>
            </a:r>
          </a:p>
          <a:p>
            <a:pPr>
              <a:buFont typeface="Arial" charset="0"/>
              <a:buNone/>
              <a:defRPr/>
            </a:pPr>
            <a:r>
              <a:rPr lang="en-US" sz="2400" dirty="0">
                <a:latin typeface="Times New Roman" pitchFamily="18" charset="0"/>
                <a:cs typeface="Times New Roman" pitchFamily="18" charset="0"/>
              </a:rPr>
              <a:t>To solve this problem for </a:t>
            </a:r>
            <a:r>
              <a:rPr lang="en-US" sz="2400" b="1" dirty="0">
                <a:latin typeface="Times New Roman" pitchFamily="18" charset="0"/>
                <a:cs typeface="Times New Roman" pitchFamily="18" charset="0"/>
              </a:rPr>
              <a:t>case-control studies</a:t>
            </a:r>
            <a:r>
              <a:rPr lang="en-US" sz="2400" dirty="0">
                <a:latin typeface="Times New Roman" pitchFamily="18" charset="0"/>
                <a:cs typeface="Times New Roman" pitchFamily="18" charset="0"/>
              </a:rPr>
              <a:t>, additional features of </a:t>
            </a:r>
          </a:p>
          <a:p>
            <a:pPr>
              <a:buFont typeface="Arial" charset="0"/>
              <a:buNone/>
              <a:defRPr/>
            </a:pPr>
            <a:r>
              <a:rPr lang="en-US" sz="2400" dirty="0">
                <a:latin typeface="Times New Roman" pitchFamily="18" charset="0"/>
                <a:cs typeface="Times New Roman" pitchFamily="18" charset="0"/>
              </a:rPr>
              <a:t>the study must be specified. These include:</a:t>
            </a:r>
          </a:p>
          <a:p>
            <a:pPr>
              <a:buFont typeface="Arial" charset="0"/>
              <a:buNone/>
              <a:defRPr/>
            </a:pPr>
            <a:endParaRPr lang="en-US" sz="1200" dirty="0">
              <a:latin typeface="Times New Roman" pitchFamily="18" charset="0"/>
              <a:cs typeface="Times New Roman" pitchFamily="18" charset="0"/>
            </a:endParaRP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                      (Of course, it can be assumed that misclassification is</a:t>
            </a:r>
          </a:p>
          <a:p>
            <a:pPr>
              <a:buFont typeface="Arial" charset="0"/>
              <a:buNone/>
              <a:defRPr/>
            </a:pPr>
            <a:r>
              <a:rPr lang="en-US" sz="2400" dirty="0">
                <a:latin typeface="Times New Roman" pitchFamily="18" charset="0"/>
                <a:cs typeface="Times New Roman" pitchFamily="18" charset="0"/>
              </a:rPr>
              <a:t>                       non-differential)</a:t>
            </a:r>
          </a:p>
          <a:p>
            <a:pPr>
              <a:buFont typeface="Arial" charset="0"/>
              <a:buNone/>
              <a:defRPr/>
            </a:pPr>
            <a:r>
              <a:rPr lang="en-US" sz="2400" dirty="0">
                <a:latin typeface="Times New Roman" pitchFamily="18" charset="0"/>
                <a:cs typeface="Times New Roman" pitchFamily="18" charset="0"/>
              </a:rPr>
              <a:t> </a:t>
            </a:r>
          </a:p>
          <a:p>
            <a:pPr>
              <a:buFont typeface="Arial" charset="0"/>
              <a:buNone/>
              <a:defRPr/>
            </a:pPr>
            <a:r>
              <a:rPr lang="en-US" sz="2200" dirty="0">
                <a:latin typeface="Times New Roman" pitchFamily="18" charset="0"/>
                <a:cs typeface="Times New Roman" pitchFamily="18" charset="0"/>
              </a:rPr>
              <a:t> </a:t>
            </a:r>
          </a:p>
          <a:p>
            <a:pPr>
              <a:buFont typeface="Arial" charset="0"/>
              <a:buNone/>
              <a:defRPr/>
            </a:pPr>
            <a:r>
              <a:rPr lang="en-US" sz="2400" dirty="0">
                <a:latin typeface="Times New Roman" pitchFamily="18" charset="0"/>
                <a:cs typeface="Times New Roman" pitchFamily="18" charset="0"/>
              </a:rPr>
              <a:t>Or, although Greenland didn’t provide the formulas in these terms,</a:t>
            </a:r>
          </a:p>
          <a:p>
            <a:pPr>
              <a:buFont typeface="Arial" charset="0"/>
              <a:buNone/>
              <a:defRPr/>
            </a:pPr>
            <a:r>
              <a:rPr lang="en-US" sz="2400" dirty="0" err="1">
                <a:latin typeface="Times New Roman" pitchFamily="18" charset="0"/>
                <a:cs typeface="Times New Roman" pitchFamily="18" charset="0"/>
              </a:rPr>
              <a:t>Bayes</a:t>
            </a:r>
            <a:r>
              <a:rPr lang="en-US" sz="2400" dirty="0">
                <a:latin typeface="Times New Roman" pitchFamily="18" charset="0"/>
                <a:cs typeface="Times New Roman" pitchFamily="18" charset="0"/>
              </a:rPr>
              <a:t> theorem can be used to solve for                              as a </a:t>
            </a:r>
          </a:p>
          <a:p>
            <a:pPr>
              <a:buFont typeface="Arial" charset="0"/>
              <a:buNone/>
              <a:defRPr/>
            </a:pPr>
            <a:r>
              <a:rPr lang="en-US" sz="2400" dirty="0">
                <a:latin typeface="Times New Roman" pitchFamily="18" charset="0"/>
                <a:cs typeface="Times New Roman" pitchFamily="18" charset="0"/>
              </a:rPr>
              <a:t>function of                               ,       , and </a:t>
            </a:r>
          </a:p>
          <a:p>
            <a:pPr>
              <a:buFont typeface="Arial" charset="0"/>
              <a:buNone/>
              <a:defRPr/>
            </a:pPr>
            <a:endParaRPr lang="en-US" sz="125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Alternatively, the problem could be re-parameterized in terms of </a:t>
            </a:r>
          </a:p>
          <a:p>
            <a:pPr>
              <a:buFont typeface="Arial" charset="0"/>
              <a:buNone/>
              <a:defRPr/>
            </a:pPr>
            <a:r>
              <a:rPr lang="en-US" sz="2400" dirty="0">
                <a:latin typeface="Times New Roman" pitchFamily="18" charset="0"/>
                <a:cs typeface="Times New Roman" pitchFamily="18" charset="0"/>
              </a:rPr>
              <a:t>                 and          </a:t>
            </a:r>
            <a:r>
              <a:rPr lang="en-US" sz="2400" dirty="0" err="1">
                <a:latin typeface="Times New Roman" pitchFamily="18" charset="0"/>
                <a:cs typeface="Times New Roman" pitchFamily="18" charset="0"/>
              </a:rPr>
              <a:t>and</a:t>
            </a:r>
            <a:r>
              <a:rPr lang="en-US" sz="2400" dirty="0">
                <a:latin typeface="Times New Roman" pitchFamily="18" charset="0"/>
                <a:cs typeface="Times New Roman" pitchFamily="18" charset="0"/>
              </a:rPr>
              <a:t> the                                              can be </a:t>
            </a:r>
          </a:p>
          <a:p>
            <a:pPr>
              <a:buFont typeface="Arial" charset="0"/>
              <a:buNone/>
              <a:defRPr/>
            </a:pPr>
            <a:r>
              <a:rPr lang="en-US" sz="2400" dirty="0">
                <a:latin typeface="Times New Roman" pitchFamily="18" charset="0"/>
                <a:cs typeface="Times New Roman" pitchFamily="18" charset="0"/>
              </a:rPr>
              <a:t>solved for.</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t> </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p:cxnSp>
        <p:nvCxnSpPr>
          <p:cNvPr id="9219" name="AutoShape 3"/>
          <p:cNvCxnSpPr>
            <a:cxnSpLocks noChangeShapeType="1"/>
            <a:stCxn id="28676" idx="3"/>
            <a:endCxn id="28676" idx="3"/>
          </p:cNvCxnSpPr>
          <p:nvPr/>
        </p:nvCxnSpPr>
        <p:spPr bwMode="auto">
          <a:xfrm>
            <a:off x="8839200" y="3344863"/>
            <a:ext cx="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9220"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9221"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9222"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9223"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9224"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04BBCDC2-3DAD-4B61-A0F8-EB7B0CFA1399}" type="slidenum">
              <a:rPr lang="zh-CN" altLang="en-US" sz="1200">
                <a:solidFill>
                  <a:srgbClr val="898989"/>
                </a:solidFill>
              </a:rPr>
              <a:pPr algn="r" eaLnBrk="1" hangingPunct="1">
                <a:spcBef>
                  <a:spcPct val="0"/>
                </a:spcBef>
                <a:buFontTx/>
                <a:buNone/>
              </a:pPr>
              <a:t>7</a:t>
            </a:fld>
            <a:endParaRPr lang="en-US" altLang="zh-CN" sz="1200">
              <a:solidFill>
                <a:srgbClr val="898989"/>
              </a:solidFill>
            </a:endParaRPr>
          </a:p>
        </p:txBody>
      </p:sp>
      <mc:AlternateContent xmlns:mc="http://schemas.openxmlformats.org/markup-compatibility/2006" xmlns:a14="http://schemas.microsoft.com/office/drawing/2010/main">
        <mc:Choice Requires="a14">
          <p:sp>
            <p:nvSpPr>
              <p:cNvPr id="9225" name="Object 7"/>
              <p:cNvSpPr txBox="1"/>
              <p:nvPr/>
            </p:nvSpPr>
            <p:spPr bwMode="auto">
              <a:xfrm>
                <a:off x="228600" y="1752600"/>
                <a:ext cx="1468438" cy="4572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𝜃</m:t>
                          </m:r>
                        </m:e>
                        <m:sub>
                          <m:r>
                            <a:rPr lang="en-US" i="1">
                              <a:solidFill>
                                <a:srgbClr val="000000"/>
                              </a:solidFill>
                              <a:latin typeface="Cambria Math" panose="02040503050406030204" pitchFamily="18" charset="0"/>
                            </a:rPr>
                            <m:t>𝑑</m:t>
                          </m:r>
                        </m:sub>
                      </m:sSub>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𝑑</m:t>
                      </m:r>
                      <m:r>
                        <a:rPr lang="en-US" i="1">
                          <a:solidFill>
                            <a:srgbClr val="000000"/>
                          </a:solidFill>
                          <a:latin typeface="Cambria Math" panose="02040503050406030204" pitchFamily="18" charset="0"/>
                        </a:rPr>
                        <m:t>=0,1</m:t>
                      </m:r>
                    </m:oMath>
                  </m:oMathPara>
                </a14:m>
                <a:endParaRPr lang="en-US"/>
              </a:p>
            </p:txBody>
          </p:sp>
        </mc:Choice>
        <mc:Fallback xmlns="">
          <p:sp>
            <p:nvSpPr>
              <p:cNvPr id="9225" name="Object 7"/>
              <p:cNvSpPr txBox="1">
                <a:spLocks noRot="1" noChangeAspect="1" noMove="1" noResize="1" noEditPoints="1" noAdjustHandles="1" noChangeArrowheads="1" noChangeShapeType="1" noTextEdit="1"/>
              </p:cNvSpPr>
              <p:nvPr/>
            </p:nvSpPr>
            <p:spPr bwMode="auto">
              <a:xfrm>
                <a:off x="228600" y="1752600"/>
                <a:ext cx="1468438" cy="457200"/>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26" name="Object 8"/>
              <p:cNvSpPr txBox="1"/>
              <p:nvPr/>
            </p:nvSpPr>
            <p:spPr bwMode="auto">
              <a:xfrm>
                <a:off x="304800" y="2362200"/>
                <a:ext cx="1443038" cy="4572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𝜑</m:t>
                          </m:r>
                        </m:e>
                        <m:sub>
                          <m:r>
                            <a:rPr lang="en-US" i="1">
                              <a:solidFill>
                                <a:srgbClr val="000000"/>
                              </a:solidFill>
                              <a:latin typeface="Cambria Math" panose="02040503050406030204" pitchFamily="18" charset="0"/>
                            </a:rPr>
                            <m:t>𝑑</m:t>
                          </m:r>
                        </m:sub>
                      </m:sSub>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𝑑</m:t>
                      </m:r>
                      <m:r>
                        <a:rPr lang="en-US" i="1">
                          <a:solidFill>
                            <a:srgbClr val="000000"/>
                          </a:solidFill>
                          <a:latin typeface="Cambria Math" panose="02040503050406030204" pitchFamily="18" charset="0"/>
                        </a:rPr>
                        <m:t>=0,1</m:t>
                      </m:r>
                    </m:oMath>
                  </m:oMathPara>
                </a14:m>
                <a:endParaRPr lang="en-US"/>
              </a:p>
            </p:txBody>
          </p:sp>
        </mc:Choice>
        <mc:Fallback xmlns="">
          <p:sp>
            <p:nvSpPr>
              <p:cNvPr id="9226" name="Object 8"/>
              <p:cNvSpPr txBox="1">
                <a:spLocks noRot="1" noChangeAspect="1" noMove="1" noResize="1" noEditPoints="1" noAdjustHandles="1" noChangeArrowheads="1" noChangeShapeType="1" noTextEdit="1"/>
              </p:cNvSpPr>
              <p:nvPr/>
            </p:nvSpPr>
            <p:spPr bwMode="auto">
              <a:xfrm>
                <a:off x="304800" y="2362200"/>
                <a:ext cx="1443038" cy="457200"/>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27" name="Object 9"/>
              <p:cNvSpPr txBox="1"/>
              <p:nvPr/>
            </p:nvSpPr>
            <p:spPr bwMode="auto">
              <a:xfrm>
                <a:off x="228600" y="3381750"/>
                <a:ext cx="4067175" cy="4572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𝑑</m:t>
                          </m:r>
                        </m:sub>
                      </m:sSub>
                      <m:r>
                        <a:rPr lang="en-US" i="1">
                          <a:solidFill>
                            <a:srgbClr val="000000"/>
                          </a:solidFill>
                          <a:latin typeface="Cambria Math" panose="02040503050406030204" pitchFamily="18" charset="0"/>
                        </a:rPr>
                        <m:t>=</m:t>
                      </m:r>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Pr</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𝑑</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𝑑</m:t>
                      </m:r>
                      <m:r>
                        <a:rPr lang="en-US" i="1">
                          <a:solidFill>
                            <a:srgbClr val="000000"/>
                          </a:solidFill>
                          <a:latin typeface="Cambria Math" panose="02040503050406030204" pitchFamily="18" charset="0"/>
                        </a:rPr>
                        <m:t>=0,1</m:t>
                      </m:r>
                    </m:oMath>
                  </m:oMathPara>
                </a14:m>
                <a:endParaRPr lang="en-US"/>
              </a:p>
            </p:txBody>
          </p:sp>
        </mc:Choice>
        <mc:Fallback xmlns="">
          <p:sp>
            <p:nvSpPr>
              <p:cNvPr id="9227" name="Object 9"/>
              <p:cNvSpPr txBox="1">
                <a:spLocks noRot="1" noChangeAspect="1" noMove="1" noResize="1" noEditPoints="1" noAdjustHandles="1" noChangeArrowheads="1" noChangeShapeType="1" noTextEdit="1"/>
              </p:cNvSpPr>
              <p:nvPr/>
            </p:nvSpPr>
            <p:spPr bwMode="auto">
              <a:xfrm>
                <a:off x="228600" y="3381750"/>
                <a:ext cx="4067175" cy="457200"/>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28" name="Object 12"/>
              <p:cNvSpPr txBox="1"/>
              <p:nvPr/>
            </p:nvSpPr>
            <p:spPr bwMode="auto">
              <a:xfrm>
                <a:off x="5105400" y="4572000"/>
                <a:ext cx="2109788" cy="3952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Pr</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𝑑</m:t>
                      </m:r>
                      <m:r>
                        <a:rPr lang="en-US" i="1">
                          <a:solidFill>
                            <a:srgbClr val="000000"/>
                          </a:solidFill>
                          <a:latin typeface="Cambria Math" panose="02040503050406030204" pitchFamily="18" charset="0"/>
                        </a:rPr>
                        <m:t>)</m:t>
                      </m:r>
                    </m:oMath>
                  </m:oMathPara>
                </a14:m>
                <a:endParaRPr lang="en-US"/>
              </a:p>
            </p:txBody>
          </p:sp>
        </mc:Choice>
        <mc:Fallback xmlns="">
          <p:sp>
            <p:nvSpPr>
              <p:cNvPr id="9228" name="Object 12"/>
              <p:cNvSpPr txBox="1">
                <a:spLocks noRot="1" noChangeAspect="1" noMove="1" noResize="1" noEditPoints="1" noAdjustHandles="1" noChangeArrowheads="1" noChangeShapeType="1" noTextEdit="1"/>
              </p:cNvSpPr>
              <p:nvPr/>
            </p:nvSpPr>
            <p:spPr bwMode="auto">
              <a:xfrm>
                <a:off x="5105400" y="4572000"/>
                <a:ext cx="2109788" cy="395288"/>
              </a:xfrm>
              <a:prstGeom prst="rect">
                <a:avLst/>
              </a:prstGeom>
              <a:blipFill>
                <a:blip r:embed="rId6"/>
                <a:stretch>
                  <a:fillRect b="-6154"/>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29" name="Object 11"/>
              <p:cNvSpPr txBox="1"/>
              <p:nvPr/>
            </p:nvSpPr>
            <p:spPr bwMode="auto">
              <a:xfrm>
                <a:off x="1676400" y="4953000"/>
                <a:ext cx="2189163" cy="4191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Pr</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𝑍</m:t>
                      </m:r>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𝑑</m:t>
                      </m:r>
                      <m:r>
                        <a:rPr lang="en-US" i="1">
                          <a:solidFill>
                            <a:srgbClr val="000000"/>
                          </a:solidFill>
                          <a:latin typeface="Cambria Math" panose="02040503050406030204" pitchFamily="18" charset="0"/>
                        </a:rPr>
                        <m:t>)</m:t>
                      </m:r>
                    </m:oMath>
                  </m:oMathPara>
                </a14:m>
                <a:endParaRPr lang="en-US"/>
              </a:p>
            </p:txBody>
          </p:sp>
        </mc:Choice>
        <mc:Fallback xmlns="">
          <p:sp>
            <p:nvSpPr>
              <p:cNvPr id="9229" name="Object 11"/>
              <p:cNvSpPr txBox="1">
                <a:spLocks noRot="1" noChangeAspect="1" noMove="1" noResize="1" noEditPoints="1" noAdjustHandles="1" noChangeArrowheads="1" noChangeShapeType="1" noTextEdit="1"/>
              </p:cNvSpPr>
              <p:nvPr/>
            </p:nvSpPr>
            <p:spPr bwMode="auto">
              <a:xfrm>
                <a:off x="1676400" y="4953000"/>
                <a:ext cx="2189163" cy="419100"/>
              </a:xfrm>
              <a:prstGeom prst="rect">
                <a:avLst/>
              </a:prstGeom>
              <a:blipFill>
                <a:blip r:embed="rId7"/>
                <a:stretch>
                  <a:fillRect b="-147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30" name="Object 12"/>
              <p:cNvSpPr txBox="1"/>
              <p:nvPr/>
            </p:nvSpPr>
            <p:spPr bwMode="auto">
              <a:xfrm>
                <a:off x="4184743" y="4953000"/>
                <a:ext cx="360363" cy="4572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𝜃</m:t>
                          </m:r>
                        </m:e>
                        <m:sub>
                          <m:r>
                            <a:rPr lang="en-US" i="1">
                              <a:solidFill>
                                <a:srgbClr val="000000"/>
                              </a:solidFill>
                              <a:latin typeface="Cambria Math" panose="02040503050406030204" pitchFamily="18" charset="0"/>
                            </a:rPr>
                            <m:t>𝑑</m:t>
                          </m:r>
                        </m:sub>
                      </m:sSub>
                    </m:oMath>
                  </m:oMathPara>
                </a14:m>
                <a:endParaRPr lang="en-US"/>
              </a:p>
            </p:txBody>
          </p:sp>
        </mc:Choice>
        <mc:Fallback xmlns="">
          <p:sp>
            <p:nvSpPr>
              <p:cNvPr id="9230" name="Object 12"/>
              <p:cNvSpPr txBox="1">
                <a:spLocks noRot="1" noChangeAspect="1" noMove="1" noResize="1" noEditPoints="1" noAdjustHandles="1" noChangeArrowheads="1" noChangeShapeType="1" noTextEdit="1"/>
              </p:cNvSpPr>
              <p:nvPr/>
            </p:nvSpPr>
            <p:spPr bwMode="auto">
              <a:xfrm>
                <a:off x="4184743" y="4953000"/>
                <a:ext cx="360363" cy="457200"/>
              </a:xfrm>
              <a:prstGeom prst="rect">
                <a:avLst/>
              </a:prstGeom>
              <a:blipFill>
                <a:blip r:embed="rId8"/>
                <a:stretch>
                  <a:fillRect r="-3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31" name="Object 15"/>
              <p:cNvSpPr txBox="1"/>
              <p:nvPr/>
            </p:nvSpPr>
            <p:spPr bwMode="auto">
              <a:xfrm>
                <a:off x="5334000" y="4953000"/>
                <a:ext cx="1343025" cy="4254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𝜑</m:t>
                          </m:r>
                        </m:e>
                        <m:sub>
                          <m:r>
                            <a:rPr lang="en-US" i="1">
                              <a:solidFill>
                                <a:srgbClr val="000000"/>
                              </a:solidFill>
                              <a:latin typeface="Cambria Math" panose="02040503050406030204" pitchFamily="18" charset="0"/>
                            </a:rPr>
                            <m:t>𝑑</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𝑑</m:t>
                      </m:r>
                      <m:r>
                        <a:rPr lang="en-US" i="1">
                          <a:solidFill>
                            <a:srgbClr val="000000"/>
                          </a:solidFill>
                          <a:latin typeface="Cambria Math" panose="02040503050406030204" pitchFamily="18" charset="0"/>
                        </a:rPr>
                        <m:t>=0,1</m:t>
                      </m:r>
                    </m:oMath>
                  </m:oMathPara>
                </a14:m>
                <a:endParaRPr lang="en-US"/>
              </a:p>
            </p:txBody>
          </p:sp>
        </mc:Choice>
        <mc:Fallback xmlns="">
          <p:sp>
            <p:nvSpPr>
              <p:cNvPr id="9231" name="Object 15"/>
              <p:cNvSpPr txBox="1">
                <a:spLocks noRot="1" noChangeAspect="1" noMove="1" noResize="1" noEditPoints="1" noAdjustHandles="1" noChangeArrowheads="1" noChangeShapeType="1" noTextEdit="1"/>
              </p:cNvSpPr>
              <p:nvPr/>
            </p:nvSpPr>
            <p:spPr bwMode="auto">
              <a:xfrm>
                <a:off x="5334000" y="4953000"/>
                <a:ext cx="1343025" cy="425450"/>
              </a:xfrm>
              <a:prstGeom prst="rect">
                <a:avLst/>
              </a:prstGeom>
              <a:blipFill>
                <a:blip r:embed="rId9"/>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32" name="Object 1"/>
              <p:cNvSpPr txBox="1"/>
              <p:nvPr/>
            </p:nvSpPr>
            <p:spPr bwMode="auto">
              <a:xfrm>
                <a:off x="152400" y="6119812"/>
                <a:ext cx="1304925" cy="4191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Pr</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=1)</m:t>
                      </m:r>
                    </m:oMath>
                  </m:oMathPara>
                </a14:m>
                <a:endParaRPr lang="en-US"/>
              </a:p>
            </p:txBody>
          </p:sp>
        </mc:Choice>
        <mc:Fallback xmlns="">
          <p:sp>
            <p:nvSpPr>
              <p:cNvPr id="9232" name="Object 1"/>
              <p:cNvSpPr txBox="1">
                <a:spLocks noRot="1" noChangeAspect="1" noMove="1" noResize="1" noEditPoints="1" noAdjustHandles="1" noChangeArrowheads="1" noChangeShapeType="1" noTextEdit="1"/>
              </p:cNvSpPr>
              <p:nvPr/>
            </p:nvSpPr>
            <p:spPr bwMode="auto">
              <a:xfrm>
                <a:off x="152400" y="6119812"/>
                <a:ext cx="1304925" cy="419100"/>
              </a:xfrm>
              <a:prstGeom prst="rect">
                <a:avLst/>
              </a:prstGeom>
              <a:blipFill>
                <a:blip r:embed="rId10"/>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33" name="Object 2"/>
              <p:cNvSpPr txBox="1"/>
              <p:nvPr/>
            </p:nvSpPr>
            <p:spPr bwMode="auto">
              <a:xfrm>
                <a:off x="2057400" y="6125695"/>
                <a:ext cx="582613" cy="3952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𝑂𝑅</m:t>
                      </m:r>
                      <m:r>
                        <a:rPr lang="en-US" i="1">
                          <a:solidFill>
                            <a:srgbClr val="000000"/>
                          </a:solidFill>
                          <a:latin typeface="Cambria Math" panose="02040503050406030204" pitchFamily="18" charset="0"/>
                        </a:rPr>
                        <m:t>,</m:t>
                      </m:r>
                    </m:oMath>
                  </m:oMathPara>
                </a14:m>
                <a:endParaRPr lang="en-US"/>
              </a:p>
            </p:txBody>
          </p:sp>
        </mc:Choice>
        <mc:Fallback xmlns="">
          <p:sp>
            <p:nvSpPr>
              <p:cNvPr id="9233" name="Object 2"/>
              <p:cNvSpPr txBox="1">
                <a:spLocks noRot="1" noChangeAspect="1" noMove="1" noResize="1" noEditPoints="1" noAdjustHandles="1" noChangeArrowheads="1" noChangeShapeType="1" noTextEdit="1"/>
              </p:cNvSpPr>
              <p:nvPr/>
            </p:nvSpPr>
            <p:spPr bwMode="auto">
              <a:xfrm>
                <a:off x="2057400" y="6125695"/>
                <a:ext cx="582613" cy="395288"/>
              </a:xfrm>
              <a:prstGeom prst="rect">
                <a:avLst/>
              </a:prstGeom>
              <a:blipFill>
                <a:blip r:embed="rId11"/>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34" name="Object 3"/>
              <p:cNvSpPr txBox="1"/>
              <p:nvPr/>
            </p:nvSpPr>
            <p:spPr bwMode="auto">
              <a:xfrm>
                <a:off x="3657600" y="6115330"/>
                <a:ext cx="3303588" cy="4191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Pr</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𝑑</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𝑑</m:t>
                      </m:r>
                      <m:r>
                        <a:rPr lang="en-US" i="1">
                          <a:solidFill>
                            <a:srgbClr val="000000"/>
                          </a:solidFill>
                          <a:latin typeface="Cambria Math" panose="02040503050406030204" pitchFamily="18" charset="0"/>
                        </a:rPr>
                        <m:t>=0,1,</m:t>
                      </m:r>
                    </m:oMath>
                  </m:oMathPara>
                </a14:m>
                <a:endParaRPr lang="en-US"/>
              </a:p>
            </p:txBody>
          </p:sp>
        </mc:Choice>
        <mc:Fallback xmlns="">
          <p:sp>
            <p:nvSpPr>
              <p:cNvPr id="9234" name="Object 3"/>
              <p:cNvSpPr txBox="1">
                <a:spLocks noRot="1" noChangeAspect="1" noMove="1" noResize="1" noEditPoints="1" noAdjustHandles="1" noChangeArrowheads="1" noChangeShapeType="1" noTextEdit="1"/>
              </p:cNvSpPr>
              <p:nvPr/>
            </p:nvSpPr>
            <p:spPr bwMode="auto">
              <a:xfrm>
                <a:off x="3657600" y="6115330"/>
                <a:ext cx="3303588" cy="419100"/>
              </a:xfrm>
              <a:prstGeom prst="rect">
                <a:avLst/>
              </a:prstGeom>
              <a:blipFill>
                <a:blip r:embed="rId12"/>
                <a:stretch>
                  <a:fillRect b="-1449"/>
                </a:stretch>
              </a:blipFill>
              <a:ln>
                <a:noFill/>
              </a:ln>
              <a:effectLst/>
            </p:spPr>
            <p:txBody>
              <a:bodyPr/>
              <a:lstStyle/>
              <a:p>
                <a:r>
                  <a:rPr lang="en-US">
                    <a:noFill/>
                  </a:rPr>
                  <a:t> </a:t>
                </a:r>
              </a:p>
            </p:txBody>
          </p:sp>
        </mc:Fallback>
      </mc:AlternateContent>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Rot="1" noChangeAspect="1" noMove="1" noResize="1" noEditPoints="1" noAdjustHandles="1" noChangeArrowheads="1" noChangeShapeType="1" noTextEdit="1"/>
          </p:cNvSpPr>
          <p:nvPr>
            <p:ph type="body" sz="half" idx="4294967295"/>
          </p:nvPr>
        </p:nvSpPr>
        <p:spPr>
          <a:xfrm>
            <a:off x="152400" y="152400"/>
            <a:ext cx="8610600" cy="6172200"/>
          </a:xfrm>
          <a:blipFill rotWithShape="1">
            <a:blip r:embed="rId3"/>
            <a:stretch>
              <a:fillRect l="-1062" b="-987"/>
            </a:stretch>
          </a:blipFill>
        </p:spPr>
        <p:txBody>
          <a:bodyPr/>
          <a:lstStyle/>
          <a:p>
            <a:pPr>
              <a:defRPr/>
            </a:pPr>
            <a:r>
              <a:rPr lang="en-US" dirty="0">
                <a:noFill/>
              </a:rPr>
              <a:t> </a:t>
            </a:r>
          </a:p>
        </p:txBody>
      </p:sp>
      <p:cxnSp>
        <p:nvCxnSpPr>
          <p:cNvPr id="10243" name="AutoShape 3"/>
          <p:cNvCxnSpPr>
            <a:cxnSpLocks noChangeShapeType="1"/>
            <a:stCxn id="28676" idx="3"/>
            <a:endCxn id="28676" idx="3"/>
          </p:cNvCxnSpPr>
          <p:nvPr/>
        </p:nvCxnSpPr>
        <p:spPr bwMode="auto">
          <a:xfrm>
            <a:off x="8763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0244"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0245"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0246"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0247"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0248" name="Slide Number Placeholder 18"/>
          <p:cNvSpPr txBox="1">
            <a:spLocks noGrp="1"/>
          </p:cNvSpPr>
          <p:nvPr/>
        </p:nvSpPr>
        <p:spPr bwMode="auto">
          <a:xfrm>
            <a:off x="2438400" y="5596969"/>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endParaRPr lang="en-US" altLang="zh-CN" sz="1400" dirty="0">
              <a:solidFill>
                <a:srgbClr val="898989"/>
              </a:solidFill>
            </a:endParaRPr>
          </a:p>
        </p:txBody>
      </p:sp>
      <mc:AlternateContent xmlns:mc="http://schemas.openxmlformats.org/markup-compatibility/2006" xmlns:a14="http://schemas.microsoft.com/office/drawing/2010/main">
        <mc:Choice Requires="a14">
          <p:sp>
            <p:nvSpPr>
              <p:cNvPr id="10249" name="Object 11"/>
              <p:cNvSpPr txBox="1"/>
              <p:nvPr/>
            </p:nvSpPr>
            <p:spPr bwMode="auto">
              <a:xfrm>
                <a:off x="1066800" y="457200"/>
                <a:ext cx="2022475" cy="8572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𝑂𝑅</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(1−</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num>
                        <m:den>
                          <m:r>
                            <a:rPr lang="en-US" i="1">
                              <a:solidFill>
                                <a:srgbClr val="000000"/>
                              </a:solidFill>
                              <a:latin typeface="Cambria Math" panose="02040503050406030204" pitchFamily="18" charset="0"/>
                            </a:rPr>
                            <m:t>(1−</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0</m:t>
                              </m:r>
                            </m:sub>
                          </m:sSub>
                        </m:den>
                      </m:f>
                    </m:oMath>
                  </m:oMathPara>
                </a14:m>
                <a:endParaRPr lang="en-US"/>
              </a:p>
            </p:txBody>
          </p:sp>
        </mc:Choice>
        <mc:Fallback xmlns="">
          <p:sp>
            <p:nvSpPr>
              <p:cNvPr id="10249" name="Object 11"/>
              <p:cNvSpPr txBox="1">
                <a:spLocks noRot="1" noChangeAspect="1" noMove="1" noResize="1" noEditPoints="1" noAdjustHandles="1" noChangeArrowheads="1" noChangeShapeType="1" noTextEdit="1"/>
              </p:cNvSpPr>
              <p:nvPr/>
            </p:nvSpPr>
            <p:spPr bwMode="auto">
              <a:xfrm>
                <a:off x="1066800" y="457200"/>
                <a:ext cx="2022475" cy="857250"/>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0" name="Object 12"/>
              <p:cNvSpPr txBox="1"/>
              <p:nvPr/>
            </p:nvSpPr>
            <p:spPr bwMode="auto">
              <a:xfrm>
                <a:off x="609600" y="1828800"/>
                <a:ext cx="496888" cy="4714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𝜅</m:t>
                          </m:r>
                        </m:e>
                        <m:sub>
                          <m:r>
                            <a:rPr lang="en-US" b="0" i="1" smtClean="0">
                              <a:solidFill>
                                <a:srgbClr val="000000"/>
                              </a:solidFill>
                              <a:latin typeface="Cambria Math" panose="02040503050406030204" pitchFamily="18" charset="0"/>
                            </a:rPr>
                            <m:t>𝑚</m:t>
                          </m:r>
                        </m:sub>
                      </m:sSub>
                    </m:oMath>
                  </m:oMathPara>
                </a14:m>
                <a:endParaRPr lang="en-US" dirty="0"/>
              </a:p>
            </p:txBody>
          </p:sp>
        </mc:Choice>
        <mc:Fallback xmlns="">
          <p:sp>
            <p:nvSpPr>
              <p:cNvPr id="10250" name="Object 12"/>
              <p:cNvSpPr txBox="1">
                <a:spLocks noRot="1" noChangeAspect="1" noMove="1" noResize="1" noEditPoints="1" noAdjustHandles="1" noChangeArrowheads="1" noChangeShapeType="1" noTextEdit="1"/>
              </p:cNvSpPr>
              <p:nvPr/>
            </p:nvSpPr>
            <p:spPr bwMode="auto">
              <a:xfrm>
                <a:off x="609600" y="1828800"/>
                <a:ext cx="496888" cy="471488"/>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1" name="Object 6"/>
              <p:cNvSpPr txBox="1"/>
              <p:nvPr/>
            </p:nvSpPr>
            <p:spPr bwMode="auto">
              <a:xfrm>
                <a:off x="546100" y="2667000"/>
                <a:ext cx="444500" cy="4968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𝜅</m:t>
                          </m:r>
                        </m:e>
                        <m:sub>
                          <m:r>
                            <a:rPr lang="en-US" b="0" i="1" smtClean="0">
                              <a:solidFill>
                                <a:srgbClr val="000000"/>
                              </a:solidFill>
                              <a:latin typeface="Cambria Math" panose="02040503050406030204" pitchFamily="18" charset="0"/>
                            </a:rPr>
                            <m:t>𝑣</m:t>
                          </m:r>
                        </m:sub>
                      </m:sSub>
                    </m:oMath>
                  </m:oMathPara>
                </a14:m>
                <a:endParaRPr lang="en-US" dirty="0"/>
              </a:p>
            </p:txBody>
          </p:sp>
        </mc:Choice>
        <mc:Fallback xmlns="">
          <p:sp>
            <p:nvSpPr>
              <p:cNvPr id="10251" name="Object 6"/>
              <p:cNvSpPr txBox="1">
                <a:spLocks noRot="1" noChangeAspect="1" noMove="1" noResize="1" noEditPoints="1" noAdjustHandles="1" noChangeArrowheads="1" noChangeShapeType="1" noTextEdit="1"/>
              </p:cNvSpPr>
              <p:nvPr/>
            </p:nvSpPr>
            <p:spPr bwMode="auto">
              <a:xfrm>
                <a:off x="546100" y="2667000"/>
                <a:ext cx="444500" cy="496888"/>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2" name="Object 14"/>
              <p:cNvSpPr txBox="1"/>
              <p:nvPr/>
            </p:nvSpPr>
            <p:spPr bwMode="auto">
              <a:xfrm>
                <a:off x="685800" y="3581400"/>
                <a:ext cx="366713" cy="4968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𝑍</m:t>
                          </m:r>
                        </m:sub>
                      </m:sSub>
                    </m:oMath>
                  </m:oMathPara>
                </a14:m>
                <a:endParaRPr lang="en-US"/>
              </a:p>
            </p:txBody>
          </p:sp>
        </mc:Choice>
        <mc:Fallback xmlns="">
          <p:sp>
            <p:nvSpPr>
              <p:cNvPr id="10252" name="Object 14"/>
              <p:cNvSpPr txBox="1">
                <a:spLocks noRot="1" noChangeAspect="1" noMove="1" noResize="1" noEditPoints="1" noAdjustHandles="1" noChangeArrowheads="1" noChangeShapeType="1" noTextEdit="1"/>
              </p:cNvSpPr>
              <p:nvPr/>
            </p:nvSpPr>
            <p:spPr bwMode="auto">
              <a:xfrm>
                <a:off x="685800" y="3581400"/>
                <a:ext cx="366713" cy="496888"/>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3" name="Object 15"/>
              <p:cNvSpPr txBox="1"/>
              <p:nvPr/>
            </p:nvSpPr>
            <p:spPr bwMode="auto">
              <a:xfrm>
                <a:off x="685800" y="4876800"/>
                <a:ext cx="392113" cy="4968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𝑋</m:t>
                          </m:r>
                        </m:sub>
                      </m:sSub>
                    </m:oMath>
                  </m:oMathPara>
                </a14:m>
                <a:endParaRPr lang="en-US"/>
              </a:p>
            </p:txBody>
          </p:sp>
        </mc:Choice>
        <mc:Fallback xmlns="">
          <p:sp>
            <p:nvSpPr>
              <p:cNvPr id="10253" name="Object 15"/>
              <p:cNvSpPr txBox="1">
                <a:spLocks noRot="1" noChangeAspect="1" noMove="1" noResize="1" noEditPoints="1" noAdjustHandles="1" noChangeArrowheads="1" noChangeShapeType="1" noTextEdit="1"/>
              </p:cNvSpPr>
              <p:nvPr/>
            </p:nvSpPr>
            <p:spPr bwMode="auto">
              <a:xfrm>
                <a:off x="685800" y="4876800"/>
                <a:ext cx="392113" cy="496888"/>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4" name="Object 16"/>
              <p:cNvSpPr txBox="1"/>
              <p:nvPr/>
            </p:nvSpPr>
            <p:spPr bwMode="auto">
              <a:xfrm>
                <a:off x="2982913" y="3797300"/>
                <a:ext cx="293687" cy="317500"/>
              </a:xfrm>
              <a:prstGeom prst="rect">
                <a:avLst/>
              </a:prstGeom>
              <a:noFill/>
              <a:ln>
                <a:noFill/>
              </a:ln>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𝑍</m:t>
                      </m:r>
                    </m:oMath>
                  </m:oMathPara>
                </a14:m>
                <a:endParaRPr lang="en-US"/>
              </a:p>
            </p:txBody>
          </p:sp>
        </mc:Choice>
        <mc:Fallback xmlns="">
          <p:sp>
            <p:nvSpPr>
              <p:cNvPr id="10254" name="Object 16"/>
              <p:cNvSpPr txBox="1">
                <a:spLocks noRot="1" noChangeAspect="1" noMove="1" noResize="1" noEditPoints="1" noAdjustHandles="1" noChangeArrowheads="1" noChangeShapeType="1" noTextEdit="1"/>
              </p:cNvSpPr>
              <p:nvPr/>
            </p:nvSpPr>
            <p:spPr bwMode="auto">
              <a:xfrm>
                <a:off x="2982913" y="3797300"/>
                <a:ext cx="293687" cy="317500"/>
              </a:xfrm>
              <a:prstGeom prst="rect">
                <a:avLst/>
              </a:prstGeom>
              <a:blipFill>
                <a:blip r:embed="rId9"/>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5" name="Object 1"/>
              <p:cNvSpPr txBox="1"/>
              <p:nvPr/>
            </p:nvSpPr>
            <p:spPr bwMode="auto">
              <a:xfrm>
                <a:off x="4876800" y="5410200"/>
                <a:ext cx="339725" cy="317500"/>
              </a:xfrm>
              <a:prstGeom prst="rect">
                <a:avLst/>
              </a:prstGeom>
              <a:noFill/>
              <a:ln>
                <a:noFill/>
              </a:ln>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𝐷</m:t>
                      </m:r>
                    </m:oMath>
                  </m:oMathPara>
                </a14:m>
                <a:endParaRPr lang="en-US"/>
              </a:p>
            </p:txBody>
          </p:sp>
        </mc:Choice>
        <mc:Fallback xmlns="">
          <p:sp>
            <p:nvSpPr>
              <p:cNvPr id="10255" name="Object 1"/>
              <p:cNvSpPr txBox="1">
                <a:spLocks noRot="1" noChangeAspect="1" noMove="1" noResize="1" noEditPoints="1" noAdjustHandles="1" noChangeArrowheads="1" noChangeShapeType="1" noTextEdit="1"/>
              </p:cNvSpPr>
              <p:nvPr/>
            </p:nvSpPr>
            <p:spPr bwMode="auto">
              <a:xfrm>
                <a:off x="4876800" y="5410200"/>
                <a:ext cx="339725" cy="317500"/>
              </a:xfrm>
              <a:prstGeom prst="rect">
                <a:avLst/>
              </a:prstGeom>
              <a:blipFill>
                <a:blip r:embed="rId10"/>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6" name="Object 2"/>
              <p:cNvSpPr txBox="1"/>
              <p:nvPr/>
            </p:nvSpPr>
            <p:spPr bwMode="auto">
              <a:xfrm>
                <a:off x="3065462" y="5092700"/>
                <a:ext cx="363538" cy="317500"/>
              </a:xfrm>
              <a:prstGeom prst="rect">
                <a:avLst/>
              </a:prstGeom>
              <a:noFill/>
              <a:ln>
                <a:noFill/>
              </a:ln>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𝑋</m:t>
                      </m:r>
                    </m:oMath>
                  </m:oMathPara>
                </a14:m>
                <a:endParaRPr lang="en-US"/>
              </a:p>
            </p:txBody>
          </p:sp>
        </mc:Choice>
        <mc:Fallback xmlns="">
          <p:sp>
            <p:nvSpPr>
              <p:cNvPr id="10256" name="Object 2"/>
              <p:cNvSpPr txBox="1">
                <a:spLocks noRot="1" noChangeAspect="1" noMove="1" noResize="1" noEditPoints="1" noAdjustHandles="1" noChangeArrowheads="1" noChangeShapeType="1" noTextEdit="1"/>
              </p:cNvSpPr>
              <p:nvPr/>
            </p:nvSpPr>
            <p:spPr bwMode="auto">
              <a:xfrm>
                <a:off x="3065462" y="5092700"/>
                <a:ext cx="363538" cy="317500"/>
              </a:xfrm>
              <a:prstGeom prst="rect">
                <a:avLst/>
              </a:prstGeom>
              <a:blipFill>
                <a:blip r:embed="rId11"/>
                <a:stretch>
                  <a:fillRect/>
                </a:stretch>
              </a:blipFill>
              <a:ln>
                <a:noFill/>
              </a:ln>
            </p:spPr>
            <p:txBody>
              <a:bodyPr/>
              <a:lstStyle/>
              <a:p>
                <a:r>
                  <a:rPr lang="en-US">
                    <a:noFill/>
                  </a:rPr>
                  <a:t> </a:t>
                </a:r>
              </a:p>
            </p:txBody>
          </p:sp>
        </mc:Fallback>
      </mc:AlternateContent>
      <p:sp>
        <p:nvSpPr>
          <p:cNvPr id="3" name="TextBox 2"/>
          <p:cNvSpPr txBox="1"/>
          <p:nvPr/>
        </p:nvSpPr>
        <p:spPr>
          <a:xfrm>
            <a:off x="3962400" y="5029200"/>
            <a:ext cx="3775393" cy="369332"/>
          </a:xfrm>
          <a:prstGeom prst="rect">
            <a:avLst/>
          </a:prstGeom>
          <a:solidFill>
            <a:schemeClr val="bg1"/>
          </a:solidFill>
        </p:spPr>
        <p:txBody>
          <a:bodyPr wrap="none" rtlCol="0">
            <a:spAutoFit/>
          </a:bodyPr>
          <a:lstStyle/>
          <a:p>
            <a:r>
              <a:rPr lang="en-US" dirty="0"/>
              <a:t>                                                        </a:t>
            </a:r>
          </a:p>
        </p:txBody>
      </p:sp>
      <p:sp>
        <p:nvSpPr>
          <p:cNvPr id="4" name="TextBox 3"/>
          <p:cNvSpPr txBox="1"/>
          <p:nvPr/>
        </p:nvSpPr>
        <p:spPr>
          <a:xfrm>
            <a:off x="533400" y="5410200"/>
            <a:ext cx="5121915" cy="369332"/>
          </a:xfrm>
          <a:prstGeom prst="rect">
            <a:avLst/>
          </a:prstGeom>
          <a:solidFill>
            <a:schemeClr val="bg1"/>
          </a:solidFill>
        </p:spPr>
        <p:txBody>
          <a:bodyPr wrap="none" rtlCol="0">
            <a:spAutoFit/>
          </a:bodyPr>
          <a:lstStyle/>
          <a:p>
            <a:r>
              <a:rPr lang="en-US" dirty="0"/>
              <a:t>                                                                             </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152400" y="152400"/>
            <a:ext cx="8610600" cy="6172200"/>
          </a:xfrm>
        </p:spPr>
        <p:txBody>
          <a:bodyPr lIns="92075" tIns="46038" rIns="92075" bIns="46038"/>
          <a:lstStyle/>
          <a:p>
            <a:pPr>
              <a:buNone/>
              <a:defRPr/>
            </a:pPr>
            <a:r>
              <a:rPr lang="en-US" sz="2200" dirty="0">
                <a:latin typeface="Times New Roman" pitchFamily="18" charset="0"/>
                <a:cs typeface="Times New Roman" pitchFamily="18" charset="0"/>
              </a:rPr>
              <a:t>                               </a:t>
            </a:r>
            <a:r>
              <a:rPr lang="en-US" sz="2800" b="1" dirty="0">
                <a:latin typeface="Times New Roman" pitchFamily="18" charset="0"/>
                <a:cs typeface="Times New Roman" pitchFamily="18" charset="0"/>
              </a:rPr>
              <a:t>Greenland S. (1988)</a:t>
            </a:r>
          </a:p>
          <a:p>
            <a:pPr>
              <a:buFont typeface="Arial" charset="0"/>
              <a:buNone/>
              <a:defRPr/>
            </a:pPr>
            <a:r>
              <a:rPr lang="en-US" sz="2200" dirty="0">
                <a:latin typeface="Times New Roman" pitchFamily="18" charset="0"/>
                <a:cs typeface="Times New Roman" pitchFamily="18" charset="0"/>
              </a:rPr>
              <a:t>Recall that           is the odds ratio estimated in the validation study </a:t>
            </a:r>
          </a:p>
          <a:p>
            <a:pPr>
              <a:buFont typeface="Arial" charset="0"/>
              <a:buNone/>
              <a:defRPr/>
            </a:pPr>
            <a:r>
              <a:rPr lang="en-US" sz="2200" dirty="0">
                <a:latin typeface="Times New Roman" pitchFamily="18" charset="0"/>
                <a:cs typeface="Times New Roman" pitchFamily="18" charset="0"/>
              </a:rPr>
              <a:t>without bias using data on                                                  , and            is the </a:t>
            </a:r>
          </a:p>
          <a:p>
            <a:pPr>
              <a:buFont typeface="Arial" charset="0"/>
              <a:buNone/>
              <a:defRPr/>
            </a:pPr>
            <a:r>
              <a:rPr lang="en-US" sz="2200" dirty="0">
                <a:latin typeface="Times New Roman" pitchFamily="18" charset="0"/>
                <a:cs typeface="Times New Roman" pitchFamily="18" charset="0"/>
              </a:rPr>
              <a:t>odds ratio </a:t>
            </a:r>
            <a:r>
              <a:rPr lang="en-US" sz="2200" b="1" dirty="0">
                <a:latin typeface="Times New Roman" pitchFamily="18" charset="0"/>
                <a:cs typeface="Times New Roman" pitchFamily="18" charset="0"/>
              </a:rPr>
              <a:t>from the matrix method</a:t>
            </a:r>
            <a:r>
              <a:rPr lang="en-US" sz="2200" dirty="0">
                <a:latin typeface="Times New Roman" pitchFamily="18" charset="0"/>
                <a:cs typeface="Times New Roman" pitchFamily="18" charset="0"/>
              </a:rPr>
              <a:t>. Then, in a </a:t>
            </a:r>
            <a:r>
              <a:rPr lang="en-US" sz="2200" b="1" dirty="0">
                <a:latin typeface="Times New Roman" pitchFamily="18" charset="0"/>
                <a:cs typeface="Times New Roman" pitchFamily="18" charset="0"/>
              </a:rPr>
              <a:t>MS/IVS</a:t>
            </a:r>
            <a:r>
              <a:rPr lang="en-US" sz="2200" dirty="0">
                <a:latin typeface="Times New Roman" pitchFamily="18" charset="0"/>
                <a:cs typeface="Times New Roman" pitchFamily="18" charset="0"/>
              </a:rPr>
              <a:t>,  the solution to the problem:</a:t>
            </a:r>
          </a:p>
          <a:p>
            <a:pPr>
              <a:buFont typeface="Arial" charset="0"/>
              <a:buNone/>
              <a:defRPr/>
            </a:pPr>
            <a:r>
              <a:rPr lang="en-US" sz="2200" dirty="0">
                <a:latin typeface="Times New Roman" pitchFamily="18" charset="0"/>
                <a:cs typeface="Times New Roman" pitchFamily="18" charset="0"/>
              </a:rPr>
              <a:t> </a:t>
            </a:r>
          </a:p>
          <a:p>
            <a:pPr>
              <a:buFont typeface="Arial" charset="0"/>
              <a:buNone/>
              <a:defRPr/>
            </a:pPr>
            <a:endParaRPr lang="en-US" sz="1000" dirty="0">
              <a:latin typeface="Times New Roman" pitchFamily="18" charset="0"/>
              <a:cs typeface="Times New Roman" pitchFamily="18" charset="0"/>
            </a:endParaRPr>
          </a:p>
          <a:p>
            <a:pPr>
              <a:buFont typeface="Arial" charset="0"/>
              <a:buNone/>
              <a:defRPr/>
            </a:pPr>
            <a:r>
              <a:rPr lang="en-US" sz="2200" dirty="0">
                <a:latin typeface="Times New Roman" pitchFamily="18" charset="0"/>
                <a:cs typeface="Times New Roman" pitchFamily="18" charset="0"/>
              </a:rPr>
              <a:t>	  </a:t>
            </a:r>
          </a:p>
          <a:p>
            <a:pPr>
              <a:buFont typeface="Arial" charset="0"/>
              <a:buNone/>
              <a:defRPr/>
            </a:pPr>
            <a:r>
              <a:rPr lang="en-US" sz="2200" dirty="0">
                <a:latin typeface="Times New Roman" pitchFamily="18" charset="0"/>
                <a:cs typeface="Times New Roman" pitchFamily="18" charset="0"/>
              </a:rPr>
              <a:t> subject to the constraint that                                                       </a:t>
            </a:r>
          </a:p>
          <a:p>
            <a:pPr>
              <a:buFont typeface="Arial" charset="0"/>
              <a:buNone/>
              <a:defRPr/>
            </a:pPr>
            <a:endParaRPr lang="en-US" sz="1200" dirty="0">
              <a:latin typeface="Times New Roman" pitchFamily="18" charset="0"/>
              <a:cs typeface="Times New Roman" pitchFamily="18" charset="0"/>
            </a:endParaRPr>
          </a:p>
          <a:p>
            <a:pPr>
              <a:buFont typeface="Arial" charset="0"/>
              <a:buNone/>
              <a:defRPr/>
            </a:pPr>
            <a:r>
              <a:rPr lang="en-US" sz="2200" dirty="0">
                <a:latin typeface="Times New Roman" pitchFamily="18" charset="0"/>
                <a:cs typeface="Times New Roman" pitchFamily="18" charset="0"/>
              </a:rPr>
              <a:t>                                                if  primary measurement     always necessary</a:t>
            </a:r>
          </a:p>
          <a:p>
            <a:pPr>
              <a:buFont typeface="Arial" charset="0"/>
              <a:buNone/>
              <a:defRPr/>
            </a:pPr>
            <a:r>
              <a:rPr lang="en-US" sz="2200" dirty="0">
                <a:latin typeface="Times New Roman" pitchFamily="18" charset="0"/>
                <a:cs typeface="Times New Roman" pitchFamily="18" charset="0"/>
              </a:rPr>
              <a:t>Or                                                                  if       can be eliminated in fully               						validated design, </a:t>
            </a:r>
          </a:p>
          <a:p>
            <a:pPr>
              <a:buFont typeface="Arial" charset="0"/>
              <a:buNone/>
              <a:defRPr/>
            </a:pPr>
            <a:r>
              <a:rPr lang="en-US" sz="2200" dirty="0">
                <a:latin typeface="Times New Roman" pitchFamily="18" charset="0"/>
                <a:cs typeface="Times New Roman" pitchFamily="18" charset="0"/>
              </a:rPr>
              <a:t>                                                        </a:t>
            </a:r>
          </a:p>
          <a:p>
            <a:pPr>
              <a:buFont typeface="Arial" charset="0"/>
              <a:buNone/>
              <a:defRPr/>
            </a:pPr>
            <a:r>
              <a:rPr lang="en-US" sz="2200" dirty="0">
                <a:latin typeface="Times New Roman" pitchFamily="18" charset="0"/>
                <a:cs typeface="Times New Roman" pitchFamily="18" charset="0"/>
              </a:rPr>
              <a:t>where                    and                             is used to find the value of </a:t>
            </a:r>
          </a:p>
          <a:p>
            <a:pPr>
              <a:buFont typeface="Arial" charset="0"/>
              <a:buNone/>
              <a:defRPr/>
            </a:pPr>
            <a:r>
              <a:rPr lang="en-US" sz="2200" dirty="0">
                <a:latin typeface="Times New Roman" pitchFamily="18" charset="0"/>
                <a:cs typeface="Times New Roman" pitchFamily="18" charset="0"/>
              </a:rPr>
              <a:t> which gives the study design which </a:t>
            </a:r>
            <a:r>
              <a:rPr lang="en-US" sz="2200" b="1" dirty="0">
                <a:latin typeface="Times New Roman" pitchFamily="18" charset="0"/>
                <a:cs typeface="Times New Roman" pitchFamily="18" charset="0"/>
              </a:rPr>
              <a:t>provides the minimum variance </a:t>
            </a:r>
          </a:p>
          <a:p>
            <a:pPr>
              <a:buFont typeface="Arial" charset="0"/>
              <a:buNone/>
              <a:defRPr/>
            </a:pPr>
            <a:r>
              <a:rPr lang="en-US" sz="2200" b="1" dirty="0">
                <a:latin typeface="Times New Roman" pitchFamily="18" charset="0"/>
                <a:cs typeface="Times New Roman" pitchFamily="18" charset="0"/>
              </a:rPr>
              <a:t> estimate of the odds ratio</a:t>
            </a:r>
            <a:r>
              <a:rPr lang="en-US" sz="2200" dirty="0">
                <a:latin typeface="Times New Roman" pitchFamily="18" charset="0"/>
                <a:cs typeface="Times New Roman" pitchFamily="18" charset="0"/>
              </a:rPr>
              <a:t>. </a:t>
            </a:r>
          </a:p>
          <a:p>
            <a:pPr>
              <a:buFont typeface="Arial" charset="0"/>
              <a:buNone/>
              <a:defRPr/>
            </a:pPr>
            <a:r>
              <a:rPr lang="en-US" sz="2200" dirty="0">
                <a:latin typeface="Times New Roman" pitchFamily="18" charset="0"/>
                <a:cs typeface="Times New Roman" pitchFamily="18" charset="0"/>
              </a:rPr>
              <a:t> </a:t>
            </a:r>
            <a:r>
              <a:rPr lang="en-US" sz="2400" dirty="0"/>
              <a:t> </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p:cxnSp>
        <p:nvCxnSpPr>
          <p:cNvPr id="11267" name="AutoShape 3"/>
          <p:cNvCxnSpPr>
            <a:cxnSpLocks noChangeShapeType="1"/>
            <a:stCxn id="28676" idx="3"/>
            <a:endCxn id="28676" idx="3"/>
          </p:cNvCxnSpPr>
          <p:nvPr/>
        </p:nvCxnSpPr>
        <p:spPr bwMode="auto">
          <a:xfrm>
            <a:off x="8763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1268"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solidFill>
                <a:prstClr val="black"/>
              </a:solidFill>
              <a:latin typeface="Arial" charset="0"/>
            </a:endParaRPr>
          </a:p>
        </p:txBody>
      </p:sp>
      <p:sp>
        <p:nvSpPr>
          <p:cNvPr id="11269"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dirty="0"/>
          </a:p>
        </p:txBody>
      </p:sp>
      <p:sp>
        <p:nvSpPr>
          <p:cNvPr id="11270"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dirty="0"/>
          </a:p>
        </p:txBody>
      </p:sp>
      <p:sp>
        <p:nvSpPr>
          <p:cNvPr id="11271"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solidFill>
                <a:prstClr val="black"/>
              </a:solidFill>
              <a:latin typeface="Arial" charset="0"/>
            </a:endParaRPr>
          </a:p>
        </p:txBody>
      </p:sp>
      <p:sp>
        <p:nvSpPr>
          <p:cNvPr id="11272"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74EB778A-333F-47BA-8209-3CE2F9E92BFC}" type="slidenum">
              <a:rPr lang="zh-CN" altLang="en-US" sz="1200">
                <a:solidFill>
                  <a:srgbClr val="898989"/>
                </a:solidFill>
              </a:rPr>
              <a:pPr algn="r" eaLnBrk="1" hangingPunct="1">
                <a:spcBef>
                  <a:spcPct val="0"/>
                </a:spcBef>
                <a:buFontTx/>
                <a:buNone/>
              </a:pPr>
              <a:t>9</a:t>
            </a:fld>
            <a:endParaRPr lang="en-US" altLang="zh-CN" sz="1200">
              <a:solidFill>
                <a:srgbClr val="898989"/>
              </a:solidFill>
            </a:endParaRPr>
          </a:p>
        </p:txBody>
      </p:sp>
      <mc:AlternateContent xmlns:mc="http://schemas.openxmlformats.org/markup-compatibility/2006" xmlns:a14="http://schemas.microsoft.com/office/drawing/2010/main">
        <mc:Choice Requires="a14">
          <p:sp>
            <p:nvSpPr>
              <p:cNvPr id="11273" name="Object 4"/>
              <p:cNvSpPr txBox="1"/>
              <p:nvPr/>
            </p:nvSpPr>
            <p:spPr bwMode="auto">
              <a:xfrm>
                <a:off x="1524000" y="762000"/>
                <a:ext cx="533400" cy="3810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𝑂𝑅</m:t>
                              </m:r>
                            </m:e>
                          </m:acc>
                        </m:e>
                        <m:sub>
                          <m:r>
                            <a:rPr lang="en-US" i="1">
                              <a:solidFill>
                                <a:srgbClr val="000000"/>
                              </a:solidFill>
                              <a:latin typeface="Cambria Math" panose="02040503050406030204" pitchFamily="18" charset="0"/>
                            </a:rPr>
                            <m:t>𝑉</m:t>
                          </m:r>
                        </m:sub>
                      </m:sSub>
                    </m:oMath>
                  </m:oMathPara>
                </a14:m>
                <a:endParaRPr lang="en-US" dirty="0"/>
              </a:p>
            </p:txBody>
          </p:sp>
        </mc:Choice>
        <mc:Fallback xmlns="">
          <p:sp>
            <p:nvSpPr>
              <p:cNvPr id="11273" name="Object 4"/>
              <p:cNvSpPr txBox="1">
                <a:spLocks noRot="1" noChangeAspect="1" noMove="1" noResize="1" noEditPoints="1" noAdjustHandles="1" noChangeArrowheads="1" noChangeShapeType="1" noTextEdit="1"/>
              </p:cNvSpPr>
              <p:nvPr/>
            </p:nvSpPr>
            <p:spPr bwMode="auto">
              <a:xfrm>
                <a:off x="1524000" y="762000"/>
                <a:ext cx="533400" cy="381000"/>
              </a:xfrm>
              <a:prstGeom prst="rect">
                <a:avLst/>
              </a:prstGeom>
              <a:blipFill>
                <a:blip r:embed="rId3"/>
                <a:stretch>
                  <a:fillRect r="-340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74" name="Object 14"/>
              <p:cNvSpPr txBox="1"/>
              <p:nvPr/>
            </p:nvSpPr>
            <p:spPr bwMode="auto">
              <a:xfrm>
                <a:off x="3154363" y="1143000"/>
                <a:ext cx="3398837" cy="3937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smtClean="0">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𝑖</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𝑀</m:t>
                          </m:r>
                        </m:sub>
                      </m:sSub>
                      <m:r>
                        <a:rPr lang="en-US" i="1">
                          <a:solidFill>
                            <a:srgbClr val="000000"/>
                          </a:solidFill>
                          <a:latin typeface="Cambria Math" panose="02040503050406030204" pitchFamily="18" charset="0"/>
                        </a:rPr>
                        <m:t>+1,...,</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𝑚</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b="0" i="1" smtClean="0">
                              <a:solidFill>
                                <a:srgbClr val="000000"/>
                              </a:solidFill>
                              <a:latin typeface="Cambria Math" panose="02040503050406030204" pitchFamily="18" charset="0"/>
                            </a:rPr>
                            <m:t>𝑣</m:t>
                          </m:r>
                        </m:sub>
                      </m:sSub>
                    </m:oMath>
                  </m:oMathPara>
                </a14:m>
                <a:endParaRPr lang="en-US" dirty="0"/>
              </a:p>
            </p:txBody>
          </p:sp>
        </mc:Choice>
        <mc:Fallback xmlns="">
          <p:sp>
            <p:nvSpPr>
              <p:cNvPr id="11274" name="Object 14"/>
              <p:cNvSpPr txBox="1">
                <a:spLocks noRot="1" noChangeAspect="1" noMove="1" noResize="1" noEditPoints="1" noAdjustHandles="1" noChangeArrowheads="1" noChangeShapeType="1" noTextEdit="1"/>
              </p:cNvSpPr>
              <p:nvPr/>
            </p:nvSpPr>
            <p:spPr bwMode="auto">
              <a:xfrm>
                <a:off x="3154363" y="1143000"/>
                <a:ext cx="3398837" cy="393700"/>
              </a:xfrm>
              <a:prstGeom prst="rect">
                <a:avLst/>
              </a:prstGeom>
              <a:blipFill>
                <a:blip r:embed="rId4"/>
                <a:stretch>
                  <a:fillRect l="-538" b="-781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75" name="Object 15"/>
              <p:cNvSpPr txBox="1"/>
              <p:nvPr/>
            </p:nvSpPr>
            <p:spPr bwMode="auto">
              <a:xfrm>
                <a:off x="7315200" y="1143000"/>
                <a:ext cx="609600" cy="3937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𝑂𝑅</m:t>
                              </m:r>
                            </m:e>
                          </m:acc>
                        </m:e>
                        <m:sub>
                          <m:r>
                            <a:rPr lang="en-US" i="1">
                              <a:solidFill>
                                <a:srgbClr val="000000"/>
                              </a:solidFill>
                              <a:latin typeface="Cambria Math" panose="02040503050406030204" pitchFamily="18" charset="0"/>
                            </a:rPr>
                            <m:t>𝑀</m:t>
                          </m:r>
                        </m:sub>
                      </m:sSub>
                    </m:oMath>
                  </m:oMathPara>
                </a14:m>
                <a:endParaRPr lang="en-US" dirty="0"/>
              </a:p>
            </p:txBody>
          </p:sp>
        </mc:Choice>
        <mc:Fallback xmlns="">
          <p:sp>
            <p:nvSpPr>
              <p:cNvPr id="11275" name="Object 15"/>
              <p:cNvSpPr txBox="1">
                <a:spLocks noRot="1" noChangeAspect="1" noMove="1" noResize="1" noEditPoints="1" noAdjustHandles="1" noChangeArrowheads="1" noChangeShapeType="1" noTextEdit="1"/>
              </p:cNvSpPr>
              <p:nvPr/>
            </p:nvSpPr>
            <p:spPr bwMode="auto">
              <a:xfrm>
                <a:off x="7315200" y="1143000"/>
                <a:ext cx="609600" cy="393700"/>
              </a:xfrm>
              <a:prstGeom prst="rect">
                <a:avLst/>
              </a:prstGeom>
              <a:blipFill>
                <a:blip r:embed="rId5"/>
                <a:stretch>
                  <a:fillRect r="-200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76" name="Object 16"/>
              <p:cNvSpPr txBox="1"/>
              <p:nvPr/>
            </p:nvSpPr>
            <p:spPr bwMode="auto">
              <a:xfrm>
                <a:off x="220209" y="2460171"/>
                <a:ext cx="8429625" cy="6096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limLow>
                        <m:limLowPr>
                          <m:ctrlPr>
                            <a:rPr lang="en-US" i="1" smtClean="0">
                              <a:solidFill>
                                <a:srgbClr val="000000"/>
                              </a:solidFill>
                              <a:latin typeface="Cambria Math" panose="02040503050406030204" pitchFamily="18" charset="0"/>
                            </a:rPr>
                          </m:ctrlPr>
                        </m:limLowPr>
                        <m:e>
                          <m:r>
                            <a:rPr lang="en-US" i="1">
                              <a:solidFill>
                                <a:srgbClr val="000000"/>
                              </a:solidFill>
                              <a:latin typeface="Cambria Math" panose="02040503050406030204" pitchFamily="18" charset="0"/>
                            </a:rPr>
                            <m:t>𝑀𝑖𝑛</m:t>
                          </m:r>
                        </m:e>
                        <m:lim>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lim>
                      </m:limLow>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𝑉𝑎𝑟</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𝑂𝑅</m:t>
                              </m:r>
                            </m:e>
                          </m:acc>
                        </m:e>
                        <m:sub>
                          <m:r>
                            <a:rPr lang="en-US" i="1" smtClean="0">
                              <a:solidFill>
                                <a:srgbClr val="000000"/>
                              </a:solidFill>
                              <a:latin typeface="Cambria Math" panose="02040503050406030204" pitchFamily="18" charset="0"/>
                            </a:rPr>
                            <m:t>𝑀</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𝜃</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𝜃</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𝜑</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𝜑</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𝜅</m:t>
                          </m:r>
                        </m:e>
                        <m:sub>
                          <m:r>
                            <a:rPr lang="en-US" b="0" i="1" smtClean="0">
                              <a:solidFill>
                                <a:srgbClr val="000000"/>
                              </a:solidFill>
                              <a:latin typeface="Cambria Math" panose="02040503050406030204" pitchFamily="18" charset="0"/>
                            </a:rPr>
                            <m:t>𝑚</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𝜅</m:t>
                          </m:r>
                        </m:e>
                        <m:sub>
                          <m:r>
                            <a:rPr lang="en-US" b="0" i="1" smtClean="0">
                              <a:solidFill>
                                <a:srgbClr val="000000"/>
                              </a:solidFill>
                              <a:latin typeface="Cambria Math" panose="02040503050406030204" pitchFamily="18" charset="0"/>
                            </a:rPr>
                            <m:t>𝑣</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𝑉𝑎𝑟</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𝑂𝑅</m:t>
                              </m:r>
                            </m:e>
                          </m:acc>
                        </m:e>
                        <m:sub>
                          <m:r>
                            <a:rPr lang="en-US" i="1">
                              <a:solidFill>
                                <a:srgbClr val="000000"/>
                              </a:solidFill>
                              <a:latin typeface="Cambria Math" panose="02040503050406030204" pitchFamily="18" charset="0"/>
                            </a:rPr>
                            <m:t>𝑉</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𝜅</m:t>
                          </m:r>
                        </m:e>
                        <m:sub>
                          <m:r>
                            <a:rPr lang="en-US" b="0" i="1" smtClean="0">
                              <a:solidFill>
                                <a:srgbClr val="000000"/>
                              </a:solidFill>
                              <a:latin typeface="Cambria Math" panose="02040503050406030204" pitchFamily="18" charset="0"/>
                            </a:rPr>
                            <m:t>𝑣</m:t>
                          </m:r>
                        </m:sub>
                      </m:sSub>
                      <m:r>
                        <a:rPr lang="en-US" i="1">
                          <a:solidFill>
                            <a:srgbClr val="000000"/>
                          </a:solidFill>
                          <a:latin typeface="Cambria Math" panose="02040503050406030204" pitchFamily="18" charset="0"/>
                        </a:rPr>
                        <m:t>)]}</m:t>
                      </m:r>
                    </m:oMath>
                  </m:oMathPara>
                </a14:m>
                <a:endParaRPr lang="en-US" dirty="0"/>
              </a:p>
            </p:txBody>
          </p:sp>
        </mc:Choice>
        <mc:Fallback xmlns="">
          <p:sp>
            <p:nvSpPr>
              <p:cNvPr id="11276" name="Object 16"/>
              <p:cNvSpPr txBox="1">
                <a:spLocks noRot="1" noChangeAspect="1" noMove="1" noResize="1" noEditPoints="1" noAdjustHandles="1" noChangeArrowheads="1" noChangeShapeType="1" noTextEdit="1"/>
              </p:cNvSpPr>
              <p:nvPr/>
            </p:nvSpPr>
            <p:spPr bwMode="auto">
              <a:xfrm>
                <a:off x="220209" y="2460171"/>
                <a:ext cx="8429625" cy="609600"/>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77" name="Object 17"/>
              <p:cNvSpPr txBox="1"/>
              <p:nvPr/>
            </p:nvSpPr>
            <p:spPr bwMode="auto">
              <a:xfrm>
                <a:off x="609600" y="4191000"/>
                <a:ext cx="4360863" cy="6159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𝐶𝑜𝑠𝑡</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𝑍</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𝑋</m:t>
                              </m:r>
                            </m:sub>
                          </m:sSub>
                          <m:r>
                            <a:rPr lang="en-US" i="1">
                              <a:solidFill>
                                <a:srgbClr val="000000"/>
                              </a:solidFill>
                              <a:latin typeface="Cambria Math" panose="02040503050406030204" pitchFamily="18" charset="0"/>
                            </a:rPr>
                            <m:t>𝜆</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𝐼</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&lt;1)</m:t>
                              </m:r>
                            </m:sup>
                          </m:sSup>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𝑋</m:t>
                                  </m:r>
                                </m:sub>
                              </m:sSub>
                            </m:e>
                            <m:sup>
                              <m:r>
                                <a:rPr lang="en-US" i="1">
                                  <a:solidFill>
                                    <a:srgbClr val="000000"/>
                                  </a:solidFill>
                                  <a:latin typeface="Cambria Math" panose="02040503050406030204" pitchFamily="18" charset="0"/>
                                </a:rPr>
                                <m:t>𝐼</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=1)</m:t>
                              </m:r>
                            </m:sup>
                          </m:sSup>
                        </m:e>
                      </m:d>
                    </m:oMath>
                  </m:oMathPara>
                </a14:m>
                <a:endParaRPr lang="en-US" dirty="0"/>
              </a:p>
            </p:txBody>
          </p:sp>
        </mc:Choice>
        <mc:Fallback xmlns="">
          <p:sp>
            <p:nvSpPr>
              <p:cNvPr id="11277" name="Object 17"/>
              <p:cNvSpPr txBox="1">
                <a:spLocks noRot="1" noChangeAspect="1" noMove="1" noResize="1" noEditPoints="1" noAdjustHandles="1" noChangeArrowheads="1" noChangeShapeType="1" noTextEdit="1"/>
              </p:cNvSpPr>
              <p:nvPr/>
            </p:nvSpPr>
            <p:spPr bwMode="auto">
              <a:xfrm>
                <a:off x="609600" y="4191000"/>
                <a:ext cx="4360863" cy="615950"/>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78" name="Object 18"/>
              <p:cNvSpPr txBox="1"/>
              <p:nvPr/>
            </p:nvSpPr>
            <p:spPr bwMode="auto">
              <a:xfrm>
                <a:off x="990600" y="5410200"/>
                <a:ext cx="1155700" cy="4159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∈(0,1]</m:t>
                      </m:r>
                    </m:oMath>
                  </m:oMathPara>
                </a14:m>
                <a:endParaRPr lang="en-US" dirty="0"/>
              </a:p>
            </p:txBody>
          </p:sp>
        </mc:Choice>
        <mc:Fallback xmlns="">
          <p:sp>
            <p:nvSpPr>
              <p:cNvPr id="11278" name="Object 18"/>
              <p:cNvSpPr txBox="1">
                <a:spLocks noRot="1" noChangeAspect="1" noMove="1" noResize="1" noEditPoints="1" noAdjustHandles="1" noChangeArrowheads="1" noChangeShapeType="1" noTextEdit="1"/>
              </p:cNvSpPr>
              <p:nvPr/>
            </p:nvSpPr>
            <p:spPr bwMode="auto">
              <a:xfrm>
                <a:off x="990600" y="5410200"/>
                <a:ext cx="1155700" cy="415925"/>
              </a:xfrm>
              <a:prstGeom prst="rect">
                <a:avLst/>
              </a:prstGeom>
              <a:blipFill>
                <a:blip r:embed="rId8"/>
                <a:stretch>
                  <a:fillRect b="-294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79" name="Object 19"/>
              <p:cNvSpPr txBox="1"/>
              <p:nvPr/>
            </p:nvSpPr>
            <p:spPr bwMode="auto">
              <a:xfrm>
                <a:off x="2819400" y="5334000"/>
                <a:ext cx="1879600" cy="4206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𝑚</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𝑣</m:t>
                          </m:r>
                        </m:sub>
                      </m:sSub>
                      <m:r>
                        <a:rPr lang="en-US" i="1">
                          <a:solidFill>
                            <a:srgbClr val="000000"/>
                          </a:solidFill>
                          <a:latin typeface="Cambria Math" panose="02040503050406030204" pitchFamily="18" charset="0"/>
                        </a:rPr>
                        <m:t>&gt;1</m:t>
                      </m:r>
                    </m:oMath>
                  </m:oMathPara>
                </a14:m>
                <a:endParaRPr lang="en-US" dirty="0"/>
              </a:p>
            </p:txBody>
          </p:sp>
        </mc:Choice>
        <mc:Fallback xmlns="">
          <p:sp>
            <p:nvSpPr>
              <p:cNvPr id="11279" name="Object 19"/>
              <p:cNvSpPr txBox="1">
                <a:spLocks noRot="1" noChangeAspect="1" noMove="1" noResize="1" noEditPoints="1" noAdjustHandles="1" noChangeArrowheads="1" noChangeShapeType="1" noTextEdit="1"/>
              </p:cNvSpPr>
              <p:nvPr/>
            </p:nvSpPr>
            <p:spPr bwMode="auto">
              <a:xfrm>
                <a:off x="2819400" y="5334000"/>
                <a:ext cx="1879600" cy="420688"/>
              </a:xfrm>
              <a:prstGeom prst="rect">
                <a:avLst/>
              </a:prstGeom>
              <a:blipFill>
                <a:blip r:embed="rId9"/>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80" name="Object 20"/>
              <p:cNvSpPr txBox="1"/>
              <p:nvPr/>
            </p:nvSpPr>
            <p:spPr bwMode="auto">
              <a:xfrm>
                <a:off x="7848600" y="5334000"/>
                <a:ext cx="838200" cy="4445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oMath>
                  </m:oMathPara>
                </a14:m>
                <a:endParaRPr lang="en-US" dirty="0"/>
              </a:p>
            </p:txBody>
          </p:sp>
        </mc:Choice>
        <mc:Fallback xmlns="">
          <p:sp>
            <p:nvSpPr>
              <p:cNvPr id="11280" name="Object 20"/>
              <p:cNvSpPr txBox="1">
                <a:spLocks noRot="1" noChangeAspect="1" noMove="1" noResize="1" noEditPoints="1" noAdjustHandles="1" noChangeArrowheads="1" noChangeShapeType="1" noTextEdit="1"/>
              </p:cNvSpPr>
              <p:nvPr/>
            </p:nvSpPr>
            <p:spPr bwMode="auto">
              <a:xfrm>
                <a:off x="7848600" y="5334000"/>
                <a:ext cx="838200" cy="444500"/>
              </a:xfrm>
              <a:prstGeom prst="rect">
                <a:avLst/>
              </a:prstGeom>
              <a:blipFill>
                <a:blip r:embed="rId10"/>
                <a:stretch>
                  <a:fillRect l="-219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Object 1"/>
              <p:cNvSpPr txBox="1"/>
              <p:nvPr/>
            </p:nvSpPr>
            <p:spPr>
              <a:xfrm>
                <a:off x="762000" y="3810000"/>
                <a:ext cx="2736850" cy="4953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𝐶𝑜𝑠𝑡</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𝑍</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𝑋</m:t>
                          </m:r>
                        </m:sub>
                      </m:sSub>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m:t>
                      </m:r>
                    </m:oMath>
                  </m:oMathPara>
                </a14:m>
                <a:endParaRPr lang="en-US" dirty="0"/>
              </a:p>
            </p:txBody>
          </p:sp>
        </mc:Choice>
        <mc:Fallback xmlns="">
          <p:sp>
            <p:nvSpPr>
              <p:cNvPr id="2" name="Object 1"/>
              <p:cNvSpPr txBox="1">
                <a:spLocks noRot="1" noChangeAspect="1" noMove="1" noResize="1" noEditPoints="1" noAdjustHandles="1" noChangeArrowheads="1" noChangeShapeType="1" noTextEdit="1"/>
              </p:cNvSpPr>
              <p:nvPr/>
            </p:nvSpPr>
            <p:spPr>
              <a:xfrm>
                <a:off x="762000" y="3810000"/>
                <a:ext cx="2736850" cy="49530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Object 2"/>
              <p:cNvSpPr txBox="1"/>
              <p:nvPr/>
            </p:nvSpPr>
            <p:spPr>
              <a:xfrm>
                <a:off x="6343650" y="3886200"/>
                <a:ext cx="419100" cy="344743"/>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𝑍</m:t>
                      </m:r>
                    </m:oMath>
                  </m:oMathPara>
                </a14:m>
                <a:endParaRPr lang="en-US" dirty="0"/>
              </a:p>
            </p:txBody>
          </p:sp>
        </mc:Choice>
        <mc:Fallback xmlns="">
          <p:sp>
            <p:nvSpPr>
              <p:cNvPr id="3" name="Object 2"/>
              <p:cNvSpPr txBox="1">
                <a:spLocks noRot="1" noChangeAspect="1" noMove="1" noResize="1" noEditPoints="1" noAdjustHandles="1" noChangeArrowheads="1" noChangeShapeType="1" noTextEdit="1"/>
              </p:cNvSpPr>
              <p:nvPr/>
            </p:nvSpPr>
            <p:spPr>
              <a:xfrm>
                <a:off x="6343650" y="3886200"/>
                <a:ext cx="419100" cy="344743"/>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bject 3"/>
              <p:cNvSpPr txBox="1"/>
              <p:nvPr/>
            </p:nvSpPr>
            <p:spPr bwMode="auto">
              <a:xfrm>
                <a:off x="5410200" y="4267200"/>
                <a:ext cx="381000" cy="38100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𝑍</m:t>
                      </m:r>
                    </m:oMath>
                  </m:oMathPara>
                </a14:m>
                <a:endParaRPr lang="en-US" dirty="0"/>
              </a:p>
            </p:txBody>
          </p:sp>
        </mc:Choice>
        <mc:Fallback xmlns="">
          <p:sp>
            <p:nvSpPr>
              <p:cNvPr id="4" name="Object 3"/>
              <p:cNvSpPr txBox="1">
                <a:spLocks noRot="1" noChangeAspect="1" noMove="1" noResize="1" noEditPoints="1" noAdjustHandles="1" noChangeArrowheads="1" noChangeShapeType="1" noTextEdit="1"/>
              </p:cNvSpPr>
              <p:nvPr/>
            </p:nvSpPr>
            <p:spPr bwMode="auto">
              <a:xfrm>
                <a:off x="5410200" y="4267200"/>
                <a:ext cx="381000" cy="381000"/>
              </a:xfrm>
              <a:prstGeom prst="rect">
                <a:avLst/>
              </a:prstGeom>
              <a:blipFill>
                <a:blip r:embed="rId13"/>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90698689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04800" y="152400"/>
            <a:ext cx="8458200" cy="6172200"/>
          </a:xfrm>
        </p:spPr>
        <p:txBody>
          <a:bodyPr lIns="92075" tIns="46038" rIns="92075" bIns="46038"/>
          <a:lstStyle/>
          <a:p>
            <a:pPr>
              <a:buNone/>
              <a:defRPr/>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Greenland S. (1988)</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Note: The fully validated design is given by          .</a:t>
            </a:r>
          </a:p>
          <a:p>
            <a:pPr>
              <a:buFont typeface="Arial" charset="0"/>
              <a:buNone/>
              <a:defRPr/>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If the fully validated design isn’t an option</a:t>
            </a:r>
            <a:r>
              <a:rPr lang="en-US" sz="2400" dirty="0">
                <a:latin typeface="Times New Roman" pitchFamily="18" charset="0"/>
                <a:cs typeface="Times New Roman" pitchFamily="18" charset="0"/>
              </a:rPr>
              <a:t> for ethical or </a:t>
            </a:r>
          </a:p>
          <a:p>
            <a:pPr>
              <a:buFont typeface="Arial" charset="0"/>
              <a:buNone/>
              <a:defRPr/>
            </a:pPr>
            <a:r>
              <a:rPr lang="en-US" sz="2400" dirty="0">
                <a:latin typeface="Times New Roman" pitchFamily="18" charset="0"/>
                <a:cs typeface="Times New Roman" pitchFamily="18" charset="0"/>
              </a:rPr>
              <a:t>feasibility reasons, the problem </a:t>
            </a:r>
          </a:p>
          <a:p>
            <a:pPr>
              <a:buFont typeface="Arial" charset="0"/>
              <a:buNone/>
              <a:defRPr/>
            </a:pPr>
            <a:r>
              <a:rPr lang="en-US" sz="2400" dirty="0">
                <a:latin typeface="Times New Roman" pitchFamily="18" charset="0"/>
                <a:cs typeface="Times New Roman" pitchFamily="18" charset="0"/>
              </a:rPr>
              <a:t> </a:t>
            </a:r>
          </a:p>
          <a:p>
            <a:pPr>
              <a:buFont typeface="Arial" charset="0"/>
              <a:buNone/>
              <a:defRPr/>
            </a:pPr>
            <a:r>
              <a:rPr lang="en-US" dirty="0">
                <a:latin typeface="Times New Roman" pitchFamily="18" charset="0"/>
                <a:cs typeface="Times New Roman" pitchFamily="18" charset="0"/>
              </a:rPr>
              <a:t> </a:t>
            </a:r>
          </a:p>
          <a:p>
            <a:pPr>
              <a:buFont typeface="Arial" charset="0"/>
              <a:buNone/>
              <a:defRPr/>
            </a:pPr>
            <a:r>
              <a:rPr lang="en-US" sz="2400" dirty="0">
                <a:latin typeface="Times New Roman" pitchFamily="18" charset="0"/>
                <a:cs typeface="Times New Roman" pitchFamily="18" charset="0"/>
              </a:rPr>
              <a:t>subject to the constraint that                                         , </a:t>
            </a:r>
          </a:p>
          <a:p>
            <a:pPr>
              <a:buFont typeface="Arial" charset="0"/>
              <a:buNone/>
              <a:defRPr/>
            </a:pPr>
            <a:endParaRPr lang="en-US" sz="8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where                   and            , can be solved to find the optimal </a:t>
            </a:r>
          </a:p>
          <a:p>
            <a:pPr>
              <a:buFont typeface="Arial" charset="0"/>
              <a:buNone/>
              <a:defRPr/>
            </a:pPr>
            <a:r>
              <a:rPr lang="en-US" sz="2400" dirty="0">
                <a:latin typeface="Times New Roman" pitchFamily="18" charset="0"/>
                <a:cs typeface="Times New Roman" pitchFamily="18" charset="0"/>
              </a:rPr>
              <a:t>MS/IVS design. </a:t>
            </a:r>
          </a:p>
          <a:p>
            <a:pPr>
              <a:buFont typeface="Arial" charset="0"/>
              <a:buNone/>
              <a:defRPr/>
            </a:pPr>
            <a:r>
              <a:rPr lang="en-US" sz="2400" dirty="0">
                <a:latin typeface="Times New Roman" pitchFamily="18" charset="0"/>
                <a:cs typeface="Times New Roman" pitchFamily="18" charset="0"/>
              </a:rPr>
              <a:t>   </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p:cxnSp>
        <p:nvCxnSpPr>
          <p:cNvPr id="12291" name="AutoShape 3"/>
          <p:cNvCxnSpPr>
            <a:cxnSpLocks noChangeShapeType="1"/>
            <a:stCxn id="28676" idx="3"/>
            <a:endCxn id="28676" idx="3"/>
          </p:cNvCxnSpPr>
          <p:nvPr/>
        </p:nvCxnSpPr>
        <p:spPr bwMode="auto">
          <a:xfrm>
            <a:off x="8763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2292"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mc:AlternateContent xmlns:mc="http://schemas.openxmlformats.org/markup-compatibility/2006" xmlns:a14="http://schemas.microsoft.com/office/drawing/2010/main">
        <mc:Choice Requires="a14">
          <p:sp>
            <p:nvSpPr>
              <p:cNvPr id="12293" name="Object 10"/>
              <p:cNvSpPr txBox="1"/>
              <p:nvPr/>
            </p:nvSpPr>
            <p:spPr bwMode="auto">
              <a:xfrm>
                <a:off x="0" y="0"/>
                <a:ext cx="114300" cy="180975"/>
              </a:xfrm>
              <a:prstGeom prst="rect">
                <a:avLst/>
              </a:prstGeom>
              <a:noFill/>
              <a:ln>
                <a:noFill/>
              </a:ln>
            </p:spPr>
            <p:txBody>
              <a:bodyPr>
                <a:normAutofit fontScale="25000" lnSpcReduction="20000"/>
              </a:bodyPr>
              <a:lstStyle/>
              <a:p>
                <a:pPr/>
                <a14:m>
                  <m:oMathPara xmlns:m="http://schemas.openxmlformats.org/officeDocument/2006/math">
                    <m:oMathParaPr>
                      <m:jc m:val="left"/>
                    </m:oMathParaPr>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Pr</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𝑍</m:t>
                      </m:r>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𝑑</m:t>
                      </m:r>
                      <m:r>
                        <a:rPr lang="en-US" i="1">
                          <a:solidFill>
                            <a:srgbClr val="000000"/>
                          </a:solidFill>
                          <a:latin typeface="Cambria Math" panose="02040503050406030204" pitchFamily="18" charset="0"/>
                        </a:rPr>
                        <m:t>)</m:t>
                      </m:r>
                    </m:oMath>
                  </m:oMathPara>
                </a14:m>
                <a:endParaRPr lang="en-US"/>
              </a:p>
            </p:txBody>
          </p:sp>
        </mc:Choice>
        <mc:Fallback xmlns="">
          <p:sp>
            <p:nvSpPr>
              <p:cNvPr id="12293" name="Object 10"/>
              <p:cNvSpPr txBox="1">
                <a:spLocks noRot="1" noChangeAspect="1" noMove="1" noResize="1" noEditPoints="1" noAdjustHandles="1" noChangeArrowheads="1" noChangeShapeType="1" noTextEdit="1"/>
              </p:cNvSpPr>
              <p:nvPr/>
            </p:nvSpPr>
            <p:spPr bwMode="auto">
              <a:xfrm>
                <a:off x="0" y="0"/>
                <a:ext cx="114300" cy="180975"/>
              </a:xfrm>
              <a:prstGeom prst="rect">
                <a:avLst/>
              </a:prstGeom>
              <a:blipFill>
                <a:blip r:embed="rId3"/>
                <a:stretch>
                  <a:fillRect r="-110526" b="-63333"/>
                </a:stretch>
              </a:blipFill>
              <a:ln>
                <a:noFill/>
              </a:ln>
            </p:spPr>
            <p:txBody>
              <a:bodyPr/>
              <a:lstStyle/>
              <a:p>
                <a:r>
                  <a:rPr lang="en-US">
                    <a:noFill/>
                  </a:rPr>
                  <a:t> </a:t>
                </a:r>
              </a:p>
            </p:txBody>
          </p:sp>
        </mc:Fallback>
      </mc:AlternateContent>
      <p:sp>
        <p:nvSpPr>
          <p:cNvPr id="12294"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2295"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2296"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1F88D8FA-C3B0-441D-84B6-D24F4FA9A2B6}" type="slidenum">
              <a:rPr lang="zh-CN" altLang="en-US" sz="1200">
                <a:solidFill>
                  <a:srgbClr val="898989"/>
                </a:solidFill>
              </a:rPr>
              <a:pPr algn="r" eaLnBrk="1" hangingPunct="1">
                <a:spcBef>
                  <a:spcPct val="0"/>
                </a:spcBef>
                <a:buFontTx/>
                <a:buNone/>
              </a:pPr>
              <a:t>10</a:t>
            </a:fld>
            <a:endParaRPr lang="en-US" altLang="zh-CN" sz="1200">
              <a:solidFill>
                <a:srgbClr val="898989"/>
              </a:solidFill>
            </a:endParaRPr>
          </a:p>
        </p:txBody>
      </p:sp>
      <mc:AlternateContent xmlns:mc="http://schemas.openxmlformats.org/markup-compatibility/2006" xmlns:a14="http://schemas.microsoft.com/office/drawing/2010/main">
        <mc:Choice Requires="a14">
          <p:sp>
            <p:nvSpPr>
              <p:cNvPr id="12297" name="Object 12"/>
              <p:cNvSpPr txBox="1"/>
              <p:nvPr/>
            </p:nvSpPr>
            <p:spPr bwMode="auto">
              <a:xfrm>
                <a:off x="5791200" y="1143000"/>
                <a:ext cx="762000" cy="3810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=1</m:t>
                      </m:r>
                    </m:oMath>
                  </m:oMathPara>
                </a14:m>
                <a:endParaRPr lang="en-US"/>
              </a:p>
            </p:txBody>
          </p:sp>
        </mc:Choice>
        <mc:Fallback xmlns="">
          <p:sp>
            <p:nvSpPr>
              <p:cNvPr id="12297" name="Object 12"/>
              <p:cNvSpPr txBox="1">
                <a:spLocks noRot="1" noChangeAspect="1" noMove="1" noResize="1" noEditPoints="1" noAdjustHandles="1" noChangeArrowheads="1" noChangeShapeType="1" noTextEdit="1"/>
              </p:cNvSpPr>
              <p:nvPr/>
            </p:nvSpPr>
            <p:spPr bwMode="auto">
              <a:xfrm>
                <a:off x="5791200" y="1143000"/>
                <a:ext cx="762000" cy="381000"/>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98" name="Object 5"/>
              <p:cNvSpPr txBox="1"/>
              <p:nvPr/>
            </p:nvSpPr>
            <p:spPr bwMode="auto">
              <a:xfrm>
                <a:off x="762000" y="2362200"/>
                <a:ext cx="7259638" cy="78263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limLow>
                        <m:limLowPr>
                          <m:ctrlPr>
                            <a:rPr lang="en-US" i="1">
                              <a:solidFill>
                                <a:srgbClr val="000000"/>
                              </a:solidFill>
                              <a:latin typeface="Cambria Math" panose="02040503050406030204" pitchFamily="18" charset="0"/>
                            </a:rPr>
                          </m:ctrlPr>
                        </m:limLowPr>
                        <m:e>
                          <m:r>
                            <a:rPr lang="en-US" i="1">
                              <a:solidFill>
                                <a:srgbClr val="000000"/>
                              </a:solidFill>
                              <a:latin typeface="Cambria Math" panose="02040503050406030204" pitchFamily="18" charset="0"/>
                            </a:rPr>
                            <m:t>𝑀𝑖𝑛</m:t>
                          </m:r>
                        </m:e>
                        <m:lim>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lim>
                      </m:limLow>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𝑉𝑎𝑟</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𝑂𝑅</m:t>
                              </m:r>
                            </m:e>
                          </m:acc>
                        </m:e>
                        <m:sub>
                          <m:r>
                            <a:rPr lang="en-US" i="1">
                              <a:solidFill>
                                <a:srgbClr val="000000"/>
                              </a:solidFill>
                              <a:latin typeface="Cambria Math" panose="02040503050406030204" pitchFamily="18" charset="0"/>
                            </a:rPr>
                            <m:t>𝑀</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𝜃</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𝜃</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𝜑</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𝜑</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𝜅</m:t>
                          </m:r>
                        </m:e>
                        <m:sub>
                          <m:r>
                            <a:rPr lang="en-US" i="1">
                              <a:solidFill>
                                <a:srgbClr val="000000"/>
                              </a:solidFill>
                              <a:latin typeface="Cambria Math" panose="02040503050406030204" pitchFamily="18" charset="0"/>
                            </a:rPr>
                            <m:t>𝑀</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𝜅</m:t>
                          </m:r>
                        </m:e>
                        <m:sub>
                          <m:r>
                            <a:rPr lang="en-US" i="1">
                              <a:solidFill>
                                <a:srgbClr val="000000"/>
                              </a:solidFill>
                              <a:latin typeface="Cambria Math" panose="02040503050406030204" pitchFamily="18" charset="0"/>
                            </a:rPr>
                            <m:t>𝑉</m:t>
                          </m:r>
                        </m:sub>
                      </m:sSub>
                      <m:r>
                        <a:rPr lang="en-US" i="1">
                          <a:solidFill>
                            <a:srgbClr val="000000"/>
                          </a:solidFill>
                          <a:latin typeface="Cambria Math" panose="02040503050406030204" pitchFamily="18" charset="0"/>
                        </a:rPr>
                        <m:t>)]}</m:t>
                      </m:r>
                    </m:oMath>
                  </m:oMathPara>
                </a14:m>
                <a:endParaRPr lang="en-US" dirty="0"/>
              </a:p>
            </p:txBody>
          </p:sp>
        </mc:Choice>
        <mc:Fallback xmlns="">
          <p:sp>
            <p:nvSpPr>
              <p:cNvPr id="12298" name="Object 5"/>
              <p:cNvSpPr txBox="1">
                <a:spLocks noRot="1" noChangeAspect="1" noMove="1" noResize="1" noEditPoints="1" noAdjustHandles="1" noChangeArrowheads="1" noChangeShapeType="1" noTextEdit="1"/>
              </p:cNvSpPr>
              <p:nvPr/>
            </p:nvSpPr>
            <p:spPr bwMode="auto">
              <a:xfrm>
                <a:off x="762000" y="2362200"/>
                <a:ext cx="7259638" cy="782638"/>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99" name="Object 14"/>
              <p:cNvSpPr txBox="1"/>
              <p:nvPr/>
            </p:nvSpPr>
            <p:spPr bwMode="auto">
              <a:xfrm>
                <a:off x="4038600" y="3352800"/>
                <a:ext cx="2890837" cy="5334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𝐶𝑜𝑠𝑡</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𝑍</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𝑋</m:t>
                          </m:r>
                        </m:sub>
                      </m:sSub>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m:t>
                      </m:r>
                    </m:oMath>
                  </m:oMathPara>
                </a14:m>
                <a:endParaRPr lang="en-US"/>
              </a:p>
            </p:txBody>
          </p:sp>
        </mc:Choice>
        <mc:Fallback xmlns="">
          <p:sp>
            <p:nvSpPr>
              <p:cNvPr id="12299" name="Object 14"/>
              <p:cNvSpPr txBox="1">
                <a:spLocks noRot="1" noChangeAspect="1" noMove="1" noResize="1" noEditPoints="1" noAdjustHandles="1" noChangeArrowheads="1" noChangeShapeType="1" noTextEdit="1"/>
              </p:cNvSpPr>
              <p:nvPr/>
            </p:nvSpPr>
            <p:spPr bwMode="auto">
              <a:xfrm>
                <a:off x="4038600" y="3352800"/>
                <a:ext cx="2890837" cy="533400"/>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00" name="Object 15"/>
              <p:cNvSpPr txBox="1"/>
              <p:nvPr/>
            </p:nvSpPr>
            <p:spPr bwMode="auto">
              <a:xfrm>
                <a:off x="1219200" y="3962400"/>
                <a:ext cx="1295400" cy="4572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∈(0,1)</m:t>
                      </m:r>
                    </m:oMath>
                  </m:oMathPara>
                </a14:m>
                <a:endParaRPr lang="en-US"/>
              </a:p>
            </p:txBody>
          </p:sp>
        </mc:Choice>
        <mc:Fallback xmlns="">
          <p:sp>
            <p:nvSpPr>
              <p:cNvPr id="12300" name="Object 15"/>
              <p:cNvSpPr txBox="1">
                <a:spLocks noRot="1" noChangeAspect="1" noMove="1" noResize="1" noEditPoints="1" noAdjustHandles="1" noChangeArrowheads="1" noChangeShapeType="1" noTextEdit="1"/>
              </p:cNvSpPr>
              <p:nvPr/>
            </p:nvSpPr>
            <p:spPr bwMode="auto">
              <a:xfrm>
                <a:off x="1219200" y="3962400"/>
                <a:ext cx="1295400" cy="457200"/>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01" name="Object 16"/>
              <p:cNvSpPr txBox="1"/>
              <p:nvPr/>
            </p:nvSpPr>
            <p:spPr bwMode="auto">
              <a:xfrm>
                <a:off x="3124200" y="3962400"/>
                <a:ext cx="773113" cy="4000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&gt;1</m:t>
                      </m:r>
                    </m:oMath>
                  </m:oMathPara>
                </a14:m>
                <a:endParaRPr lang="en-US"/>
              </a:p>
            </p:txBody>
          </p:sp>
        </mc:Choice>
        <mc:Fallback xmlns="">
          <p:sp>
            <p:nvSpPr>
              <p:cNvPr id="12301" name="Object 16"/>
              <p:cNvSpPr txBox="1">
                <a:spLocks noRot="1" noChangeAspect="1" noMove="1" noResize="1" noEditPoints="1" noAdjustHandles="1" noChangeArrowheads="1" noChangeShapeType="1" noTextEdit="1"/>
              </p:cNvSpPr>
              <p:nvPr/>
            </p:nvSpPr>
            <p:spPr bwMode="auto">
              <a:xfrm>
                <a:off x="3124200" y="3962400"/>
                <a:ext cx="773113" cy="400050"/>
              </a:xfrm>
              <a:prstGeom prst="rect">
                <a:avLst/>
              </a:prstGeom>
              <a:blipFill>
                <a:blip r:embed="rId8"/>
                <a:stretch>
                  <a:fillRect/>
                </a:stretch>
              </a:blipFill>
              <a:ln>
                <a:noFill/>
              </a:ln>
              <a:effectLst/>
            </p:spPr>
            <p:txBody>
              <a:bodyPr/>
              <a:lstStyle/>
              <a:p>
                <a:r>
                  <a:rPr lang="en-US">
                    <a:noFill/>
                  </a:rPr>
                  <a:t> </a:t>
                </a:r>
              </a:p>
            </p:txBody>
          </p:sp>
        </mc:Fallback>
      </mc:AlternateContent>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sz="half" idx="4294967295"/>
          </p:nvPr>
        </p:nvSpPr>
        <p:spPr>
          <a:xfrm>
            <a:off x="228600" y="0"/>
            <a:ext cx="8534400" cy="6324600"/>
          </a:xfrm>
        </p:spPr>
        <p:txBody>
          <a:bodyPr lIns="92075" tIns="46038" rIns="92075" bIns="46038"/>
          <a:lstStyle/>
          <a:p>
            <a:pPr marL="0">
              <a:spcBef>
                <a:spcPts val="300"/>
              </a:spcBef>
              <a:spcAft>
                <a:spcPts val="300"/>
              </a:spcAft>
              <a:buFont typeface="Arial" charset="0"/>
              <a:buNone/>
            </a:pPr>
            <a:r>
              <a:rPr lang="en-US" altLang="en-US" sz="1600" b="1" dirty="0">
                <a:solidFill>
                  <a:srgbClr val="000000"/>
                </a:solidFill>
                <a:latin typeface="Times New Roman" pitchFamily="18" charset="0"/>
                <a:cs typeface="Times New Roman" pitchFamily="18" charset="0"/>
              </a:rPr>
              <a:t>Table 4: </a:t>
            </a:r>
            <a:r>
              <a:rPr lang="en-US" altLang="en-US" sz="1600" dirty="0">
                <a:solidFill>
                  <a:srgbClr val="000000"/>
                </a:solidFill>
                <a:latin typeface="Times New Roman" pitchFamily="18" charset="0"/>
                <a:cs typeface="Times New Roman" pitchFamily="18" charset="0"/>
              </a:rPr>
              <a:t>Optimal proportion          for validation </a:t>
            </a:r>
            <a:r>
              <a:rPr lang="en-US" altLang="en-US" sz="1600" dirty="0" err="1">
                <a:solidFill>
                  <a:srgbClr val="000000"/>
                </a:solidFill>
                <a:latin typeface="Times New Roman" pitchFamily="18" charset="0"/>
                <a:cs typeface="Times New Roman" pitchFamily="18" charset="0"/>
              </a:rPr>
              <a:t>substudy</a:t>
            </a:r>
            <a:r>
              <a:rPr lang="en-US" altLang="en-US" sz="1600" dirty="0">
                <a:solidFill>
                  <a:srgbClr val="000000"/>
                </a:solidFill>
                <a:latin typeface="Times New Roman" pitchFamily="18" charset="0"/>
                <a:cs typeface="Times New Roman" pitchFamily="18" charset="0"/>
              </a:rPr>
              <a:t> as a function of the </a:t>
            </a:r>
            <a:r>
              <a:rPr lang="en-US" altLang="en-US" sz="1600" b="1" dirty="0">
                <a:solidFill>
                  <a:srgbClr val="000000"/>
                </a:solidFill>
                <a:latin typeface="Times New Roman" pitchFamily="18" charset="0"/>
                <a:cs typeface="Times New Roman" pitchFamily="18" charset="0"/>
              </a:rPr>
              <a:t>cost ratio         </a:t>
            </a:r>
          </a:p>
          <a:p>
            <a:pPr marL="0">
              <a:spcBef>
                <a:spcPts val="300"/>
              </a:spcBef>
              <a:spcAft>
                <a:spcPts val="300"/>
              </a:spcAft>
              <a:buFont typeface="Arial" charset="0"/>
              <a:buNone/>
            </a:pPr>
            <a:r>
              <a:rPr lang="en-US" altLang="en-US" sz="1600" b="1" dirty="0">
                <a:solidFill>
                  <a:srgbClr val="000000"/>
                </a:solidFill>
                <a:latin typeface="Times New Roman" pitchFamily="18" charset="0"/>
                <a:cs typeface="Times New Roman" pitchFamily="18" charset="0"/>
              </a:rPr>
              <a:t>                                     </a:t>
            </a:r>
            <a:r>
              <a:rPr lang="en-US" altLang="en-US" sz="1600" dirty="0">
                <a:solidFill>
                  <a:srgbClr val="000000"/>
                </a:solidFill>
                <a:latin typeface="Times New Roman" pitchFamily="18" charset="0"/>
                <a:cs typeface="Times New Roman" pitchFamily="18" charset="0"/>
              </a:rPr>
              <a:t>   (assuming parameter values equal values observed in the SIDS data)</a:t>
            </a:r>
          </a:p>
        </p:txBody>
      </p:sp>
      <p:cxnSp>
        <p:nvCxnSpPr>
          <p:cNvPr id="13315" name="AutoShape 3"/>
          <p:cNvCxnSpPr>
            <a:cxnSpLocks noChangeShapeType="1"/>
            <a:stCxn id="13314" idx="3"/>
            <a:endCxn id="13314" idx="3"/>
          </p:cNvCxnSpPr>
          <p:nvPr/>
        </p:nvCxnSpPr>
        <p:spPr bwMode="auto">
          <a:xfrm>
            <a:off x="8763000" y="31623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3316"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3317"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3318"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3319"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3320"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FE0E7570-00A5-491E-A103-A84831D508B2}" type="slidenum">
              <a:rPr lang="zh-CN" altLang="en-US" sz="1200">
                <a:solidFill>
                  <a:srgbClr val="898989"/>
                </a:solidFill>
              </a:rPr>
              <a:pPr algn="r" eaLnBrk="1" hangingPunct="1">
                <a:spcBef>
                  <a:spcPct val="0"/>
                </a:spcBef>
                <a:buFontTx/>
                <a:buNone/>
              </a:pPr>
              <a:t>11</a:t>
            </a:fld>
            <a:endParaRPr lang="en-US" altLang="zh-CN" sz="1200">
              <a:solidFill>
                <a:srgbClr val="898989"/>
              </a:solidFill>
            </a:endParaRPr>
          </a:p>
        </p:txBody>
      </p:sp>
      <p:sp>
        <p:nvSpPr>
          <p:cNvPr id="13321" name="TextBox 13"/>
          <p:cNvSpPr txBox="1">
            <a:spLocks noChangeArrowheads="1"/>
          </p:cNvSpPr>
          <p:nvPr/>
        </p:nvSpPr>
        <p:spPr bwMode="auto">
          <a:xfrm>
            <a:off x="304800" y="5741707"/>
            <a:ext cx="82296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US" altLang="en-US" sz="400" dirty="0">
              <a:latin typeface="Times New Roman" pitchFamily="18" charset="0"/>
              <a:cs typeface="Times New Roman" pitchFamily="18" charset="0"/>
            </a:endParaRPr>
          </a:p>
          <a:p>
            <a:pPr eaLnBrk="1" hangingPunct="1">
              <a:spcBef>
                <a:spcPct val="0"/>
              </a:spcBef>
              <a:buFontTx/>
              <a:buNone/>
            </a:pPr>
            <a:r>
              <a:rPr lang="en-US" altLang="en-US" sz="1800" dirty="0">
                <a:latin typeface="Times New Roman" pitchFamily="18" charset="0"/>
                <a:cs typeface="Times New Roman" pitchFamily="18" charset="0"/>
              </a:rPr>
              <a:t>What is the relative cost of the measurement,    , for your study?  </a:t>
            </a:r>
          </a:p>
          <a:p>
            <a:pPr eaLnBrk="1" hangingPunct="1">
              <a:spcBef>
                <a:spcPct val="0"/>
              </a:spcBef>
              <a:buFontTx/>
              <a:buNone/>
            </a:pPr>
            <a:r>
              <a:rPr lang="en-US" altLang="en-US" sz="1800" dirty="0">
                <a:latin typeface="Times New Roman" pitchFamily="18" charset="0"/>
                <a:cs typeface="Times New Roman" pitchFamily="18" charset="0"/>
              </a:rPr>
              <a:t>For NHS, it has been estimated at 500. </a:t>
            </a:r>
          </a:p>
        </p:txBody>
      </p:sp>
      <mc:AlternateContent xmlns:mc="http://schemas.openxmlformats.org/markup-compatibility/2006" xmlns:a14="http://schemas.microsoft.com/office/drawing/2010/main">
        <mc:Choice Requires="a14">
          <p:sp>
            <p:nvSpPr>
              <p:cNvPr id="13322" name="Object 22"/>
              <p:cNvSpPr txBox="1"/>
              <p:nvPr/>
            </p:nvSpPr>
            <p:spPr bwMode="auto">
              <a:xfrm>
                <a:off x="4530725" y="5841650"/>
                <a:ext cx="234950" cy="254000"/>
              </a:xfrm>
              <a:prstGeom prst="rect">
                <a:avLst/>
              </a:prstGeom>
              <a:noFill/>
              <a:ln>
                <a:noFill/>
              </a:ln>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𝑅</m:t>
                      </m:r>
                    </m:oMath>
                  </m:oMathPara>
                </a14:m>
                <a:endParaRPr lang="en-US"/>
              </a:p>
            </p:txBody>
          </p:sp>
        </mc:Choice>
        <mc:Fallback xmlns="">
          <p:sp>
            <p:nvSpPr>
              <p:cNvPr id="13322" name="Object 22"/>
              <p:cNvSpPr txBox="1">
                <a:spLocks noRot="1" noChangeAspect="1" noMove="1" noResize="1" noEditPoints="1" noAdjustHandles="1" noChangeArrowheads="1" noChangeShapeType="1" noTextEdit="1"/>
              </p:cNvSpPr>
              <p:nvPr/>
            </p:nvSpPr>
            <p:spPr bwMode="auto">
              <a:xfrm>
                <a:off x="4530725" y="5841650"/>
                <a:ext cx="234950" cy="254000"/>
              </a:xfrm>
              <a:prstGeom prst="rect">
                <a:avLst/>
              </a:prstGeom>
              <a:blipFill>
                <a:blip r:embed="rId3"/>
                <a:stretch>
                  <a:fillRect/>
                </a:stretch>
              </a:blipFill>
              <a:ln>
                <a:noFill/>
              </a:ln>
            </p:spPr>
            <p:txBody>
              <a:bodyPr/>
              <a:lstStyle/>
              <a:p>
                <a:r>
                  <a:rPr lang="en-US">
                    <a:noFill/>
                  </a:rPr>
                  <a:t> </a:t>
                </a:r>
              </a:p>
            </p:txBody>
          </p:sp>
        </mc:Fallback>
      </mc:AlternateContent>
      <p:graphicFrame>
        <p:nvGraphicFramePr>
          <p:cNvPr id="20" name="Table 19"/>
          <p:cNvGraphicFramePr>
            <a:graphicFrameLocks noGrp="1"/>
          </p:cNvGraphicFramePr>
          <p:nvPr/>
        </p:nvGraphicFramePr>
        <p:xfrm>
          <a:off x="152400" y="914400"/>
          <a:ext cx="8748712" cy="4861320"/>
        </p:xfrm>
        <a:graphic>
          <a:graphicData uri="http://schemas.openxmlformats.org/drawingml/2006/table">
            <a:tbl>
              <a:tblPr/>
              <a:tblGrid>
                <a:gridCol w="4343670">
                  <a:extLst>
                    <a:ext uri="{9D8B030D-6E8A-4147-A177-3AD203B41FA5}">
                      <a16:colId xmlns:a16="http://schemas.microsoft.com/office/drawing/2014/main" val="20000"/>
                    </a:ext>
                  </a:extLst>
                </a:gridCol>
                <a:gridCol w="762047">
                  <a:extLst>
                    <a:ext uri="{9D8B030D-6E8A-4147-A177-3AD203B41FA5}">
                      <a16:colId xmlns:a16="http://schemas.microsoft.com/office/drawing/2014/main" val="20001"/>
                    </a:ext>
                  </a:extLst>
                </a:gridCol>
                <a:gridCol w="762047">
                  <a:extLst>
                    <a:ext uri="{9D8B030D-6E8A-4147-A177-3AD203B41FA5}">
                      <a16:colId xmlns:a16="http://schemas.microsoft.com/office/drawing/2014/main" val="20002"/>
                    </a:ext>
                  </a:extLst>
                </a:gridCol>
                <a:gridCol w="762047">
                  <a:extLst>
                    <a:ext uri="{9D8B030D-6E8A-4147-A177-3AD203B41FA5}">
                      <a16:colId xmlns:a16="http://schemas.microsoft.com/office/drawing/2014/main" val="20003"/>
                    </a:ext>
                  </a:extLst>
                </a:gridCol>
                <a:gridCol w="762047">
                  <a:extLst>
                    <a:ext uri="{9D8B030D-6E8A-4147-A177-3AD203B41FA5}">
                      <a16:colId xmlns:a16="http://schemas.microsoft.com/office/drawing/2014/main" val="20004"/>
                    </a:ext>
                  </a:extLst>
                </a:gridCol>
                <a:gridCol w="685842">
                  <a:extLst>
                    <a:ext uri="{9D8B030D-6E8A-4147-A177-3AD203B41FA5}">
                      <a16:colId xmlns:a16="http://schemas.microsoft.com/office/drawing/2014/main" val="20005"/>
                    </a:ext>
                  </a:extLst>
                </a:gridCol>
                <a:gridCol w="535725">
                  <a:extLst>
                    <a:ext uri="{9D8B030D-6E8A-4147-A177-3AD203B41FA5}">
                      <a16:colId xmlns:a16="http://schemas.microsoft.com/office/drawing/2014/main" val="20006"/>
                    </a:ext>
                  </a:extLst>
                </a:gridCol>
                <a:gridCol w="48224">
                  <a:extLst>
                    <a:ext uri="{9D8B030D-6E8A-4147-A177-3AD203B41FA5}">
                      <a16:colId xmlns:a16="http://schemas.microsoft.com/office/drawing/2014/main" val="20007"/>
                    </a:ext>
                  </a:extLst>
                </a:gridCol>
                <a:gridCol w="87063">
                  <a:extLst>
                    <a:ext uri="{9D8B030D-6E8A-4147-A177-3AD203B41FA5}">
                      <a16:colId xmlns:a16="http://schemas.microsoft.com/office/drawing/2014/main" val="20008"/>
                    </a:ext>
                  </a:extLst>
                </a:gridCol>
              </a:tblGrid>
              <a:tr h="243818">
                <a:tc>
                  <a:txBody>
                    <a:bodyPr/>
                    <a:lstStyle/>
                    <a:p>
                      <a:pPr marL="0" marR="0">
                        <a:spcBef>
                          <a:spcPts val="300"/>
                        </a:spcBef>
                        <a:spcAft>
                          <a:spcPts val="300"/>
                        </a:spcAft>
                      </a:pPr>
                      <a:endParaRPr lang="en-US" sz="16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600" dirty="0">
                          <a:latin typeface="Times New Roman" pitchFamily="18" charset="0"/>
                          <a:ea typeface="Times New Roman"/>
                          <a:cs typeface="Times New Roman" pitchFamily="18" charset="0"/>
                        </a:rPr>
                        <a:t>&lt;=3</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600" dirty="0">
                          <a:solidFill>
                            <a:srgbClr val="000000"/>
                          </a:solidFill>
                          <a:latin typeface="Times New Roman" pitchFamily="18" charset="0"/>
                          <a:ea typeface="Times New Roman"/>
                          <a:cs typeface="Times New Roman" pitchFamily="18" charset="0"/>
                        </a:rPr>
                        <a:t>4</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600" dirty="0">
                          <a:solidFill>
                            <a:srgbClr val="000000"/>
                          </a:solidFill>
                          <a:latin typeface="Times New Roman" pitchFamily="18" charset="0"/>
                          <a:ea typeface="Times New Roman"/>
                          <a:cs typeface="Times New Roman" pitchFamily="18" charset="0"/>
                        </a:rPr>
                        <a:t>5</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600" dirty="0">
                          <a:solidFill>
                            <a:srgbClr val="000000"/>
                          </a:solidFill>
                          <a:latin typeface="Times New Roman" pitchFamily="18" charset="0"/>
                          <a:ea typeface="Times New Roman"/>
                          <a:cs typeface="Times New Roman" pitchFamily="18" charset="0"/>
                        </a:rPr>
                        <a:t>6</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600" dirty="0">
                          <a:solidFill>
                            <a:srgbClr val="000000"/>
                          </a:solidFill>
                          <a:latin typeface="Times New Roman" pitchFamily="18" charset="0"/>
                          <a:ea typeface="Times New Roman"/>
                          <a:cs typeface="Times New Roman" pitchFamily="18" charset="0"/>
                        </a:rPr>
                        <a:t>8</a:t>
                      </a: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600" dirty="0">
                          <a:solidFill>
                            <a:srgbClr val="000000"/>
                          </a:solidFill>
                          <a:latin typeface="Times New Roman" pitchFamily="18" charset="0"/>
                          <a:ea typeface="Times New Roman"/>
                          <a:cs typeface="Times New Roman" pitchFamily="18" charset="0"/>
                        </a:rPr>
                        <a:t>10</a:t>
                      </a: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28580">
                <a:tc>
                  <a:txBody>
                    <a:bodyPr/>
                    <a:lstStyle/>
                    <a:p>
                      <a:pPr marL="0" marR="0">
                        <a:spcBef>
                          <a:spcPts val="300"/>
                        </a:spcBef>
                        <a:spcAft>
                          <a:spcPts val="300"/>
                        </a:spcAft>
                      </a:pPr>
                      <a:r>
                        <a:rPr lang="en-US" sz="1300" b="1" i="1" dirty="0">
                          <a:latin typeface="Times New Roman" pitchFamily="18" charset="0"/>
                          <a:ea typeface="Times New Roman"/>
                          <a:cs typeface="Times New Roman" pitchFamily="18" charset="0"/>
                        </a:rPr>
                        <a:t>I.</a:t>
                      </a:r>
                      <a:r>
                        <a:rPr lang="en-US" sz="1300" b="1" i="1" baseline="0" dirty="0">
                          <a:latin typeface="Times New Roman" pitchFamily="18" charset="0"/>
                          <a:ea typeface="Times New Roman"/>
                          <a:cs typeface="Times New Roman" pitchFamily="18" charset="0"/>
                        </a:rPr>
                        <a:t> Assuming differential misclassification</a:t>
                      </a:r>
                      <a:endParaRPr lang="en-US" sz="1300" b="1" i="1"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algn="ctr"/>
                      <a:endParaRPr lang="en-US" sz="1500" dirty="0"/>
                    </a:p>
                  </a:txBody>
                  <a:tcPr marL="38102" marR="38102" marT="0" marB="0">
                    <a:lnL>
                      <a:noFill/>
                    </a:lnL>
                    <a:lnR>
                      <a:noFill/>
                    </a:lnR>
                    <a:lnT>
                      <a:noFill/>
                    </a:lnT>
                    <a:lnB>
                      <a:noFill/>
                    </a:lnB>
                    <a:solidFill>
                      <a:srgbClr val="FFFFFF"/>
                    </a:solidFill>
                  </a:tcPr>
                </a:tc>
                <a:tc>
                  <a:txBody>
                    <a:bodyPr/>
                    <a:lstStyle/>
                    <a:p>
                      <a:pPr algn="ctr"/>
                      <a:endParaRPr lang="en-US" sz="1500" dirty="0"/>
                    </a:p>
                  </a:txBody>
                  <a:tcPr marL="38102" marR="38102" marT="0" marB="0">
                    <a:lnL>
                      <a:noFill/>
                    </a:lnL>
                    <a:lnR>
                      <a:noFill/>
                    </a:lnR>
                    <a:lnT>
                      <a:noFill/>
                    </a:lnT>
                    <a:lnB>
                      <a:noFill/>
                    </a:lnB>
                    <a:solidFill>
                      <a:srgbClr val="FFFFFF"/>
                    </a:solidFill>
                  </a:tcPr>
                </a:tc>
                <a:tc>
                  <a:txBody>
                    <a:bodyPr/>
                    <a:lstStyle/>
                    <a:p>
                      <a:pPr algn="ctr"/>
                      <a:endParaRPr lang="en-US" sz="1500" dirty="0"/>
                    </a:p>
                  </a:txBody>
                  <a:tcPr marL="38102" marR="38102" marT="0" marB="0">
                    <a:lnL>
                      <a:noFill/>
                    </a:lnL>
                    <a:lnR>
                      <a:noFill/>
                    </a:lnR>
                    <a:lnT>
                      <a:noFill/>
                    </a:lnT>
                    <a:lnB>
                      <a:noFill/>
                    </a:lnB>
                    <a:solidFill>
                      <a:srgbClr val="FFFFFF"/>
                    </a:solidFill>
                  </a:tcPr>
                </a:tc>
                <a:tc>
                  <a:txBody>
                    <a:bodyPr/>
                    <a:lstStyle/>
                    <a:p>
                      <a:pPr algn="ctr"/>
                      <a:endParaRPr lang="en-US" sz="1500" dirty="0"/>
                    </a:p>
                  </a:txBody>
                  <a:tcPr marL="38102" marR="38102" marT="0" marB="0">
                    <a:lnL>
                      <a:noFill/>
                    </a:lnL>
                    <a:lnR>
                      <a:noFill/>
                    </a:lnR>
                    <a:lnT>
                      <a:noFill/>
                    </a:lnT>
                    <a:lnB>
                      <a:noFill/>
                    </a:lnB>
                    <a:solidFill>
                      <a:srgbClr val="FFFFFF"/>
                    </a:solidFill>
                  </a:tcPr>
                </a:tc>
                <a:tc gridSpan="3">
                  <a:txBody>
                    <a:bodyPr/>
                    <a:lstStyle/>
                    <a:p>
                      <a:pPr algn="ctr"/>
                      <a:endParaRPr lang="en-US" sz="1500" dirty="0"/>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28580">
                <a:tc>
                  <a:txBody>
                    <a:bodyPr/>
                    <a:lstStyle/>
                    <a:p>
                      <a:pPr marL="0" marR="0">
                        <a:spcBef>
                          <a:spcPts val="300"/>
                        </a:spcBef>
                        <a:spcAft>
                          <a:spcPts val="300"/>
                        </a:spcAft>
                      </a:pPr>
                      <a:r>
                        <a:rPr lang="en-US" sz="1300" dirty="0">
                          <a:solidFill>
                            <a:srgbClr val="000000"/>
                          </a:solidFill>
                          <a:latin typeface="Times New Roman" pitchFamily="18" charset="0"/>
                          <a:ea typeface="Times New Roman"/>
                          <a:cs typeface="Times New Roman" pitchFamily="18" charset="0"/>
                        </a:rPr>
                        <a:t>  </a:t>
                      </a:r>
                      <a:r>
                        <a:rPr lang="en-US" sz="1300" baseline="0" dirty="0">
                          <a:solidFill>
                            <a:srgbClr val="000000"/>
                          </a:solidFill>
                          <a:latin typeface="Times New Roman" pitchFamily="18" charset="0"/>
                          <a:ea typeface="Times New Roman"/>
                          <a:cs typeface="Times New Roman" pitchFamily="18" charset="0"/>
                        </a:rPr>
                        <a:t>   A. Assuming primary measurement always necessary</a:t>
                      </a:r>
                      <a:endParaRPr lang="en-US" sz="13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algn="ctr"/>
                      <a:endParaRPr lang="en-US" sz="1500" dirty="0"/>
                    </a:p>
                  </a:txBody>
                  <a:tcPr marL="38102" marR="38102" marT="0" marB="0">
                    <a:lnL>
                      <a:noFill/>
                    </a:lnL>
                    <a:lnR>
                      <a:noFill/>
                    </a:lnR>
                    <a:lnT>
                      <a:noFill/>
                    </a:lnT>
                    <a:lnB>
                      <a:noFill/>
                    </a:lnB>
                    <a:solidFill>
                      <a:srgbClr val="FFFFFF"/>
                    </a:solidFill>
                  </a:tcPr>
                </a:tc>
                <a:tc>
                  <a:txBody>
                    <a:bodyPr/>
                    <a:lstStyle/>
                    <a:p>
                      <a:pPr algn="ctr"/>
                      <a:endParaRPr lang="en-US" sz="1500"/>
                    </a:p>
                  </a:txBody>
                  <a:tcPr marL="38102" marR="38102" marT="0" marB="0">
                    <a:lnL>
                      <a:noFill/>
                    </a:lnL>
                    <a:lnR>
                      <a:noFill/>
                    </a:lnR>
                    <a:lnT>
                      <a:noFill/>
                    </a:lnT>
                    <a:lnB>
                      <a:noFill/>
                    </a:lnB>
                    <a:solidFill>
                      <a:srgbClr val="FFFFFF"/>
                    </a:solidFill>
                  </a:tcPr>
                </a:tc>
                <a:tc>
                  <a:txBody>
                    <a:bodyPr/>
                    <a:lstStyle/>
                    <a:p>
                      <a:pPr algn="ctr"/>
                      <a:endParaRPr lang="en-US" sz="1500" dirty="0"/>
                    </a:p>
                  </a:txBody>
                  <a:tcPr marL="38102" marR="38102" marT="0" marB="0">
                    <a:lnL>
                      <a:noFill/>
                    </a:lnL>
                    <a:lnR>
                      <a:noFill/>
                    </a:lnR>
                    <a:lnT>
                      <a:noFill/>
                    </a:lnT>
                    <a:lnB>
                      <a:noFill/>
                    </a:lnB>
                    <a:solidFill>
                      <a:srgbClr val="FFFFFF"/>
                    </a:solidFill>
                  </a:tcPr>
                </a:tc>
                <a:tc>
                  <a:txBody>
                    <a:bodyPr/>
                    <a:lstStyle/>
                    <a:p>
                      <a:pPr algn="ctr"/>
                      <a:endParaRPr lang="en-US" sz="1500" dirty="0"/>
                    </a:p>
                  </a:txBody>
                  <a:tcPr marL="38102" marR="38102" marT="0" marB="0">
                    <a:lnL>
                      <a:noFill/>
                    </a:lnL>
                    <a:lnR>
                      <a:noFill/>
                    </a:lnR>
                    <a:lnT>
                      <a:noFill/>
                    </a:lnT>
                    <a:lnB>
                      <a:noFill/>
                    </a:lnB>
                    <a:solidFill>
                      <a:srgbClr val="FFFFFF"/>
                    </a:solidFill>
                  </a:tcPr>
                </a:tc>
                <a:tc gridSpan="3">
                  <a:txBody>
                    <a:bodyPr/>
                    <a:lstStyle/>
                    <a:p>
                      <a:pPr algn="ctr"/>
                      <a:endParaRPr lang="en-US" sz="1500" dirty="0"/>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28580">
                <a:tc>
                  <a:txBody>
                    <a:bodyPr/>
                    <a:lstStyle/>
                    <a:p>
                      <a:pPr marL="0" marR="0">
                        <a:spcBef>
                          <a:spcPts val="300"/>
                        </a:spcBef>
                        <a:spcAft>
                          <a:spcPts val="300"/>
                        </a:spcAft>
                      </a:pPr>
                      <a:endParaRPr lang="en-US" sz="14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1.00</a:t>
                      </a:r>
                    </a:p>
                  </a:txBody>
                  <a:tcPr marL="38102" marR="38102" marT="0" marB="0">
                    <a:lnL>
                      <a:noFill/>
                    </a:lnL>
                    <a:lnR>
                      <a:noFill/>
                    </a:lnR>
                    <a:lnT>
                      <a:noFill/>
                    </a:lnT>
                    <a:lnB>
                      <a:noFill/>
                    </a:lnB>
                    <a:solidFill>
                      <a:srgbClr val="FFFFFF"/>
                    </a:solidFill>
                  </a:tcPr>
                </a:tc>
                <a:tc>
                  <a:txBody>
                    <a:bodyPr/>
                    <a:lstStyle/>
                    <a:p>
                      <a:pPr algn="ctr"/>
                      <a:r>
                        <a:rPr lang="en-US" sz="1500" dirty="0">
                          <a:latin typeface="Times New Roman" pitchFamily="18" charset="0"/>
                          <a:cs typeface="Times New Roman" pitchFamily="18" charset="0"/>
                        </a:rPr>
                        <a:t>0.87</a:t>
                      </a:r>
                    </a:p>
                  </a:txBody>
                  <a:tcPr marL="38102" marR="38102" marT="0" marB="0">
                    <a:lnL>
                      <a:noFill/>
                    </a:lnL>
                    <a:lnR>
                      <a:noFill/>
                    </a:lnR>
                    <a:lnT>
                      <a:noFill/>
                    </a:lnT>
                    <a:lnB>
                      <a:noFill/>
                    </a:lnB>
                    <a:solidFill>
                      <a:srgbClr val="FFFFFF"/>
                    </a:solidFill>
                  </a:tcPr>
                </a:tc>
                <a:tc>
                  <a:txBody>
                    <a:bodyPr/>
                    <a:lstStyle/>
                    <a:p>
                      <a:pPr algn="ctr"/>
                      <a:r>
                        <a:rPr lang="en-US" sz="1500" dirty="0">
                          <a:latin typeface="Times New Roman" pitchFamily="18" charset="0"/>
                          <a:cs typeface="Times New Roman" pitchFamily="18" charset="0"/>
                        </a:rPr>
                        <a:t>0.77</a:t>
                      </a:r>
                    </a:p>
                  </a:txBody>
                  <a:tcPr marL="38102" marR="38102" marT="0" marB="0">
                    <a:lnL>
                      <a:noFill/>
                    </a:lnL>
                    <a:lnR>
                      <a:noFill/>
                    </a:lnR>
                    <a:lnT>
                      <a:noFill/>
                    </a:lnT>
                    <a:lnB>
                      <a:noFill/>
                    </a:lnB>
                    <a:solidFill>
                      <a:srgbClr val="FFFFFF"/>
                    </a:solidFill>
                  </a:tcPr>
                </a:tc>
                <a:tc>
                  <a:txBody>
                    <a:bodyPr/>
                    <a:lstStyle/>
                    <a:p>
                      <a:pPr algn="ctr"/>
                      <a:r>
                        <a:rPr lang="en-US" sz="1500" dirty="0">
                          <a:latin typeface="Times New Roman" pitchFamily="18" charset="0"/>
                          <a:cs typeface="Times New Roman" pitchFamily="18" charset="0"/>
                        </a:rPr>
                        <a:t>0.71</a:t>
                      </a:r>
                    </a:p>
                  </a:txBody>
                  <a:tcPr marL="38102" marR="38102" marT="0" marB="0">
                    <a:lnL>
                      <a:noFill/>
                    </a:lnL>
                    <a:lnR>
                      <a:noFill/>
                    </a:lnR>
                    <a:lnT>
                      <a:noFill/>
                    </a:lnT>
                    <a:lnB>
                      <a:noFill/>
                    </a:lnB>
                    <a:solidFill>
                      <a:srgbClr val="FFFFFF"/>
                    </a:solidFill>
                  </a:tcPr>
                </a:tc>
                <a:tc>
                  <a:txBody>
                    <a:bodyPr/>
                    <a:lstStyle/>
                    <a:p>
                      <a:pPr algn="ctr"/>
                      <a:r>
                        <a:rPr lang="en-US" sz="1500" dirty="0">
                          <a:latin typeface="Times New Roman" pitchFamily="18" charset="0"/>
                          <a:cs typeface="Times New Roman" pitchFamily="18" charset="0"/>
                        </a:rPr>
                        <a:t>0.61</a:t>
                      </a:r>
                    </a:p>
                  </a:txBody>
                  <a:tcPr marL="38102" marR="38102" marT="0" marB="0">
                    <a:lnL>
                      <a:noFill/>
                    </a:lnL>
                    <a:lnR>
                      <a:noFill/>
                    </a:lnR>
                    <a:lnT>
                      <a:noFill/>
                    </a:lnT>
                    <a:lnB>
                      <a:noFill/>
                    </a:lnB>
                    <a:solidFill>
                      <a:srgbClr val="FFFFFF"/>
                    </a:solidFill>
                  </a:tcPr>
                </a:tc>
                <a:tc gridSpan="3">
                  <a:txBody>
                    <a:bodyPr/>
                    <a:lstStyle/>
                    <a:p>
                      <a:pPr algn="ctr"/>
                      <a:r>
                        <a:rPr lang="en-US" sz="1500">
                          <a:latin typeface="Times New Roman" pitchFamily="18" charset="0"/>
                          <a:cs typeface="Times New Roman" pitchFamily="18" charset="0"/>
                        </a:rPr>
                        <a:t>0.55</a:t>
                      </a:r>
                      <a:endParaRPr lang="en-US" sz="1500" dirty="0">
                        <a:latin typeface="Times New Roman" pitchFamily="18" charset="0"/>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28580">
                <a:tc>
                  <a:txBody>
                    <a:bodyPr/>
                    <a:lstStyle/>
                    <a:p>
                      <a:pPr marL="0" marR="0">
                        <a:spcBef>
                          <a:spcPts val="300"/>
                        </a:spcBef>
                        <a:spcAft>
                          <a:spcPts val="300"/>
                        </a:spcAft>
                      </a:pPr>
                      <a:r>
                        <a:rPr lang="en-US" sz="1400" dirty="0">
                          <a:latin typeface="Times New Roman" pitchFamily="18" charset="0"/>
                          <a:ea typeface="Times New Roman"/>
                          <a:cs typeface="Times New Roman" pitchFamily="18" charset="0"/>
                        </a:rPr>
                        <a:t>          </a:t>
                      </a:r>
                      <a:r>
                        <a:rPr lang="en-US" sz="1300" dirty="0">
                          <a:latin typeface="Times New Roman" pitchFamily="18" charset="0"/>
                          <a:ea typeface="Times New Roman"/>
                          <a:cs typeface="Times New Roman" pitchFamily="18" charset="0"/>
                        </a:rPr>
                        <a:t>ARE at </a:t>
                      </a: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a:latin typeface="Times New Roman" pitchFamily="18" charset="0"/>
                          <a:ea typeface="Times New Roman"/>
                          <a:cs typeface="Times New Roman" pitchFamily="18" charset="0"/>
                        </a:rPr>
                        <a:t>1.00</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solidFill>
                            <a:srgbClr val="000000"/>
                          </a:solidFill>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0.99</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solidFill>
                            <a:srgbClr val="000000"/>
                          </a:solidFill>
                          <a:latin typeface="Times New Roman" pitchFamily="18" charset="0"/>
                          <a:ea typeface="Times New Roman"/>
                          <a:cs typeface="Times New Roman" pitchFamily="18" charset="0"/>
                        </a:rPr>
                        <a:t>0.98</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0.97</a:t>
                      </a: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500" dirty="0">
                          <a:solidFill>
                            <a:srgbClr val="000000"/>
                          </a:solidFill>
                          <a:latin typeface="Times New Roman" pitchFamily="18" charset="0"/>
                          <a:ea typeface="Times New Roman"/>
                          <a:cs typeface="Times New Roman" pitchFamily="18" charset="0"/>
                        </a:rPr>
                        <a:t>0.95</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228580">
                <a:tc>
                  <a:txBody>
                    <a:bodyPr/>
                    <a:lstStyle/>
                    <a:p>
                      <a:pPr marL="0" marR="0">
                        <a:spcBef>
                          <a:spcPts val="300"/>
                        </a:spcBef>
                        <a:spcAft>
                          <a:spcPts val="300"/>
                        </a:spcAft>
                      </a:pPr>
                      <a:r>
                        <a:rPr lang="en-US" sz="1400" dirty="0">
                          <a:latin typeface="Times New Roman" pitchFamily="18" charset="0"/>
                          <a:ea typeface="Times New Roman"/>
                          <a:cs typeface="Times New Roman" pitchFamily="18" charset="0"/>
                        </a:rPr>
                        <a:t>          </a:t>
                      </a:r>
                      <a:r>
                        <a:rPr lang="en-US" sz="1300" dirty="0">
                          <a:latin typeface="Times New Roman" pitchFamily="18" charset="0"/>
                          <a:ea typeface="Times New Roman"/>
                          <a:cs typeface="Times New Roman" pitchFamily="18" charset="0"/>
                        </a:rPr>
                        <a:t>Relative </a:t>
                      </a: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a:latin typeface="Times New Roman" pitchFamily="18" charset="0"/>
                          <a:ea typeface="Times New Roman"/>
                          <a:cs typeface="Times New Roman" pitchFamily="18" charset="0"/>
                        </a:rPr>
                        <a:t>1.00</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solidFill>
                            <a:srgbClr val="000000"/>
                          </a:solidFill>
                          <a:latin typeface="Times New Roman" pitchFamily="18" charset="0"/>
                          <a:ea typeface="Times New Roman"/>
                          <a:cs typeface="Times New Roman" pitchFamily="18" charset="0"/>
                        </a:rPr>
                        <a:t>0.90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0.81</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solidFill>
                            <a:srgbClr val="000000"/>
                          </a:solidFill>
                          <a:latin typeface="Times New Roman" pitchFamily="18" charset="0"/>
                          <a:ea typeface="Times New Roman"/>
                          <a:cs typeface="Times New Roman" pitchFamily="18" charset="0"/>
                        </a:rPr>
                        <a:t>0.75</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0.65</a:t>
                      </a: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500" dirty="0">
                          <a:solidFill>
                            <a:srgbClr val="000000"/>
                          </a:solidFill>
                          <a:latin typeface="Times New Roman" pitchFamily="18" charset="0"/>
                          <a:ea typeface="Times New Roman"/>
                          <a:cs typeface="Times New Roman" pitchFamily="18" charset="0"/>
                        </a:rPr>
                        <a:t>0.59</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5"/>
                  </a:ext>
                </a:extLst>
              </a:tr>
              <a:tr h="228580">
                <a:tc>
                  <a:txBody>
                    <a:bodyPr/>
                    <a:lstStyle/>
                    <a:p>
                      <a:pPr marL="0" marR="0">
                        <a:spcBef>
                          <a:spcPts val="300"/>
                        </a:spcBef>
                        <a:spcAft>
                          <a:spcPts val="300"/>
                        </a:spcAft>
                      </a:pPr>
                      <a:r>
                        <a:rPr lang="en-US" sz="1300" baseline="0" dirty="0">
                          <a:solidFill>
                            <a:srgbClr val="000000"/>
                          </a:solidFill>
                          <a:latin typeface="Times New Roman" pitchFamily="18" charset="0"/>
                          <a:ea typeface="Times New Roman"/>
                          <a:cs typeface="Times New Roman" pitchFamily="18" charset="0"/>
                        </a:rPr>
                        <a:t>     B. Assuming primary measurement can be eliminated if</a:t>
                      </a:r>
                      <a:endParaRPr lang="en-US" sz="13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441720">
                <a:tc>
                  <a:txBody>
                    <a:bodyPr/>
                    <a:lstStyle/>
                    <a:p>
                      <a:pPr marL="0" marR="0">
                        <a:spcBef>
                          <a:spcPts val="300"/>
                        </a:spcBef>
                        <a:spcAft>
                          <a:spcPts val="300"/>
                        </a:spcAft>
                      </a:pPr>
                      <a:r>
                        <a:rPr lang="en-US" sz="1400" dirty="0">
                          <a:latin typeface="Times New Roman" pitchFamily="18" charset="0"/>
                          <a:ea typeface="Times New Roman"/>
                          <a:cs typeface="Times New Roman" pitchFamily="18" charset="0"/>
                        </a:rPr>
                        <a:t>                               and ARE=1.00 for all</a:t>
                      </a:r>
                      <a:r>
                        <a:rPr lang="en-US" sz="1400" i="1" dirty="0">
                          <a:latin typeface="Times New Roman" pitchFamily="18" charset="0"/>
                          <a:ea typeface="Times New Roman"/>
                          <a:cs typeface="Times New Roman" pitchFamily="18" charset="0"/>
                        </a:rPr>
                        <a:t> R </a:t>
                      </a:r>
                      <a:r>
                        <a:rPr lang="en-US" sz="1400" dirty="0">
                          <a:latin typeface="Times New Roman" pitchFamily="18" charset="0"/>
                          <a:ea typeface="Times New Roman"/>
                          <a:cs typeface="Times New Roman" pitchFamily="18" charset="0"/>
                        </a:rPr>
                        <a:t>&lt;=14</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228580">
                <a:tc>
                  <a:txBody>
                    <a:bodyPr/>
                    <a:lstStyle/>
                    <a:p>
                      <a:pPr marL="0" marR="0">
                        <a:spcBef>
                          <a:spcPts val="300"/>
                        </a:spcBef>
                        <a:spcAft>
                          <a:spcPts val="300"/>
                        </a:spcAft>
                      </a:pPr>
                      <a:r>
                        <a:rPr lang="en-US" sz="1300" b="1" i="1" baseline="0" dirty="0">
                          <a:latin typeface="Times New Roman" pitchFamily="18" charset="0"/>
                          <a:ea typeface="Times New Roman"/>
                          <a:cs typeface="Times New Roman" pitchFamily="18" charset="0"/>
                        </a:rPr>
                        <a:t>II.  Assuming </a:t>
                      </a:r>
                      <a:r>
                        <a:rPr lang="en-US" sz="1300" b="1" i="1" baseline="0" dirty="0" err="1">
                          <a:latin typeface="Times New Roman" pitchFamily="18" charset="0"/>
                          <a:ea typeface="Times New Roman"/>
                          <a:cs typeface="Times New Roman" pitchFamily="18" charset="0"/>
                        </a:rPr>
                        <a:t>nondifferential</a:t>
                      </a:r>
                      <a:r>
                        <a:rPr lang="en-US" sz="1300" b="1" i="1" baseline="0" dirty="0">
                          <a:latin typeface="Times New Roman" pitchFamily="18" charset="0"/>
                          <a:ea typeface="Times New Roman"/>
                          <a:cs typeface="Times New Roman" pitchFamily="18" charset="0"/>
                        </a:rPr>
                        <a:t> misclassification</a:t>
                      </a:r>
                      <a:endParaRPr lang="en-US" sz="1300" b="1" i="1"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endParaRPr lang="en-US" sz="15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228580">
                <a:tc>
                  <a:txBody>
                    <a:bodyPr/>
                    <a:lstStyle/>
                    <a:p>
                      <a:pPr marL="0" marR="0">
                        <a:spcBef>
                          <a:spcPts val="300"/>
                        </a:spcBef>
                        <a:spcAft>
                          <a:spcPts val="300"/>
                        </a:spcAft>
                      </a:pPr>
                      <a:r>
                        <a:rPr lang="en-US" sz="1300" baseline="0" dirty="0">
                          <a:solidFill>
                            <a:srgbClr val="000000"/>
                          </a:solidFill>
                          <a:latin typeface="Times New Roman" pitchFamily="18" charset="0"/>
                          <a:ea typeface="Times New Roman"/>
                          <a:cs typeface="Times New Roman" pitchFamily="18" charset="0"/>
                        </a:rPr>
                        <a:t>     A. Assuming primary measurement always necessary</a:t>
                      </a:r>
                      <a:endParaRPr lang="en-US" sz="13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9"/>
                  </a:ext>
                </a:extLst>
              </a:tr>
              <a:tr h="228580">
                <a:tc>
                  <a:txBody>
                    <a:bodyPr/>
                    <a:lstStyle/>
                    <a:p>
                      <a:pPr marL="0" marR="0">
                        <a:spcBef>
                          <a:spcPts val="300"/>
                        </a:spcBef>
                        <a:spcAft>
                          <a:spcPts val="300"/>
                        </a:spcAft>
                      </a:pPr>
                      <a:endParaRPr lang="en-US" sz="13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a:latin typeface="Times New Roman" pitchFamily="18" charset="0"/>
                          <a:ea typeface="Times New Roman"/>
                          <a:cs typeface="Times New Roman" pitchFamily="18" charset="0"/>
                        </a:rPr>
                        <a:t>1.00</a:t>
                      </a:r>
                    </a:p>
                  </a:txBody>
                  <a:tcPr marL="38102" marR="38102" marT="0" marB="0">
                    <a:lnL>
                      <a:noFill/>
                    </a:lnL>
                    <a:lnR>
                      <a:noFill/>
                    </a:lnR>
                    <a:lnT>
                      <a:noFill/>
                    </a:lnT>
                    <a:lnB>
                      <a:noFill/>
                    </a:lnB>
                    <a:solidFill>
                      <a:srgbClr val="FFFFFF"/>
                    </a:solidFill>
                  </a:tcPr>
                </a:tc>
                <a:tc>
                  <a:txBody>
                    <a:bodyPr/>
                    <a:lstStyle/>
                    <a:p>
                      <a:pPr algn="ctr"/>
                      <a:r>
                        <a:rPr lang="en-US" sz="1500" dirty="0">
                          <a:latin typeface="Times New Roman" pitchFamily="18" charset="0"/>
                          <a:cs typeface="Times New Roman" pitchFamily="18" charset="0"/>
                        </a:rPr>
                        <a:t>0.11</a:t>
                      </a:r>
                    </a:p>
                  </a:txBody>
                  <a:tcPr marL="38102" marR="38102" marT="0" marB="0">
                    <a:lnL>
                      <a:noFill/>
                    </a:lnL>
                    <a:lnR>
                      <a:noFill/>
                    </a:lnR>
                    <a:lnT>
                      <a:noFill/>
                    </a:lnT>
                    <a:lnB>
                      <a:noFill/>
                    </a:lnB>
                    <a:solidFill>
                      <a:srgbClr val="FFFFFF"/>
                    </a:solidFill>
                  </a:tcPr>
                </a:tc>
                <a:tc>
                  <a:txBody>
                    <a:bodyPr/>
                    <a:lstStyle/>
                    <a:p>
                      <a:pPr algn="ctr"/>
                      <a:r>
                        <a:rPr lang="en-US" sz="1500" dirty="0">
                          <a:latin typeface="Times New Roman" pitchFamily="18" charset="0"/>
                          <a:cs typeface="Times New Roman" pitchFamily="18" charset="0"/>
                        </a:rPr>
                        <a:t>0.07</a:t>
                      </a:r>
                    </a:p>
                  </a:txBody>
                  <a:tcPr marL="38102" marR="38102" marT="0" marB="0">
                    <a:lnL>
                      <a:noFill/>
                    </a:lnL>
                    <a:lnR>
                      <a:noFill/>
                    </a:lnR>
                    <a:lnT>
                      <a:noFill/>
                    </a:lnT>
                    <a:lnB>
                      <a:noFill/>
                    </a:lnB>
                    <a:solidFill>
                      <a:srgbClr val="FFFFFF"/>
                    </a:solidFill>
                  </a:tcPr>
                </a:tc>
                <a:tc>
                  <a:txBody>
                    <a:bodyPr/>
                    <a:lstStyle/>
                    <a:p>
                      <a:pPr algn="ctr"/>
                      <a:r>
                        <a:rPr lang="en-US" sz="1500" dirty="0">
                          <a:latin typeface="Times New Roman" pitchFamily="18" charset="0"/>
                          <a:cs typeface="Times New Roman" pitchFamily="18" charset="0"/>
                        </a:rPr>
                        <a:t>0.06</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0.04</a:t>
                      </a: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500">
                          <a:solidFill>
                            <a:srgbClr val="000000"/>
                          </a:solidFill>
                          <a:latin typeface="Times New Roman" pitchFamily="18" charset="0"/>
                          <a:ea typeface="Times New Roman"/>
                          <a:cs typeface="Times New Roman" pitchFamily="18" charset="0"/>
                        </a:rPr>
                        <a:t>0.04</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0"/>
                  </a:ext>
                </a:extLst>
              </a:tr>
              <a:tr h="228580">
                <a:tc>
                  <a:txBody>
                    <a:bodyPr/>
                    <a:lstStyle/>
                    <a:p>
                      <a:pPr marL="0" marR="0" indent="0" algn="l" defTabSz="914400" rtl="0" eaLnBrk="1" fontAlgn="auto" latinLnBrk="0" hangingPunct="1">
                        <a:lnSpc>
                          <a:spcPct val="100000"/>
                        </a:lnSpc>
                        <a:spcBef>
                          <a:spcPts val="300"/>
                        </a:spcBef>
                        <a:spcAft>
                          <a:spcPts val="300"/>
                        </a:spcAft>
                        <a:buClrTx/>
                        <a:buSzTx/>
                        <a:buFontTx/>
                        <a:buNone/>
                        <a:tabLst/>
                        <a:defRPr/>
                      </a:pPr>
                      <a:r>
                        <a:rPr lang="en-US" sz="1300" dirty="0">
                          <a:latin typeface="Times New Roman" pitchFamily="18" charset="0"/>
                          <a:ea typeface="Times New Roman"/>
                          <a:cs typeface="Times New Roman" pitchFamily="18" charset="0"/>
                        </a:rPr>
                        <a:t>           ARE at </a:t>
                      </a: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a:latin typeface="Times New Roman" pitchFamily="18" charset="0"/>
                          <a:ea typeface="Times New Roman"/>
                          <a:cs typeface="Times New Roman" pitchFamily="18" charset="0"/>
                        </a:rPr>
                        <a:t>1.00</a:t>
                      </a: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a:solidFill>
                            <a:srgbClr val="000000"/>
                          </a:solidFill>
                          <a:latin typeface="Times New Roman" pitchFamily="18" charset="0"/>
                          <a:ea typeface="Times New Roman"/>
                          <a:cs typeface="Times New Roman" pitchFamily="18" charset="0"/>
                        </a:rPr>
                        <a:t>0.90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0.80</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0.72</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0.60</a:t>
                      </a: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500" dirty="0">
                          <a:solidFill>
                            <a:srgbClr val="000000"/>
                          </a:solidFill>
                          <a:latin typeface="Times New Roman" pitchFamily="18" charset="0"/>
                          <a:ea typeface="Times New Roman"/>
                          <a:cs typeface="Times New Roman" pitchFamily="18" charset="0"/>
                        </a:rPr>
                        <a:t>0.52</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1"/>
                  </a:ext>
                </a:extLst>
              </a:tr>
              <a:tr h="228580">
                <a:tc>
                  <a:txBody>
                    <a:bodyPr/>
                    <a:lstStyle/>
                    <a:p>
                      <a:pPr marL="0" marR="0" indent="0" algn="l" defTabSz="914400" rtl="0" eaLnBrk="1" fontAlgn="auto" latinLnBrk="0" hangingPunct="1">
                        <a:lnSpc>
                          <a:spcPct val="100000"/>
                        </a:lnSpc>
                        <a:spcBef>
                          <a:spcPts val="300"/>
                        </a:spcBef>
                        <a:spcAft>
                          <a:spcPts val="300"/>
                        </a:spcAft>
                        <a:buClrTx/>
                        <a:buSzTx/>
                        <a:buFontTx/>
                        <a:buNone/>
                        <a:tabLst/>
                        <a:defRPr/>
                      </a:pPr>
                      <a:r>
                        <a:rPr lang="en-US" sz="1300" dirty="0">
                          <a:latin typeface="Times New Roman" pitchFamily="18" charset="0"/>
                          <a:ea typeface="Times New Roman"/>
                          <a:cs typeface="Times New Roman" pitchFamily="18" charset="0"/>
                        </a:rPr>
                        <a:t>           Relative </a:t>
                      </a: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a:latin typeface="Times New Roman" pitchFamily="18" charset="0"/>
                          <a:ea typeface="Times New Roman"/>
                          <a:cs typeface="Times New Roman" pitchFamily="18" charset="0"/>
                        </a:rPr>
                        <a:t>1.00</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solidFill>
                            <a:srgbClr val="000000"/>
                          </a:solidFill>
                          <a:latin typeface="Times New Roman" pitchFamily="18" charset="0"/>
                          <a:ea typeface="Times New Roman"/>
                          <a:cs typeface="Times New Roman" pitchFamily="18" charset="0"/>
                        </a:rPr>
                        <a:t>0.27</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0.22</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0.19</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0.15</a:t>
                      </a: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500" dirty="0">
                          <a:solidFill>
                            <a:srgbClr val="000000"/>
                          </a:solidFill>
                          <a:latin typeface="Times New Roman" pitchFamily="18" charset="0"/>
                          <a:ea typeface="Times New Roman"/>
                          <a:cs typeface="Times New Roman" pitchFamily="18" charset="0"/>
                        </a:rPr>
                        <a:t>0.13</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12"/>
                  </a:ext>
                </a:extLst>
              </a:tr>
              <a:tr h="228580">
                <a:tc>
                  <a:txBody>
                    <a:bodyPr/>
                    <a:lstStyle/>
                    <a:p>
                      <a:pPr marL="0" marR="0" indent="0" algn="l" defTabSz="914400" rtl="0" eaLnBrk="1" fontAlgn="auto" latinLnBrk="0" hangingPunct="1">
                        <a:lnSpc>
                          <a:spcPct val="100000"/>
                        </a:lnSpc>
                        <a:spcBef>
                          <a:spcPts val="300"/>
                        </a:spcBef>
                        <a:spcAft>
                          <a:spcPts val="300"/>
                        </a:spcAft>
                        <a:buClrTx/>
                        <a:buSzTx/>
                        <a:buFontTx/>
                        <a:buNone/>
                        <a:tabLst/>
                        <a:defRPr/>
                      </a:pPr>
                      <a:r>
                        <a:rPr lang="en-US" sz="1300" baseline="0" dirty="0">
                          <a:solidFill>
                            <a:srgbClr val="000000"/>
                          </a:solidFill>
                          <a:latin typeface="Times New Roman" pitchFamily="18" charset="0"/>
                          <a:ea typeface="Times New Roman"/>
                          <a:cs typeface="Times New Roman" pitchFamily="18" charset="0"/>
                        </a:rPr>
                        <a:t>     B. Assuming primary measurement can be eliminated if</a:t>
                      </a:r>
                      <a:endParaRPr lang="en-US" sz="13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endParaRPr lang="en-US" sz="15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3"/>
                  </a:ext>
                </a:extLst>
              </a:tr>
              <a:tr h="228580">
                <a:tc>
                  <a:txBody>
                    <a:bodyPr/>
                    <a:lstStyle/>
                    <a:p>
                      <a:pPr marL="0" marR="0">
                        <a:spcBef>
                          <a:spcPts val="300"/>
                        </a:spcBef>
                        <a:spcAft>
                          <a:spcPts val="300"/>
                        </a:spcAft>
                      </a:pPr>
                      <a:endParaRPr lang="en-US" sz="13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a:latin typeface="Times New Roman" pitchFamily="18" charset="0"/>
                          <a:ea typeface="Times New Roman"/>
                          <a:cs typeface="Times New Roman" pitchFamily="18" charset="0"/>
                        </a:rPr>
                        <a:t>1.00</a:t>
                      </a:r>
                    </a:p>
                  </a:txBody>
                  <a:tcPr marL="38102" marR="38102" marT="0" marB="0">
                    <a:lnL>
                      <a:noFill/>
                    </a:lnL>
                    <a:lnR>
                      <a:noFill/>
                    </a:lnR>
                    <a:lnT>
                      <a:noFill/>
                    </a:lnT>
                    <a:lnB>
                      <a:noFill/>
                    </a:lnB>
                    <a:solidFill>
                      <a:srgbClr val="FFFFFF"/>
                    </a:solidFill>
                  </a:tcPr>
                </a:tc>
                <a:tc>
                  <a:txBody>
                    <a:bodyPr/>
                    <a:lstStyle/>
                    <a:p>
                      <a:pPr algn="ctr"/>
                      <a:r>
                        <a:rPr lang="en-US" sz="1500" dirty="0">
                          <a:latin typeface="Times New Roman" pitchFamily="18" charset="0"/>
                          <a:cs typeface="Times New Roman" pitchFamily="18" charset="0"/>
                        </a:rPr>
                        <a:t>1.00</a:t>
                      </a:r>
                    </a:p>
                  </a:txBody>
                  <a:tcPr marL="38102" marR="38102" marT="0" marB="0">
                    <a:lnL>
                      <a:noFill/>
                    </a:lnL>
                    <a:lnR>
                      <a:noFill/>
                    </a:lnR>
                    <a:lnT>
                      <a:noFill/>
                    </a:lnT>
                    <a:lnB>
                      <a:noFill/>
                    </a:lnB>
                    <a:solidFill>
                      <a:srgbClr val="FFFFFF"/>
                    </a:solidFill>
                  </a:tcPr>
                </a:tc>
                <a:tc>
                  <a:txBody>
                    <a:bodyPr/>
                    <a:lstStyle/>
                    <a:p>
                      <a:pPr algn="ctr"/>
                      <a:r>
                        <a:rPr lang="en-US" sz="1500" dirty="0">
                          <a:latin typeface="Times New Roman" pitchFamily="18" charset="0"/>
                          <a:cs typeface="Times New Roman" pitchFamily="18" charset="0"/>
                        </a:rPr>
                        <a:t>0.07</a:t>
                      </a:r>
                    </a:p>
                  </a:txBody>
                  <a:tcPr marL="38102" marR="38102" marT="0" marB="0">
                    <a:lnL>
                      <a:noFill/>
                    </a:lnL>
                    <a:lnR>
                      <a:noFill/>
                    </a:lnR>
                    <a:lnT>
                      <a:noFill/>
                    </a:lnT>
                    <a:lnB>
                      <a:noFill/>
                    </a:lnB>
                    <a:solidFill>
                      <a:srgbClr val="FFFFFF"/>
                    </a:solidFill>
                  </a:tcPr>
                </a:tc>
                <a:tc>
                  <a:txBody>
                    <a:bodyPr/>
                    <a:lstStyle/>
                    <a:p>
                      <a:pPr algn="ctr"/>
                      <a:r>
                        <a:rPr lang="en-US" sz="1500" b="0" dirty="0">
                          <a:latin typeface="Times New Roman" pitchFamily="18" charset="0"/>
                          <a:cs typeface="Times New Roman" pitchFamily="18" charset="0"/>
                        </a:rPr>
                        <a:t>0.06</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a:latin typeface="Times New Roman" pitchFamily="18" charset="0"/>
                          <a:ea typeface="Times New Roman"/>
                          <a:cs typeface="Times New Roman" pitchFamily="18" charset="0"/>
                        </a:rPr>
                        <a:t>0.04</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500" dirty="0">
                          <a:solidFill>
                            <a:srgbClr val="000000"/>
                          </a:solidFill>
                          <a:latin typeface="Times New Roman" pitchFamily="18" charset="0"/>
                          <a:ea typeface="Times New Roman"/>
                          <a:cs typeface="Times New Roman" pitchFamily="18" charset="0"/>
                        </a:rPr>
                        <a:t>0.04</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4"/>
                  </a:ext>
                </a:extLst>
              </a:tr>
              <a:tr h="228580">
                <a:tc>
                  <a:txBody>
                    <a:bodyPr/>
                    <a:lstStyle/>
                    <a:p>
                      <a:pPr marL="0" marR="0" indent="0" algn="l" defTabSz="914400" rtl="0" eaLnBrk="1" fontAlgn="auto" latinLnBrk="0" hangingPunct="1">
                        <a:lnSpc>
                          <a:spcPct val="100000"/>
                        </a:lnSpc>
                        <a:spcBef>
                          <a:spcPts val="300"/>
                        </a:spcBef>
                        <a:spcAft>
                          <a:spcPts val="300"/>
                        </a:spcAft>
                        <a:buClrTx/>
                        <a:buSzTx/>
                        <a:buFontTx/>
                        <a:buNone/>
                        <a:tabLst/>
                        <a:defRPr/>
                      </a:pPr>
                      <a:r>
                        <a:rPr lang="en-US" sz="1300" dirty="0">
                          <a:latin typeface="Times New Roman" pitchFamily="18" charset="0"/>
                          <a:ea typeface="Times New Roman"/>
                          <a:cs typeface="Times New Roman" pitchFamily="18" charset="0"/>
                        </a:rPr>
                        <a:t>           ARE at</a:t>
                      </a: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a:latin typeface="Times New Roman" pitchFamily="18" charset="0"/>
                          <a:ea typeface="Times New Roman"/>
                          <a:cs typeface="Times New Roman" pitchFamily="18" charset="0"/>
                        </a:rPr>
                        <a:t>1.00</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solidFill>
                            <a:srgbClr val="000000"/>
                          </a:solidFill>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0.96</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b="0" dirty="0">
                          <a:latin typeface="Times New Roman" pitchFamily="18" charset="0"/>
                          <a:ea typeface="Times New Roman"/>
                          <a:cs typeface="Times New Roman" pitchFamily="18" charset="0"/>
                        </a:rPr>
                        <a:t>0.84</a:t>
                      </a: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0.68</a:t>
                      </a: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500" dirty="0">
                          <a:solidFill>
                            <a:srgbClr val="000000"/>
                          </a:solidFill>
                          <a:latin typeface="Times New Roman" pitchFamily="18" charset="0"/>
                          <a:ea typeface="Times New Roman"/>
                          <a:cs typeface="Times New Roman" pitchFamily="18" charset="0"/>
                        </a:rPr>
                        <a:t>0.57</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5"/>
                  </a:ext>
                </a:extLst>
              </a:tr>
              <a:tr h="228580">
                <a:tc>
                  <a:txBody>
                    <a:bodyPr/>
                    <a:lstStyle/>
                    <a:p>
                      <a:pPr marL="0" marR="0">
                        <a:spcBef>
                          <a:spcPts val="300"/>
                        </a:spcBef>
                        <a:spcAft>
                          <a:spcPts val="300"/>
                        </a:spcAft>
                      </a:pPr>
                      <a:r>
                        <a:rPr lang="en-US" sz="1300" dirty="0">
                          <a:latin typeface="Times New Roman" pitchFamily="18" charset="0"/>
                          <a:ea typeface="Times New Roman"/>
                          <a:cs typeface="Times New Roman" pitchFamily="18" charset="0"/>
                        </a:rPr>
                        <a:t>           Relative </a:t>
                      </a:r>
                    </a:p>
                  </a:txBody>
                  <a:tcPr marL="38102" marR="38102"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a:latin typeface="Times New Roman" pitchFamily="18" charset="0"/>
                          <a:ea typeface="Times New Roman"/>
                          <a:cs typeface="Times New Roman" pitchFamily="18" charset="0"/>
                        </a:rPr>
                        <a:t>1.00</a:t>
                      </a:r>
                    </a:p>
                  </a:txBody>
                  <a:tcPr marL="38102" marR="38102"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spcBef>
                          <a:spcPts val="300"/>
                        </a:spcBef>
                        <a:spcAft>
                          <a:spcPts val="300"/>
                        </a:spcAft>
                      </a:pPr>
                      <a:r>
                        <a:rPr lang="en-US" sz="1500" dirty="0">
                          <a:solidFill>
                            <a:srgbClr val="000000"/>
                          </a:solidFill>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0.27</a:t>
                      </a:r>
                    </a:p>
                  </a:txBody>
                  <a:tcPr marL="38102" marR="38102"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spcBef>
                          <a:spcPts val="300"/>
                        </a:spcBef>
                        <a:spcAft>
                          <a:spcPts val="300"/>
                        </a:spcAft>
                      </a:pPr>
                      <a:r>
                        <a:rPr lang="en-US" sz="1500" b="0" dirty="0">
                          <a:latin typeface="Times New Roman" pitchFamily="18" charset="0"/>
                          <a:ea typeface="Times New Roman"/>
                          <a:cs typeface="Times New Roman" pitchFamily="18" charset="0"/>
                        </a:rPr>
                        <a:t>0.23</a:t>
                      </a:r>
                    </a:p>
                  </a:txBody>
                  <a:tcPr marL="38102" marR="38102"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spcBef>
                          <a:spcPts val="300"/>
                        </a:spcBef>
                        <a:spcAft>
                          <a:spcPts val="300"/>
                        </a:spcAft>
                      </a:pPr>
                      <a:r>
                        <a:rPr lang="en-US" sz="1500" dirty="0">
                          <a:latin typeface="Times New Roman" pitchFamily="18" charset="0"/>
                          <a:ea typeface="Times New Roman"/>
                          <a:cs typeface="Times New Roman" pitchFamily="18" charset="0"/>
                        </a:rPr>
                        <a:t>0.16</a:t>
                      </a:r>
                    </a:p>
                  </a:txBody>
                  <a:tcPr marL="38102" marR="38102"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gridSpan="3">
                  <a:txBody>
                    <a:bodyPr/>
                    <a:lstStyle/>
                    <a:p>
                      <a:pPr marL="0" marR="0" algn="ctr">
                        <a:spcBef>
                          <a:spcPts val="300"/>
                        </a:spcBef>
                        <a:spcAft>
                          <a:spcPts val="300"/>
                        </a:spcAft>
                      </a:pPr>
                      <a:r>
                        <a:rPr lang="en-US" sz="1500" dirty="0">
                          <a:solidFill>
                            <a:srgbClr val="000000"/>
                          </a:solidFill>
                          <a:latin typeface="Times New Roman" pitchFamily="18" charset="0"/>
                          <a:ea typeface="Times New Roman"/>
                          <a:cs typeface="Times New Roman" pitchFamily="18" charset="0"/>
                        </a:rPr>
                        <a:t>0.14</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16"/>
                  </a:ext>
                </a:extLst>
              </a:tr>
              <a:tr h="746693">
                <a:tc gridSpan="7">
                  <a:txBody>
                    <a:bodyPr/>
                    <a:lstStyle/>
                    <a:p>
                      <a:pPr marL="0" marR="0" algn="l">
                        <a:spcBef>
                          <a:spcPts val="0"/>
                        </a:spcBef>
                        <a:spcAft>
                          <a:spcPts val="0"/>
                        </a:spcAft>
                        <a:buFont typeface="Arial" charset="0"/>
                        <a:buNone/>
                      </a:pPr>
                      <a:endParaRPr lang="en-US" sz="200" baseline="0" dirty="0">
                        <a:solidFill>
                          <a:srgbClr val="000000"/>
                        </a:solidFill>
                        <a:latin typeface="Times New Roman" pitchFamily="18" charset="0"/>
                        <a:ea typeface="Times New Roman"/>
                        <a:cs typeface="Times New Roman" pitchFamily="18" charset="0"/>
                      </a:endParaRPr>
                    </a:p>
                    <a:p>
                      <a:pPr marL="0" marR="0" algn="l">
                        <a:spcBef>
                          <a:spcPts val="0"/>
                        </a:spcBef>
                        <a:spcAft>
                          <a:spcPts val="0"/>
                        </a:spcAft>
                        <a:buFont typeface="Arial" charset="0"/>
                        <a:buNone/>
                      </a:pPr>
                      <a:r>
                        <a:rPr lang="en-US" sz="1400" baseline="0" dirty="0">
                          <a:solidFill>
                            <a:srgbClr val="000000"/>
                          </a:solidFill>
                          <a:latin typeface="Times New Roman" pitchFamily="18" charset="0"/>
                          <a:ea typeface="Times New Roman"/>
                          <a:cs typeface="Times New Roman" pitchFamily="18" charset="0"/>
                        </a:rPr>
                        <a:t>* </a:t>
                      </a:r>
                      <a:r>
                        <a:rPr lang="en-US" sz="1500" baseline="0" dirty="0">
                          <a:solidFill>
                            <a:srgbClr val="000000"/>
                          </a:solidFill>
                          <a:latin typeface="Times New Roman" pitchFamily="18" charset="0"/>
                          <a:ea typeface="Times New Roman"/>
                          <a:cs typeface="Times New Roman" pitchFamily="18" charset="0"/>
                        </a:rPr>
                        <a:t>Asymptotic efficiency of design with </a:t>
                      </a:r>
                      <a:r>
                        <a:rPr lang="en-US" sz="1500" i="1" baseline="0" dirty="0">
                          <a:solidFill>
                            <a:srgbClr val="000000"/>
                          </a:solidFill>
                          <a:latin typeface="Times New Roman" pitchFamily="18" charset="0"/>
                          <a:ea typeface="Times New Roman"/>
                          <a:cs typeface="Times New Roman" pitchFamily="18" charset="0"/>
                        </a:rPr>
                        <a:t>               </a:t>
                      </a:r>
                      <a:r>
                        <a:rPr lang="en-US" sz="1500" baseline="0" dirty="0">
                          <a:solidFill>
                            <a:srgbClr val="000000"/>
                          </a:solidFill>
                          <a:latin typeface="Times New Roman" pitchFamily="18" charset="0"/>
                          <a:ea typeface="Times New Roman"/>
                          <a:cs typeface="Times New Roman" pitchFamily="18" charset="0"/>
                        </a:rPr>
                        <a:t>, relative to design with             . </a:t>
                      </a:r>
                    </a:p>
                    <a:p>
                      <a:pPr marL="0" marR="0" algn="l">
                        <a:spcBef>
                          <a:spcPts val="0"/>
                        </a:spcBef>
                        <a:spcAft>
                          <a:spcPts val="0"/>
                        </a:spcAft>
                        <a:buFont typeface="Arial" charset="0"/>
                        <a:buNone/>
                      </a:pPr>
                      <a:endParaRPr lang="en-US" sz="200" dirty="0">
                        <a:solidFill>
                          <a:srgbClr val="000000"/>
                        </a:solidFill>
                        <a:latin typeface="Times New Roman" pitchFamily="18" charset="0"/>
                        <a:ea typeface="Times New Roman"/>
                        <a:cs typeface="Times New Roman" pitchFamily="18" charset="0"/>
                      </a:endParaRPr>
                    </a:p>
                    <a:p>
                      <a:pPr algn="l">
                        <a:buFont typeface="Arial" charset="0"/>
                        <a:buNone/>
                      </a:pPr>
                      <a:r>
                        <a:rPr lang="en-US" sz="1400" kern="1200" dirty="0">
                          <a:solidFill>
                            <a:schemeClr val="tx1"/>
                          </a:solidFill>
                          <a:latin typeface="Times New Roman" pitchFamily="18" charset="0"/>
                          <a:ea typeface="+mn-ea"/>
                          <a:cs typeface="Times New Roman" pitchFamily="18" charset="0"/>
                        </a:rPr>
                        <a:t>   </a:t>
                      </a:r>
                      <a:r>
                        <a:rPr lang="en-US" sz="1500" kern="1200" dirty="0">
                          <a:solidFill>
                            <a:schemeClr val="tx1"/>
                          </a:solidFill>
                          <a:latin typeface="Times New Roman" pitchFamily="18" charset="0"/>
                          <a:ea typeface="+mn-ea"/>
                          <a:cs typeface="Times New Roman" pitchFamily="18" charset="0"/>
                        </a:rPr>
                        <a:t>Ratio of study size when               to study size when               (assuming</a:t>
                      </a:r>
                      <a:r>
                        <a:rPr lang="en-US" sz="1500" kern="1200" baseline="0" dirty="0">
                          <a:solidFill>
                            <a:schemeClr val="tx1"/>
                          </a:solidFill>
                          <a:latin typeface="Times New Roman" pitchFamily="18" charset="0"/>
                          <a:ea typeface="+mn-ea"/>
                          <a:cs typeface="Times New Roman" pitchFamily="18" charset="0"/>
                        </a:rPr>
                        <a:t> the same expenditure for </a:t>
                      </a:r>
                    </a:p>
                    <a:p>
                      <a:pPr algn="l">
                        <a:buFont typeface="Arial" charset="0"/>
                        <a:buNone/>
                      </a:pPr>
                      <a:r>
                        <a:rPr lang="en-US" sz="1500" kern="1200" baseline="0" dirty="0">
                          <a:solidFill>
                            <a:schemeClr val="tx1"/>
                          </a:solidFill>
                          <a:latin typeface="Times New Roman" pitchFamily="18" charset="0"/>
                          <a:ea typeface="+mn-ea"/>
                          <a:cs typeface="Times New Roman" pitchFamily="18" charset="0"/>
                        </a:rPr>
                        <a:t>  measurement in both designs).</a:t>
                      </a:r>
                      <a:endParaRPr lang="en-US" sz="1500" kern="1200" dirty="0">
                        <a:solidFill>
                          <a:schemeClr val="tx1"/>
                        </a:solidFill>
                        <a:latin typeface="Times New Roman" pitchFamily="18" charset="0"/>
                        <a:ea typeface="+mn-ea"/>
                        <a:cs typeface="Times New Roman"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endParaRPr lang="en-US" sz="1800"/>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marL="0" marR="0">
                        <a:spcBef>
                          <a:spcPts val="0"/>
                        </a:spcBef>
                        <a:spcAft>
                          <a:spcPts val="0"/>
                        </a:spcAft>
                      </a:pPr>
                      <a:r>
                        <a:rPr lang="en-US" sz="1600" dirty="0">
                          <a:latin typeface="Times New Roman" pitchFamily="18" charset="0"/>
                          <a:ea typeface="Times New Roman"/>
                          <a:cs typeface="Times New Roman" pitchFamily="18" charset="0"/>
                        </a:rPr>
                        <a:t>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17"/>
                  </a:ext>
                </a:extLst>
              </a:tr>
            </a:tbl>
          </a:graphicData>
        </a:graphic>
      </p:graphicFrame>
      <mc:AlternateContent xmlns:mc="http://schemas.openxmlformats.org/markup-compatibility/2006" xmlns:a14="http://schemas.microsoft.com/office/drawing/2010/main">
        <mc:Choice Requires="a14">
          <p:sp>
            <p:nvSpPr>
              <p:cNvPr id="13448" name="Object 6"/>
              <p:cNvSpPr txBox="1"/>
              <p:nvPr/>
            </p:nvSpPr>
            <p:spPr bwMode="auto">
              <a:xfrm>
                <a:off x="2667000" y="0"/>
                <a:ext cx="417513" cy="398463"/>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𝜆</m:t>
                          </m:r>
                        </m:e>
                        <m:sub>
                          <m:r>
                            <a:rPr lang="en-US" i="1">
                              <a:solidFill>
                                <a:srgbClr val="000000"/>
                              </a:solidFill>
                              <a:latin typeface="Cambria Math" panose="02040503050406030204" pitchFamily="18" charset="0"/>
                            </a:rPr>
                            <m:t>𝑜𝑝𝑡</m:t>
                          </m:r>
                        </m:sub>
                      </m:sSub>
                    </m:oMath>
                  </m:oMathPara>
                </a14:m>
                <a:endParaRPr lang="en-US"/>
              </a:p>
            </p:txBody>
          </p:sp>
        </mc:Choice>
        <mc:Fallback xmlns="">
          <p:sp>
            <p:nvSpPr>
              <p:cNvPr id="13448" name="Object 6"/>
              <p:cNvSpPr txBox="1">
                <a:spLocks noRot="1" noChangeAspect="1" noMove="1" noResize="1" noEditPoints="1" noAdjustHandles="1" noChangeArrowheads="1" noChangeShapeType="1" noTextEdit="1"/>
              </p:cNvSpPr>
              <p:nvPr/>
            </p:nvSpPr>
            <p:spPr bwMode="auto">
              <a:xfrm>
                <a:off x="2667000" y="0"/>
                <a:ext cx="417513" cy="398463"/>
              </a:xfrm>
              <a:prstGeom prst="rect">
                <a:avLst/>
              </a:prstGeom>
              <a:blipFill>
                <a:blip r:embed="rId4"/>
                <a:stretch>
                  <a:fillRect r="-14706"/>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49" name="Object 7"/>
              <p:cNvSpPr txBox="1"/>
              <p:nvPr/>
            </p:nvSpPr>
            <p:spPr bwMode="auto">
              <a:xfrm>
                <a:off x="1177925" y="276225"/>
                <a:ext cx="1119188" cy="360363"/>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𝑋</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𝑍</m:t>
                          </m:r>
                        </m:sub>
                      </m:sSub>
                    </m:oMath>
                  </m:oMathPara>
                </a14:m>
                <a:endParaRPr lang="en-US"/>
              </a:p>
            </p:txBody>
          </p:sp>
        </mc:Choice>
        <mc:Fallback xmlns="">
          <p:sp>
            <p:nvSpPr>
              <p:cNvPr id="13449" name="Object 7"/>
              <p:cNvSpPr txBox="1">
                <a:spLocks noRot="1" noChangeAspect="1" noMove="1" noResize="1" noEditPoints="1" noAdjustHandles="1" noChangeArrowheads="1" noChangeShapeType="1" noTextEdit="1"/>
              </p:cNvSpPr>
              <p:nvPr/>
            </p:nvSpPr>
            <p:spPr bwMode="auto">
              <a:xfrm>
                <a:off x="1177925" y="276225"/>
                <a:ext cx="1119188" cy="360363"/>
              </a:xfrm>
              <a:prstGeom prst="rect">
                <a:avLst/>
              </a:prstGeom>
              <a:blipFill>
                <a:blip r:embed="rId5"/>
                <a:stretch>
                  <a:fillRect b="-1016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50" name="Object 8"/>
              <p:cNvSpPr txBox="1"/>
              <p:nvPr/>
            </p:nvSpPr>
            <p:spPr bwMode="auto">
              <a:xfrm>
                <a:off x="6705600" y="628650"/>
                <a:ext cx="228600" cy="246063"/>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𝑅</m:t>
                      </m:r>
                    </m:oMath>
                  </m:oMathPara>
                </a14:m>
                <a:endParaRPr lang="en-US"/>
              </a:p>
            </p:txBody>
          </p:sp>
        </mc:Choice>
        <mc:Fallback xmlns="">
          <p:sp>
            <p:nvSpPr>
              <p:cNvPr id="13450" name="Object 8"/>
              <p:cNvSpPr txBox="1">
                <a:spLocks noRot="1" noChangeAspect="1" noMove="1" noResize="1" noEditPoints="1" noAdjustHandles="1" noChangeArrowheads="1" noChangeShapeType="1" noTextEdit="1"/>
              </p:cNvSpPr>
              <p:nvPr/>
            </p:nvSpPr>
            <p:spPr bwMode="auto">
              <a:xfrm>
                <a:off x="6705600" y="628650"/>
                <a:ext cx="228600" cy="246063"/>
              </a:xfrm>
              <a:prstGeom prst="rect">
                <a:avLst/>
              </a:prstGeom>
              <a:blipFill>
                <a:blip r:embed="rId6"/>
                <a:stretch>
                  <a:fillRect/>
                </a:stretch>
              </a:blipFill>
              <a:ln>
                <a:noFill/>
              </a:ln>
              <a:effectLst/>
            </p:spPr>
            <p:txBody>
              <a:bodyPr/>
              <a:lstStyle/>
              <a:p>
                <a:r>
                  <a:rPr lang="en-US">
                    <a:noFill/>
                  </a:rPr>
                  <a:t> </a:t>
                </a:r>
              </a:p>
            </p:txBody>
          </p:sp>
        </mc:Fallback>
      </mc:AlternateContent>
      <p:cxnSp>
        <p:nvCxnSpPr>
          <p:cNvPr id="27" name="Straight Connector 26"/>
          <p:cNvCxnSpPr/>
          <p:nvPr/>
        </p:nvCxnSpPr>
        <p:spPr>
          <a:xfrm>
            <a:off x="4648200" y="914400"/>
            <a:ext cx="4114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52400" y="1143000"/>
            <a:ext cx="8610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52400" y="609600"/>
            <a:ext cx="8610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454" name="Object 9"/>
              <p:cNvSpPr txBox="1"/>
              <p:nvPr/>
            </p:nvSpPr>
            <p:spPr bwMode="auto">
              <a:xfrm>
                <a:off x="609600" y="1600200"/>
                <a:ext cx="319088" cy="304800"/>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𝜆</m:t>
                          </m:r>
                        </m:e>
                        <m:sub>
                          <m:r>
                            <a:rPr lang="en-US" i="1">
                              <a:solidFill>
                                <a:srgbClr val="000000"/>
                              </a:solidFill>
                              <a:latin typeface="Cambria Math" panose="02040503050406030204" pitchFamily="18" charset="0"/>
                            </a:rPr>
                            <m:t>𝑜𝑝𝑡</m:t>
                          </m:r>
                        </m:sub>
                      </m:sSub>
                    </m:oMath>
                  </m:oMathPara>
                </a14:m>
                <a:endParaRPr lang="en-US"/>
              </a:p>
            </p:txBody>
          </p:sp>
        </mc:Choice>
        <mc:Fallback xmlns="">
          <p:sp>
            <p:nvSpPr>
              <p:cNvPr id="13454" name="Object 9"/>
              <p:cNvSpPr txBox="1">
                <a:spLocks noRot="1" noChangeAspect="1" noMove="1" noResize="1" noEditPoints="1" noAdjustHandles="1" noChangeArrowheads="1" noChangeShapeType="1" noTextEdit="1"/>
              </p:cNvSpPr>
              <p:nvPr/>
            </p:nvSpPr>
            <p:spPr bwMode="auto">
              <a:xfrm>
                <a:off x="609600" y="1600200"/>
                <a:ext cx="319088" cy="304800"/>
              </a:xfrm>
              <a:prstGeom prst="rect">
                <a:avLst/>
              </a:prstGeom>
              <a:blipFill>
                <a:blip r:embed="rId7"/>
                <a:stretch>
                  <a:fillRect r="-1923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55" name="Object 10"/>
              <p:cNvSpPr txBox="1"/>
              <p:nvPr/>
            </p:nvSpPr>
            <p:spPr bwMode="auto">
              <a:xfrm>
                <a:off x="5715000" y="5029200"/>
                <a:ext cx="708025" cy="338137"/>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𝜆</m:t>
                          </m:r>
                        </m:e>
                        <m:sub>
                          <m:r>
                            <a:rPr lang="en-US" i="1">
                              <a:solidFill>
                                <a:srgbClr val="000000"/>
                              </a:solidFill>
                              <a:latin typeface="Cambria Math" panose="02040503050406030204" pitchFamily="18" charset="0"/>
                            </a:rPr>
                            <m:t>𝑜𝑝𝑡</m:t>
                          </m:r>
                        </m:sub>
                      </m:sSub>
                    </m:oMath>
                  </m:oMathPara>
                </a14:m>
                <a:endParaRPr lang="en-US"/>
              </a:p>
            </p:txBody>
          </p:sp>
        </mc:Choice>
        <mc:Fallback xmlns="">
          <p:sp>
            <p:nvSpPr>
              <p:cNvPr id="13455" name="Object 10"/>
              <p:cNvSpPr txBox="1">
                <a:spLocks noRot="1" noChangeAspect="1" noMove="1" noResize="1" noEditPoints="1" noAdjustHandles="1" noChangeArrowheads="1" noChangeShapeType="1" noTextEdit="1"/>
              </p:cNvSpPr>
              <p:nvPr/>
            </p:nvSpPr>
            <p:spPr bwMode="auto">
              <a:xfrm>
                <a:off x="5715000" y="5029200"/>
                <a:ext cx="708025" cy="338137"/>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56" name="Object 11"/>
              <p:cNvSpPr txBox="1"/>
              <p:nvPr/>
            </p:nvSpPr>
            <p:spPr bwMode="auto">
              <a:xfrm>
                <a:off x="3203575" y="5105400"/>
                <a:ext cx="606425" cy="215900"/>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=1.0</m:t>
                      </m:r>
                    </m:oMath>
                  </m:oMathPara>
                </a14:m>
                <a:endParaRPr lang="en-US"/>
              </a:p>
            </p:txBody>
          </p:sp>
        </mc:Choice>
        <mc:Fallback xmlns="">
          <p:sp>
            <p:nvSpPr>
              <p:cNvPr id="13456" name="Object 11"/>
              <p:cNvSpPr txBox="1">
                <a:spLocks noRot="1" noChangeAspect="1" noMove="1" noResize="1" noEditPoints="1" noAdjustHandles="1" noChangeArrowheads="1" noChangeShapeType="1" noTextEdit="1"/>
              </p:cNvSpPr>
              <p:nvPr/>
            </p:nvSpPr>
            <p:spPr bwMode="auto">
              <a:xfrm>
                <a:off x="3203575" y="5105400"/>
                <a:ext cx="606425" cy="215900"/>
              </a:xfrm>
              <a:prstGeom prst="rect">
                <a:avLst/>
              </a:prstGeom>
              <a:blipFill>
                <a:blip r:embed="rId9"/>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57" name="Object 12"/>
              <p:cNvSpPr txBox="1"/>
              <p:nvPr/>
            </p:nvSpPr>
            <p:spPr bwMode="auto">
              <a:xfrm>
                <a:off x="2214563" y="5334000"/>
                <a:ext cx="604837" cy="215900"/>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=1.0</m:t>
                      </m:r>
                    </m:oMath>
                  </m:oMathPara>
                </a14:m>
                <a:endParaRPr lang="en-US"/>
              </a:p>
            </p:txBody>
          </p:sp>
        </mc:Choice>
        <mc:Fallback xmlns="">
          <p:sp>
            <p:nvSpPr>
              <p:cNvPr id="13457" name="Object 12"/>
              <p:cNvSpPr txBox="1">
                <a:spLocks noRot="1" noChangeAspect="1" noMove="1" noResize="1" noEditPoints="1" noAdjustHandles="1" noChangeArrowheads="1" noChangeShapeType="1" noTextEdit="1"/>
              </p:cNvSpPr>
              <p:nvPr/>
            </p:nvSpPr>
            <p:spPr bwMode="auto">
              <a:xfrm>
                <a:off x="2214563" y="5334000"/>
                <a:ext cx="604837" cy="215900"/>
              </a:xfrm>
              <a:prstGeom prst="rect">
                <a:avLst/>
              </a:prstGeom>
              <a:blipFill>
                <a:blip r:embed="rId10"/>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58" name="Object 13"/>
              <p:cNvSpPr txBox="1"/>
              <p:nvPr/>
            </p:nvSpPr>
            <p:spPr bwMode="auto">
              <a:xfrm>
                <a:off x="4319587" y="5334000"/>
                <a:ext cx="633413" cy="303213"/>
              </a:xfrm>
              <a:prstGeom prst="rect">
                <a:avLst/>
              </a:prstGeom>
              <a:noFill/>
              <a:ln>
                <a:noFill/>
              </a:ln>
              <a:effectLst/>
            </p:spPr>
            <p:txBody>
              <a:bodyPr>
                <a:normAutofit fontScale="47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𝜆</m:t>
                          </m:r>
                        </m:e>
                        <m:sub>
                          <m:r>
                            <a:rPr lang="en-US" i="1">
                              <a:solidFill>
                                <a:srgbClr val="000000"/>
                              </a:solidFill>
                              <a:latin typeface="Cambria Math" panose="02040503050406030204" pitchFamily="18" charset="0"/>
                            </a:rPr>
                            <m:t>𝑜𝑝𝑡</m:t>
                          </m:r>
                        </m:sub>
                      </m:sSub>
                    </m:oMath>
                  </m:oMathPara>
                </a14:m>
                <a:endParaRPr lang="en-US"/>
              </a:p>
            </p:txBody>
          </p:sp>
        </mc:Choice>
        <mc:Fallback xmlns="">
          <p:sp>
            <p:nvSpPr>
              <p:cNvPr id="13458" name="Object 13"/>
              <p:cNvSpPr txBox="1">
                <a:spLocks noRot="1" noChangeAspect="1" noMove="1" noResize="1" noEditPoints="1" noAdjustHandles="1" noChangeArrowheads="1" noChangeShapeType="1" noTextEdit="1"/>
              </p:cNvSpPr>
              <p:nvPr/>
            </p:nvSpPr>
            <p:spPr bwMode="auto">
              <a:xfrm>
                <a:off x="4319587" y="5334000"/>
                <a:ext cx="633413" cy="303213"/>
              </a:xfrm>
              <a:prstGeom prst="rect">
                <a:avLst/>
              </a:prstGeom>
              <a:blipFill>
                <a:blip r:embed="rId11"/>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59" name="Object 14"/>
              <p:cNvSpPr txBox="1"/>
              <p:nvPr/>
            </p:nvSpPr>
            <p:spPr bwMode="auto">
              <a:xfrm>
                <a:off x="152400" y="5334000"/>
                <a:ext cx="115888" cy="195263"/>
              </a:xfrm>
              <a:prstGeom prst="rect">
                <a:avLst/>
              </a:prstGeom>
              <a:noFill/>
              <a:ln>
                <a:noFill/>
              </a:ln>
              <a:effectLst/>
            </p:spPr>
            <p:txBody>
              <a:bodyPr>
                <a:normAutofit fontScale="32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m:t>
                      </m:r>
                    </m:oMath>
                  </m:oMathPara>
                </a14:m>
                <a:endParaRPr lang="en-US"/>
              </a:p>
            </p:txBody>
          </p:sp>
        </mc:Choice>
        <mc:Fallback xmlns="">
          <p:sp>
            <p:nvSpPr>
              <p:cNvPr id="13459" name="Object 14"/>
              <p:cNvSpPr txBox="1">
                <a:spLocks noRot="1" noChangeAspect="1" noMove="1" noResize="1" noEditPoints="1" noAdjustHandles="1" noChangeArrowheads="1" noChangeShapeType="1" noTextEdit="1"/>
              </p:cNvSpPr>
              <p:nvPr/>
            </p:nvSpPr>
            <p:spPr bwMode="auto">
              <a:xfrm>
                <a:off x="152400" y="5334000"/>
                <a:ext cx="115888" cy="195263"/>
              </a:xfrm>
              <a:prstGeom prst="rect">
                <a:avLst/>
              </a:prstGeom>
              <a:blipFill>
                <a:blip r:embed="rId12"/>
                <a:stretch>
                  <a:fillRect r="-2105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60" name="Object 15"/>
              <p:cNvSpPr txBox="1"/>
              <p:nvPr/>
            </p:nvSpPr>
            <p:spPr bwMode="auto">
              <a:xfrm>
                <a:off x="1222375" y="2057400"/>
                <a:ext cx="303213" cy="228600"/>
              </a:xfrm>
              <a:prstGeom prst="rect">
                <a:avLst/>
              </a:prstGeom>
              <a:noFill/>
              <a:ln>
                <a:noFill/>
              </a:ln>
              <a:effectLst/>
            </p:spPr>
            <p:txBody>
              <a:bodyPr>
                <a:normAutofit fontScale="32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𝑁</m:t>
                      </m:r>
                      <m:r>
                        <a:rPr lang="en-US" i="1">
                          <a:solidFill>
                            <a:srgbClr val="000000"/>
                          </a:solidFill>
                          <a:latin typeface="Cambria Math" panose="02040503050406030204" pitchFamily="18" charset="0"/>
                        </a:rPr>
                        <m:t>†</m:t>
                      </m:r>
                    </m:oMath>
                  </m:oMathPara>
                </a14:m>
                <a:endParaRPr lang="en-US"/>
              </a:p>
            </p:txBody>
          </p:sp>
        </mc:Choice>
        <mc:Fallback xmlns="">
          <p:sp>
            <p:nvSpPr>
              <p:cNvPr id="13460" name="Object 15"/>
              <p:cNvSpPr txBox="1">
                <a:spLocks noRot="1" noChangeAspect="1" noMove="1" noResize="1" noEditPoints="1" noAdjustHandles="1" noChangeArrowheads="1" noChangeShapeType="1" noTextEdit="1"/>
              </p:cNvSpPr>
              <p:nvPr/>
            </p:nvSpPr>
            <p:spPr bwMode="auto">
              <a:xfrm>
                <a:off x="1222375" y="2057400"/>
                <a:ext cx="303213" cy="228600"/>
              </a:xfrm>
              <a:prstGeom prst="rect">
                <a:avLst/>
              </a:prstGeom>
              <a:blipFill>
                <a:blip r:embed="rId1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61" name="Object 16"/>
              <p:cNvSpPr txBox="1"/>
              <p:nvPr/>
            </p:nvSpPr>
            <p:spPr bwMode="auto">
              <a:xfrm>
                <a:off x="4114800" y="2286000"/>
                <a:ext cx="606425" cy="215900"/>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=1.0</m:t>
                      </m:r>
                    </m:oMath>
                  </m:oMathPara>
                </a14:m>
                <a:endParaRPr lang="en-US"/>
              </a:p>
            </p:txBody>
          </p:sp>
        </mc:Choice>
        <mc:Fallback xmlns="">
          <p:sp>
            <p:nvSpPr>
              <p:cNvPr id="13461" name="Object 16"/>
              <p:cNvSpPr txBox="1">
                <a:spLocks noRot="1" noChangeAspect="1" noMove="1" noResize="1" noEditPoints="1" noAdjustHandles="1" noChangeArrowheads="1" noChangeShapeType="1" noTextEdit="1"/>
              </p:cNvSpPr>
              <p:nvPr/>
            </p:nvSpPr>
            <p:spPr bwMode="auto">
              <a:xfrm>
                <a:off x="4114800" y="2286000"/>
                <a:ext cx="606425" cy="215900"/>
              </a:xfrm>
              <a:prstGeom prst="rect">
                <a:avLst/>
              </a:prstGeom>
              <a:blipFill>
                <a:blip r:embed="rId1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62" name="Object 17"/>
              <p:cNvSpPr txBox="1"/>
              <p:nvPr/>
            </p:nvSpPr>
            <p:spPr bwMode="auto">
              <a:xfrm>
                <a:off x="4114800" y="4114800"/>
                <a:ext cx="606425" cy="215900"/>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=1.0</m:t>
                      </m:r>
                    </m:oMath>
                  </m:oMathPara>
                </a14:m>
                <a:endParaRPr lang="en-US"/>
              </a:p>
            </p:txBody>
          </p:sp>
        </mc:Choice>
        <mc:Fallback xmlns="">
          <p:sp>
            <p:nvSpPr>
              <p:cNvPr id="13462" name="Object 17"/>
              <p:cNvSpPr txBox="1">
                <a:spLocks noRot="1" noChangeAspect="1" noMove="1" noResize="1" noEditPoints="1" noAdjustHandles="1" noChangeArrowheads="1" noChangeShapeType="1" noTextEdit="1"/>
              </p:cNvSpPr>
              <p:nvPr/>
            </p:nvSpPr>
            <p:spPr bwMode="auto">
              <a:xfrm>
                <a:off x="4114800" y="4114800"/>
                <a:ext cx="606425" cy="215900"/>
              </a:xfrm>
              <a:prstGeom prst="rect">
                <a:avLst/>
              </a:prstGeom>
              <a:blipFill>
                <a:blip r:embed="rId1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63" name="Object 18"/>
              <p:cNvSpPr txBox="1"/>
              <p:nvPr/>
            </p:nvSpPr>
            <p:spPr bwMode="auto">
              <a:xfrm>
                <a:off x="1162050" y="1828800"/>
                <a:ext cx="722313" cy="215900"/>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=1.0∗</m:t>
                      </m:r>
                    </m:oMath>
                  </m:oMathPara>
                </a14:m>
                <a:endParaRPr lang="en-US"/>
              </a:p>
            </p:txBody>
          </p:sp>
        </mc:Choice>
        <mc:Fallback xmlns="">
          <p:sp>
            <p:nvSpPr>
              <p:cNvPr id="13463" name="Object 18"/>
              <p:cNvSpPr txBox="1">
                <a:spLocks noRot="1" noChangeAspect="1" noMove="1" noResize="1" noEditPoints="1" noAdjustHandles="1" noChangeArrowheads="1" noChangeShapeType="1" noTextEdit="1"/>
              </p:cNvSpPr>
              <p:nvPr/>
            </p:nvSpPr>
            <p:spPr bwMode="auto">
              <a:xfrm>
                <a:off x="1162050" y="1828800"/>
                <a:ext cx="722313" cy="215900"/>
              </a:xfrm>
              <a:prstGeom prst="rect">
                <a:avLst/>
              </a:prstGeom>
              <a:blipFill>
                <a:blip r:embed="rId1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64" name="Object 19"/>
              <p:cNvSpPr txBox="1"/>
              <p:nvPr/>
            </p:nvSpPr>
            <p:spPr bwMode="auto">
              <a:xfrm>
                <a:off x="609600" y="2514600"/>
                <a:ext cx="869950" cy="304800"/>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𝜆</m:t>
                          </m:r>
                        </m:e>
                        <m:sub>
                          <m:r>
                            <a:rPr lang="en-US" i="1">
                              <a:solidFill>
                                <a:srgbClr val="000000"/>
                              </a:solidFill>
                              <a:latin typeface="Cambria Math" panose="02040503050406030204" pitchFamily="18" charset="0"/>
                            </a:rPr>
                            <m:t>𝑜𝑝𝑡</m:t>
                          </m:r>
                        </m:sub>
                      </m:sSub>
                      <m:r>
                        <a:rPr lang="en-US" i="1">
                          <a:solidFill>
                            <a:srgbClr val="000000"/>
                          </a:solidFill>
                          <a:latin typeface="Cambria Math" panose="02040503050406030204" pitchFamily="18" charset="0"/>
                        </a:rPr>
                        <m:t>=1.00</m:t>
                      </m:r>
                    </m:oMath>
                  </m:oMathPara>
                </a14:m>
                <a:endParaRPr lang="en-US"/>
              </a:p>
            </p:txBody>
          </p:sp>
        </mc:Choice>
        <mc:Fallback xmlns="">
          <p:sp>
            <p:nvSpPr>
              <p:cNvPr id="13464" name="Object 19"/>
              <p:cNvSpPr txBox="1">
                <a:spLocks noRot="1" noChangeAspect="1" noMove="1" noResize="1" noEditPoints="1" noAdjustHandles="1" noChangeArrowheads="1" noChangeShapeType="1" noTextEdit="1"/>
              </p:cNvSpPr>
              <p:nvPr/>
            </p:nvSpPr>
            <p:spPr bwMode="auto">
              <a:xfrm>
                <a:off x="609600" y="2514600"/>
                <a:ext cx="869950" cy="304800"/>
              </a:xfrm>
              <a:prstGeom prst="rect">
                <a:avLst/>
              </a:prstGeom>
              <a:blipFill>
                <a:blip r:embed="rId1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65" name="Object 20"/>
              <p:cNvSpPr txBox="1"/>
              <p:nvPr/>
            </p:nvSpPr>
            <p:spPr bwMode="auto">
              <a:xfrm>
                <a:off x="609600" y="3352800"/>
                <a:ext cx="319088" cy="304800"/>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𝜆</m:t>
                          </m:r>
                        </m:e>
                        <m:sub>
                          <m:r>
                            <a:rPr lang="en-US" i="1">
                              <a:solidFill>
                                <a:srgbClr val="000000"/>
                              </a:solidFill>
                              <a:latin typeface="Cambria Math" panose="02040503050406030204" pitchFamily="18" charset="0"/>
                            </a:rPr>
                            <m:t>𝑜𝑝𝑡</m:t>
                          </m:r>
                        </m:sub>
                      </m:sSub>
                    </m:oMath>
                  </m:oMathPara>
                </a14:m>
                <a:endParaRPr lang="en-US"/>
              </a:p>
            </p:txBody>
          </p:sp>
        </mc:Choice>
        <mc:Fallback xmlns="">
          <p:sp>
            <p:nvSpPr>
              <p:cNvPr id="13465" name="Object 20"/>
              <p:cNvSpPr txBox="1">
                <a:spLocks noRot="1" noChangeAspect="1" noMove="1" noResize="1" noEditPoints="1" noAdjustHandles="1" noChangeArrowheads="1" noChangeShapeType="1" noTextEdit="1"/>
              </p:cNvSpPr>
              <p:nvPr/>
            </p:nvSpPr>
            <p:spPr bwMode="auto">
              <a:xfrm>
                <a:off x="609600" y="3352800"/>
                <a:ext cx="319088" cy="304800"/>
              </a:xfrm>
              <a:prstGeom prst="rect">
                <a:avLst/>
              </a:prstGeom>
              <a:blipFill>
                <a:blip r:embed="rId17"/>
                <a:stretch>
                  <a:fillRect r="-1923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66" name="Object 21"/>
              <p:cNvSpPr txBox="1"/>
              <p:nvPr/>
            </p:nvSpPr>
            <p:spPr bwMode="auto">
              <a:xfrm>
                <a:off x="1200150" y="3657600"/>
                <a:ext cx="606425" cy="215900"/>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=1.0</m:t>
                      </m:r>
                    </m:oMath>
                  </m:oMathPara>
                </a14:m>
                <a:endParaRPr lang="en-US"/>
              </a:p>
            </p:txBody>
          </p:sp>
        </mc:Choice>
        <mc:Fallback xmlns="">
          <p:sp>
            <p:nvSpPr>
              <p:cNvPr id="13466" name="Object 21"/>
              <p:cNvSpPr txBox="1">
                <a:spLocks noRot="1" noChangeAspect="1" noMove="1" noResize="1" noEditPoints="1" noAdjustHandles="1" noChangeArrowheads="1" noChangeShapeType="1" noTextEdit="1"/>
              </p:cNvSpPr>
              <p:nvPr/>
            </p:nvSpPr>
            <p:spPr bwMode="auto">
              <a:xfrm>
                <a:off x="1200150" y="3657600"/>
                <a:ext cx="606425" cy="215900"/>
              </a:xfrm>
              <a:prstGeom prst="rect">
                <a:avLst/>
              </a:prstGeom>
              <a:blipFill>
                <a:blip r:embed="rId1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67" name="Object 22"/>
              <p:cNvSpPr txBox="1"/>
              <p:nvPr/>
            </p:nvSpPr>
            <p:spPr bwMode="auto">
              <a:xfrm>
                <a:off x="1271588" y="3898900"/>
                <a:ext cx="196850" cy="201613"/>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𝑁</m:t>
                      </m:r>
                    </m:oMath>
                  </m:oMathPara>
                </a14:m>
                <a:endParaRPr lang="en-US"/>
              </a:p>
            </p:txBody>
          </p:sp>
        </mc:Choice>
        <mc:Fallback xmlns="">
          <p:sp>
            <p:nvSpPr>
              <p:cNvPr id="13467" name="Object 22"/>
              <p:cNvSpPr txBox="1">
                <a:spLocks noRot="1" noChangeAspect="1" noMove="1" noResize="1" noEditPoints="1" noAdjustHandles="1" noChangeArrowheads="1" noChangeShapeType="1" noTextEdit="1"/>
              </p:cNvSpPr>
              <p:nvPr/>
            </p:nvSpPr>
            <p:spPr bwMode="auto">
              <a:xfrm>
                <a:off x="1271588" y="3898900"/>
                <a:ext cx="196850" cy="201613"/>
              </a:xfrm>
              <a:prstGeom prst="rect">
                <a:avLst/>
              </a:prstGeom>
              <a:blipFill>
                <a:blip r:embed="rId1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68" name="Object 23"/>
              <p:cNvSpPr txBox="1"/>
              <p:nvPr/>
            </p:nvSpPr>
            <p:spPr bwMode="auto">
              <a:xfrm>
                <a:off x="1295400" y="4800600"/>
                <a:ext cx="196850" cy="201613"/>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𝑁</m:t>
                      </m:r>
                    </m:oMath>
                  </m:oMathPara>
                </a14:m>
                <a:endParaRPr lang="en-US"/>
              </a:p>
            </p:txBody>
          </p:sp>
        </mc:Choice>
        <mc:Fallback xmlns="">
          <p:sp>
            <p:nvSpPr>
              <p:cNvPr id="13468" name="Object 23"/>
              <p:cNvSpPr txBox="1">
                <a:spLocks noRot="1" noChangeAspect="1" noMove="1" noResize="1" noEditPoints="1" noAdjustHandles="1" noChangeArrowheads="1" noChangeShapeType="1" noTextEdit="1"/>
              </p:cNvSpPr>
              <p:nvPr/>
            </p:nvSpPr>
            <p:spPr bwMode="auto">
              <a:xfrm>
                <a:off x="1295400" y="4800600"/>
                <a:ext cx="196850" cy="201613"/>
              </a:xfrm>
              <a:prstGeom prst="rect">
                <a:avLst/>
              </a:prstGeom>
              <a:blipFill>
                <a:blip r:embed="rId1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69" name="Object 24"/>
              <p:cNvSpPr txBox="1"/>
              <p:nvPr/>
            </p:nvSpPr>
            <p:spPr bwMode="auto">
              <a:xfrm>
                <a:off x="1143000" y="4572000"/>
                <a:ext cx="606425" cy="215900"/>
              </a:xfrm>
              <a:prstGeom prst="rect">
                <a:avLst/>
              </a:prstGeom>
              <a:noFill/>
              <a:ln>
                <a:noFill/>
              </a:ln>
              <a:effectLst/>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=1.0</m:t>
                      </m:r>
                    </m:oMath>
                  </m:oMathPara>
                </a14:m>
                <a:endParaRPr lang="en-US"/>
              </a:p>
            </p:txBody>
          </p:sp>
        </mc:Choice>
        <mc:Fallback xmlns="">
          <p:sp>
            <p:nvSpPr>
              <p:cNvPr id="13469" name="Object 24"/>
              <p:cNvSpPr txBox="1">
                <a:spLocks noRot="1" noChangeAspect="1" noMove="1" noResize="1" noEditPoints="1" noAdjustHandles="1" noChangeArrowheads="1" noChangeShapeType="1" noTextEdit="1"/>
              </p:cNvSpPr>
              <p:nvPr/>
            </p:nvSpPr>
            <p:spPr bwMode="auto">
              <a:xfrm>
                <a:off x="1143000" y="4572000"/>
                <a:ext cx="606425" cy="215900"/>
              </a:xfrm>
              <a:prstGeom prst="rect">
                <a:avLst/>
              </a:prstGeom>
              <a:blipFill>
                <a:blip r:embed="rId1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70" name="Object 25"/>
              <p:cNvSpPr txBox="1"/>
              <p:nvPr/>
            </p:nvSpPr>
            <p:spPr bwMode="auto">
              <a:xfrm>
                <a:off x="609600" y="4267200"/>
                <a:ext cx="319088" cy="304800"/>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𝜆</m:t>
                          </m:r>
                        </m:e>
                        <m:sub>
                          <m:r>
                            <a:rPr lang="en-US" i="1">
                              <a:solidFill>
                                <a:srgbClr val="000000"/>
                              </a:solidFill>
                              <a:latin typeface="Cambria Math" panose="02040503050406030204" pitchFamily="18" charset="0"/>
                            </a:rPr>
                            <m:t>𝑜𝑝𝑡</m:t>
                          </m:r>
                        </m:sub>
                      </m:sSub>
                    </m:oMath>
                  </m:oMathPara>
                </a14:m>
                <a:endParaRPr lang="en-US"/>
              </a:p>
            </p:txBody>
          </p:sp>
        </mc:Choice>
        <mc:Fallback xmlns="">
          <p:sp>
            <p:nvSpPr>
              <p:cNvPr id="13470" name="Object 25"/>
              <p:cNvSpPr txBox="1">
                <a:spLocks noRot="1" noChangeAspect="1" noMove="1" noResize="1" noEditPoints="1" noAdjustHandles="1" noChangeArrowheads="1" noChangeShapeType="1" noTextEdit="1"/>
              </p:cNvSpPr>
              <p:nvPr/>
            </p:nvSpPr>
            <p:spPr bwMode="auto">
              <a:xfrm>
                <a:off x="609600" y="4267200"/>
                <a:ext cx="319088" cy="304800"/>
              </a:xfrm>
              <a:prstGeom prst="rect">
                <a:avLst/>
              </a:prstGeom>
              <a:blipFill>
                <a:blip r:embed="rId17"/>
                <a:stretch>
                  <a:fillRect r="-19231"/>
                </a:stretch>
              </a:blipFill>
              <a:ln>
                <a:noFill/>
              </a:ln>
              <a:effectLst/>
            </p:spPr>
            <p:txBody>
              <a:bodyPr/>
              <a:lstStyle/>
              <a:p>
                <a:r>
                  <a:rPr lang="en-US">
                    <a:noFill/>
                  </a:rPr>
                  <a:t> </a:t>
                </a:r>
              </a:p>
            </p:txBody>
          </p:sp>
        </mc:Fallback>
      </mc:AlternateContent>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04800" y="152400"/>
            <a:ext cx="8458200" cy="6172200"/>
          </a:xfrm>
        </p:spPr>
        <p:txBody>
          <a:bodyPr lIns="92075" tIns="46038" rIns="92075" bIns="46038"/>
          <a:lstStyle/>
          <a:p>
            <a:pPr>
              <a:buFont typeface="Arial" charset="0"/>
              <a:buNone/>
              <a:defRPr/>
            </a:pPr>
            <a:r>
              <a:rPr lang="en-US" sz="2400" dirty="0">
                <a:latin typeface="Times New Roman" pitchFamily="18" charset="0"/>
                <a:cs typeface="Times New Roman" pitchFamily="18" charset="0"/>
              </a:rPr>
              <a:t> </a:t>
            </a:r>
          </a:p>
          <a:p>
            <a:pPr>
              <a:buFont typeface="Arial" charset="0"/>
              <a:buNone/>
              <a:defRPr/>
            </a:pPr>
            <a:r>
              <a:rPr lang="en-US" sz="2400" dirty="0">
                <a:latin typeface="Times New Roman" pitchFamily="18" charset="0"/>
                <a:cs typeface="Times New Roman" pitchFamily="18" charset="0"/>
              </a:rPr>
              <a:t>  </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p:cxnSp>
        <p:nvCxnSpPr>
          <p:cNvPr id="14339" name="AutoShape 3"/>
          <p:cNvCxnSpPr>
            <a:cxnSpLocks noChangeShapeType="1"/>
            <a:stCxn id="28676" idx="3"/>
            <a:endCxn id="28676" idx="3"/>
          </p:cNvCxnSpPr>
          <p:nvPr/>
        </p:nvCxnSpPr>
        <p:spPr bwMode="auto">
          <a:xfrm>
            <a:off x="8763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4340"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4341"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4342"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4343"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4344"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03DCFA90-4AD0-4185-A9BB-EC3ADAFCE9F8}" type="slidenum">
              <a:rPr lang="zh-CN" altLang="en-US" sz="1200">
                <a:solidFill>
                  <a:srgbClr val="898989"/>
                </a:solidFill>
              </a:rPr>
              <a:pPr algn="r" eaLnBrk="1" hangingPunct="1">
                <a:spcBef>
                  <a:spcPct val="0"/>
                </a:spcBef>
                <a:buFontTx/>
                <a:buNone/>
              </a:pPr>
              <a:t>12</a:t>
            </a:fld>
            <a:endParaRPr lang="en-US" altLang="zh-CN" sz="1200">
              <a:solidFill>
                <a:srgbClr val="898989"/>
              </a:solidFill>
            </a:endParaRPr>
          </a:p>
        </p:txBody>
      </p:sp>
      <p:sp>
        <p:nvSpPr>
          <p:cNvPr id="14345" name="TextBox 13"/>
          <p:cNvSpPr txBox="1">
            <a:spLocks noChangeArrowheads="1"/>
          </p:cNvSpPr>
          <p:nvPr/>
        </p:nvSpPr>
        <p:spPr bwMode="auto">
          <a:xfrm>
            <a:off x="228600" y="5334000"/>
            <a:ext cx="8915400" cy="133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700" dirty="0">
                <a:latin typeface="Times New Roman" pitchFamily="18" charset="0"/>
                <a:cs typeface="Times New Roman" pitchFamily="18" charset="0"/>
              </a:rPr>
              <a:t>Assumes case-control ratios,         and        , are 1;  all other parameters given by the SIDS data.</a:t>
            </a:r>
          </a:p>
          <a:p>
            <a:pPr eaLnBrk="1" hangingPunct="1">
              <a:spcBef>
                <a:spcPct val="0"/>
              </a:spcBef>
              <a:buFontTx/>
              <a:buNone/>
            </a:pPr>
            <a:endParaRPr lang="en-US" altLang="en-US" sz="600" dirty="0">
              <a:latin typeface="Times New Roman" pitchFamily="18" charset="0"/>
              <a:cs typeface="Times New Roman" pitchFamily="18" charset="0"/>
            </a:endParaRPr>
          </a:p>
          <a:p>
            <a:pPr eaLnBrk="1" hangingPunct="1">
              <a:spcBef>
                <a:spcPct val="0"/>
              </a:spcBef>
              <a:buFontTx/>
              <a:buNone/>
            </a:pPr>
            <a:r>
              <a:rPr lang="en-US" altLang="en-US" sz="1700" dirty="0">
                <a:latin typeface="Times New Roman" pitchFamily="18" charset="0"/>
                <a:cs typeface="Times New Roman" pitchFamily="18" charset="0"/>
              </a:rPr>
              <a:t>In case-control studies, with relatively low cost ratios (medical records vs. self-report), the fully validated design is often optimal</a:t>
            </a:r>
          </a:p>
          <a:p>
            <a:pPr eaLnBrk="1" hangingPunct="1">
              <a:spcBef>
                <a:spcPct val="0"/>
              </a:spcBef>
              <a:buFontTx/>
              <a:buNone/>
            </a:pPr>
            <a:endParaRPr lang="en-US" altLang="en-US" sz="600" dirty="0">
              <a:latin typeface="Times New Roman" pitchFamily="18" charset="0"/>
              <a:cs typeface="Times New Roman" pitchFamily="18" charset="0"/>
            </a:endParaRPr>
          </a:p>
          <a:p>
            <a:pPr eaLnBrk="1" hangingPunct="1">
              <a:spcBef>
                <a:spcPct val="0"/>
              </a:spcBef>
              <a:buFontTx/>
              <a:buNone/>
            </a:pPr>
            <a:r>
              <a:rPr lang="en-US" altLang="en-US" sz="1700" dirty="0">
                <a:latin typeface="Times New Roman" pitchFamily="18" charset="0"/>
                <a:cs typeface="Times New Roman" pitchFamily="18" charset="0"/>
              </a:rPr>
              <a:t>Differential vs. non-differential misclassification assumption has a big impact on the design.</a:t>
            </a:r>
            <a:r>
              <a:rPr lang="en-US" altLang="en-US" sz="1800" dirty="0">
                <a:latin typeface="Times New Roman" pitchFamily="18" charset="0"/>
                <a:cs typeface="Times New Roman" pitchFamily="18" charset="0"/>
              </a:rPr>
              <a:t> </a:t>
            </a:r>
          </a:p>
        </p:txBody>
      </p:sp>
      <p:pic>
        <p:nvPicPr>
          <p:cNvPr id="1434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6675" y="0"/>
            <a:ext cx="6740525"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4347" name="Object 9"/>
              <p:cNvSpPr txBox="1"/>
              <p:nvPr/>
            </p:nvSpPr>
            <p:spPr bwMode="auto">
              <a:xfrm>
                <a:off x="2819400" y="5334000"/>
                <a:ext cx="406400" cy="3857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𝜅</m:t>
                          </m:r>
                        </m:e>
                        <m:sub>
                          <m:r>
                            <a:rPr lang="en-US" i="1">
                              <a:solidFill>
                                <a:srgbClr val="000000"/>
                              </a:solidFill>
                              <a:latin typeface="Cambria Math" panose="02040503050406030204" pitchFamily="18" charset="0"/>
                            </a:rPr>
                            <m:t>𝑀</m:t>
                          </m:r>
                        </m:sub>
                      </m:sSub>
                    </m:oMath>
                  </m:oMathPara>
                </a14:m>
                <a:endParaRPr lang="en-US"/>
              </a:p>
            </p:txBody>
          </p:sp>
        </mc:Choice>
        <mc:Fallback xmlns="">
          <p:sp>
            <p:nvSpPr>
              <p:cNvPr id="14347" name="Object 9"/>
              <p:cNvSpPr txBox="1">
                <a:spLocks noRot="1" noChangeAspect="1" noMove="1" noResize="1" noEditPoints="1" noAdjustHandles="1" noChangeArrowheads="1" noChangeShapeType="1" noTextEdit="1"/>
              </p:cNvSpPr>
              <p:nvPr/>
            </p:nvSpPr>
            <p:spPr bwMode="auto">
              <a:xfrm>
                <a:off x="2819400" y="5334000"/>
                <a:ext cx="406400" cy="385763"/>
              </a:xfrm>
              <a:prstGeom prst="rect">
                <a:avLst/>
              </a:prstGeom>
              <a:blipFill>
                <a:blip r:embed="rId4"/>
                <a:stretch>
                  <a:fillRect r="-303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348" name="Object 5"/>
              <p:cNvSpPr txBox="1"/>
              <p:nvPr/>
            </p:nvSpPr>
            <p:spPr bwMode="auto">
              <a:xfrm>
                <a:off x="3657600" y="5334000"/>
                <a:ext cx="346075" cy="3857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𝜅</m:t>
                          </m:r>
                        </m:e>
                        <m:sub>
                          <m:r>
                            <a:rPr lang="en-US" i="1">
                              <a:solidFill>
                                <a:srgbClr val="000000"/>
                              </a:solidFill>
                              <a:latin typeface="Cambria Math" panose="02040503050406030204" pitchFamily="18" charset="0"/>
                            </a:rPr>
                            <m:t>𝑉</m:t>
                          </m:r>
                        </m:sub>
                      </m:sSub>
                    </m:oMath>
                  </m:oMathPara>
                </a14:m>
                <a:endParaRPr lang="en-US"/>
              </a:p>
            </p:txBody>
          </p:sp>
        </mc:Choice>
        <mc:Fallback xmlns="">
          <p:sp>
            <p:nvSpPr>
              <p:cNvPr id="14348" name="Object 5"/>
              <p:cNvSpPr txBox="1">
                <a:spLocks noRot="1" noChangeAspect="1" noMove="1" noResize="1" noEditPoints="1" noAdjustHandles="1" noChangeArrowheads="1" noChangeShapeType="1" noTextEdit="1"/>
              </p:cNvSpPr>
              <p:nvPr/>
            </p:nvSpPr>
            <p:spPr bwMode="auto">
              <a:xfrm>
                <a:off x="3657600" y="5334000"/>
                <a:ext cx="346075" cy="385763"/>
              </a:xfrm>
              <a:prstGeom prst="rect">
                <a:avLst/>
              </a:prstGeom>
              <a:blipFill>
                <a:blip r:embed="rId5"/>
                <a:stretch>
                  <a:fillRect r="-10526"/>
                </a:stretch>
              </a:blipFill>
              <a:ln>
                <a:noFill/>
              </a:ln>
              <a:effectLst/>
            </p:spPr>
            <p:txBody>
              <a:bodyPr/>
              <a:lstStyle/>
              <a:p>
                <a:r>
                  <a:rPr lang="en-US">
                    <a:noFill/>
                  </a:rPr>
                  <a:t> </a:t>
                </a:r>
              </a:p>
            </p:txBody>
          </p:sp>
        </mc:Fallback>
      </mc:AlternateContent>
      <p:pic>
        <p:nvPicPr>
          <p:cNvPr id="14349" name="Picture 15" descr="C:\Documents and Settings\ABERKELE\Desktop\Picture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81400" y="0"/>
            <a:ext cx="152400"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0" name="Picture 22" descr="C:\Documents and Settings\ABERKELE\Desktop\Picture2.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29400" y="4876800"/>
            <a:ext cx="3365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5"/>
          <p:cNvSpPr/>
          <p:nvPr/>
        </p:nvSpPr>
        <p:spPr>
          <a:xfrm>
            <a:off x="7010400" y="4876800"/>
            <a:ext cx="3048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4352" name="Picture 15" descr="C:\Documents and Settings\ABERKELE\Desktop\Picture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91000" y="4876800"/>
            <a:ext cx="152400"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3" name="Picture 15" descr="C:\Documents and Settings\ABERKELE\Desktop\Picture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362200" y="5029200"/>
            <a:ext cx="152400"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4" name="Picture 15" descr="C:\Documents and Settings\ABERKELE\Desktop\Picture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06863" y="1447800"/>
            <a:ext cx="1603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5" name="Picture 15" descr="C:\Documents and Settings\ABERKELE\Desktop\Picture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38600" y="3200400"/>
            <a:ext cx="1603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Rectangle 20"/>
          <p:cNvSpPr/>
          <p:nvPr/>
        </p:nvSpPr>
        <p:spPr>
          <a:xfrm>
            <a:off x="4191000" y="3200400"/>
            <a:ext cx="1524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Rectangle 25"/>
          <p:cNvSpPr/>
          <p:nvPr/>
        </p:nvSpPr>
        <p:spPr>
          <a:xfrm>
            <a:off x="4038600" y="1905000"/>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Rectangle 26"/>
          <p:cNvSpPr/>
          <p:nvPr/>
        </p:nvSpPr>
        <p:spPr>
          <a:xfrm>
            <a:off x="4038600" y="4038600"/>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Rectangle 27"/>
          <p:cNvSpPr/>
          <p:nvPr/>
        </p:nvSpPr>
        <p:spPr>
          <a:xfrm>
            <a:off x="4038600" y="2286000"/>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 name="Rectangle 28"/>
          <p:cNvSpPr/>
          <p:nvPr/>
        </p:nvSpPr>
        <p:spPr>
          <a:xfrm>
            <a:off x="4038600" y="2667000"/>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Rectangle 29"/>
          <p:cNvSpPr/>
          <p:nvPr/>
        </p:nvSpPr>
        <p:spPr>
          <a:xfrm>
            <a:off x="4038600" y="3657600"/>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Rectangle 30"/>
          <p:cNvSpPr/>
          <p:nvPr/>
        </p:nvSpPr>
        <p:spPr>
          <a:xfrm>
            <a:off x="4038600" y="4419600"/>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4363" name="Picture 15" descr="C:\Documents and Settings\ABERKELE\Desktop\Picture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38600" y="1905000"/>
            <a:ext cx="152400"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4" name="Picture 15" descr="C:\Documents and Settings\ABERKELE\Desktop\Picture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38600" y="2286000"/>
            <a:ext cx="152400"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5" name="Picture 15" descr="C:\Documents and Settings\ABERKELE\Desktop\Picture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38600" y="3581400"/>
            <a:ext cx="152400"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6" name="Picture 15" descr="C:\Documents and Settings\ABERKELE\Desktop\Picture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38600" y="2667000"/>
            <a:ext cx="152400"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7" name="Picture 15" descr="C:\Documents and Settings\ABERKELE\Desktop\Picture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38600" y="4343400"/>
            <a:ext cx="152400"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8" name="Picture 15" descr="C:\Documents and Settings\ABERKELE\Desktop\Picture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38600" y="3962400"/>
            <a:ext cx="152400"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9" name="Picture 17" descr="C:\Documents and Settings\ABERKELE\Desktop\Picture4.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209800" y="914400"/>
            <a:ext cx="2333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0" name="Picture 19" descr="C:\Documents and Settings\ABERKELE\Desktop\Picture5.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352800" y="914400"/>
            <a:ext cx="2730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1" name="Picture 20" descr="C:\Documents and Settings\ABERKELE\Desktop\Picture6.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743200" y="914400"/>
            <a:ext cx="2333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2" name="Picture 21" descr="C:\Documents and Settings\ABERKELE\Desktop\Picture7.jp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600200" y="914400"/>
            <a:ext cx="2174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Object 1"/>
              <p:cNvSpPr txBox="1"/>
              <p:nvPr/>
            </p:nvSpPr>
            <p:spPr>
              <a:xfrm>
                <a:off x="3594100" y="3132138"/>
                <a:ext cx="127000" cy="215900"/>
              </a:xfrm>
              <a:prstGeom prst="rect">
                <a:avLst/>
              </a:prstGeom>
            </p:spPr>
            <p:txBody>
              <a:bodyPr>
                <a:normAutofit fontScale="40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m:t>
                      </m:r>
                    </m:oMath>
                  </m:oMathPara>
                </a14:m>
                <a:endParaRPr lang="en-US"/>
              </a:p>
            </p:txBody>
          </p:sp>
        </mc:Choice>
        <mc:Fallback xmlns="">
          <p:sp>
            <p:nvSpPr>
              <p:cNvPr id="2" name="Object 1"/>
              <p:cNvSpPr txBox="1">
                <a:spLocks noRot="1" noChangeAspect="1" noMove="1" noResize="1" noEditPoints="1" noAdjustHandles="1" noChangeArrowheads="1" noChangeShapeType="1" noTextEdit="1"/>
              </p:cNvSpPr>
              <p:nvPr/>
            </p:nvSpPr>
            <p:spPr>
              <a:xfrm>
                <a:off x="3594100" y="3132138"/>
                <a:ext cx="127000" cy="215900"/>
              </a:xfrm>
              <a:prstGeom prst="rect">
                <a:avLst/>
              </a:prstGeom>
              <a:blipFill>
                <a:blip r:embed="rId12"/>
                <a:stretch>
                  <a:fillRect r="-20000"/>
                </a:stretch>
              </a:blipFill>
            </p:spPr>
            <p:txBody>
              <a:bodyPr/>
              <a:lstStyle/>
              <a:p>
                <a:r>
                  <a:rPr lang="en-US">
                    <a:noFill/>
                  </a:rPr>
                  <a:t> </a:t>
                </a:r>
              </a:p>
            </p:txBody>
          </p:sp>
        </mc:Fallback>
      </mc:AlternateContent>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81000" y="152400"/>
            <a:ext cx="8458200" cy="6172200"/>
          </a:xfrm>
        </p:spPr>
        <p:txBody>
          <a:bodyPr lIns="92075" tIns="46038" rIns="92075" bIns="46038"/>
          <a:lstStyle/>
          <a:p>
            <a:pPr>
              <a:buNone/>
              <a:defRPr/>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Reilly M. (1996)</a:t>
            </a:r>
            <a:endParaRPr lang="en-US" sz="2200" b="1" dirty="0">
              <a:latin typeface="Times New Roman" pitchFamily="18" charset="0"/>
              <a:cs typeface="Times New Roman" pitchFamily="18" charset="0"/>
            </a:endParaRPr>
          </a:p>
          <a:p>
            <a:pPr>
              <a:buFont typeface="Arial" charset="0"/>
              <a:buNone/>
              <a:defRPr/>
            </a:pPr>
            <a:r>
              <a:rPr lang="en-US" sz="2200" dirty="0">
                <a:latin typeface="Times New Roman" pitchFamily="18" charset="0"/>
                <a:cs typeface="Times New Roman" pitchFamily="18" charset="0"/>
              </a:rPr>
              <a:t>Unlike Greenland’s development, which bases optimal design choices on </a:t>
            </a:r>
          </a:p>
          <a:p>
            <a:pPr>
              <a:buNone/>
              <a:defRPr/>
            </a:pPr>
            <a:r>
              <a:rPr lang="en-US" sz="2200" dirty="0">
                <a:latin typeface="Times New Roman" pitchFamily="18" charset="0"/>
                <a:cs typeface="Times New Roman" pitchFamily="18" charset="0"/>
              </a:rPr>
              <a:t>the matrix method estimator, </a:t>
            </a:r>
            <a:r>
              <a:rPr lang="en-US" sz="2200" b="1" dirty="0">
                <a:latin typeface="Times New Roman" pitchFamily="18" charset="0"/>
                <a:cs typeface="Times New Roman" pitchFamily="18" charset="0"/>
              </a:rPr>
              <a:t>this software uses the MLE </a:t>
            </a:r>
            <a:r>
              <a:rPr lang="en-US" sz="2200" dirty="0">
                <a:latin typeface="Times New Roman" pitchFamily="18" charset="0"/>
                <a:cs typeface="Times New Roman" pitchFamily="18" charset="0"/>
              </a:rPr>
              <a:t>assuming differential misclassification, and considers the </a:t>
            </a:r>
            <a:r>
              <a:rPr lang="en-US" sz="2200" b="1" dirty="0">
                <a:latin typeface="Times New Roman" pitchFamily="18" charset="0"/>
                <a:cs typeface="Times New Roman" pitchFamily="18" charset="0"/>
              </a:rPr>
              <a:t>MS/IVS</a:t>
            </a:r>
            <a:r>
              <a:rPr lang="en-US" sz="2200" dirty="0">
                <a:latin typeface="Times New Roman" pitchFamily="18" charset="0"/>
                <a:cs typeface="Times New Roman" pitchFamily="18" charset="0"/>
              </a:rPr>
              <a:t> design alone. </a:t>
            </a:r>
          </a:p>
          <a:p>
            <a:pPr>
              <a:buNone/>
              <a:defRPr/>
            </a:pPr>
            <a:endParaRPr lang="en-US" sz="2200" dirty="0">
              <a:latin typeface="Times New Roman" pitchFamily="18" charset="0"/>
              <a:cs typeface="Times New Roman" pitchFamily="18" charset="0"/>
            </a:endParaRPr>
          </a:p>
          <a:p>
            <a:pPr>
              <a:buNone/>
              <a:defRPr/>
            </a:pPr>
            <a:r>
              <a:rPr lang="en-US" sz="2200" dirty="0">
                <a:latin typeface="Times New Roman" pitchFamily="18" charset="0"/>
                <a:cs typeface="Times New Roman" pitchFamily="18" charset="0"/>
              </a:rPr>
              <a:t>The criterion is </a:t>
            </a:r>
            <a:r>
              <a:rPr lang="en-US" sz="2200" b="1" dirty="0">
                <a:latin typeface="Times New Roman" pitchFamily="18" charset="0"/>
                <a:cs typeface="Times New Roman" pitchFamily="18" charset="0"/>
              </a:rPr>
              <a:t>to</a:t>
            </a:r>
            <a:r>
              <a:rPr lang="en-US" sz="2200" dirty="0">
                <a:latin typeface="Times New Roman" pitchFamily="18" charset="0"/>
                <a:cs typeface="Times New Roman" pitchFamily="18" charset="0"/>
              </a:rPr>
              <a:t> </a:t>
            </a:r>
            <a:r>
              <a:rPr lang="en-US" sz="2200" b="1" dirty="0">
                <a:latin typeface="Times New Roman" pitchFamily="18" charset="0"/>
                <a:cs typeface="Times New Roman" pitchFamily="18" charset="0"/>
              </a:rPr>
              <a:t>maximize precision for a fixed total budget or minimize the study cost given a desired precision</a:t>
            </a:r>
            <a:r>
              <a:rPr lang="en-US" sz="2200" dirty="0">
                <a:latin typeface="Times New Roman" pitchFamily="18" charset="0"/>
                <a:cs typeface="Times New Roman" pitchFamily="18" charset="0"/>
              </a:rPr>
              <a:t>. </a:t>
            </a:r>
          </a:p>
          <a:p>
            <a:pPr>
              <a:buNone/>
              <a:defRPr/>
            </a:pPr>
            <a:endParaRPr lang="en-US" sz="2200" dirty="0">
              <a:latin typeface="Times New Roman" pitchFamily="18" charset="0"/>
              <a:cs typeface="Times New Roman" pitchFamily="18" charset="0"/>
            </a:endParaRPr>
          </a:p>
          <a:p>
            <a:pPr>
              <a:buNone/>
              <a:defRPr/>
            </a:pPr>
            <a:r>
              <a:rPr lang="en-US" sz="2200" dirty="0">
                <a:latin typeface="Times New Roman" pitchFamily="18" charset="0"/>
                <a:cs typeface="Times New Roman" pitchFamily="18" charset="0"/>
              </a:rPr>
              <a:t>It is known that with the MS/IVS design under differential misclassification, the MLE is equivalent to the inverse matrix method (Lyles, 2002) and that the efficiency loss from using the matrix method can be considerable. </a:t>
            </a:r>
          </a:p>
          <a:p>
            <a:pPr>
              <a:buFont typeface="Arial" charset="0"/>
              <a:buNone/>
              <a:defRPr/>
            </a:pPr>
            <a:endParaRPr lang="en-US" sz="2200" dirty="0">
              <a:latin typeface="Times New Roman" pitchFamily="18" charset="0"/>
              <a:cs typeface="Times New Roman" pitchFamily="18" charset="0"/>
            </a:endParaRPr>
          </a:p>
          <a:p>
            <a:pPr>
              <a:buFont typeface="Arial" charset="0"/>
              <a:buNone/>
              <a:defRPr/>
            </a:pPr>
            <a:r>
              <a:rPr lang="en-US" sz="1600" dirty="0">
                <a:latin typeface="Times New Roman" pitchFamily="18" charset="0"/>
                <a:cs typeface="Times New Roman" pitchFamily="18" charset="0"/>
              </a:rPr>
              <a:t>Reilly M. (1996) Optimal sampling strategies for two-stage studies. </a:t>
            </a:r>
            <a:r>
              <a:rPr lang="en-US" sz="1600" i="1" dirty="0">
                <a:latin typeface="Times New Roman" pitchFamily="18" charset="0"/>
                <a:cs typeface="Times New Roman" pitchFamily="18" charset="0"/>
              </a:rPr>
              <a:t>American Journal of </a:t>
            </a:r>
          </a:p>
          <a:p>
            <a:pPr>
              <a:buFont typeface="Arial" charset="0"/>
              <a:buNone/>
              <a:defRPr/>
            </a:pPr>
            <a:r>
              <a:rPr lang="en-US" sz="1600" i="1" dirty="0">
                <a:latin typeface="Times New Roman" pitchFamily="18" charset="0"/>
                <a:cs typeface="Times New Roman" pitchFamily="18" charset="0"/>
              </a:rPr>
              <a:t>Epidemiology</a:t>
            </a:r>
            <a:r>
              <a:rPr lang="en-US" sz="1600" dirty="0">
                <a:latin typeface="Times New Roman" pitchFamily="18" charset="0"/>
                <a:cs typeface="Times New Roman" pitchFamily="18" charset="0"/>
              </a:rPr>
              <a:t> 143:92-100.</a:t>
            </a:r>
          </a:p>
          <a:p>
            <a:pPr>
              <a:buFont typeface="Arial" charset="0"/>
              <a:buNone/>
              <a:defRPr/>
            </a:pPr>
            <a:r>
              <a:rPr lang="en-US" sz="1600" dirty="0">
                <a:latin typeface="Times New Roman" pitchFamily="18" charset="0"/>
                <a:cs typeface="Times New Roman" pitchFamily="18" charset="0"/>
              </a:rPr>
              <a:t>Lyles R.H. (2002) A note on estimating crude odds ratios in case-control studies with differentially </a:t>
            </a:r>
          </a:p>
          <a:p>
            <a:pPr>
              <a:buFont typeface="Arial" charset="0"/>
              <a:buNone/>
              <a:defRPr/>
            </a:pPr>
            <a:r>
              <a:rPr lang="en-US" sz="1600" dirty="0">
                <a:latin typeface="Times New Roman" pitchFamily="18" charset="0"/>
                <a:cs typeface="Times New Roman" pitchFamily="18" charset="0"/>
              </a:rPr>
              <a:t>misclassified exposure. </a:t>
            </a:r>
            <a:r>
              <a:rPr lang="en-US" sz="1600" i="1" dirty="0">
                <a:latin typeface="Times New Roman" pitchFamily="18" charset="0"/>
                <a:cs typeface="Times New Roman" pitchFamily="18" charset="0"/>
              </a:rPr>
              <a:t>Biometrics</a:t>
            </a:r>
            <a:r>
              <a:rPr lang="en-US" sz="1600" dirty="0">
                <a:latin typeface="Times New Roman" pitchFamily="18" charset="0"/>
                <a:cs typeface="Times New Roman" pitchFamily="18" charset="0"/>
              </a:rPr>
              <a:t> 58:1034-1036.</a:t>
            </a:r>
          </a:p>
          <a:p>
            <a:pPr>
              <a:buFont typeface="Arial" charset="0"/>
              <a:buNone/>
              <a:defRPr/>
            </a:pPr>
            <a:endParaRPr lang="en-US" sz="2200" dirty="0">
              <a:latin typeface="Times New Roman" pitchFamily="18" charset="0"/>
              <a:cs typeface="Times New Roman" pitchFamily="18" charset="0"/>
            </a:endParaRPr>
          </a:p>
          <a:p>
            <a:pPr>
              <a:buFont typeface="Arial" charset="0"/>
              <a:buNone/>
              <a:defRPr/>
            </a:pPr>
            <a:r>
              <a:rPr lang="en-US" sz="2200" dirty="0">
                <a:latin typeface="Times New Roman" pitchFamily="18" charset="0"/>
                <a:cs typeface="Times New Roman" pitchFamily="18" charset="0"/>
              </a:rPr>
              <a:t> </a:t>
            </a:r>
          </a:p>
          <a:p>
            <a:pPr>
              <a:buFont typeface="Arial" charset="0"/>
              <a:buNone/>
              <a:defRPr/>
            </a:pPr>
            <a:r>
              <a:rPr lang="en-US" sz="2400" dirty="0">
                <a:latin typeface="Times New Roman" pitchFamily="18" charset="0"/>
                <a:cs typeface="Times New Roman" pitchFamily="18" charset="0"/>
              </a:rPr>
              <a:t>   </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p:cxnSp>
        <p:nvCxnSpPr>
          <p:cNvPr id="15363" name="AutoShape 3"/>
          <p:cNvCxnSpPr>
            <a:cxnSpLocks noChangeShapeType="1"/>
            <a:stCxn id="28676" idx="3"/>
            <a:endCxn id="28676" idx="3"/>
          </p:cNvCxnSpPr>
          <p:nvPr/>
        </p:nvCxnSpPr>
        <p:spPr bwMode="auto">
          <a:xfrm>
            <a:off x="88392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5364"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5365"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5366"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5367"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5368"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6F997291-9A42-4093-A14B-3AE95DE61746}" type="slidenum">
              <a:rPr lang="zh-CN" altLang="en-US" sz="1200">
                <a:solidFill>
                  <a:srgbClr val="898989"/>
                </a:solidFill>
              </a:rPr>
              <a:pPr algn="r" eaLnBrk="1" hangingPunct="1">
                <a:spcBef>
                  <a:spcPct val="0"/>
                </a:spcBef>
                <a:buFontTx/>
                <a:buNone/>
              </a:pPr>
              <a:t>13</a:t>
            </a:fld>
            <a:endParaRPr lang="en-US" altLang="zh-CN" sz="1200">
              <a:solidFill>
                <a:srgbClr val="898989"/>
              </a:solidFill>
            </a:endParaRPr>
          </a:p>
        </p:txBody>
      </p:sp>
    </p:spTree>
  </p:cSld>
  <p:clrMapOvr>
    <a:masterClrMapping/>
  </p:clrMapOvr>
  <p:transition/>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04800" y="152400"/>
            <a:ext cx="8458200" cy="6172200"/>
          </a:xfrm>
        </p:spPr>
        <p:txBody>
          <a:bodyPr lIns="92075" tIns="46038" rIns="92075" bIns="46038"/>
          <a:lstStyle/>
          <a:p>
            <a:pPr>
              <a:buFont typeface="Arial" charset="0"/>
              <a:buNone/>
              <a:defRPr/>
            </a:pPr>
            <a:endParaRPr lang="en-US" sz="2200" dirty="0">
              <a:latin typeface="Times New Roman" pitchFamily="18" charset="0"/>
              <a:cs typeface="Times New Roman" pitchFamily="18" charset="0"/>
            </a:endParaRPr>
          </a:p>
          <a:p>
            <a:pPr>
              <a:buFont typeface="Arial" charset="0"/>
              <a:buNone/>
              <a:defRPr/>
            </a:pPr>
            <a:r>
              <a:rPr lang="en-US" sz="2200" dirty="0">
                <a:latin typeface="Times New Roman" pitchFamily="18" charset="0"/>
                <a:cs typeface="Times New Roman" pitchFamily="18" charset="0"/>
              </a:rPr>
              <a:t> </a:t>
            </a:r>
          </a:p>
          <a:p>
            <a:pPr>
              <a:buFont typeface="Arial" charset="0"/>
              <a:buNone/>
              <a:defRPr/>
            </a:pPr>
            <a:r>
              <a:rPr lang="en-US" sz="2400" dirty="0">
                <a:latin typeface="Times New Roman" pitchFamily="18" charset="0"/>
                <a:cs typeface="Times New Roman" pitchFamily="18" charset="0"/>
              </a:rPr>
              <a:t>More complex designs have been developed in which the </a:t>
            </a:r>
          </a:p>
          <a:p>
            <a:pPr>
              <a:buFont typeface="Arial" charset="0"/>
              <a:buNone/>
              <a:defRPr/>
            </a:pPr>
            <a:r>
              <a:rPr lang="en-US" sz="2400" dirty="0">
                <a:latin typeface="Times New Roman" pitchFamily="18" charset="0"/>
                <a:cs typeface="Times New Roman" pitchFamily="18" charset="0"/>
              </a:rPr>
              <a:t>validation study  proportions vary by     ,      , and even </a:t>
            </a:r>
          </a:p>
          <a:p>
            <a:pPr>
              <a:buFont typeface="Arial" charset="0"/>
              <a:buNone/>
              <a:defRPr/>
            </a:pPr>
            <a:r>
              <a:rPr lang="en-US" sz="2400" dirty="0">
                <a:latin typeface="Times New Roman" pitchFamily="18" charset="0"/>
                <a:cs typeface="Times New Roman" pitchFamily="18" charset="0"/>
              </a:rPr>
              <a:t>(Reilly, 1996; </a:t>
            </a:r>
            <a:r>
              <a:rPr lang="en-US" sz="2400" dirty="0" err="1">
                <a:latin typeface="Times New Roman" pitchFamily="18" charset="0"/>
                <a:cs typeface="Times New Roman" pitchFamily="18" charset="0"/>
              </a:rPr>
              <a:t>Tosteson</a:t>
            </a:r>
            <a:r>
              <a:rPr lang="en-US" sz="2400" dirty="0">
                <a:latin typeface="Times New Roman" pitchFamily="18" charset="0"/>
                <a:cs typeface="Times New Roman" pitchFamily="18" charset="0"/>
              </a:rPr>
              <a:t> and Ware, 1990) and others.</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They have rarely if ever been used in practice. </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1600" dirty="0" err="1">
                <a:latin typeface="Times New Roman" pitchFamily="18" charset="0"/>
                <a:cs typeface="Times New Roman" pitchFamily="18" charset="0"/>
              </a:rPr>
              <a:t>Tosteson</a:t>
            </a:r>
            <a:r>
              <a:rPr lang="en-US" sz="1600" dirty="0">
                <a:latin typeface="Times New Roman" pitchFamily="18" charset="0"/>
                <a:cs typeface="Times New Roman" pitchFamily="18" charset="0"/>
              </a:rPr>
              <a:t> T.D., Ware J.H. (1990) Designing a </a:t>
            </a:r>
            <a:r>
              <a:rPr lang="en-US" sz="1600" b="1" dirty="0">
                <a:latin typeface="Times New Roman" pitchFamily="18" charset="0"/>
                <a:cs typeface="Times New Roman" pitchFamily="18" charset="0"/>
              </a:rPr>
              <a:t>logistic regression </a:t>
            </a:r>
            <a:r>
              <a:rPr lang="en-US" sz="1600" dirty="0">
                <a:latin typeface="Times New Roman" pitchFamily="18" charset="0"/>
                <a:cs typeface="Times New Roman" pitchFamily="18" charset="0"/>
              </a:rPr>
              <a:t>study using surrogate measures for </a:t>
            </a:r>
          </a:p>
          <a:p>
            <a:pPr>
              <a:buFont typeface="Arial" charset="0"/>
              <a:buNone/>
              <a:defRPr/>
            </a:pPr>
            <a:r>
              <a:rPr lang="en-US" sz="1600" dirty="0">
                <a:latin typeface="Times New Roman" pitchFamily="18" charset="0"/>
                <a:cs typeface="Times New Roman" pitchFamily="18" charset="0"/>
              </a:rPr>
              <a:t>exposure and outcome. </a:t>
            </a:r>
            <a:r>
              <a:rPr lang="en-US" sz="1600" i="1" dirty="0" err="1">
                <a:latin typeface="Times New Roman" pitchFamily="18" charset="0"/>
                <a:cs typeface="Times New Roman" pitchFamily="18" charset="0"/>
              </a:rPr>
              <a:t>Biometrika</a:t>
            </a:r>
            <a:r>
              <a:rPr lang="en-US" sz="1600" dirty="0">
                <a:latin typeface="Times New Roman" pitchFamily="18" charset="0"/>
                <a:cs typeface="Times New Roman" pitchFamily="18" charset="0"/>
              </a:rPr>
              <a:t> 77:11-21.</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   </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p:cxnSp>
        <p:nvCxnSpPr>
          <p:cNvPr id="16387" name="AutoShape 3"/>
          <p:cNvCxnSpPr>
            <a:cxnSpLocks noChangeShapeType="1"/>
            <a:stCxn id="28676" idx="3"/>
            <a:endCxn id="28676" idx="3"/>
          </p:cNvCxnSpPr>
          <p:nvPr/>
        </p:nvCxnSpPr>
        <p:spPr bwMode="auto">
          <a:xfrm>
            <a:off x="8763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6388"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6389"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6390"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6391"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6392"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8BA1D87A-9DE0-4AB4-A535-36DE628311B6}" type="slidenum">
              <a:rPr lang="zh-CN" altLang="en-US" sz="1200">
                <a:solidFill>
                  <a:srgbClr val="898989"/>
                </a:solidFill>
              </a:rPr>
              <a:pPr algn="r" eaLnBrk="1" hangingPunct="1">
                <a:spcBef>
                  <a:spcPct val="0"/>
                </a:spcBef>
                <a:buFontTx/>
                <a:buNone/>
              </a:pPr>
              <a:t>14</a:t>
            </a:fld>
            <a:endParaRPr lang="en-US" altLang="zh-CN" sz="1200">
              <a:solidFill>
                <a:srgbClr val="898989"/>
              </a:solidFill>
            </a:endParaRPr>
          </a:p>
        </p:txBody>
      </p:sp>
      <mc:AlternateContent xmlns:mc="http://schemas.openxmlformats.org/markup-compatibility/2006" xmlns:a14="http://schemas.microsoft.com/office/drawing/2010/main">
        <mc:Choice Requires="a14">
          <p:sp>
            <p:nvSpPr>
              <p:cNvPr id="16393" name="Object 4"/>
              <p:cNvSpPr txBox="1"/>
              <p:nvPr/>
            </p:nvSpPr>
            <p:spPr bwMode="auto">
              <a:xfrm>
                <a:off x="4953000" y="1447800"/>
                <a:ext cx="330200" cy="355600"/>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𝑍</m:t>
                      </m:r>
                    </m:oMath>
                  </m:oMathPara>
                </a14:m>
                <a:endParaRPr lang="en-US" dirty="0"/>
              </a:p>
            </p:txBody>
          </p:sp>
        </mc:Choice>
        <mc:Fallback xmlns="">
          <p:sp>
            <p:nvSpPr>
              <p:cNvPr id="16393" name="Object 4"/>
              <p:cNvSpPr txBox="1">
                <a:spLocks noRot="1" noChangeAspect="1" noMove="1" noResize="1" noEditPoints="1" noAdjustHandles="1" noChangeArrowheads="1" noChangeShapeType="1" noTextEdit="1"/>
              </p:cNvSpPr>
              <p:nvPr/>
            </p:nvSpPr>
            <p:spPr bwMode="auto">
              <a:xfrm>
                <a:off x="4953000" y="1447800"/>
                <a:ext cx="330200" cy="355600"/>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94" name="Object 5"/>
              <p:cNvSpPr txBox="1"/>
              <p:nvPr/>
            </p:nvSpPr>
            <p:spPr bwMode="auto">
              <a:xfrm>
                <a:off x="5410200" y="1447800"/>
                <a:ext cx="381000" cy="355600"/>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𝐷</m:t>
                      </m:r>
                    </m:oMath>
                  </m:oMathPara>
                </a14:m>
                <a:endParaRPr lang="en-US"/>
              </a:p>
            </p:txBody>
          </p:sp>
        </mc:Choice>
        <mc:Fallback xmlns="">
          <p:sp>
            <p:nvSpPr>
              <p:cNvPr id="16394" name="Object 5"/>
              <p:cNvSpPr txBox="1">
                <a:spLocks noRot="1" noChangeAspect="1" noMove="1" noResize="1" noEditPoints="1" noAdjustHandles="1" noChangeArrowheads="1" noChangeShapeType="1" noTextEdit="1"/>
              </p:cNvSpPr>
              <p:nvPr/>
            </p:nvSpPr>
            <p:spPr bwMode="auto">
              <a:xfrm>
                <a:off x="5410200" y="1447800"/>
                <a:ext cx="381000" cy="355600"/>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95" name="Object 6"/>
              <p:cNvSpPr txBox="1"/>
              <p:nvPr/>
            </p:nvSpPr>
            <p:spPr bwMode="auto">
              <a:xfrm>
                <a:off x="7162800" y="1447800"/>
                <a:ext cx="965200" cy="4572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𝑍</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m:t>
                      </m:r>
                    </m:oMath>
                  </m:oMathPara>
                </a14:m>
                <a:endParaRPr lang="en-US"/>
              </a:p>
            </p:txBody>
          </p:sp>
        </mc:Choice>
        <mc:Fallback xmlns="">
          <p:sp>
            <p:nvSpPr>
              <p:cNvPr id="16395" name="Object 6"/>
              <p:cNvSpPr txBox="1">
                <a:spLocks noRot="1" noChangeAspect="1" noMove="1" noResize="1" noEditPoints="1" noAdjustHandles="1" noChangeArrowheads="1" noChangeShapeType="1" noTextEdit="1"/>
              </p:cNvSpPr>
              <p:nvPr/>
            </p:nvSpPr>
            <p:spPr bwMode="auto">
              <a:xfrm>
                <a:off x="7162800" y="1447800"/>
                <a:ext cx="965200" cy="457200"/>
              </a:xfrm>
              <a:prstGeom prst="rect">
                <a:avLst/>
              </a:prstGeom>
              <a:blipFill>
                <a:blip r:embed="rId5"/>
                <a:stretch>
                  <a:fillRect l="-1899"/>
                </a:stretch>
              </a:blipFill>
              <a:ln>
                <a:noFill/>
              </a:ln>
              <a:effectLst/>
            </p:spPr>
            <p:txBody>
              <a:bodyPr/>
              <a:lstStyle/>
              <a:p>
                <a:r>
                  <a:rPr lang="en-US">
                    <a:noFill/>
                  </a:rPr>
                  <a:t> </a:t>
                </a:r>
              </a:p>
            </p:txBody>
          </p:sp>
        </mc:Fallback>
      </mc:AlternateContent>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8676" name="Rectangle 2"/>
              <p:cNvSpPr>
                <a:spLocks noGrp="1" noChangeArrowheads="1"/>
              </p:cNvSpPr>
              <p:nvPr>
                <p:ph type="body" sz="half" idx="4294967295"/>
              </p:nvPr>
            </p:nvSpPr>
            <p:spPr>
              <a:xfrm>
                <a:off x="304800" y="0"/>
                <a:ext cx="8839200" cy="6477000"/>
              </a:xfrm>
            </p:spPr>
            <p:txBody>
              <a:bodyPr lIns="92075" tIns="46038" rIns="92075" bIns="46038"/>
              <a:lstStyle/>
              <a:p>
                <a:pPr>
                  <a:buNone/>
                  <a:defRPr/>
                </a:pPr>
                <a:r>
                  <a:rPr lang="en-US" sz="2200" dirty="0">
                    <a:latin typeface="Times New Roman" pitchFamily="18" charset="0"/>
                    <a:cs typeface="Times New Roman" pitchFamily="18" charset="0"/>
                  </a:rPr>
                  <a:t>                                             </a:t>
                </a:r>
                <a:r>
                  <a:rPr lang="en-US" sz="2200" b="1" dirty="0" err="1">
                    <a:latin typeface="Times New Roman" pitchFamily="18" charset="0"/>
                    <a:cs typeface="Times New Roman" pitchFamily="18" charset="0"/>
                  </a:rPr>
                  <a:t>Buonaccorsi</a:t>
                </a:r>
                <a:r>
                  <a:rPr lang="en-US" sz="2200" b="1" dirty="0">
                    <a:latin typeface="Times New Roman" pitchFamily="18" charset="0"/>
                    <a:cs typeface="Times New Roman" pitchFamily="18" charset="0"/>
                  </a:rPr>
                  <a:t> (1990)</a:t>
                </a:r>
              </a:p>
              <a:p>
                <a:pPr>
                  <a:buFont typeface="Arial" charset="0"/>
                  <a:buNone/>
                  <a:defRPr/>
                </a:pPr>
                <a:r>
                  <a:rPr lang="en-US" sz="2200" u="sng" dirty="0">
                    <a:latin typeface="Times New Roman" pitchFamily="18" charset="0"/>
                    <a:cs typeface="Times New Roman" pitchFamily="18" charset="0"/>
                  </a:rPr>
                  <a:t>Design for </a:t>
                </a:r>
                <a:r>
                  <a:rPr lang="en-US" sz="2200" b="1" u="sng" dirty="0">
                    <a:latin typeface="Times New Roman" pitchFamily="18" charset="0"/>
                    <a:cs typeface="Times New Roman" pitchFamily="18" charset="0"/>
                  </a:rPr>
                  <a:t>logistic regression </a:t>
                </a:r>
                <a:r>
                  <a:rPr lang="en-US" sz="2200" u="sng" dirty="0">
                    <a:latin typeface="Times New Roman" pitchFamily="18" charset="0"/>
                    <a:cs typeface="Times New Roman" pitchFamily="18" charset="0"/>
                  </a:rPr>
                  <a:t>with </a:t>
                </a:r>
                <a:r>
                  <a:rPr lang="en-US" sz="2200" b="1" u="sng" dirty="0">
                    <a:latin typeface="Times New Roman" pitchFamily="18" charset="0"/>
                    <a:cs typeface="Times New Roman" pitchFamily="18" charset="0"/>
                  </a:rPr>
                  <a:t>classical measurement error model</a:t>
                </a:r>
                <a:endParaRPr lang="en-US" sz="2200" b="1" dirty="0">
                  <a:latin typeface="Times New Roman" pitchFamily="18" charset="0"/>
                  <a:cs typeface="Times New Roman" pitchFamily="18" charset="0"/>
                </a:endParaRPr>
              </a:p>
              <a:p>
                <a:pPr>
                  <a:buFont typeface="Arial" charset="0"/>
                  <a:buNone/>
                  <a:defRPr/>
                </a:pPr>
                <a:endParaRPr lang="en-US" sz="1700" dirty="0">
                  <a:latin typeface="Times New Roman" pitchFamily="18" charset="0"/>
                  <a:cs typeface="Times New Roman" pitchFamily="18" charset="0"/>
                </a:endParaRPr>
              </a:p>
              <a:p>
                <a:pPr>
                  <a:buFont typeface="Arial" charset="0"/>
                  <a:buNone/>
                  <a:defRPr/>
                </a:pPr>
                <a:r>
                  <a:rPr lang="en-US" sz="2200" dirty="0" err="1">
                    <a:latin typeface="Times New Roman" pitchFamily="18" charset="0"/>
                    <a:cs typeface="Times New Roman" pitchFamily="18" charset="0"/>
                  </a:rPr>
                  <a:t>Buonaccorsi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Buonaccorsi</a:t>
                </a:r>
                <a:r>
                  <a:rPr lang="en-US" sz="2200" dirty="0">
                    <a:latin typeface="Times New Roman" pitchFamily="18" charset="0"/>
                    <a:cs typeface="Times New Roman" pitchFamily="18" charset="0"/>
                  </a:rPr>
                  <a:t>, 1990) derived a </a:t>
                </a:r>
                <a:r>
                  <a:rPr lang="en-US" sz="2200" b="1" dirty="0">
                    <a:latin typeface="Times New Roman" pitchFamily="18" charset="0"/>
                    <a:cs typeface="Times New Roman" pitchFamily="18" charset="0"/>
                  </a:rPr>
                  <a:t>closed form expression </a:t>
                </a:r>
                <a:r>
                  <a:rPr lang="en-US" sz="2200" dirty="0">
                    <a:latin typeface="Times New Roman" pitchFamily="18" charset="0"/>
                    <a:cs typeface="Times New Roman" pitchFamily="18" charset="0"/>
                  </a:rPr>
                  <a:t>for the </a:t>
                </a:r>
              </a:p>
              <a:p>
                <a:pPr>
                  <a:buNone/>
                  <a:defRPr/>
                </a:pPr>
                <a:r>
                  <a:rPr lang="en-US" sz="2200" dirty="0">
                    <a:latin typeface="Times New Roman" pitchFamily="18" charset="0"/>
                    <a:cs typeface="Times New Roman" pitchFamily="18" charset="0"/>
                  </a:rPr>
                  <a:t>optimal validation study proportion,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𝜆</m:t>
                        </m:r>
                      </m:e>
                      <m:sub>
                        <m:r>
                          <a:rPr lang="en-US" sz="2400" i="1">
                            <a:solidFill>
                              <a:srgbClr val="000000"/>
                            </a:solidFill>
                            <a:latin typeface="Cambria Math" panose="02040503050406030204" pitchFamily="18" charset="0"/>
                          </a:rPr>
                          <m:t>𝑜𝑝𝑡</m:t>
                        </m:r>
                      </m:sub>
                    </m:sSub>
                  </m:oMath>
                </a14:m>
                <a:r>
                  <a:rPr lang="en-US" sz="2200" dirty="0">
                    <a:latin typeface="Times New Roman" pitchFamily="18" charset="0"/>
                    <a:cs typeface="Times New Roman" pitchFamily="18" charset="0"/>
                  </a:rPr>
                  <a:t>, in the </a:t>
                </a:r>
                <a:r>
                  <a:rPr lang="en-US" sz="2200" b="1" dirty="0">
                    <a:latin typeface="Times New Roman" pitchFamily="18" charset="0"/>
                    <a:cs typeface="Times New Roman" pitchFamily="18" charset="0"/>
                  </a:rPr>
                  <a:t>main study/internal </a:t>
                </a:r>
              </a:p>
              <a:p>
                <a:pPr>
                  <a:buFont typeface="Arial" charset="0"/>
                  <a:buNone/>
                  <a:defRPr/>
                </a:pPr>
                <a:r>
                  <a:rPr lang="en-US" sz="2200" b="1" dirty="0">
                    <a:latin typeface="Times New Roman" pitchFamily="18" charset="0"/>
                    <a:cs typeface="Times New Roman" pitchFamily="18" charset="0"/>
                  </a:rPr>
                  <a:t>validation study design</a:t>
                </a:r>
                <a:r>
                  <a:rPr lang="en-US" sz="2200" dirty="0">
                    <a:latin typeface="Times New Roman" pitchFamily="18" charset="0"/>
                    <a:cs typeface="Times New Roman" pitchFamily="18" charset="0"/>
                  </a:rPr>
                  <a:t> for a logistic regression model where                      is normally distributed with constant variances. Then, setting </a:t>
                </a:r>
                <a14:m>
                  <m:oMath xmlns:m="http://schemas.openxmlformats.org/officeDocument/2006/math">
                    <m:sSub>
                      <m:sSubPr>
                        <m:ctrlPr>
                          <a:rPr lang="en-US" sz="2200" b="0" i="1" smtClean="0">
                            <a:latin typeface="Cambria Math" panose="02040503050406030204" pitchFamily="18" charset="0"/>
                            <a:cs typeface="Times New Roman" pitchFamily="18" charset="0"/>
                          </a:rPr>
                        </m:ctrlPr>
                      </m:sSubPr>
                      <m:e>
                        <m:r>
                          <a:rPr lang="en-US" sz="2200" b="0" i="1" smtClean="0">
                            <a:latin typeface="Cambria Math" panose="02040503050406030204" pitchFamily="18" charset="0"/>
                            <a:cs typeface="Times New Roman" pitchFamily="18" charset="0"/>
                          </a:rPr>
                          <m:t>𝜌</m:t>
                        </m:r>
                      </m:e>
                      <m:sub>
                        <m:r>
                          <a:rPr lang="en-US" sz="2200" b="0" i="1" smtClean="0">
                            <a:latin typeface="Cambria Math" panose="02040503050406030204" pitchFamily="18" charset="0"/>
                            <a:cs typeface="Times New Roman" pitchFamily="18" charset="0"/>
                          </a:rPr>
                          <m:t>𝐼</m:t>
                        </m:r>
                      </m:sub>
                    </m:sSub>
                    <m:r>
                      <a:rPr lang="en-US" sz="2200" b="0" i="1" smtClean="0">
                        <a:latin typeface="Cambria Math" panose="02040503050406030204" pitchFamily="18" charset="0"/>
                        <a:cs typeface="Times New Roman" pitchFamily="18" charset="0"/>
                      </a:rPr>
                      <m:t>=  </m:t>
                    </m:r>
                    <m:r>
                      <a:rPr lang="en-US" sz="2200" b="0" i="1" smtClean="0">
                        <a:latin typeface="Cambria Math" panose="02040503050406030204" pitchFamily="18" charset="0"/>
                        <a:cs typeface="Times New Roman" pitchFamily="18" charset="0"/>
                      </a:rPr>
                      <m:t>𝐶𝑜𝑟𝑟</m:t>
                    </m:r>
                    <m:d>
                      <m:dPr>
                        <m:ctrlPr>
                          <a:rPr lang="en-US" sz="2200" b="0" i="1" smtClean="0">
                            <a:latin typeface="Cambria Math" panose="02040503050406030204" pitchFamily="18" charset="0"/>
                            <a:cs typeface="Times New Roman" pitchFamily="18" charset="0"/>
                          </a:rPr>
                        </m:ctrlPr>
                      </m:dPr>
                      <m:e>
                        <m:r>
                          <a:rPr lang="en-US" sz="2200" b="0" i="1" smtClean="0">
                            <a:latin typeface="Cambria Math" panose="02040503050406030204" pitchFamily="18" charset="0"/>
                            <a:cs typeface="Times New Roman" pitchFamily="18" charset="0"/>
                          </a:rPr>
                          <m:t>𝑋</m:t>
                        </m:r>
                        <m:r>
                          <a:rPr lang="en-US" sz="2200" b="0" i="1" smtClean="0">
                            <a:latin typeface="Cambria Math" panose="02040503050406030204" pitchFamily="18" charset="0"/>
                            <a:cs typeface="Times New Roman" pitchFamily="18" charset="0"/>
                          </a:rPr>
                          <m:t>,</m:t>
                        </m:r>
                        <m:r>
                          <a:rPr lang="en-US" sz="2200" b="0" i="1" smtClean="0">
                            <a:latin typeface="Cambria Math" panose="02040503050406030204" pitchFamily="18" charset="0"/>
                            <a:cs typeface="Times New Roman" pitchFamily="18" charset="0"/>
                          </a:rPr>
                          <m:t>𝑍</m:t>
                        </m:r>
                      </m:e>
                    </m:d>
                    <m:r>
                      <a:rPr lang="en-US" sz="2200" b="0" i="1" smtClean="0">
                        <a:latin typeface="Cambria Math" panose="02040503050406030204" pitchFamily="18" charset="0"/>
                        <a:cs typeface="Times New Roman" pitchFamily="18" charset="0"/>
                      </a:rPr>
                      <m:t>,</m:t>
                    </m:r>
                  </m:oMath>
                </a14:m>
                <a:endParaRPr lang="en-US" sz="2200" b="0" dirty="0">
                  <a:latin typeface="Times New Roman" pitchFamily="18" charset="0"/>
                  <a:cs typeface="Times New Roman" pitchFamily="18" charset="0"/>
                </a:endParaRPr>
              </a:p>
              <a:p>
                <a:pPr>
                  <a:buFont typeface="Arial" charset="0"/>
                  <a:buNone/>
                  <a:defRPr/>
                </a:pPr>
                <a:endParaRPr lang="en-US" sz="2200" dirty="0">
                  <a:latin typeface="Times New Roman" pitchFamily="18" charset="0"/>
                  <a:cs typeface="Times New Roman" pitchFamily="18" charset="0"/>
                </a:endParaRPr>
              </a:p>
              <a:p>
                <a:pPr>
                  <a:buFont typeface="Arial" charset="0"/>
                  <a:buNone/>
                  <a:defRPr/>
                </a:pPr>
                <a:r>
                  <a:rPr lang="en-US" sz="2200" dirty="0">
                    <a:latin typeface="Times New Roman" pitchFamily="18" charset="0"/>
                    <a:cs typeface="Times New Roman" pitchFamily="18" charset="0"/>
                  </a:rPr>
                  <a:t> </a:t>
                </a:r>
              </a:p>
              <a:p>
                <a:pPr>
                  <a:buFont typeface="Arial" charset="0"/>
                  <a:buNone/>
                  <a:defRPr/>
                </a:pPr>
                <a:r>
                  <a:rPr lang="en-US" sz="2200" dirty="0">
                    <a:latin typeface="Times New Roman" pitchFamily="18" charset="0"/>
                    <a:cs typeface="Times New Roman" pitchFamily="18" charset="0"/>
                  </a:rPr>
                  <a:t>which is the optimal validation study proportion assuming that at least some </a:t>
                </a:r>
              </a:p>
              <a:p>
                <a:pPr>
                  <a:buNone/>
                  <a:defRPr/>
                </a:pPr>
                <a:r>
                  <a:rPr lang="en-US" sz="2200" dirty="0">
                    <a:latin typeface="Times New Roman" pitchFamily="18" charset="0"/>
                    <a:cs typeface="Times New Roman" pitchFamily="18" charset="0"/>
                  </a:rPr>
                  <a:t>participants will be validated, where</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𝑟</m:t>
                        </m:r>
                      </m:e>
                      <m:sub>
                        <m:r>
                          <a:rPr lang="en-US" sz="2400" i="1">
                            <a:solidFill>
                              <a:srgbClr val="000000"/>
                            </a:solidFill>
                            <a:latin typeface="Cambria Math" panose="02040503050406030204" pitchFamily="18" charset="0"/>
                          </a:rPr>
                          <m:t>𝐷</m:t>
                        </m:r>
                      </m:sub>
                    </m:sSub>
                  </m:oMath>
                </a14:m>
                <a:r>
                  <a:rPr lang="en-US" sz="2200" dirty="0">
                    <a:latin typeface="Times New Roman" pitchFamily="18" charset="0"/>
                    <a:cs typeface="Times New Roman" pitchFamily="18" charset="0"/>
                  </a:rPr>
                  <a:t> is the unit cost of measuring the </a:t>
                </a:r>
              </a:p>
              <a:p>
                <a:pPr>
                  <a:buNone/>
                  <a:defRPr/>
                </a:pPr>
                <a:r>
                  <a:rPr lang="en-US" sz="2200" dirty="0">
                    <a:latin typeface="Times New Roman" pitchFamily="18" charset="0"/>
                    <a:cs typeface="Times New Roman" pitchFamily="18" charset="0"/>
                  </a:rPr>
                  <a:t>outcome.</a:t>
                </a:r>
              </a:p>
              <a:p>
                <a:pPr>
                  <a:buNone/>
                  <a:defRPr/>
                </a:pPr>
                <a:r>
                  <a:rPr lang="en-US" sz="2200" dirty="0">
                    <a:latin typeface="Times New Roman" pitchFamily="18" charset="0"/>
                    <a:cs typeface="Times New Roman" pitchFamily="18" charset="0"/>
                  </a:rPr>
                  <a:t>This is based on the </a:t>
                </a:r>
                <a:r>
                  <a:rPr lang="en-US" sz="2200" b="1" dirty="0">
                    <a:latin typeface="Times New Roman" pitchFamily="18" charset="0"/>
                    <a:cs typeface="Times New Roman" pitchFamily="18" charset="0"/>
                  </a:rPr>
                  <a:t>MLE </a:t>
                </a:r>
                <a:r>
                  <a:rPr lang="en-US" sz="2200" dirty="0">
                    <a:latin typeface="Times New Roman" pitchFamily="18" charset="0"/>
                    <a:cs typeface="Times New Roman" pitchFamily="18" charset="0"/>
                  </a:rPr>
                  <a:t>for the normal discriminant model. The criterion is to </a:t>
                </a:r>
                <a:r>
                  <a:rPr lang="en-US" sz="2200" b="1" dirty="0">
                    <a:latin typeface="Times New Roman" pitchFamily="18" charset="0"/>
                    <a:cs typeface="Times New Roman" pitchFamily="18" charset="0"/>
                  </a:rPr>
                  <a:t>minimize the variance </a:t>
                </a:r>
                <a:r>
                  <a:rPr lang="en-US" sz="2200" dirty="0">
                    <a:latin typeface="Times New Roman" pitchFamily="18" charset="0"/>
                    <a:cs typeface="Times New Roman" pitchFamily="18" charset="0"/>
                  </a:rPr>
                  <a:t>of the </a:t>
                </a:r>
                <a14:m>
                  <m:oMath xmlns:m="http://schemas.openxmlformats.org/officeDocument/2006/math">
                    <m:r>
                      <m:rPr>
                        <m:sty m:val="p"/>
                      </m:rPr>
                      <a:rPr lang="en-US" sz="2200" i="1" dirty="0" smtClean="0">
                        <a:latin typeface="Cambria Math" panose="02040503050406030204" pitchFamily="18" charset="0"/>
                        <a:cs typeface="Times New Roman" pitchFamily="18" charset="0"/>
                      </a:rPr>
                      <m:t>log</m:t>
                    </m:r>
                    <m:r>
                      <a:rPr lang="en-US" sz="2200" i="1" dirty="0" smtClean="0">
                        <a:latin typeface="Cambria Math" panose="02040503050406030204" pitchFamily="18" charset="0"/>
                        <a:cs typeface="Times New Roman" pitchFamily="18" charset="0"/>
                      </a:rPr>
                      <m:t>⁡(</m:t>
                    </m:r>
                    <m:acc>
                      <m:accPr>
                        <m:chr m:val="̂"/>
                        <m:ctrlPr>
                          <a:rPr lang="en-US" sz="2200" i="1" dirty="0" smtClean="0">
                            <a:latin typeface="Cambria Math" panose="02040503050406030204" pitchFamily="18" charset="0"/>
                            <a:cs typeface="Times New Roman" pitchFamily="18" charset="0"/>
                          </a:rPr>
                        </m:ctrlPr>
                      </m:accPr>
                      <m:e>
                        <m:r>
                          <a:rPr lang="en-US" sz="2200" i="1" dirty="0">
                            <a:latin typeface="Cambria Math" panose="02040503050406030204" pitchFamily="18" charset="0"/>
                            <a:cs typeface="Times New Roman" pitchFamily="18" charset="0"/>
                          </a:rPr>
                          <m:t>𝑂𝑅</m:t>
                        </m:r>
                      </m:e>
                    </m:acc>
                    <m:r>
                      <a:rPr lang="en-US" sz="2200" i="1" dirty="0" smtClean="0">
                        <a:latin typeface="Cambria Math" panose="02040503050406030204" pitchFamily="18" charset="0"/>
                        <a:cs typeface="Times New Roman" pitchFamily="18" charset="0"/>
                      </a:rPr>
                      <m:t>)</m:t>
                    </m:r>
                  </m:oMath>
                </a14:m>
                <a:r>
                  <a:rPr lang="en-US" sz="2200" dirty="0">
                    <a:latin typeface="Times New Roman" pitchFamily="18" charset="0"/>
                    <a:cs typeface="Times New Roman" pitchFamily="18" charset="0"/>
                  </a:rPr>
                  <a:t> </a:t>
                </a:r>
                <a:r>
                  <a:rPr lang="en-US" sz="2200" b="1" dirty="0">
                    <a:latin typeface="Times New Roman" pitchFamily="18" charset="0"/>
                    <a:cs typeface="Times New Roman" pitchFamily="18" charset="0"/>
                  </a:rPr>
                  <a:t>subject to cost considerations (</a:t>
                </a:r>
                <a14:m>
                  <m:oMath xmlns:m="http://schemas.openxmlformats.org/officeDocument/2006/math">
                    <m:r>
                      <a:rPr lang="en-US" sz="2200" b="0" i="1" dirty="0" smtClean="0">
                        <a:latin typeface="Cambria Math" panose="02040503050406030204" pitchFamily="18" charset="0"/>
                        <a:cs typeface="Times New Roman" pitchFamily="18" charset="0"/>
                      </a:rPr>
                      <m:t>𝐶𝑜𝑠𝑡</m:t>
                    </m:r>
                    <m:r>
                      <a:rPr lang="en-US" sz="2200" b="0" i="1" dirty="0" smtClean="0">
                        <a:latin typeface="Cambria Math" panose="02040503050406030204" pitchFamily="18" charset="0"/>
                        <a:cs typeface="Times New Roman" pitchFamily="18" charset="0"/>
                      </a:rPr>
                      <m:t>)</m:t>
                    </m:r>
                  </m:oMath>
                </a14:m>
                <a:r>
                  <a:rPr lang="en-US" sz="2200" dirty="0">
                    <a:latin typeface="Times New Roman" pitchFamily="18" charset="0"/>
                    <a:cs typeface="Times New Roman" pitchFamily="18" charset="0"/>
                  </a:rPr>
                  <a:t>.</a:t>
                </a:r>
              </a:p>
              <a:p>
                <a:pPr>
                  <a:buFont typeface="Arial" charset="0"/>
                  <a:buNone/>
                  <a:defRPr/>
                </a:pPr>
                <a:endParaRPr lang="en-US" sz="1600" dirty="0">
                  <a:latin typeface="Times New Roman" pitchFamily="18" charset="0"/>
                  <a:cs typeface="Times New Roman" pitchFamily="18" charset="0"/>
                </a:endParaRPr>
              </a:p>
              <a:p>
                <a:pPr>
                  <a:buFont typeface="Arial" charset="0"/>
                  <a:buNone/>
                  <a:defRPr/>
                </a:pPr>
                <a:r>
                  <a:rPr lang="en-US" sz="1600" dirty="0" err="1">
                    <a:latin typeface="Times New Roman" pitchFamily="18" charset="0"/>
                    <a:cs typeface="Times New Roman" pitchFamily="18" charset="0"/>
                  </a:rPr>
                  <a:t>Buonaccorsi</a:t>
                </a:r>
                <a:r>
                  <a:rPr lang="en-US" sz="1600" dirty="0">
                    <a:latin typeface="Times New Roman" pitchFamily="18" charset="0"/>
                    <a:cs typeface="Times New Roman" pitchFamily="18" charset="0"/>
                  </a:rPr>
                  <a:t> J.P. (1990) Double sampling for exact values in the normal </a:t>
                </a:r>
                <a:r>
                  <a:rPr lang="en-US" sz="1600" dirty="0" err="1">
                    <a:latin typeface="Times New Roman" pitchFamily="18" charset="0"/>
                    <a:cs typeface="Times New Roman" pitchFamily="18" charset="0"/>
                  </a:rPr>
                  <a:t>discriminant</a:t>
                </a:r>
                <a:r>
                  <a:rPr lang="en-US" sz="1600" dirty="0">
                    <a:latin typeface="Times New Roman" pitchFamily="18" charset="0"/>
                    <a:cs typeface="Times New Roman" pitchFamily="18" charset="0"/>
                  </a:rPr>
                  <a:t> model with </a:t>
                </a:r>
              </a:p>
              <a:p>
                <a:pPr>
                  <a:buFont typeface="Arial" charset="0"/>
                  <a:buNone/>
                  <a:defRPr/>
                </a:pPr>
                <a:r>
                  <a:rPr lang="en-US" sz="1600" dirty="0">
                    <a:latin typeface="Times New Roman" pitchFamily="18" charset="0"/>
                    <a:cs typeface="Times New Roman" pitchFamily="18" charset="0"/>
                  </a:rPr>
                  <a:t>application to binary regression. </a:t>
                </a:r>
                <a:r>
                  <a:rPr lang="en-US" sz="1600" i="1" dirty="0">
                    <a:latin typeface="Times New Roman" pitchFamily="18" charset="0"/>
                    <a:cs typeface="Times New Roman" pitchFamily="18" charset="0"/>
                  </a:rPr>
                  <a:t>Communications in Statistics-Theory and Methods </a:t>
                </a:r>
                <a:r>
                  <a:rPr lang="en-US" sz="1600" dirty="0">
                    <a:latin typeface="Times New Roman" pitchFamily="18" charset="0"/>
                    <a:cs typeface="Times New Roman" pitchFamily="18" charset="0"/>
                  </a:rPr>
                  <a:t>19:4569-4586.</a:t>
                </a:r>
              </a:p>
              <a:p>
                <a:pPr>
                  <a:buFont typeface="Arial" charset="0"/>
                  <a:buNone/>
                  <a:defRPr/>
                </a:pPr>
                <a:r>
                  <a:rPr lang="en-US" sz="1600" dirty="0">
                    <a:latin typeface="Times New Roman" pitchFamily="18" charset="0"/>
                    <a:cs typeface="Times New Roman" pitchFamily="18" charset="0"/>
                  </a:rPr>
                  <a:t>  </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   </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mc:Choice>
        <mc:Fallback>
          <p:sp>
            <p:nvSpPr>
              <p:cNvPr id="28676" name="Rectangle 2"/>
              <p:cNvSpPr>
                <a:spLocks noGrp="1" noRot="1" noChangeAspect="1" noMove="1" noResize="1" noEditPoints="1" noAdjustHandles="1" noChangeArrowheads="1" noChangeShapeType="1" noTextEdit="1"/>
              </p:cNvSpPr>
              <p:nvPr>
                <p:ph type="body" sz="half" idx="4294967295"/>
              </p:nvPr>
            </p:nvSpPr>
            <p:spPr>
              <a:xfrm>
                <a:off x="304800" y="0"/>
                <a:ext cx="8839200" cy="6477000"/>
              </a:xfrm>
              <a:blipFill>
                <a:blip r:embed="rId4"/>
                <a:stretch>
                  <a:fillRect l="-897" t="-659" r="-69" b="-10630"/>
                </a:stretch>
              </a:blipFill>
            </p:spPr>
            <p:txBody>
              <a:bodyPr/>
              <a:lstStyle/>
              <a:p>
                <a:r>
                  <a:rPr lang="en-US">
                    <a:noFill/>
                  </a:rPr>
                  <a:t> </a:t>
                </a:r>
              </a:p>
            </p:txBody>
          </p:sp>
        </mc:Fallback>
      </mc:AlternateContent>
      <p:cxnSp>
        <p:nvCxnSpPr>
          <p:cNvPr id="17411" name="AutoShape 3"/>
          <p:cNvCxnSpPr>
            <a:cxnSpLocks noChangeShapeType="1"/>
            <a:stCxn id="28676" idx="3"/>
            <a:endCxn id="28676" idx="3"/>
          </p:cNvCxnSpPr>
          <p:nvPr/>
        </p:nvCxnSpPr>
        <p:spPr bwMode="auto">
          <a:xfrm>
            <a:off x="9144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7412"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7413"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7414"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7415"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7416"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5370152A-86E1-4C5F-B912-DEC0F1E695DB}" type="slidenum">
              <a:rPr lang="zh-CN" altLang="en-US" sz="1200">
                <a:solidFill>
                  <a:srgbClr val="898989"/>
                </a:solidFill>
              </a:rPr>
              <a:pPr algn="r" eaLnBrk="1" hangingPunct="1">
                <a:spcBef>
                  <a:spcPct val="0"/>
                </a:spcBef>
                <a:buFontTx/>
                <a:buNone/>
              </a:pPr>
              <a:t>15</a:t>
            </a:fld>
            <a:endParaRPr lang="en-US" altLang="zh-CN" sz="1200">
              <a:solidFill>
                <a:srgbClr val="898989"/>
              </a:solidFill>
            </a:endParaRPr>
          </a:p>
        </p:txBody>
      </p:sp>
      <mc:AlternateContent xmlns:mc="http://schemas.openxmlformats.org/markup-compatibility/2006">
        <mc:Choice xmlns:a14="http://schemas.microsoft.com/office/drawing/2010/main" Requires="a14">
          <p:sp>
            <p:nvSpPr>
              <p:cNvPr id="17417" name="Object 8"/>
              <p:cNvSpPr txBox="1"/>
              <p:nvPr/>
            </p:nvSpPr>
            <p:spPr bwMode="auto">
              <a:xfrm>
                <a:off x="66675" y="2895600"/>
                <a:ext cx="8842375" cy="1060450"/>
              </a:xfrm>
              <a:prstGeom prst="rect">
                <a:avLst/>
              </a:prstGeom>
              <a:noFill/>
              <a:ln>
                <a:noFill/>
              </a:ln>
            </p:spPr>
            <p:txBody>
              <a:bodyPr>
                <a:normAutofit/>
              </a:bodyPr>
              <a:lstStyle/>
              <a:p>
                <a:pPr algn="ctr"/>
                <a14:m>
                  <m:oMath xmlns:m="http://schemas.openxmlformats.org/officeDocument/2006/math">
                    <m:sSup>
                      <m:sSupPr>
                        <m:ctrlPr>
                          <a:rPr lang="en-US" i="1" smtClean="0">
                            <a:solidFill>
                              <a:srgbClr val="000000"/>
                            </a:solidFill>
                            <a:latin typeface="Cambria Math" panose="02040503050406030204" pitchFamily="18" charset="0"/>
                          </a:rPr>
                        </m:ctrlPr>
                      </m:sSupPr>
                      <m:e>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𝜆</m:t>
                            </m:r>
                          </m:e>
                          <m:sup>
                            <m:r>
                              <a:rPr lang="en-US" i="1">
                                <a:solidFill>
                                  <a:srgbClr val="000000"/>
                                </a:solidFill>
                                <a:latin typeface="Cambria Math" panose="02040503050406030204" pitchFamily="18" charset="0"/>
                              </a:rPr>
                              <m:t>∗</m:t>
                            </m:r>
                          </m:sup>
                        </m:sSup>
                      </m:e>
                      <m:sup/>
                    </m:sSup>
                    <m:r>
                      <a:rPr lang="en-US" i="1">
                        <a:solidFill>
                          <a:srgbClr val="000000"/>
                        </a:solidFill>
                        <a:latin typeface="Cambria Math" panose="02040503050406030204" pitchFamily="18" charset="0"/>
                      </a:rPr>
                      <m:t>=</m:t>
                    </m:r>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min</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1,</m:t>
                    </m:r>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d>
                              <m:dPr>
                                <m:begChr m:val="["/>
                                <m:endChr m:val="]"/>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𝐷</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𝑍</m:t>
                                        </m:r>
                                      </m:sub>
                                    </m:sSub>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𝑋</m:t>
                                        </m:r>
                                      </m:sub>
                                    </m:sSub>
                                  </m:den>
                                </m:f>
                              </m:e>
                            </m:d>
                            <m:d>
                              <m:dPr>
                                <m:begChr m:val="["/>
                                <m:endChr m:val="]"/>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1+2</m:t>
                                    </m:r>
                                    <m:r>
                                      <a:rPr lang="en-US" i="1">
                                        <a:solidFill>
                                          <a:srgbClr val="000000"/>
                                        </a:solidFill>
                                        <a:latin typeface="Cambria Math" panose="02040503050406030204" pitchFamily="18" charset="0"/>
                                      </a:rPr>
                                      <m:t>𝐶𝑜𝑟</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𝑟</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𝜌</m:t>
                                        </m:r>
                                      </m:e>
                                      <m:sub>
                                        <m:r>
                                          <a:rPr lang="en-US" b="0" i="1" smtClean="0">
                                            <a:solidFill>
                                              <a:srgbClr val="000000"/>
                                            </a:solidFill>
                                            <a:latin typeface="Cambria Math" panose="02040503050406030204" pitchFamily="18" charset="0"/>
                                          </a:rPr>
                                          <m:t>𝐼</m:t>
                                        </m:r>
                                      </m:sub>
                                    </m:s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𝐶𝑜𝑟</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𝑟</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𝜌</m:t>
                                            </m:r>
                                          </m:e>
                                          <m:sub>
                                            <m:r>
                                              <a:rPr lang="en-US" b="0" i="1" smtClean="0">
                                                <a:solidFill>
                                                  <a:srgbClr val="000000"/>
                                                </a:solidFill>
                                                <a:latin typeface="Cambria Math" panose="02040503050406030204" pitchFamily="18" charset="0"/>
                                              </a:rPr>
                                              <m:t>𝐼</m:t>
                                            </m:r>
                                          </m:sub>
                                        </m:sSub>
                                      </m:e>
                                      <m:sup>
                                        <m:r>
                                          <a:rPr lang="en-US" i="1">
                                            <a:solidFill>
                                              <a:srgbClr val="000000"/>
                                            </a:solidFill>
                                            <a:latin typeface="Cambria Math" panose="02040503050406030204" pitchFamily="18" charset="0"/>
                                          </a:rPr>
                                          <m:t>2</m:t>
                                        </m:r>
                                      </m:sup>
                                    </m:sSup>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𝜌</m:t>
                                        </m:r>
                                      </m:e>
                                      <m:sub/>
                                    </m:s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𝐶𝑜𝑟</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𝑟</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𝜌</m:t>
                                            </m:r>
                                          </m:e>
                                          <m:sub>
                                            <m:r>
                                              <a:rPr lang="en-US" b="0" i="1" smtClean="0">
                                                <a:solidFill>
                                                  <a:srgbClr val="000000"/>
                                                </a:solidFill>
                                                <a:latin typeface="Cambria Math" panose="02040503050406030204" pitchFamily="18" charset="0"/>
                                              </a:rPr>
                                              <m:t>𝐼</m:t>
                                            </m:r>
                                          </m:sub>
                                        </m:sSub>
                                      </m:e>
                                      <m:sup>
                                        <m:r>
                                          <a:rPr lang="en-US" i="1">
                                            <a:solidFill>
                                              <a:srgbClr val="000000"/>
                                            </a:solidFill>
                                            <a:latin typeface="Cambria Math" panose="02040503050406030204" pitchFamily="18" charset="0"/>
                                          </a:rPr>
                                          <m:t>2</m:t>
                                        </m:r>
                                      </m:sup>
                                    </m:sSup>
                                  </m:den>
                                </m:f>
                              </m:e>
                            </m:d>
                          </m:e>
                        </m:d>
                      </m:e>
                      <m:sup>
                        <m:r>
                          <a:rPr lang="en-US" i="1">
                            <a:solidFill>
                              <a:srgbClr val="000000"/>
                            </a:solidFill>
                            <a:latin typeface="Cambria Math" panose="02040503050406030204" pitchFamily="18" charset="0"/>
                          </a:rPr>
                          <m:t>1/2</m:t>
                        </m:r>
                      </m:sup>
                    </m:sSup>
                    <m:r>
                      <a:rPr lang="en-US" i="1">
                        <a:solidFill>
                          <a:srgbClr val="000000"/>
                        </a:solidFill>
                        <a:latin typeface="Cambria Math" panose="02040503050406030204" pitchFamily="18" charset="0"/>
                      </a:rPr>
                      <m:t>)</m:t>
                    </m:r>
                  </m:oMath>
                </a14:m>
                <a:r>
                  <a:rPr lang="en-US" dirty="0"/>
                  <a:t>,</a:t>
                </a:r>
              </a:p>
            </p:txBody>
          </p:sp>
        </mc:Choice>
        <mc:Fallback>
          <p:sp>
            <p:nvSpPr>
              <p:cNvPr id="17417" name="Object 8"/>
              <p:cNvSpPr txBox="1">
                <a:spLocks noRot="1" noChangeAspect="1" noMove="1" noResize="1" noEditPoints="1" noAdjustHandles="1" noChangeArrowheads="1" noChangeShapeType="1" noTextEdit="1"/>
              </p:cNvSpPr>
              <p:nvPr/>
            </p:nvSpPr>
            <p:spPr bwMode="auto">
              <a:xfrm>
                <a:off x="66675" y="2895600"/>
                <a:ext cx="8842375" cy="1060450"/>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19" name="Object 2"/>
              <p:cNvSpPr txBox="1"/>
              <p:nvPr/>
            </p:nvSpPr>
            <p:spPr bwMode="auto">
              <a:xfrm>
                <a:off x="7446963" y="1992313"/>
                <a:ext cx="1143000" cy="404812"/>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𝑍</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𝐷</m:t>
                      </m:r>
                    </m:oMath>
                  </m:oMathPara>
                </a14:m>
                <a:endParaRPr lang="en-US"/>
              </a:p>
            </p:txBody>
          </p:sp>
        </mc:Choice>
        <mc:Fallback xmlns="">
          <p:sp>
            <p:nvSpPr>
              <p:cNvPr id="17419" name="Object 2"/>
              <p:cNvSpPr txBox="1">
                <a:spLocks noRot="1" noChangeAspect="1" noMove="1" noResize="1" noEditPoints="1" noAdjustHandles="1" noChangeArrowheads="1" noChangeShapeType="1" noTextEdit="1"/>
              </p:cNvSpPr>
              <p:nvPr/>
            </p:nvSpPr>
            <p:spPr bwMode="auto">
              <a:xfrm>
                <a:off x="7446963" y="1992313"/>
                <a:ext cx="1143000" cy="404812"/>
              </a:xfrm>
              <a:prstGeom prst="rect">
                <a:avLst/>
              </a:prstGeom>
              <a:blipFill>
                <a:blip r:embed="rId6"/>
                <a:stretch>
                  <a:fillRect b="-4545"/>
                </a:stretch>
              </a:blipFill>
              <a:ln>
                <a:noFill/>
              </a:ln>
            </p:spPr>
            <p:txBody>
              <a:bodyPr/>
              <a:lstStyle/>
              <a:p>
                <a:r>
                  <a:rPr lang="en-US">
                    <a:noFill/>
                  </a:rPr>
                  <a:t> </a:t>
                </a:r>
              </a:p>
            </p:txBody>
          </p:sp>
        </mc:Fallback>
      </mc:AlternateContent>
    </p:spTree>
  </p:cSld>
  <p:clrMapOvr>
    <a:masterClrMapping/>
  </p:clrMapOvr>
  <p:transition/>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8676" name="Rectangle 2"/>
              <p:cNvSpPr>
                <a:spLocks noGrp="1" noChangeArrowheads="1"/>
              </p:cNvSpPr>
              <p:nvPr>
                <p:ph type="body" sz="half" idx="4294967295"/>
              </p:nvPr>
            </p:nvSpPr>
            <p:spPr>
              <a:xfrm>
                <a:off x="0" y="0"/>
                <a:ext cx="9144000" cy="6477000"/>
              </a:xfrm>
            </p:spPr>
            <p:txBody>
              <a:bodyPr lIns="92075" tIns="46038" rIns="92075" bIns="46038"/>
              <a:lstStyle/>
              <a:p>
                <a:pPr>
                  <a:buFont typeface="Arial" charset="0"/>
                  <a:buNone/>
                  <a:defRPr/>
                </a:pPr>
                <a:r>
                  <a:rPr lang="en-US" sz="2200" dirty="0">
                    <a:latin typeface="Times New Roman" pitchFamily="18" charset="0"/>
                    <a:cs typeface="Times New Roman" pitchFamily="18" charset="0"/>
                  </a:rPr>
                  <a:t> </a:t>
                </a:r>
              </a:p>
              <a:p>
                <a:pPr>
                  <a:buNone/>
                  <a:defRPr/>
                </a:pPr>
                <a:r>
                  <a:rPr lang="en-US" sz="2400" dirty="0">
                    <a:latin typeface="Times New Roman" pitchFamily="18" charset="0"/>
                    <a:cs typeface="Times New Roman" pitchFamily="18" charset="0"/>
                  </a:rPr>
                  <a:t>Note that </a:t>
                </a:r>
                <a14:m>
                  <m:oMath xmlns:m="http://schemas.openxmlformats.org/officeDocument/2006/math">
                    <m:r>
                      <a:rPr lang="en-US" sz="2400" i="1">
                        <a:solidFill>
                          <a:srgbClr val="000000"/>
                        </a:solidFill>
                        <a:latin typeface="Cambria Math" panose="02040503050406030204" pitchFamily="18" charset="0"/>
                      </a:rPr>
                      <m:t>𝐶𝑜𝑟</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𝑟</m:t>
                        </m:r>
                      </m:e>
                      <m:sup>
                        <m:r>
                          <a:rPr lang="en-US" sz="2400" i="1">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𝐷</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d>
                          <m:dPr>
                            <m:begChr m:val="["/>
                            <m:endChr m:val="]"/>
                            <m:ctrlPr>
                              <a:rPr lang="en-US" sz="2400" i="1">
                                <a:solidFill>
                                  <a:srgbClr val="000000"/>
                                </a:solidFill>
                                <a:latin typeface="Cambria Math" panose="02040503050406030204" pitchFamily="18" charset="0"/>
                              </a:rPr>
                            </m:ctrlPr>
                          </m:dPr>
                          <m:e>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log</m:t>
                                </m:r>
                              </m:fName>
                              <m:e>
                                <m:r>
                                  <a:rPr lang="en-US" sz="2400" i="1">
                                    <a:solidFill>
                                      <a:srgbClr val="000000"/>
                                    </a:solidFill>
                                    <a:latin typeface="Cambria Math" panose="02040503050406030204" pitchFamily="18" charset="0"/>
                                  </a:rPr>
                                  <m:t>(</m:t>
                                </m:r>
                              </m:e>
                            </m:func>
                            <m:r>
                              <a:rPr lang="en-US" sz="2400" i="1">
                                <a:solidFill>
                                  <a:srgbClr val="000000"/>
                                </a:solidFill>
                                <a:latin typeface="Cambria Math" panose="02040503050406030204" pitchFamily="18" charset="0"/>
                              </a:rPr>
                              <m:t>𝑂𝑅</m:t>
                            </m:r>
                            <m:r>
                              <a:rPr lang="en-US" sz="2400" i="1">
                                <a:solidFill>
                                  <a:srgbClr val="000000"/>
                                </a:solidFill>
                                <a:latin typeface="Cambria Math" panose="02040503050406030204" pitchFamily="18" charset="0"/>
                              </a:rPr>
                              <m:t>)</m:t>
                            </m:r>
                          </m:e>
                        </m:d>
                      </m:e>
                      <m:sup>
                        <m:r>
                          <a:rPr lang="en-US" sz="2400" i="1">
                            <a:solidFill>
                              <a:srgbClr val="000000"/>
                            </a:solidFill>
                            <a:latin typeface="Cambria Math" panose="02040503050406030204" pitchFamily="18" charset="0"/>
                          </a:rPr>
                          <m:t>2</m:t>
                        </m:r>
                      </m:sup>
                    </m:sSup>
                    <m:sSubSup>
                      <m:sSubSupPr>
                        <m:ctrlPr>
                          <a:rPr lang="en-US" sz="2400" i="1">
                            <a:solidFill>
                              <a:srgbClr val="000000"/>
                            </a:solidFill>
                            <a:latin typeface="Cambria Math" panose="02040503050406030204" pitchFamily="18" charset="0"/>
                          </a:rPr>
                        </m:ctrlPr>
                      </m:sSubSup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𝑍</m:t>
                        </m:r>
                      </m:sub>
                      <m:sup>
                        <m:r>
                          <a:rPr lang="en-US" sz="2400" i="1">
                            <a:solidFill>
                              <a:srgbClr val="000000"/>
                            </a:solidFill>
                            <a:latin typeface="Cambria Math" panose="02040503050406030204" pitchFamily="18" charset="0"/>
                          </a:rPr>
                          <m:t>2</m:t>
                        </m:r>
                      </m:sup>
                    </m:sSubSup>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𝜌</m:t>
                        </m:r>
                      </m:e>
                      <m:sub>
                        <m:r>
                          <a:rPr lang="en-US" sz="2400" i="1">
                            <a:solidFill>
                              <a:srgbClr val="000000"/>
                            </a:solidFill>
                            <a:latin typeface="Cambria Math" panose="02040503050406030204" pitchFamily="18" charset="0"/>
                          </a:rPr>
                          <m:t>𝐼</m:t>
                        </m:r>
                      </m:sub>
                    </m:sSub>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Pr</m:t>
                        </m:r>
                      </m:fName>
                      <m:e>
                        <m:r>
                          <a:rPr lang="en-US" sz="2400" i="1">
                            <a:solidFill>
                              <a:srgbClr val="000000"/>
                            </a:solidFill>
                            <a:latin typeface="Cambria Math" panose="02040503050406030204" pitchFamily="18" charset="0"/>
                          </a:rPr>
                          <m:t>(</m:t>
                        </m:r>
                      </m:e>
                    </m:func>
                    <m:r>
                      <a:rPr lang="en-US" sz="2400" i="1">
                        <a:solidFill>
                          <a:srgbClr val="000000"/>
                        </a:solidFill>
                        <a:latin typeface="Cambria Math" panose="02040503050406030204" pitchFamily="18" charset="0"/>
                      </a:rPr>
                      <m:t>𝐷</m:t>
                    </m:r>
                    <m:r>
                      <a:rPr lang="en-US" sz="2400" i="1">
                        <a:solidFill>
                          <a:srgbClr val="000000"/>
                        </a:solidFill>
                        <a:latin typeface="Cambria Math" panose="02040503050406030204" pitchFamily="18" charset="0"/>
                      </a:rPr>
                      <m:t>=1)[1−</m:t>
                    </m:r>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Pr</m:t>
                        </m:r>
                      </m:fName>
                      <m:e>
                        <m:r>
                          <a:rPr lang="en-US" sz="2400" i="1">
                            <a:solidFill>
                              <a:srgbClr val="000000"/>
                            </a:solidFill>
                            <a:latin typeface="Cambria Math" panose="02040503050406030204" pitchFamily="18" charset="0"/>
                          </a:rPr>
                          <m:t>(</m:t>
                        </m:r>
                      </m:e>
                    </m:func>
                    <m:r>
                      <a:rPr lang="en-US" sz="2400" i="1">
                        <a:solidFill>
                          <a:srgbClr val="000000"/>
                        </a:solidFill>
                        <a:latin typeface="Cambria Math" panose="02040503050406030204" pitchFamily="18" charset="0"/>
                      </a:rPr>
                      <m:t>𝐷</m:t>
                    </m:r>
                    <m:r>
                      <a:rPr lang="en-US" sz="2400" i="1">
                        <a:solidFill>
                          <a:srgbClr val="000000"/>
                        </a:solidFill>
                        <a:latin typeface="Cambria Math" panose="02040503050406030204" pitchFamily="18" charset="0"/>
                      </a:rPr>
                      <m:t>=1)]</m:t>
                    </m:r>
                  </m:oMath>
                </a14:m>
                <a:r>
                  <a:rPr lang="en-US" sz="2400" dirty="0"/>
                  <a:t>,</a:t>
                </a:r>
              </a:p>
              <a:p>
                <a:pPr>
                  <a:buFont typeface="Arial" charset="0"/>
                  <a:buNone/>
                  <a:defRPr/>
                </a:pPr>
                <a:r>
                  <a:rPr lang="en-US" sz="2400" dirty="0">
                    <a:latin typeface="Times New Roman" pitchFamily="18" charset="0"/>
                    <a:cs typeface="Times New Roman" pitchFamily="18" charset="0"/>
                  </a:rPr>
                  <a:t>where </a:t>
                </a:r>
                <a14:m>
                  <m:oMath xmlns:m="http://schemas.openxmlformats.org/officeDocument/2006/math">
                    <m:r>
                      <a:rPr lang="en-US" sz="2400" b="0" i="1" smtClean="0">
                        <a:latin typeface="Cambria Math" panose="02040503050406030204" pitchFamily="18" charset="0"/>
                        <a:cs typeface="Times New Roman" pitchFamily="18" charset="0"/>
                      </a:rPr>
                      <m:t>𝑉𝑎𝑟</m:t>
                    </m:r>
                    <m:d>
                      <m:dPr>
                        <m:ctrlPr>
                          <a:rPr lang="en-US" sz="2400" b="0" i="1" smtClean="0">
                            <a:latin typeface="Cambria Math" panose="02040503050406030204" pitchFamily="18" charset="0"/>
                            <a:cs typeface="Times New Roman" pitchFamily="18" charset="0"/>
                          </a:rPr>
                        </m:ctrlPr>
                      </m:dPr>
                      <m:e>
                        <m:r>
                          <a:rPr lang="en-US" sz="2400" b="0" i="1" smtClean="0">
                            <a:latin typeface="Cambria Math" panose="02040503050406030204" pitchFamily="18" charset="0"/>
                            <a:cs typeface="Times New Roman" pitchFamily="18" charset="0"/>
                          </a:rPr>
                          <m:t>𝑍</m:t>
                        </m:r>
                      </m:e>
                    </m:d>
                    <m:r>
                      <a:rPr lang="en-US" sz="2400" b="0" i="1" smtClean="0">
                        <a:latin typeface="Cambria Math" panose="02040503050406030204" pitchFamily="18" charset="0"/>
                        <a:cs typeface="Times New Roman" pitchFamily="18" charset="0"/>
                      </a:rPr>
                      <m:t>=</m:t>
                    </m:r>
                    <m:sSubSup>
                      <m:sSubSupPr>
                        <m:ctrlPr>
                          <a:rPr lang="en-US" sz="2400" b="0" i="1" smtClean="0">
                            <a:latin typeface="Cambria Math" panose="02040503050406030204" pitchFamily="18" charset="0"/>
                            <a:cs typeface="Times New Roman" pitchFamily="18" charset="0"/>
                          </a:rPr>
                        </m:ctrlPr>
                      </m:sSubSupPr>
                      <m:e>
                        <m:r>
                          <a:rPr lang="en-US" sz="2400" b="0" i="1" smtClean="0">
                            <a:latin typeface="Cambria Math" panose="02040503050406030204" pitchFamily="18" charset="0"/>
                            <a:cs typeface="Times New Roman" pitchFamily="18" charset="0"/>
                          </a:rPr>
                          <m:t>𝜎</m:t>
                        </m:r>
                      </m:e>
                      <m:sub>
                        <m:r>
                          <a:rPr lang="en-US" sz="2400" b="0" i="1" smtClean="0">
                            <a:latin typeface="Cambria Math" panose="02040503050406030204" pitchFamily="18" charset="0"/>
                            <a:cs typeface="Times New Roman" pitchFamily="18" charset="0"/>
                          </a:rPr>
                          <m:t>𝑍</m:t>
                        </m:r>
                      </m:sub>
                      <m:sup>
                        <m:r>
                          <a:rPr lang="en-US" sz="2400" b="0" i="1" smtClean="0">
                            <a:latin typeface="Cambria Math" panose="02040503050406030204" pitchFamily="18" charset="0"/>
                            <a:cs typeface="Times New Roman" pitchFamily="18" charset="0"/>
                          </a:rPr>
                          <m:t>2</m:t>
                        </m:r>
                      </m:sup>
                    </m:sSubSup>
                    <m:r>
                      <a:rPr lang="en-US" sz="2400" b="0" i="1" smtClean="0">
                        <a:latin typeface="Cambria Math" panose="02040503050406030204" pitchFamily="18" charset="0"/>
                        <a:cs typeface="Times New Roman" pitchFamily="18" charset="0"/>
                      </a:rPr>
                      <m:t>, </m:t>
                    </m:r>
                  </m:oMath>
                </a14:m>
                <a:r>
                  <a:rPr lang="en-US" sz="2400" dirty="0">
                    <a:latin typeface="Times New Roman" pitchFamily="18" charset="0"/>
                    <a:cs typeface="Times New Roman" pitchFamily="18" charset="0"/>
                  </a:rPr>
                  <a:t>if it is easier to supply values for these parameters which might often be the case. </a:t>
                </a:r>
              </a:p>
              <a:p>
                <a:pPr>
                  <a:buFont typeface="Arial" charset="0"/>
                  <a:buNone/>
                  <a:defRPr/>
                </a:pPr>
                <a:endParaRPr lang="en-US" sz="2100" dirty="0">
                  <a:latin typeface="Times New Roman" pitchFamily="18" charset="0"/>
                  <a:cs typeface="Times New Roman" pitchFamily="18" charset="0"/>
                </a:endParaRPr>
              </a:p>
              <a:p>
                <a:pPr>
                  <a:buNone/>
                  <a:defRPr/>
                </a:pPr>
                <a:r>
                  <a:rPr lang="en-US" sz="2400" dirty="0">
                    <a:latin typeface="Times New Roman" pitchFamily="18" charset="0"/>
                    <a:cs typeface="Times New Roman" pitchFamily="18" charset="0"/>
                  </a:rPr>
                  <a:t>Now, the variance of </a:t>
                </a:r>
                <a14:m>
                  <m:oMath xmlns:m="http://schemas.openxmlformats.org/officeDocument/2006/math">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log</m:t>
                        </m:r>
                      </m:fName>
                      <m:e>
                        <m:r>
                          <a:rPr lang="en-US" sz="2400" i="1">
                            <a:solidFill>
                              <a:srgbClr val="000000"/>
                            </a:solidFill>
                            <a:latin typeface="Cambria Math" panose="02040503050406030204" pitchFamily="18" charset="0"/>
                          </a:rPr>
                          <m:t>(</m:t>
                        </m:r>
                      </m:e>
                    </m:func>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𝑂𝑅</m:t>
                        </m:r>
                      </m:e>
                    </m:acc>
                    <m:r>
                      <a:rPr lang="en-US" sz="2400" i="1">
                        <a:solidFill>
                          <a:srgbClr val="000000"/>
                        </a:solidFill>
                        <a:latin typeface="Cambria Math" panose="02040503050406030204" pitchFamily="18" charset="0"/>
                      </a:rPr>
                      <m:t>)</m:t>
                    </m:r>
                  </m:oMath>
                </a14:m>
                <a:r>
                  <a:rPr lang="en-US" sz="2400" dirty="0">
                    <a:latin typeface="Times New Roman" pitchFamily="18" charset="0"/>
                    <a:cs typeface="Times New Roman" pitchFamily="18" charset="0"/>
                  </a:rPr>
                  <a:t> corrected for measurement error in the</a:t>
                </a:r>
              </a:p>
              <a:p>
                <a:pPr>
                  <a:buNone/>
                  <a:defRPr/>
                </a:pPr>
                <a:r>
                  <a:rPr lang="en-US" sz="2400" dirty="0">
                    <a:latin typeface="Times New Roman" pitchFamily="18" charset="0"/>
                    <a:cs typeface="Times New Roman" pitchFamily="18" charset="0"/>
                  </a:rPr>
                  <a:t>MS/IVS design given by </a:t>
                </a:r>
                <a14:m>
                  <m:oMath xmlns:m="http://schemas.openxmlformats.org/officeDocument/2006/math">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𝜆</m:t>
                        </m:r>
                      </m:e>
                      <m:sup>
                        <m:r>
                          <a:rPr lang="en-US" sz="2400" b="0" i="1" smtClean="0">
                            <a:solidFill>
                              <a:srgbClr val="000000"/>
                            </a:solidFill>
                            <a:latin typeface="Cambria Math" panose="02040503050406030204" pitchFamily="18" charset="0"/>
                          </a:rPr>
                          <m:t>∗</m:t>
                        </m:r>
                      </m:sup>
                    </m:sSup>
                    <m:r>
                      <a:rPr lang="en-US" sz="2400" i="1">
                        <a:solidFill>
                          <a:srgbClr val="000000"/>
                        </a:solidFill>
                        <a:latin typeface="Cambria Math" panose="02040503050406030204" pitchFamily="18" charset="0"/>
                      </a:rPr>
                      <m:t> </m:t>
                    </m:r>
                  </m:oMath>
                </a14:m>
                <a:r>
                  <a:rPr lang="en-US" sz="2400" dirty="0">
                    <a:latin typeface="Times New Roman" pitchFamily="18" charset="0"/>
                    <a:cs typeface="Times New Roman" pitchFamily="18" charset="0"/>
                  </a:rPr>
                  <a:t>needs to be compared to the variance of </a:t>
                </a:r>
                <a14:m>
                  <m:oMath xmlns:m="http://schemas.openxmlformats.org/officeDocument/2006/math">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log</m:t>
                        </m:r>
                      </m:fName>
                      <m:e>
                        <m:r>
                          <a:rPr lang="en-US" sz="2400" i="1">
                            <a:solidFill>
                              <a:srgbClr val="000000"/>
                            </a:solidFill>
                            <a:latin typeface="Cambria Math" panose="02040503050406030204" pitchFamily="18" charset="0"/>
                          </a:rPr>
                          <m:t>(</m:t>
                        </m:r>
                      </m:e>
                    </m:func>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𝑂𝑅</m:t>
                        </m:r>
                      </m:e>
                    </m:acc>
                    <m:r>
                      <a:rPr lang="en-US" sz="2400" i="1">
                        <a:solidFill>
                          <a:srgbClr val="000000"/>
                        </a:solidFill>
                        <a:latin typeface="Cambria Math" panose="02040503050406030204" pitchFamily="18" charset="0"/>
                      </a:rPr>
                      <m:t>)</m:t>
                    </m:r>
                  </m:oMath>
                </a14:m>
                <a:r>
                  <a:rPr lang="en-US" sz="2400" dirty="0">
                    <a:latin typeface="Times New Roman" pitchFamily="18" charset="0"/>
                    <a:cs typeface="Times New Roman" pitchFamily="18" charset="0"/>
                  </a:rPr>
                  <a:t> from the fully validated design.  For </a:t>
                </a:r>
                <a14:m>
                  <m:oMath xmlns:m="http://schemas.openxmlformats.org/officeDocument/2006/math">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log</m:t>
                        </m:r>
                      </m:fName>
                      <m:e>
                        <m:r>
                          <a:rPr lang="en-US" sz="2400" i="1">
                            <a:solidFill>
                              <a:srgbClr val="000000"/>
                            </a:solidFill>
                            <a:latin typeface="Cambria Math" panose="02040503050406030204" pitchFamily="18" charset="0"/>
                          </a:rPr>
                          <m:t>(</m:t>
                        </m:r>
                      </m:e>
                    </m:func>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𝑂𝑅</m:t>
                        </m:r>
                      </m:e>
                    </m:acc>
                    <m:r>
                      <a:rPr lang="en-US" sz="2400" i="1">
                        <a:solidFill>
                          <a:srgbClr val="000000"/>
                        </a:solidFill>
                        <a:latin typeface="Cambria Math" panose="02040503050406030204" pitchFamily="18" charset="0"/>
                      </a:rPr>
                      <m:t>)</m:t>
                    </m:r>
                  </m:oMath>
                </a14:m>
                <a:r>
                  <a:rPr lang="en-US" sz="2400" dirty="0">
                    <a:latin typeface="Times New Roman" pitchFamily="18" charset="0"/>
                    <a:cs typeface="Times New Roman" pitchFamily="18" charset="0"/>
                  </a:rPr>
                  <a:t>, when </a:t>
                </a:r>
                <a14:m>
                  <m:oMath xmlns:m="http://schemas.openxmlformats.org/officeDocument/2006/math">
                    <m:r>
                      <a:rPr lang="en-US" sz="2400" i="1">
                        <a:solidFill>
                          <a:srgbClr val="000000"/>
                        </a:solidFill>
                        <a:latin typeface="Cambria Math" panose="02040503050406030204" pitchFamily="18" charset="0"/>
                      </a:rPr>
                      <m:t>𝜆</m:t>
                    </m:r>
                    <m:r>
                      <a:rPr lang="en-US" sz="2400" i="1">
                        <a:solidFill>
                          <a:srgbClr val="000000"/>
                        </a:solidFill>
                        <a:latin typeface="Cambria Math" panose="02040503050406030204" pitchFamily="18" charset="0"/>
                      </a:rPr>
                      <m:t>&lt;1</m:t>
                    </m:r>
                  </m:oMath>
                </a14:m>
                <a:r>
                  <a:rPr lang="en-US" sz="2400" dirty="0"/>
                  <a:t>,</a:t>
                </a:r>
              </a:p>
              <a:p>
                <a:pPr>
                  <a:buNone/>
                  <a:defRPr/>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Buonacorrsi</a:t>
                </a:r>
                <a:r>
                  <a:rPr lang="en-US" sz="2400" dirty="0">
                    <a:latin typeface="Times New Roman" pitchFamily="18" charset="0"/>
                    <a:cs typeface="Times New Roman" pitchFamily="18" charset="0"/>
                  </a:rPr>
                  <a:t> gives </a:t>
                </a:r>
              </a:p>
              <a:p>
                <a:pPr>
                  <a:buFont typeface="Arial" charset="0"/>
                  <a:buNone/>
                  <a:defRPr/>
                </a:pPr>
                <a:endParaRPr lang="en-US" sz="2400" dirty="0">
                  <a:latin typeface="Times New Roman" pitchFamily="18" charset="0"/>
                  <a:cs typeface="Times New Roman" pitchFamily="18" charset="0"/>
                </a:endParaRPr>
              </a:p>
              <a:p>
                <a:pPr>
                  <a:buNone/>
                  <a:defRPr/>
                </a:pPr>
                <a:endParaRPr lang="en-US" sz="2400" dirty="0">
                  <a:latin typeface="Times New Roman" pitchFamily="18" charset="0"/>
                  <a:cs typeface="Times New Roman" pitchFamily="18" charset="0"/>
                </a:endParaRPr>
              </a:p>
              <a:p>
                <a:pPr>
                  <a:buNone/>
                  <a:defRPr/>
                </a:pPr>
                <a:r>
                  <a:rPr lang="en-US" sz="2400" dirty="0">
                    <a:latin typeface="Times New Roman" pitchFamily="18" charset="0"/>
                    <a:cs typeface="Times New Roman" pitchFamily="18" charset="0"/>
                  </a:rPr>
                  <a:t>where</a:t>
                </a:r>
                <a14:m>
                  <m:oMath xmlns:m="http://schemas.openxmlformats.org/officeDocument/2006/math">
                    <m:r>
                      <a:rPr lang="en-US" sz="2400" b="0" i="0" smtClean="0">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𝐶𝑜𝑠𝑡</m:t>
                        </m:r>
                      </m:num>
                      <m:den>
                        <m:r>
                          <a:rPr lang="en-US" sz="2400" i="1">
                            <a:solidFill>
                              <a:srgbClr val="000000"/>
                            </a:solidFill>
                            <a:latin typeface="Cambria Math" panose="02040503050406030204" pitchFamily="18" charset="0"/>
                          </a:rPr>
                          <m:t>𝜆</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𝑟</m:t>
                            </m:r>
                          </m:e>
                          <m:sub>
                            <m:r>
                              <a:rPr lang="en-US" sz="2400" i="1">
                                <a:solidFill>
                                  <a:srgbClr val="000000"/>
                                </a:solidFill>
                                <a:latin typeface="Cambria Math" panose="02040503050406030204" pitchFamily="18" charset="0"/>
                              </a:rPr>
                              <m:t>𝑋</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𝑟</m:t>
                            </m:r>
                          </m:e>
                          <m:sub>
                            <m:r>
                              <a:rPr lang="en-US" sz="2400" i="1">
                                <a:solidFill>
                                  <a:srgbClr val="000000"/>
                                </a:solidFill>
                                <a:latin typeface="Cambria Math" panose="02040503050406030204" pitchFamily="18" charset="0"/>
                              </a:rPr>
                              <m:t>𝐷</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𝑟</m:t>
                            </m:r>
                          </m:e>
                          <m:sub>
                            <m:r>
                              <a:rPr lang="en-US" sz="2400" i="1">
                                <a:solidFill>
                                  <a:srgbClr val="000000"/>
                                </a:solidFill>
                                <a:latin typeface="Cambria Math" panose="02040503050406030204" pitchFamily="18" charset="0"/>
                              </a:rPr>
                              <m:t>𝑍</m:t>
                            </m:r>
                          </m:sub>
                        </m:sSub>
                      </m:den>
                    </m:f>
                    <m:r>
                      <a:rPr lang="en-US" sz="2400" b="0" i="0" smtClean="0">
                        <a:solidFill>
                          <a:srgbClr val="000000"/>
                        </a:solidFill>
                        <a:latin typeface="Cambria Math" panose="02040503050406030204" pitchFamily="18" charset="0"/>
                      </a:rPr>
                      <m:t> </m:t>
                    </m:r>
                    <m:r>
                      <m:rPr>
                        <m:sty m:val="p"/>
                      </m:rPr>
                      <a:rPr lang="en-US" sz="2400" b="0" i="0" smtClean="0">
                        <a:solidFill>
                          <a:srgbClr val="000000"/>
                        </a:solidFill>
                        <a:latin typeface="Cambria Math" panose="02040503050406030204" pitchFamily="18" charset="0"/>
                      </a:rPr>
                      <m:t>and</m:t>
                    </m:r>
                    <m:r>
                      <m:rPr>
                        <m:nor/>
                      </m:rPr>
                      <a:rPr lang="en-US" sz="2400" b="0" i="0" smtClean="0">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𝐶𝑜𝑠𝑡</m:t>
                    </m:r>
                    <m:r>
                      <a:rPr lang="en-US" sz="2400" i="1">
                        <a:solidFill>
                          <a:srgbClr val="000000"/>
                        </a:solidFill>
                        <a:latin typeface="Cambria Math" panose="02040503050406030204" pitchFamily="18" charset="0"/>
                      </a:rPr>
                      <m:t> </m:t>
                    </m:r>
                    <m:r>
                      <m:rPr>
                        <m:nor/>
                      </m:rPr>
                      <a:rPr lang="en-US" sz="2400" dirty="0">
                        <a:latin typeface="Times New Roman" pitchFamily="18" charset="0"/>
                        <a:cs typeface="Times New Roman" pitchFamily="18" charset="0"/>
                      </a:rPr>
                      <m:t>= </m:t>
                    </m:r>
                    <m:r>
                      <m:rPr>
                        <m:nor/>
                      </m:rPr>
                      <a:rPr lang="en-US" sz="2400" dirty="0">
                        <a:latin typeface="Times New Roman" pitchFamily="18" charset="0"/>
                        <a:cs typeface="Times New Roman" pitchFamily="18" charset="0"/>
                      </a:rPr>
                      <m:t>a</m:t>
                    </m:r>
                    <m:r>
                      <m:rPr>
                        <m:nor/>
                      </m:rPr>
                      <a:rPr lang="en-US" sz="2400" dirty="0">
                        <a:latin typeface="Times New Roman" pitchFamily="18" charset="0"/>
                        <a:cs typeface="Times New Roman" pitchFamily="18" charset="0"/>
                      </a:rPr>
                      <m:t> </m:t>
                    </m:r>
                    <m:r>
                      <m:rPr>
                        <m:nor/>
                      </m:rPr>
                      <a:rPr lang="en-US" sz="2400" dirty="0">
                        <a:latin typeface="Times New Roman" pitchFamily="18" charset="0"/>
                        <a:cs typeface="Times New Roman" pitchFamily="18" charset="0"/>
                      </a:rPr>
                      <m:t>given</m:t>
                    </m:r>
                    <m:r>
                      <m:rPr>
                        <m:nor/>
                      </m:rPr>
                      <a:rPr lang="en-US" sz="2400" dirty="0">
                        <a:latin typeface="Times New Roman" pitchFamily="18" charset="0"/>
                        <a:cs typeface="Times New Roman" pitchFamily="18" charset="0"/>
                      </a:rPr>
                      <m:t> $</m:t>
                    </m:r>
                  </m:oMath>
                </a14:m>
                <a:r>
                  <a:rPr lang="en-US" sz="2400" dirty="0">
                    <a:latin typeface="Times New Roman" pitchFamily="18" charset="0"/>
                    <a:cs typeface="Times New Roman" pitchFamily="18" charset="0"/>
                  </a:rPr>
                  <a:t> amount.</a:t>
                </a:r>
              </a:p>
              <a:p>
                <a:pPr>
                  <a:buNone/>
                  <a:defRPr/>
                </a:pPr>
                <a:endParaRPr lang="en-US" sz="2400" dirty="0"/>
              </a:p>
              <a:p>
                <a:pPr>
                  <a:buFont typeface="Arial" charset="0"/>
                  <a:buNone/>
                  <a:defRPr/>
                </a:pPr>
                <a:r>
                  <a:rPr lang="en-US" sz="2400" dirty="0">
                    <a:latin typeface="Times New Roman" pitchFamily="18" charset="0"/>
                    <a:cs typeface="Times New Roman" pitchFamily="18" charset="0"/>
                  </a:rPr>
                  <a:t>.</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   </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mc:Choice>
        <mc:Fallback>
          <p:sp>
            <p:nvSpPr>
              <p:cNvPr id="28676" name="Rectangle 2"/>
              <p:cNvSpPr>
                <a:spLocks noGrp="1" noRot="1" noChangeAspect="1" noMove="1" noResize="1" noEditPoints="1" noAdjustHandles="1" noChangeArrowheads="1" noChangeShapeType="1" noTextEdit="1"/>
              </p:cNvSpPr>
              <p:nvPr>
                <p:ph type="body" sz="half" idx="4294967295"/>
              </p:nvPr>
            </p:nvSpPr>
            <p:spPr>
              <a:xfrm>
                <a:off x="0" y="0"/>
                <a:ext cx="9144000" cy="6477000"/>
              </a:xfrm>
              <a:blipFill>
                <a:blip r:embed="rId3"/>
                <a:stretch>
                  <a:fillRect l="-1000" r="-400"/>
                </a:stretch>
              </a:blipFill>
            </p:spPr>
            <p:txBody>
              <a:bodyPr/>
              <a:lstStyle/>
              <a:p>
                <a:r>
                  <a:rPr lang="en-US">
                    <a:noFill/>
                  </a:rPr>
                  <a:t> </a:t>
                </a:r>
              </a:p>
            </p:txBody>
          </p:sp>
        </mc:Fallback>
      </mc:AlternateContent>
      <p:cxnSp>
        <p:nvCxnSpPr>
          <p:cNvPr id="18435" name="AutoShape 3"/>
          <p:cNvCxnSpPr>
            <a:cxnSpLocks noChangeShapeType="1"/>
            <a:stCxn id="28676" idx="3"/>
            <a:endCxn id="28676" idx="3"/>
          </p:cNvCxnSpPr>
          <p:nvPr/>
        </p:nvCxnSpPr>
        <p:spPr bwMode="auto">
          <a:xfrm>
            <a:off x="9144000" y="3238500"/>
            <a:ext cx="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8436"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8437"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8438"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8439"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8440"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FBDEA9E3-4682-468D-BE91-6F853214F3FB}" type="slidenum">
              <a:rPr lang="zh-CN" altLang="en-US" sz="1200">
                <a:solidFill>
                  <a:srgbClr val="898989"/>
                </a:solidFill>
              </a:rPr>
              <a:pPr algn="r" eaLnBrk="1" hangingPunct="1">
                <a:spcBef>
                  <a:spcPct val="0"/>
                </a:spcBef>
                <a:buFontTx/>
                <a:buNone/>
              </a:pPr>
              <a:t>16</a:t>
            </a:fld>
            <a:endParaRPr lang="en-US" altLang="zh-CN" sz="1200">
              <a:solidFill>
                <a:srgbClr val="898989"/>
              </a:solidFill>
            </a:endParaRPr>
          </a:p>
        </p:txBody>
      </p:sp>
      <p:pic>
        <p:nvPicPr>
          <p:cNvPr id="18450" name="Picture 17" descr="C:\Documents and Settings\ABERKELE\Desktop\Picture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3810000"/>
            <a:ext cx="89916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8676" name="Rectangle 2"/>
              <p:cNvSpPr>
                <a:spLocks noGrp="1" noChangeArrowheads="1"/>
              </p:cNvSpPr>
              <p:nvPr>
                <p:ph type="body" sz="half" idx="4294967295"/>
              </p:nvPr>
            </p:nvSpPr>
            <p:spPr>
              <a:xfrm>
                <a:off x="304800" y="0"/>
                <a:ext cx="8839200" cy="6477000"/>
              </a:xfrm>
            </p:spPr>
            <p:txBody>
              <a:bodyPr lIns="92075" tIns="46038" rIns="92075" bIns="46038"/>
              <a:lstStyle/>
              <a:p>
                <a:pPr>
                  <a:buFont typeface="Arial" charset="0"/>
                  <a:buNone/>
                  <a:defRPr/>
                </a:pPr>
                <a:r>
                  <a:rPr lang="en-US" sz="2200" dirty="0">
                    <a:latin typeface="Times New Roman" pitchFamily="18" charset="0"/>
                    <a:cs typeface="Times New Roman" pitchFamily="18" charset="0"/>
                  </a:rPr>
                  <a:t> </a:t>
                </a:r>
              </a:p>
              <a:p>
                <a:pPr>
                  <a:buNone/>
                  <a:defRPr/>
                </a:pPr>
                <a:r>
                  <a:rPr lang="en-US" sz="2400" dirty="0">
                    <a:latin typeface="Times New Roman" pitchFamily="18" charset="0"/>
                    <a:cs typeface="Times New Roman" pitchFamily="18" charset="0"/>
                  </a:rPr>
                  <a:t>For </a:t>
                </a:r>
                <a14:m>
                  <m:oMath xmlns:m="http://schemas.openxmlformats.org/officeDocument/2006/math">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𝜆</m:t>
                        </m:r>
                      </m:e>
                      <m:sup>
                        <m:r>
                          <a:rPr lang="en-US" sz="2400" b="0" i="1" smtClean="0">
                            <a:solidFill>
                              <a:srgbClr val="000000"/>
                            </a:solidFill>
                            <a:latin typeface="Cambria Math" panose="02040503050406030204" pitchFamily="18" charset="0"/>
                          </a:rPr>
                          <m:t>∗</m:t>
                        </m:r>
                      </m:sup>
                    </m:sSup>
                    <m:r>
                      <a:rPr lang="en-US" sz="2400" i="1">
                        <a:solidFill>
                          <a:srgbClr val="000000"/>
                        </a:solidFill>
                        <a:latin typeface="Cambria Math" panose="02040503050406030204" pitchFamily="18" charset="0"/>
                      </a:rPr>
                      <m:t>≠1</m:t>
                    </m:r>
                  </m:oMath>
                </a14:m>
                <a:r>
                  <a:rPr lang="en-US" sz="2400" dirty="0">
                    <a:latin typeface="Times New Roman" pitchFamily="18" charset="0"/>
                    <a:cs typeface="Times New Roman" pitchFamily="18" charset="0"/>
                  </a:rPr>
                  <a:t>, the optimal MS/IVS needs to be compared to the fully</a:t>
                </a:r>
              </a:p>
              <a:p>
                <a:pPr>
                  <a:buNone/>
                  <a:defRPr/>
                </a:pPr>
                <a:r>
                  <a:rPr lang="en-US" sz="2400" dirty="0">
                    <a:latin typeface="Times New Roman" pitchFamily="18" charset="0"/>
                    <a:cs typeface="Times New Roman" pitchFamily="18" charset="0"/>
                  </a:rPr>
                  <a:t>validated design to find the final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𝜆</m:t>
                        </m:r>
                      </m:e>
                      <m:sub>
                        <m:r>
                          <a:rPr lang="en-US" sz="2400" i="1">
                            <a:solidFill>
                              <a:srgbClr val="000000"/>
                            </a:solidFill>
                            <a:latin typeface="Cambria Math" panose="02040503050406030204" pitchFamily="18" charset="0"/>
                          </a:rPr>
                          <m:t>𝑜𝑝𝑡</m:t>
                        </m:r>
                      </m:sub>
                    </m:sSub>
                  </m:oMath>
                </a14:m>
                <a:r>
                  <a:rPr lang="en-US" sz="2400" dirty="0">
                    <a:latin typeface="Times New Roman" pitchFamily="18" charset="0"/>
                    <a:cs typeface="Times New Roman" pitchFamily="18" charset="0"/>
                  </a:rPr>
                  <a:t> .    </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endParaRPr lang="en-US" sz="2400" dirty="0">
                  <a:latin typeface="Times New Roman" pitchFamily="18" charset="0"/>
                  <a:cs typeface="Times New Roman" pitchFamily="18" charset="0"/>
                </a:endParaRPr>
              </a:p>
              <a:p>
                <a:pPr>
                  <a:buNone/>
                  <a:defRPr/>
                </a:pPr>
                <a:r>
                  <a:rPr lang="en-US" sz="2400" dirty="0">
                    <a:latin typeface="Times New Roman" pitchFamily="18" charset="0"/>
                    <a:cs typeface="Times New Roman" pitchFamily="18" charset="0"/>
                  </a:rPr>
                  <a:t>and then</a:t>
                </a:r>
              </a:p>
              <a:p>
                <a:pPr>
                  <a:buNone/>
                  <a:defRPr/>
                </a:pPr>
                <a:r>
                  <a:rPr lang="en-US" sz="2400" dirty="0">
                    <a:latin typeface="Times New Roman" pitchFamily="18" charset="0"/>
                    <a:cs typeface="Times New Roman" pitchFamily="18" charset="0"/>
                  </a:rPr>
                  <a:t>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𝜆</m:t>
                        </m:r>
                      </m:e>
                      <m:sub>
                        <m:r>
                          <a:rPr lang="en-US" sz="2400" i="1">
                            <a:solidFill>
                              <a:srgbClr val="000000"/>
                            </a:solidFill>
                            <a:latin typeface="Cambria Math" panose="02040503050406030204" pitchFamily="18" charset="0"/>
                          </a:rPr>
                          <m:t>𝑜𝑝𝑡</m:t>
                        </m:r>
                      </m:sub>
                    </m:sSub>
                  </m:oMath>
                </a14:m>
                <a:r>
                  <a:rPr lang="en-US" sz="2400" dirty="0">
                    <a:latin typeface="Times New Roman" pitchFamily="18" charset="0"/>
                    <a:cs typeface="Times New Roman" pitchFamily="18" charset="0"/>
                  </a:rPr>
                  <a:t> is 1 if</a:t>
                </a:r>
                <a14:m>
                  <m:oMath xmlns:m="http://schemas.openxmlformats.org/officeDocument/2006/math">
                    <m:r>
                      <a:rPr lang="en-US" sz="2400" b="0" i="0" smtClean="0">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𝑉𝑎𝑟</m:t>
                    </m:r>
                    <m:r>
                      <a:rPr lang="en-US" sz="2400" i="1">
                        <a:solidFill>
                          <a:srgbClr val="000000"/>
                        </a:solidFill>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log</m:t>
                        </m:r>
                      </m:fName>
                      <m:e>
                        <m:r>
                          <a:rPr lang="en-US" sz="2400" i="1">
                            <a:solidFill>
                              <a:srgbClr val="000000"/>
                            </a:solidFill>
                            <a:latin typeface="Cambria Math" panose="02040503050406030204" pitchFamily="18" charset="0"/>
                          </a:rPr>
                          <m:t>[</m:t>
                        </m:r>
                      </m:e>
                    </m:func>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𝑂𝑅</m:t>
                        </m:r>
                      </m:e>
                    </m:acc>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𝜆</m:t>
                    </m:r>
                    <m:r>
                      <a:rPr lang="en-US" sz="2400" i="1">
                        <a:solidFill>
                          <a:srgbClr val="000000"/>
                        </a:solidFill>
                        <a:latin typeface="Cambria Math" panose="02040503050406030204" pitchFamily="18" charset="0"/>
                      </a:rPr>
                      <m:t>=1)</m:t>
                    </m:r>
                  </m:oMath>
                </a14:m>
                <a:r>
                  <a:rPr lang="en-US" sz="2400" dirty="0"/>
                  <a:t> &lt; </a:t>
                </a:r>
                <a14:m>
                  <m:oMath xmlns:m="http://schemas.openxmlformats.org/officeDocument/2006/math">
                    <m:r>
                      <a:rPr lang="en-US" sz="2400" b="0" i="0" smtClean="0">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𝑉𝑎𝑟</m:t>
                    </m:r>
                    <m:r>
                      <a:rPr lang="en-US" sz="2400" i="1">
                        <a:solidFill>
                          <a:srgbClr val="000000"/>
                        </a:solidFill>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log</m:t>
                        </m:r>
                      </m:fName>
                      <m:e>
                        <m:r>
                          <a:rPr lang="en-US" sz="2400" i="1">
                            <a:solidFill>
                              <a:srgbClr val="000000"/>
                            </a:solidFill>
                            <a:latin typeface="Cambria Math" panose="02040503050406030204" pitchFamily="18" charset="0"/>
                          </a:rPr>
                          <m:t>[</m:t>
                        </m:r>
                      </m:e>
                    </m:func>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𝑂𝑅</m:t>
                        </m:r>
                      </m:e>
                    </m:acc>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𝜆</m:t>
                        </m:r>
                      </m:e>
                      <m:sup>
                        <m:r>
                          <a:rPr lang="en-US" sz="2400" i="1">
                            <a:solidFill>
                              <a:srgbClr val="000000"/>
                            </a:solidFill>
                            <a:latin typeface="Cambria Math" panose="02040503050406030204" pitchFamily="18" charset="0"/>
                          </a:rPr>
                          <m:t>∗</m:t>
                        </m:r>
                      </m:sup>
                    </m:sSup>
                    <m:r>
                      <a:rPr lang="en-US" sz="2400" i="1">
                        <a:solidFill>
                          <a:srgbClr val="000000"/>
                        </a:solidFill>
                        <a:latin typeface="Cambria Math" panose="02040503050406030204" pitchFamily="18" charset="0"/>
                      </a:rPr>
                      <m:t>)</m:t>
                    </m:r>
                  </m:oMath>
                </a14:m>
                <a:r>
                  <a:rPr lang="en-US" sz="2400" dirty="0"/>
                  <a:t>, </a:t>
                </a:r>
              </a:p>
              <a:p>
                <a:pPr>
                  <a:buNone/>
                  <a:defRPr/>
                </a:pPr>
                <a:r>
                  <a:rPr lang="en-US" sz="2400" dirty="0">
                    <a:latin typeface="Times New Roman" panose="02020603050405020304" pitchFamily="18" charset="0"/>
                    <a:cs typeface="Times New Roman" panose="02020603050405020304" pitchFamily="18" charset="0"/>
                  </a:rPr>
                  <a:t>otherwise</a:t>
                </a:r>
                <a:r>
                  <a:rPr lang="en-US" sz="2400" dirty="0"/>
                  <a:t>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𝜆</m:t>
                        </m:r>
                      </m:e>
                      <m:sub>
                        <m:r>
                          <a:rPr lang="en-US" sz="2400" i="1">
                            <a:solidFill>
                              <a:srgbClr val="000000"/>
                            </a:solidFill>
                            <a:latin typeface="Cambria Math" panose="02040503050406030204" pitchFamily="18" charset="0"/>
                          </a:rPr>
                          <m:t>𝑜𝑝𝑡</m:t>
                        </m:r>
                      </m:sub>
                    </m:sSub>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𝜆</m:t>
                        </m:r>
                      </m:e>
                      <m:sup>
                        <m:r>
                          <a:rPr lang="en-US" sz="2400" i="1">
                            <a:solidFill>
                              <a:srgbClr val="000000"/>
                            </a:solidFill>
                            <a:latin typeface="Cambria Math" panose="02040503050406030204" pitchFamily="18" charset="0"/>
                          </a:rPr>
                          <m:t>∗</m:t>
                        </m:r>
                      </m:sup>
                    </m:sSup>
                  </m:oMath>
                </a14:m>
                <a:endParaRPr lang="en-US" sz="2400" dirty="0"/>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Software is not yet available but perhaps we will write it for next year! </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   </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mc:Choice>
        <mc:Fallback>
          <p:sp>
            <p:nvSpPr>
              <p:cNvPr id="28676" name="Rectangle 2"/>
              <p:cNvSpPr>
                <a:spLocks noGrp="1" noRot="1" noChangeAspect="1" noMove="1" noResize="1" noEditPoints="1" noAdjustHandles="1" noChangeArrowheads="1" noChangeShapeType="1" noTextEdit="1"/>
              </p:cNvSpPr>
              <p:nvPr>
                <p:ph type="body" sz="half" idx="4294967295"/>
              </p:nvPr>
            </p:nvSpPr>
            <p:spPr>
              <a:xfrm>
                <a:off x="304800" y="0"/>
                <a:ext cx="8839200" cy="6477000"/>
              </a:xfrm>
              <a:blipFill>
                <a:blip r:embed="rId3"/>
                <a:stretch>
                  <a:fillRect l="-1034" r="-1517"/>
                </a:stretch>
              </a:blipFill>
            </p:spPr>
            <p:txBody>
              <a:bodyPr/>
              <a:lstStyle/>
              <a:p>
                <a:r>
                  <a:rPr lang="en-US">
                    <a:noFill/>
                  </a:rPr>
                  <a:t> </a:t>
                </a:r>
              </a:p>
            </p:txBody>
          </p:sp>
        </mc:Fallback>
      </mc:AlternateContent>
      <p:cxnSp>
        <p:nvCxnSpPr>
          <p:cNvPr id="19459" name="AutoShape 3"/>
          <p:cNvCxnSpPr>
            <a:cxnSpLocks noChangeShapeType="1"/>
            <a:stCxn id="28676" idx="3"/>
            <a:endCxn id="28676" idx="3"/>
          </p:cNvCxnSpPr>
          <p:nvPr/>
        </p:nvCxnSpPr>
        <p:spPr bwMode="auto">
          <a:xfrm>
            <a:off x="9144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9460"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9461"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9462"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19463"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9464"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3F5AC23A-5E30-4DEE-89DD-E59C3CC7BE5A}" type="slidenum">
              <a:rPr lang="zh-CN" altLang="en-US" sz="1200">
                <a:solidFill>
                  <a:srgbClr val="898989"/>
                </a:solidFill>
              </a:rPr>
              <a:pPr algn="r" eaLnBrk="1" hangingPunct="1">
                <a:spcBef>
                  <a:spcPct val="0"/>
                </a:spcBef>
                <a:buFontTx/>
                <a:buNone/>
              </a:pPr>
              <a:t>17</a:t>
            </a:fld>
            <a:endParaRPr lang="en-US" altLang="zh-CN" sz="1200">
              <a:solidFill>
                <a:srgbClr val="898989"/>
              </a:solidFill>
            </a:endParaRPr>
          </a:p>
        </p:txBody>
      </p:sp>
      <mc:AlternateContent xmlns:mc="http://schemas.openxmlformats.org/markup-compatibility/2006">
        <mc:Choice xmlns:a14="http://schemas.microsoft.com/office/drawing/2010/main" Requires="a14">
          <p:sp>
            <p:nvSpPr>
              <p:cNvPr id="19467" name="Object 6"/>
              <p:cNvSpPr txBox="1"/>
              <p:nvPr/>
            </p:nvSpPr>
            <p:spPr bwMode="auto">
              <a:xfrm>
                <a:off x="326860" y="1524000"/>
                <a:ext cx="6853237" cy="12192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𝑉𝑎𝑟</m:t>
                      </m:r>
                      <m:r>
                        <a:rPr lang="en-US" i="1">
                          <a:solidFill>
                            <a:srgbClr val="000000"/>
                          </a:solidFill>
                          <a:latin typeface="Cambria Math" panose="02040503050406030204" pitchFamily="18" charset="0"/>
                        </a:rPr>
                        <m:t>(</m:t>
                      </m:r>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log</m:t>
                          </m:r>
                        </m:fName>
                        <m:e>
                          <m:r>
                            <a:rPr lang="en-US" i="1">
                              <a:solidFill>
                                <a:srgbClr val="000000"/>
                              </a:solidFill>
                              <a:latin typeface="Cambria Math" panose="02040503050406030204" pitchFamily="18" charset="0"/>
                            </a:rPr>
                            <m:t>[</m:t>
                          </m:r>
                        </m:e>
                      </m:func>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𝑂𝑅</m:t>
                          </m:r>
                        </m:e>
                      </m:acc>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=1)=</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1+2</m:t>
                          </m:r>
                          <m:r>
                            <a:rPr lang="en-US" i="1">
                              <a:solidFill>
                                <a:srgbClr val="000000"/>
                              </a:solidFill>
                              <a:latin typeface="Cambria Math" panose="02040503050406030204" pitchFamily="18" charset="0"/>
                            </a:rPr>
                            <m:t>𝐶𝑜𝑟</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𝑟</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num>
                        <m:den>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𝐶𝑜𝑠𝑡</m:t>
                              </m:r>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𝐷</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𝑋</m:t>
                                  </m:r>
                                </m:sub>
                              </m:sSub>
                            </m:den>
                          </m:f>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𝑍</m:t>
                              </m:r>
                            </m:sub>
                            <m:sup>
                              <m:r>
                                <a:rPr lang="en-US" i="1">
                                  <a:solidFill>
                                    <a:srgbClr val="000000"/>
                                  </a:solidFill>
                                  <a:latin typeface="Cambria Math" panose="02040503050406030204" pitchFamily="18" charset="0"/>
                                </a:rPr>
                                <m:t>2</m:t>
                              </m:r>
                            </m:sup>
                          </m:sSubSup>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𝜌</m:t>
                              </m:r>
                            </m:e>
                            <m:sub>
                              <m:r>
                                <a:rPr lang="en-US" i="1">
                                  <a:solidFill>
                                    <a:srgbClr val="000000"/>
                                  </a:solidFill>
                                  <a:latin typeface="Cambria Math" panose="02040503050406030204" pitchFamily="18" charset="0"/>
                                </a:rPr>
                                <m:t>𝐼</m:t>
                              </m:r>
                            </m:sub>
                          </m:sSub>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Pr</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=1)[1−</m:t>
                          </m:r>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Pr</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den>
                      </m:f>
                    </m:oMath>
                  </m:oMathPara>
                </a14:m>
                <a:endParaRPr lang="en-US" dirty="0"/>
              </a:p>
            </p:txBody>
          </p:sp>
        </mc:Choice>
        <mc:Fallback>
          <p:sp>
            <p:nvSpPr>
              <p:cNvPr id="19467" name="Object 6"/>
              <p:cNvSpPr txBox="1">
                <a:spLocks noRot="1" noChangeAspect="1" noMove="1" noResize="1" noEditPoints="1" noAdjustHandles="1" noChangeArrowheads="1" noChangeShapeType="1" noTextEdit="1"/>
              </p:cNvSpPr>
              <p:nvPr/>
            </p:nvSpPr>
            <p:spPr bwMode="auto">
              <a:xfrm>
                <a:off x="326860" y="1524000"/>
                <a:ext cx="6853237" cy="1219200"/>
              </a:xfrm>
              <a:prstGeom prst="rect">
                <a:avLst/>
              </a:prstGeom>
              <a:blipFill>
                <a:blip r:embed="rId4"/>
                <a:stretch>
                  <a:fillRect/>
                </a:stretch>
              </a:blipFill>
              <a:ln>
                <a:noFill/>
              </a:ln>
              <a:effectLst/>
            </p:spPr>
            <p:txBody>
              <a:bodyPr/>
              <a:lstStyle/>
              <a:p>
                <a:r>
                  <a:rPr lang="en-US">
                    <a:noFill/>
                  </a:rPr>
                  <a:t> </a:t>
                </a:r>
              </a:p>
            </p:txBody>
          </p:sp>
        </mc:Fallback>
      </mc:AlternateContent>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8676" name="Rectangle 2"/>
              <p:cNvSpPr>
                <a:spLocks noGrp="1" noChangeArrowheads="1"/>
              </p:cNvSpPr>
              <p:nvPr>
                <p:ph type="body" sz="half" idx="4294967295"/>
              </p:nvPr>
            </p:nvSpPr>
            <p:spPr>
              <a:xfrm>
                <a:off x="304800" y="0"/>
                <a:ext cx="8839200" cy="6477000"/>
              </a:xfrm>
            </p:spPr>
            <p:txBody>
              <a:bodyPr lIns="92075" tIns="46038" rIns="92075" bIns="46038"/>
              <a:lstStyle/>
              <a:p>
                <a:pPr>
                  <a:buFont typeface="Arial" charset="0"/>
                  <a:buNone/>
                  <a:defRPr/>
                </a:pPr>
                <a:r>
                  <a:rPr lang="en-US" sz="2200" dirty="0">
                    <a:latin typeface="Times New Roman" pitchFamily="18" charset="0"/>
                    <a:cs typeface="Times New Roman" pitchFamily="18" charset="0"/>
                  </a:rPr>
                  <a:t> </a:t>
                </a:r>
                <a:endParaRPr lang="en-US" sz="1000" dirty="0">
                  <a:latin typeface="Times New Roman" pitchFamily="18" charset="0"/>
                  <a:cs typeface="Times New Roman" pitchFamily="18" charset="0"/>
                </a:endParaRPr>
              </a:p>
              <a:p>
                <a:pPr>
                  <a:buFont typeface="Arial" charset="0"/>
                  <a:buNone/>
                  <a:defRPr/>
                </a:pPr>
                <a:r>
                  <a:rPr lang="en-US" sz="2200" dirty="0" err="1">
                    <a:latin typeface="Times New Roman" pitchFamily="18" charset="0"/>
                    <a:cs typeface="Times New Roman" pitchFamily="18" charset="0"/>
                  </a:rPr>
                  <a:t>Buonaccorsi</a:t>
                </a:r>
                <a:r>
                  <a:rPr lang="en-US" sz="2200" dirty="0">
                    <a:latin typeface="Times New Roman" pitchFamily="18" charset="0"/>
                    <a:cs typeface="Times New Roman" pitchFamily="18" charset="0"/>
                  </a:rPr>
                  <a:t> observed the following:</a:t>
                </a:r>
              </a:p>
              <a:p>
                <a:pPr>
                  <a:buFont typeface="Arial" charset="0"/>
                  <a:buNone/>
                  <a:defRPr/>
                </a:pPr>
                <a:endParaRPr lang="en-US" sz="800" dirty="0">
                  <a:latin typeface="Times New Roman" pitchFamily="18" charset="0"/>
                  <a:cs typeface="Times New Roman" pitchFamily="18" charset="0"/>
                </a:endParaRPr>
              </a:p>
              <a:p>
                <a:pPr>
                  <a:defRPr/>
                </a:pPr>
                <a:r>
                  <a:rPr lang="en-US" sz="2200" dirty="0">
                    <a:latin typeface="Times New Roman" pitchFamily="18" charset="0"/>
                    <a:cs typeface="Times New Roman" pitchFamily="18" charset="0"/>
                  </a:rPr>
                  <a:t>The  optimal proportion in the validation study increases as  </a:t>
                </a:r>
              </a:p>
              <a:p>
                <a:pPr>
                  <a:defRPr/>
                </a:pPr>
                <a:endParaRPr lang="en-US" sz="600" dirty="0">
                  <a:latin typeface="Times New Roman" pitchFamily="18" charset="0"/>
                  <a:cs typeface="Times New Roman" pitchFamily="18" charset="0"/>
                </a:endParaRPr>
              </a:p>
              <a:p>
                <a:pPr>
                  <a:buNone/>
                  <a:defRPr/>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𝐶𝑜𝑟𝑟</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𝐷</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ad>
                        <m:radPr>
                          <m:degHide m:val="on"/>
                          <m:ctrlPr>
                            <a:rPr lang="en-US" sz="2400" i="1">
                              <a:solidFill>
                                <a:srgbClr val="000000"/>
                              </a:solidFill>
                              <a:latin typeface="Cambria Math" panose="02040503050406030204" pitchFamily="18" charset="0"/>
                            </a:rPr>
                          </m:ctrlPr>
                        </m:radPr>
                        <m:deg/>
                        <m:e>
                          <m:sSup>
                            <m:sSupPr>
                              <m:ctrlPr>
                                <a:rPr lang="en-US" sz="2400" i="1">
                                  <a:solidFill>
                                    <a:srgbClr val="000000"/>
                                  </a:solidFill>
                                  <a:latin typeface="Cambria Math" panose="02040503050406030204" pitchFamily="18" charset="0"/>
                                </a:rPr>
                              </m:ctrlPr>
                            </m:sSupPr>
                            <m:e>
                              <m:d>
                                <m:dPr>
                                  <m:begChr m:val="["/>
                                  <m:endChr m:val="]"/>
                                  <m:ctrlPr>
                                    <a:rPr lang="en-US" sz="2400" i="1">
                                      <a:solidFill>
                                        <a:srgbClr val="000000"/>
                                      </a:solidFill>
                                      <a:latin typeface="Cambria Math" panose="02040503050406030204" pitchFamily="18" charset="0"/>
                                    </a:rPr>
                                  </m:ctrlPr>
                                </m:dPr>
                                <m:e>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log</m:t>
                                      </m:r>
                                    </m:fName>
                                    <m:e>
                                      <m:r>
                                        <a:rPr lang="en-US" sz="2400" i="1">
                                          <a:solidFill>
                                            <a:srgbClr val="000000"/>
                                          </a:solidFill>
                                          <a:latin typeface="Cambria Math" panose="02040503050406030204" pitchFamily="18" charset="0"/>
                                        </a:rPr>
                                        <m:t>(</m:t>
                                      </m:r>
                                    </m:e>
                                  </m:func>
                                  <m:r>
                                    <a:rPr lang="en-US" sz="2400" i="1">
                                      <a:solidFill>
                                        <a:srgbClr val="000000"/>
                                      </a:solidFill>
                                      <a:latin typeface="Cambria Math" panose="02040503050406030204" pitchFamily="18" charset="0"/>
                                    </a:rPr>
                                    <m:t>𝑂𝑅</m:t>
                                  </m:r>
                                  <m:r>
                                    <a:rPr lang="en-US" sz="2400" i="1">
                                      <a:solidFill>
                                        <a:srgbClr val="000000"/>
                                      </a:solidFill>
                                      <a:latin typeface="Cambria Math" panose="02040503050406030204" pitchFamily="18" charset="0"/>
                                    </a:rPr>
                                    <m:t>)</m:t>
                                  </m:r>
                                </m:e>
                              </m:d>
                            </m:e>
                            <m:sup>
                              <m:r>
                                <a:rPr lang="en-US" sz="2400" i="1">
                                  <a:solidFill>
                                    <a:srgbClr val="000000"/>
                                  </a:solidFill>
                                  <a:latin typeface="Cambria Math" panose="02040503050406030204" pitchFamily="18" charset="0"/>
                                </a:rPr>
                                <m:t>2</m:t>
                              </m:r>
                            </m:sup>
                          </m:sSup>
                          <m:sSubSup>
                            <m:sSubSupPr>
                              <m:ctrlPr>
                                <a:rPr lang="en-US" sz="2400" i="1">
                                  <a:solidFill>
                                    <a:srgbClr val="000000"/>
                                  </a:solidFill>
                                  <a:latin typeface="Cambria Math" panose="02040503050406030204" pitchFamily="18" charset="0"/>
                                </a:rPr>
                              </m:ctrlPr>
                            </m:sSubSup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𝑍</m:t>
                              </m:r>
                            </m:sub>
                            <m:sup>
                              <m:r>
                                <a:rPr lang="en-US" sz="2400" i="1">
                                  <a:solidFill>
                                    <a:srgbClr val="000000"/>
                                  </a:solidFill>
                                  <a:latin typeface="Cambria Math" panose="02040503050406030204" pitchFamily="18" charset="0"/>
                                </a:rPr>
                                <m:t>2</m:t>
                              </m:r>
                            </m:sup>
                          </m:sSubSup>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𝜌</m:t>
                              </m:r>
                            </m:e>
                            <m:sub>
                              <m:r>
                                <a:rPr lang="en-US" sz="2400" i="1">
                                  <a:solidFill>
                                    <a:srgbClr val="000000"/>
                                  </a:solidFill>
                                  <a:latin typeface="Cambria Math" panose="02040503050406030204" pitchFamily="18" charset="0"/>
                                </a:rPr>
                                <m:t>𝐼</m:t>
                              </m:r>
                            </m:sub>
                          </m:sSub>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Pr</m:t>
                              </m:r>
                            </m:fName>
                            <m:e>
                              <m:r>
                                <a:rPr lang="en-US" sz="2400" i="1">
                                  <a:solidFill>
                                    <a:srgbClr val="000000"/>
                                  </a:solidFill>
                                  <a:latin typeface="Cambria Math" panose="02040503050406030204" pitchFamily="18" charset="0"/>
                                </a:rPr>
                                <m:t>(</m:t>
                              </m:r>
                            </m:e>
                          </m:func>
                          <m:r>
                            <a:rPr lang="en-US" sz="2400" i="1">
                              <a:solidFill>
                                <a:srgbClr val="000000"/>
                              </a:solidFill>
                              <a:latin typeface="Cambria Math" panose="02040503050406030204" pitchFamily="18" charset="0"/>
                            </a:rPr>
                            <m:t>𝐷</m:t>
                          </m:r>
                          <m:r>
                            <a:rPr lang="en-US" sz="2400" i="1">
                              <a:solidFill>
                                <a:srgbClr val="000000"/>
                              </a:solidFill>
                              <a:latin typeface="Cambria Math" panose="02040503050406030204" pitchFamily="18" charset="0"/>
                            </a:rPr>
                            <m:t>=1)[1−</m:t>
                          </m:r>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Pr</m:t>
                              </m:r>
                            </m:fName>
                            <m:e>
                              <m:r>
                                <a:rPr lang="en-US" sz="2400" i="1">
                                  <a:solidFill>
                                    <a:srgbClr val="000000"/>
                                  </a:solidFill>
                                  <a:latin typeface="Cambria Math" panose="02040503050406030204" pitchFamily="18" charset="0"/>
                                </a:rPr>
                                <m:t>(</m:t>
                              </m:r>
                            </m:e>
                          </m:func>
                          <m:r>
                            <a:rPr lang="en-US" sz="2400" i="1">
                              <a:solidFill>
                                <a:srgbClr val="000000"/>
                              </a:solidFill>
                              <a:latin typeface="Cambria Math" panose="02040503050406030204" pitchFamily="18" charset="0"/>
                            </a:rPr>
                            <m:t>𝐷</m:t>
                          </m:r>
                          <m:r>
                            <a:rPr lang="en-US" sz="2400" i="1">
                              <a:solidFill>
                                <a:srgbClr val="000000"/>
                              </a:solidFill>
                              <a:latin typeface="Cambria Math" panose="02040503050406030204" pitchFamily="18" charset="0"/>
                            </a:rPr>
                            <m:t>=1)</m:t>
                          </m:r>
                        </m:e>
                      </m:rad>
                      <m:r>
                        <a:rPr lang="en-US" sz="2400" i="1">
                          <a:solidFill>
                            <a:srgbClr val="000000"/>
                          </a:solidFill>
                          <a:latin typeface="Cambria Math" panose="02040503050406030204" pitchFamily="18" charset="0"/>
                        </a:rPr>
                        <m:t>]</m:t>
                      </m:r>
                    </m:oMath>
                  </m:oMathPara>
                </a14:m>
                <a:endParaRPr lang="en-US" sz="2400" dirty="0"/>
              </a:p>
              <a:p>
                <a:pPr>
                  <a:buFont typeface="Arial" charset="0"/>
                  <a:buNone/>
                  <a:defRPr/>
                </a:pPr>
                <a:r>
                  <a:rPr lang="en-US" sz="2200" dirty="0">
                    <a:latin typeface="Times New Roman" pitchFamily="18" charset="0"/>
                    <a:cs typeface="Times New Roman" pitchFamily="18" charset="0"/>
                  </a:rPr>
                  <a:t>increases. </a:t>
                </a:r>
              </a:p>
              <a:p>
                <a:pPr>
                  <a:buNone/>
                  <a:defRPr/>
                </a:pPr>
                <a:r>
                  <a:rPr lang="en-US" sz="2200" dirty="0">
                    <a:latin typeface="Times New Roman" pitchFamily="18" charset="0"/>
                    <a:cs typeface="Times New Roman" pitchFamily="18" charset="0"/>
                  </a:rPr>
                  <a:t>     This can happen as the</a:t>
                </a:r>
                <a14:m>
                  <m:oMath xmlns:m="http://schemas.openxmlformats.org/officeDocument/2006/math">
                    <m:r>
                      <a:rPr lang="en-US" sz="2400" i="1">
                        <a:solidFill>
                          <a:srgbClr val="000000"/>
                        </a:solidFill>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log</m:t>
                        </m:r>
                      </m:fName>
                      <m:e>
                        <m:r>
                          <a:rPr lang="en-US" sz="2400" i="1">
                            <a:solidFill>
                              <a:srgbClr val="000000"/>
                            </a:solidFill>
                            <a:latin typeface="Cambria Math" panose="02040503050406030204" pitchFamily="18" charset="0"/>
                          </a:rPr>
                          <m:t>[</m:t>
                        </m:r>
                      </m:e>
                    </m:func>
                    <m:r>
                      <a:rPr lang="en-US" sz="2400" i="1">
                        <a:solidFill>
                          <a:srgbClr val="000000"/>
                        </a:solidFill>
                        <a:latin typeface="Cambria Math" panose="02040503050406030204" pitchFamily="18" charset="0"/>
                      </a:rPr>
                      <m:t>𝑂𝑅</m:t>
                    </m:r>
                    <m:r>
                      <a:rPr lang="en-US" sz="2400" i="1">
                        <a:solidFill>
                          <a:srgbClr val="000000"/>
                        </a:solidFill>
                        <a:latin typeface="Cambria Math" panose="02040503050406030204" pitchFamily="18" charset="0"/>
                      </a:rPr>
                      <m:t>]|</m:t>
                    </m:r>
                  </m:oMath>
                </a14:m>
                <a:r>
                  <a:rPr lang="en-US" sz="2400" dirty="0"/>
                  <a:t> </a:t>
                </a:r>
                <a:r>
                  <a:rPr lang="en-US" sz="2200" dirty="0">
                    <a:latin typeface="Times New Roman" pitchFamily="18" charset="0"/>
                    <a:cs typeface="Times New Roman" pitchFamily="18" charset="0"/>
                  </a:rPr>
                  <a:t>increases, and as</a:t>
                </a:r>
                <a14:m>
                  <m:oMath xmlns:m="http://schemas.openxmlformats.org/officeDocument/2006/math">
                    <m:r>
                      <a:rPr lang="en-US" sz="2400" b="0" i="0" smtClean="0">
                        <a:solidFill>
                          <a:srgbClr val="000000"/>
                        </a:solidFill>
                        <a:latin typeface="Cambria Math" panose="02040503050406030204" pitchFamily="18" charset="0"/>
                      </a:rPr>
                      <m:t> </m:t>
                    </m:r>
                    <m:sSub>
                      <m:sSubPr>
                        <m:ctrlPr>
                          <a:rPr lang="en-US" sz="2400" i="1" smtClean="0">
                            <a:solidFill>
                              <a:srgbClr val="000000"/>
                            </a:solidFill>
                            <a:latin typeface="Cambria Math" panose="02040503050406030204" pitchFamily="18" charset="0"/>
                          </a:rPr>
                        </m:ctrlPr>
                      </m:sSubPr>
                      <m:e>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Pr</m:t>
                            </m:r>
                          </m:fName>
                          <m:e>
                            <m:r>
                              <a:rPr lang="en-US" sz="2400" i="1">
                                <a:solidFill>
                                  <a:srgbClr val="000000"/>
                                </a:solidFill>
                                <a:latin typeface="Cambria Math" panose="02040503050406030204" pitchFamily="18" charset="0"/>
                              </a:rPr>
                              <m:t>(</m:t>
                            </m:r>
                          </m:e>
                        </m:func>
                        <m:r>
                          <a:rPr lang="en-US" sz="2400" i="1">
                            <a:solidFill>
                              <a:srgbClr val="000000"/>
                            </a:solidFill>
                            <a:latin typeface="Cambria Math" panose="02040503050406030204" pitchFamily="18" charset="0"/>
                          </a:rPr>
                          <m:t>𝐷</m:t>
                        </m:r>
                        <m:r>
                          <a:rPr lang="en-US" sz="2400" i="1">
                            <a:solidFill>
                              <a:srgbClr val="000000"/>
                            </a:solidFill>
                            <a:latin typeface="Cambria Math" panose="02040503050406030204" pitchFamily="18" charset="0"/>
                          </a:rPr>
                          <m:t>=1)→0.5</m:t>
                        </m:r>
                      </m:e>
                      <m:sub/>
                    </m:sSub>
                  </m:oMath>
                </a14:m>
                <a:r>
                  <a:rPr lang="en-US" sz="2200" dirty="0">
                    <a:latin typeface="Times New Roman" pitchFamily="18" charset="0"/>
                    <a:cs typeface="Times New Roman" pitchFamily="18" charset="0"/>
                  </a:rPr>
                  <a:t> from either direction.</a:t>
                </a:r>
              </a:p>
              <a:p>
                <a:pPr>
                  <a:buFont typeface="Arial" charset="0"/>
                  <a:buNone/>
                  <a:defRPr/>
                </a:pPr>
                <a:endParaRPr lang="en-US" sz="1400" dirty="0">
                  <a:latin typeface="Times New Roman" pitchFamily="18" charset="0"/>
                  <a:cs typeface="Times New Roman" pitchFamily="18" charset="0"/>
                </a:endParaRPr>
              </a:p>
              <a:p>
                <a:pPr>
                  <a:defRPr/>
                </a:pPr>
                <a:r>
                  <a:rPr lang="en-US" sz="2200" dirty="0">
                    <a:latin typeface="Times New Roman" pitchFamily="18" charset="0"/>
                    <a:cs typeface="Times New Roman" pitchFamily="18" charset="0"/>
                  </a:rPr>
                  <a:t>The optimal proportion in the validation study increases as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𝜌</m:t>
                        </m:r>
                      </m:e>
                      <m:sub>
                        <m:r>
                          <a:rPr lang="en-US" sz="2400" i="1">
                            <a:solidFill>
                              <a:srgbClr val="000000"/>
                            </a:solidFill>
                            <a:latin typeface="Cambria Math" panose="02040503050406030204" pitchFamily="18" charset="0"/>
                          </a:rPr>
                          <m:t>𝐼</m:t>
                        </m:r>
                      </m:sub>
                    </m:sSub>
                  </m:oMath>
                </a14:m>
                <a:r>
                  <a:rPr lang="en-US" sz="2200" dirty="0">
                    <a:latin typeface="Times New Roman" pitchFamily="18" charset="0"/>
                    <a:cs typeface="Times New Roman" pitchFamily="18" charset="0"/>
                  </a:rPr>
                  <a:t>       decreases, and for small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𝜌</m:t>
                        </m:r>
                      </m:e>
                      <m:sub>
                        <m:r>
                          <a:rPr lang="en-US" sz="2000" i="1">
                            <a:solidFill>
                              <a:srgbClr val="000000"/>
                            </a:solidFill>
                            <a:latin typeface="Cambria Math" panose="02040503050406030204" pitchFamily="18" charset="0"/>
                          </a:rPr>
                          <m:t>𝐼</m:t>
                        </m:r>
                      </m:sub>
                    </m:sSub>
                  </m:oMath>
                </a14:m>
                <a:r>
                  <a:rPr lang="en-US" sz="2200" dirty="0">
                    <a:latin typeface="Times New Roman" pitchFamily="18" charset="0"/>
                    <a:cs typeface="Times New Roman" pitchFamily="18" charset="0"/>
                  </a:rPr>
                  <a:t>, the optimal design is often the fully validated design</a:t>
                </a:r>
              </a:p>
              <a:p>
                <a:pPr>
                  <a:buFont typeface="Arial" charset="0"/>
                  <a:buNone/>
                  <a:defRPr/>
                </a:pPr>
                <a:endParaRPr lang="en-US" sz="2200" dirty="0">
                  <a:latin typeface="Times New Roman" pitchFamily="18" charset="0"/>
                  <a:cs typeface="Times New Roman" pitchFamily="18" charset="0"/>
                </a:endParaRPr>
              </a:p>
              <a:p>
                <a:pPr>
                  <a:defRPr/>
                </a:pPr>
                <a:r>
                  <a:rPr lang="en-US" sz="2200" dirty="0">
                    <a:latin typeface="Times New Roman" pitchFamily="18" charset="0"/>
                    <a:cs typeface="Times New Roman" pitchFamily="18" charset="0"/>
                  </a:rPr>
                  <a:t>The optimal proportion in the validation study is not as sensitive to </a:t>
                </a:r>
              </a:p>
              <a:p>
                <a:pPr>
                  <a:buNone/>
                  <a:defRPr/>
                </a:pPr>
                <a:r>
                  <a:rPr lang="en-US" sz="2200" dirty="0">
                    <a:latin typeface="Times New Roman" pitchFamily="18" charset="0"/>
                    <a:cs typeface="Times New Roman" pitchFamily="18" charset="0"/>
                  </a:rPr>
                  <a:t>     changes in  </a:t>
                </a:r>
                <a14:m>
                  <m:oMath xmlns:m="http://schemas.openxmlformats.org/officeDocument/2006/math">
                    <m:r>
                      <a:rPr lang="en-US" sz="2400" i="1">
                        <a:solidFill>
                          <a:srgbClr val="000000"/>
                        </a:solidFill>
                        <a:latin typeface="Cambria Math" panose="02040503050406030204" pitchFamily="18" charset="0"/>
                      </a:rPr>
                      <m:t>𝐶𝑜𝑟𝑟</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𝐷</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oMath>
                </a14:m>
                <a:r>
                  <a:rPr lang="en-US" sz="2400" dirty="0"/>
                  <a:t> </a:t>
                </a:r>
                <a:r>
                  <a:rPr lang="en-US" sz="2200" dirty="0">
                    <a:latin typeface="Times New Roman" pitchFamily="18" charset="0"/>
                    <a:cs typeface="Times New Roman" pitchFamily="18" charset="0"/>
                  </a:rPr>
                  <a:t>as it is to </a:t>
                </a:r>
                <a14:m>
                  <m:oMath xmlns:m="http://schemas.openxmlformats.org/officeDocument/2006/math">
                    <m:r>
                      <a:rPr lang="en-US" sz="2400" i="1">
                        <a:solidFill>
                          <a:srgbClr val="000000"/>
                        </a:solidFill>
                        <a:latin typeface="Cambria Math" panose="02040503050406030204" pitchFamily="18" charset="0"/>
                      </a:rPr>
                      <m:t>𝐶𝑜𝑟𝑟</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𝑍</m:t>
                    </m:r>
                    <m:r>
                      <a:rPr lang="en-US" sz="2400" i="1">
                        <a:solidFill>
                          <a:srgbClr val="000000"/>
                        </a:solidFill>
                        <a:latin typeface="Cambria Math" panose="02040503050406030204" pitchFamily="18" charset="0"/>
                      </a:rPr>
                      <m:t>)</m:t>
                    </m:r>
                  </m:oMath>
                </a14:m>
                <a:r>
                  <a:rPr lang="en-US" sz="2400" dirty="0"/>
                  <a:t> =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𝜌</m:t>
                        </m:r>
                      </m:e>
                      <m:sub>
                        <m:r>
                          <a:rPr lang="en-US" sz="2400" i="1">
                            <a:solidFill>
                              <a:srgbClr val="000000"/>
                            </a:solidFill>
                            <a:latin typeface="Cambria Math" panose="02040503050406030204" pitchFamily="18" charset="0"/>
                          </a:rPr>
                          <m:t>𝐼</m:t>
                        </m:r>
                      </m:sub>
                    </m:sSub>
                  </m:oMath>
                </a14:m>
                <a:r>
                  <a:rPr lang="en-US" sz="2400" dirty="0"/>
                  <a:t>.</a:t>
                </a:r>
              </a:p>
              <a:p>
                <a:pPr>
                  <a:buNone/>
                  <a:defRPr/>
                </a:pPr>
                <a:endParaRPr lang="en-US" sz="2200" dirty="0">
                  <a:latin typeface="Times New Roman" pitchFamily="18" charset="0"/>
                  <a:cs typeface="Times New Roman" pitchFamily="18" charset="0"/>
                </a:endParaRP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   </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mc:Choice>
        <mc:Fallback>
          <p:sp>
            <p:nvSpPr>
              <p:cNvPr id="28676" name="Rectangle 2"/>
              <p:cNvSpPr>
                <a:spLocks noGrp="1" noRot="1" noChangeAspect="1" noMove="1" noResize="1" noEditPoints="1" noAdjustHandles="1" noChangeArrowheads="1" noChangeShapeType="1" noTextEdit="1"/>
              </p:cNvSpPr>
              <p:nvPr>
                <p:ph type="body" sz="half" idx="4294967295"/>
              </p:nvPr>
            </p:nvSpPr>
            <p:spPr>
              <a:xfrm>
                <a:off x="304800" y="0"/>
                <a:ext cx="8839200" cy="6477000"/>
              </a:xfrm>
              <a:blipFill>
                <a:blip r:embed="rId3"/>
                <a:stretch>
                  <a:fillRect l="-897" r="-207"/>
                </a:stretch>
              </a:blipFill>
            </p:spPr>
            <p:txBody>
              <a:bodyPr/>
              <a:lstStyle/>
              <a:p>
                <a:r>
                  <a:rPr lang="en-US">
                    <a:noFill/>
                  </a:rPr>
                  <a:t> </a:t>
                </a:r>
              </a:p>
            </p:txBody>
          </p:sp>
        </mc:Fallback>
      </mc:AlternateContent>
      <p:cxnSp>
        <p:nvCxnSpPr>
          <p:cNvPr id="20483" name="AutoShape 3"/>
          <p:cNvCxnSpPr>
            <a:cxnSpLocks noChangeShapeType="1"/>
            <a:stCxn id="28676" idx="3"/>
            <a:endCxn id="28676" idx="3"/>
          </p:cNvCxnSpPr>
          <p:nvPr/>
        </p:nvCxnSpPr>
        <p:spPr bwMode="auto">
          <a:xfrm>
            <a:off x="9144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0484"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0485"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20486"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20487"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0488"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E3777799-B484-40A1-BB72-AFFD2FD2DCE3}" type="slidenum">
              <a:rPr lang="zh-CN" altLang="en-US" sz="1200">
                <a:solidFill>
                  <a:srgbClr val="898989"/>
                </a:solidFill>
              </a:rPr>
              <a:pPr algn="r" eaLnBrk="1" hangingPunct="1">
                <a:spcBef>
                  <a:spcPct val="0"/>
                </a:spcBef>
                <a:buFontTx/>
                <a:buNone/>
              </a:pPr>
              <a:t>18</a:t>
            </a:fld>
            <a:endParaRPr lang="en-US" altLang="zh-CN" sz="1200">
              <a:solidFill>
                <a:srgbClr val="898989"/>
              </a:solidFill>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8676" name="Rectangle 2"/>
              <p:cNvSpPr>
                <a:spLocks noGrp="1" noChangeArrowheads="1"/>
              </p:cNvSpPr>
              <p:nvPr>
                <p:ph type="body" sz="half" idx="4294967295"/>
              </p:nvPr>
            </p:nvSpPr>
            <p:spPr>
              <a:xfrm>
                <a:off x="304800" y="152400"/>
                <a:ext cx="8458200" cy="6705600"/>
              </a:xfrm>
            </p:spPr>
            <p:txBody>
              <a:bodyPr lIns="92075" tIns="46038" rIns="92075" bIns="46038"/>
              <a:lstStyle/>
              <a:p>
                <a:pPr>
                  <a:buFont typeface="Arial" charset="0"/>
                  <a:buNone/>
                  <a:defRPr/>
                </a:pPr>
                <a:r>
                  <a:rPr lang="en-US" sz="2200" b="1" dirty="0">
                    <a:latin typeface="Times New Roman" pitchFamily="18" charset="0"/>
                    <a:cs typeface="Times New Roman" pitchFamily="18" charset="0"/>
                  </a:rPr>
                  <a:t>Spiegelman and Gray (1991)</a:t>
                </a:r>
              </a:p>
              <a:p>
                <a:pPr>
                  <a:buFont typeface="Arial" charset="0"/>
                  <a:buNone/>
                  <a:defRPr/>
                </a:pPr>
                <a:r>
                  <a:rPr lang="en-US" sz="2200" dirty="0">
                    <a:latin typeface="Times New Roman" pitchFamily="18" charset="0"/>
                    <a:cs typeface="Times New Roman" pitchFamily="18" charset="0"/>
                  </a:rPr>
                  <a:t> </a:t>
                </a:r>
              </a:p>
              <a:p>
                <a:pPr>
                  <a:buFont typeface="Arial" charset="0"/>
                  <a:buNone/>
                  <a:defRPr/>
                </a:pPr>
                <a:endParaRPr lang="en-US" sz="2200" dirty="0">
                  <a:latin typeface="Times New Roman" pitchFamily="18" charset="0"/>
                  <a:cs typeface="Times New Roman" pitchFamily="18" charset="0"/>
                </a:endParaRPr>
              </a:p>
              <a:p>
                <a:pPr>
                  <a:buFont typeface="Arial" charset="0"/>
                  <a:buNone/>
                  <a:defRPr/>
                </a:pPr>
                <a:endParaRPr lang="en-US" sz="2200" dirty="0">
                  <a:latin typeface="Times New Roman" pitchFamily="18" charset="0"/>
                  <a:cs typeface="Times New Roman" pitchFamily="18" charset="0"/>
                </a:endParaRPr>
              </a:p>
              <a:p>
                <a:pPr>
                  <a:buFont typeface="Arial" charset="0"/>
                  <a:buNone/>
                  <a:defRPr/>
                </a:pPr>
                <a:endParaRPr lang="en-US" sz="2200" dirty="0">
                  <a:latin typeface="Times New Roman" pitchFamily="18" charset="0"/>
                  <a:cs typeface="Times New Roman" pitchFamily="18" charset="0"/>
                </a:endParaRPr>
              </a:p>
              <a:p>
                <a:pPr>
                  <a:buFont typeface="Arial" charset="0"/>
                  <a:buNone/>
                  <a:defRPr/>
                </a:pPr>
                <a:endParaRPr lang="en-US" sz="2200" dirty="0">
                  <a:latin typeface="Times New Roman" pitchFamily="18" charset="0"/>
                  <a:cs typeface="Times New Roman" pitchFamily="18" charset="0"/>
                </a:endParaRPr>
              </a:p>
              <a:p>
                <a:pPr>
                  <a:buFont typeface="Arial" charset="0"/>
                  <a:buNone/>
                  <a:defRPr/>
                </a:pPr>
                <a:endParaRPr lang="en-US" sz="2200" dirty="0">
                  <a:latin typeface="Times New Roman" pitchFamily="18" charset="0"/>
                  <a:cs typeface="Times New Roman" pitchFamily="18" charset="0"/>
                </a:endParaRPr>
              </a:p>
              <a:p>
                <a:pPr>
                  <a:buFont typeface="Arial" charset="0"/>
                  <a:buNone/>
                  <a:defRPr/>
                </a:pPr>
                <a:endParaRPr lang="en-US" sz="2200" dirty="0">
                  <a:latin typeface="Times New Roman" pitchFamily="18" charset="0"/>
                  <a:cs typeface="Times New Roman" pitchFamily="18" charset="0"/>
                </a:endParaRPr>
              </a:p>
              <a:p>
                <a:pPr>
                  <a:buNone/>
                  <a:defRPr/>
                </a:pPr>
                <a:r>
                  <a:rPr lang="en-US" sz="2200" dirty="0">
                    <a:latin typeface="Times New Roman" pitchFamily="18" charset="0"/>
                    <a:cs typeface="Times New Roman" pitchFamily="18" charset="0"/>
                  </a:rPr>
                  <a:t>(Spiegelman and Gray, 1991) considered optimal design when </a:t>
                </a:r>
                <a14:m>
                  <m:oMath xmlns:m="http://schemas.openxmlformats.org/officeDocument/2006/math">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𝑍</m:t>
                    </m:r>
                  </m:oMath>
                </a14:m>
                <a:r>
                  <a:rPr lang="en-US" sz="2400" dirty="0"/>
                  <a:t> </a:t>
                </a:r>
                <a:r>
                  <a:rPr lang="en-US" sz="2400" dirty="0">
                    <a:latin typeface="Times New Roman" panose="02020603050405020304" pitchFamily="18" charset="0"/>
                    <a:cs typeface="Times New Roman" panose="02020603050405020304" pitchFamily="18" charset="0"/>
                  </a:rPr>
                  <a:t>is</a:t>
                </a:r>
              </a:p>
              <a:p>
                <a:pPr>
                  <a:buFont typeface="Arial" charset="0"/>
                  <a:buNone/>
                  <a:defRPr/>
                </a:pPr>
                <a:r>
                  <a:rPr lang="en-US" sz="2200" dirty="0">
                    <a:latin typeface="Times New Roman" pitchFamily="18" charset="0"/>
                    <a:cs typeface="Times New Roman" pitchFamily="18" charset="0"/>
                  </a:rPr>
                  <a:t>normal and homoscedastic, in contrast to the setting considered by </a:t>
                </a:r>
              </a:p>
              <a:p>
                <a:pPr>
                  <a:buFont typeface="Arial" charset="0"/>
                  <a:buNone/>
                  <a:defRPr/>
                </a:pPr>
                <a:endParaRPr lang="en-US" sz="200" dirty="0">
                  <a:latin typeface="Times New Roman" pitchFamily="18" charset="0"/>
                  <a:cs typeface="Times New Roman" pitchFamily="18" charset="0"/>
                </a:endParaRPr>
              </a:p>
              <a:p>
                <a:pPr>
                  <a:buNone/>
                  <a:defRPr/>
                </a:pPr>
                <a:r>
                  <a:rPr lang="en-US" sz="2200" dirty="0" err="1">
                    <a:latin typeface="Times New Roman" pitchFamily="18" charset="0"/>
                    <a:cs typeface="Times New Roman" pitchFamily="18" charset="0"/>
                  </a:rPr>
                  <a:t>Buonaccorsi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Buonaccorsi</a:t>
                </a:r>
                <a:r>
                  <a:rPr lang="en-US" sz="2200" dirty="0">
                    <a:latin typeface="Times New Roman" pitchFamily="18" charset="0"/>
                    <a:cs typeface="Times New Roman" pitchFamily="18" charset="0"/>
                  </a:rPr>
                  <a:t>, 1990), which assumes </a:t>
                </a:r>
                <a14:m>
                  <m:oMath xmlns:m="http://schemas.openxmlformats.org/officeDocument/2006/math">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𝑍</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𝐷</m:t>
                    </m:r>
                  </m:oMath>
                </a14:m>
                <a:r>
                  <a:rPr lang="en-US" sz="2400" dirty="0"/>
                  <a:t> </a:t>
                </a:r>
                <a:r>
                  <a:rPr lang="en-US" sz="2200" dirty="0">
                    <a:latin typeface="Times New Roman" pitchFamily="18" charset="0"/>
                    <a:cs typeface="Times New Roman" pitchFamily="18" charset="0"/>
                  </a:rPr>
                  <a:t>are jointly </a:t>
                </a:r>
              </a:p>
              <a:p>
                <a:pPr>
                  <a:buFont typeface="Arial" charset="0"/>
                  <a:buNone/>
                  <a:defRPr/>
                </a:pPr>
                <a:r>
                  <a:rPr lang="en-US" sz="2200" dirty="0">
                    <a:latin typeface="Times New Roman" pitchFamily="18" charset="0"/>
                    <a:cs typeface="Times New Roman" pitchFamily="18" charset="0"/>
                  </a:rPr>
                  <a:t>normal and </a:t>
                </a:r>
                <a:r>
                  <a:rPr lang="en-US" sz="2200" dirty="0" err="1">
                    <a:latin typeface="Times New Roman" pitchFamily="18" charset="0"/>
                    <a:cs typeface="Times New Roman" pitchFamily="18" charset="0"/>
                  </a:rPr>
                  <a:t>homoscedastic</a:t>
                </a:r>
                <a:r>
                  <a:rPr lang="en-US" sz="2200" dirty="0">
                    <a:latin typeface="Times New Roman" pitchFamily="18" charset="0"/>
                    <a:cs typeface="Times New Roman" pitchFamily="18" charset="0"/>
                  </a:rPr>
                  <a:t>.  The latter distributional assumptions make </a:t>
                </a:r>
              </a:p>
              <a:p>
                <a:pPr>
                  <a:buFont typeface="Arial" charset="0"/>
                  <a:buNone/>
                  <a:defRPr/>
                </a:pPr>
                <a:r>
                  <a:rPr lang="en-US" sz="2200" dirty="0">
                    <a:latin typeface="Times New Roman" pitchFamily="18" charset="0"/>
                    <a:cs typeface="Times New Roman" pitchFamily="18" charset="0"/>
                  </a:rPr>
                  <a:t>more sense for a case-control study, while the former make more sense </a:t>
                </a:r>
              </a:p>
              <a:p>
                <a:pPr>
                  <a:buFont typeface="Arial" charset="0"/>
                  <a:buNone/>
                  <a:defRPr/>
                </a:pPr>
                <a:r>
                  <a:rPr lang="en-US" sz="2200" b="1" dirty="0">
                    <a:latin typeface="Times New Roman" pitchFamily="18" charset="0"/>
                    <a:cs typeface="Times New Roman" pitchFamily="18" charset="0"/>
                  </a:rPr>
                  <a:t>for a cohort study</a:t>
                </a:r>
                <a:r>
                  <a:rPr lang="en-US" sz="2200" dirty="0">
                    <a:latin typeface="Times New Roman" pitchFamily="18" charset="0"/>
                    <a:cs typeface="Times New Roman" pitchFamily="18" charset="0"/>
                  </a:rPr>
                  <a:t>.</a:t>
                </a:r>
              </a:p>
              <a:p>
                <a:pPr>
                  <a:buFont typeface="Arial" charset="0"/>
                  <a:buNone/>
                  <a:defRPr/>
                </a:pPr>
                <a:endParaRPr lang="en-US" sz="1100" dirty="0">
                  <a:latin typeface="Times New Roman" pitchFamily="18" charset="0"/>
                  <a:cs typeface="Times New Roman" pitchFamily="18" charset="0"/>
                </a:endParaRPr>
              </a:p>
              <a:p>
                <a:pPr>
                  <a:buFont typeface="Arial" charset="0"/>
                  <a:buNone/>
                  <a:defRPr/>
                </a:pPr>
                <a:r>
                  <a:rPr lang="en-US" sz="1600" dirty="0"/>
                  <a:t>Spiegelman D., Gray R. (1991) Cost-efficient study designs for binary response data with Gaussian </a:t>
                </a:r>
              </a:p>
              <a:p>
                <a:pPr>
                  <a:buFont typeface="Arial" charset="0"/>
                  <a:buNone/>
                  <a:defRPr/>
                </a:pPr>
                <a:r>
                  <a:rPr lang="en-US" sz="1600" dirty="0"/>
                  <a:t>covariate measurement error. </a:t>
                </a:r>
                <a:r>
                  <a:rPr lang="en-US" sz="1600" i="1" dirty="0"/>
                  <a:t>Biometrics</a:t>
                </a:r>
                <a:r>
                  <a:rPr lang="en-US" sz="1600" dirty="0"/>
                  <a:t> 47:851-869.</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   </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mc:Choice>
        <mc:Fallback>
          <p:sp>
            <p:nvSpPr>
              <p:cNvPr id="28676" name="Rectangle 2"/>
              <p:cNvSpPr>
                <a:spLocks noGrp="1" noRot="1" noChangeAspect="1" noMove="1" noResize="1" noEditPoints="1" noAdjustHandles="1" noChangeArrowheads="1" noChangeShapeType="1" noTextEdit="1"/>
              </p:cNvSpPr>
              <p:nvPr>
                <p:ph type="body" sz="half" idx="4294967295"/>
              </p:nvPr>
            </p:nvSpPr>
            <p:spPr>
              <a:xfrm>
                <a:off x="304800" y="152400"/>
                <a:ext cx="8458200" cy="6705600"/>
              </a:xfrm>
              <a:blipFill>
                <a:blip r:embed="rId3"/>
                <a:stretch>
                  <a:fillRect l="-937" t="-636"/>
                </a:stretch>
              </a:blipFill>
            </p:spPr>
            <p:txBody>
              <a:bodyPr/>
              <a:lstStyle/>
              <a:p>
                <a:r>
                  <a:rPr lang="en-US">
                    <a:noFill/>
                  </a:rPr>
                  <a:t> </a:t>
                </a:r>
              </a:p>
            </p:txBody>
          </p:sp>
        </mc:Fallback>
      </mc:AlternateContent>
      <p:cxnSp>
        <p:nvCxnSpPr>
          <p:cNvPr id="21507" name="AutoShape 3"/>
          <p:cNvCxnSpPr>
            <a:cxnSpLocks noChangeShapeType="1"/>
            <a:stCxn id="28676" idx="3"/>
            <a:endCxn id="28676" idx="3"/>
          </p:cNvCxnSpPr>
          <p:nvPr/>
        </p:nvCxnSpPr>
        <p:spPr bwMode="auto">
          <a:xfrm>
            <a:off x="8763000" y="35052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1508"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1509"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21510"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21511"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1512"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4B9A1845-F88D-425C-AC50-156954724035}" type="slidenum">
              <a:rPr lang="zh-CN" altLang="en-US" sz="1200">
                <a:solidFill>
                  <a:srgbClr val="898989"/>
                </a:solidFill>
              </a:rPr>
              <a:pPr algn="r" eaLnBrk="1" hangingPunct="1">
                <a:spcBef>
                  <a:spcPct val="0"/>
                </a:spcBef>
                <a:buFontTx/>
                <a:buNone/>
              </a:pPr>
              <a:t>19</a:t>
            </a:fld>
            <a:endParaRPr lang="en-US" altLang="zh-CN" sz="1200">
              <a:solidFill>
                <a:srgbClr val="898989"/>
              </a:solidFill>
            </a:endParaRPr>
          </a:p>
        </p:txBody>
      </p:sp>
      <mc:AlternateContent xmlns:mc="http://schemas.openxmlformats.org/markup-compatibility/2006">
        <mc:Choice xmlns:a14="http://schemas.microsoft.com/office/drawing/2010/main" Requires="a14">
          <p:sp>
            <p:nvSpPr>
              <p:cNvPr id="21513" name="Object 4"/>
              <p:cNvSpPr txBox="1"/>
              <p:nvPr/>
            </p:nvSpPr>
            <p:spPr bwMode="auto">
              <a:xfrm>
                <a:off x="9296400" y="2590800"/>
                <a:ext cx="685800" cy="354013"/>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𝑍</m:t>
                      </m:r>
                    </m:oMath>
                  </m:oMathPara>
                </a14:m>
                <a:endParaRPr lang="en-US" dirty="0"/>
              </a:p>
            </p:txBody>
          </p:sp>
        </mc:Choice>
        <mc:Fallback>
          <p:sp>
            <p:nvSpPr>
              <p:cNvPr id="21513" name="Object 4"/>
              <p:cNvSpPr txBox="1">
                <a:spLocks noRot="1" noChangeAspect="1" noMove="1" noResize="1" noEditPoints="1" noAdjustHandles="1" noChangeArrowheads="1" noChangeShapeType="1" noTextEdit="1"/>
              </p:cNvSpPr>
              <p:nvPr/>
            </p:nvSpPr>
            <p:spPr bwMode="auto">
              <a:xfrm>
                <a:off x="9296400" y="2590800"/>
                <a:ext cx="685800" cy="354013"/>
              </a:xfrm>
              <a:prstGeom prst="rect">
                <a:avLst/>
              </a:prstGeom>
              <a:blipFill>
                <a:blip r:embed="rId4"/>
                <a:stretch>
                  <a:fillRect b="-12069"/>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514" name="Object 5"/>
              <p:cNvSpPr txBox="1"/>
              <p:nvPr/>
            </p:nvSpPr>
            <p:spPr bwMode="auto">
              <a:xfrm>
                <a:off x="9753600" y="4495800"/>
                <a:ext cx="1066800" cy="3778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𝑍</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𝐷</m:t>
                      </m:r>
                    </m:oMath>
                  </m:oMathPara>
                </a14:m>
                <a:endParaRPr lang="en-US" dirty="0"/>
              </a:p>
            </p:txBody>
          </p:sp>
        </mc:Choice>
        <mc:Fallback>
          <p:sp>
            <p:nvSpPr>
              <p:cNvPr id="21514" name="Object 5"/>
              <p:cNvSpPr txBox="1">
                <a:spLocks noRot="1" noChangeAspect="1" noMove="1" noResize="1" noEditPoints="1" noAdjustHandles="1" noChangeArrowheads="1" noChangeShapeType="1" noTextEdit="1"/>
              </p:cNvSpPr>
              <p:nvPr/>
            </p:nvSpPr>
            <p:spPr bwMode="auto">
              <a:xfrm>
                <a:off x="9753600" y="4495800"/>
                <a:ext cx="1066800" cy="377825"/>
              </a:xfrm>
              <a:prstGeom prst="rect">
                <a:avLst/>
              </a:prstGeom>
              <a:blipFill>
                <a:blip r:embed="rId5"/>
                <a:stretch>
                  <a:fillRect b="-13115"/>
                </a:stretch>
              </a:blipFill>
              <a:ln>
                <a:noFill/>
              </a:ln>
              <a:effectLst/>
            </p:spPr>
            <p:txBody>
              <a:bodyPr/>
              <a:lstStyle/>
              <a:p>
                <a:r>
                  <a:rPr lang="en-US">
                    <a:noFill/>
                  </a:rPr>
                  <a:t> </a:t>
                </a:r>
              </a:p>
            </p:txBody>
          </p:sp>
        </mc:Fallback>
      </mc:AlternateContent>
      <p:pic>
        <p:nvPicPr>
          <p:cNvPr id="21515"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44471" y="152400"/>
            <a:ext cx="3962400"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b="1" dirty="0">
                <a:latin typeface="Times New Roman" pitchFamily="18" charset="0"/>
                <a:cs typeface="Times New Roman" pitchFamily="18" charset="0"/>
              </a:rPr>
              <a:t>Spiegelman and Gray (1991)</a:t>
            </a:r>
            <a:br>
              <a:rPr lang="en-US" b="1" dirty="0">
                <a:latin typeface="Times New Roman" pitchFamily="18" charset="0"/>
                <a:cs typeface="Times New Roman" pitchFamily="18" charset="0"/>
              </a:rPr>
            </a:br>
            <a:endParaRPr lang="en-US" dirty="0"/>
          </a:p>
        </p:txBody>
      </p:sp>
      <mc:AlternateContent xmlns:mc="http://schemas.openxmlformats.org/markup-compatibility/2006">
        <mc:Choice xmlns:a14="http://schemas.microsoft.com/office/drawing/2010/main" Requires="a14">
          <p:sp>
            <p:nvSpPr>
              <p:cNvPr id="4" name="Content Placeholder 3"/>
              <p:cNvSpPr>
                <a:spLocks noGrp="1"/>
              </p:cNvSpPr>
              <p:nvPr>
                <p:ph idx="1"/>
              </p:nvPr>
            </p:nvSpPr>
            <p:spPr/>
            <p:txBody>
              <a:bodyPr/>
              <a:lstStyle/>
              <a:p>
                <a:r>
                  <a:rPr lang="en-US" dirty="0"/>
                  <a:t>Considered MS/IVS, MS/EVS and fully validated studies, based on MLE.</a:t>
                </a:r>
              </a:p>
              <a:p>
                <a:r>
                  <a:rPr lang="en-US" dirty="0"/>
                  <a:t>Criterion is to </a:t>
                </a:r>
                <a:r>
                  <a:rPr lang="en-US" b="1" dirty="0"/>
                  <a:t>minimize cost, subject to a specified discriminatory power</a:t>
                </a:r>
                <a:r>
                  <a:rPr lang="en-US" dirty="0"/>
                  <a:t>. That is, the optimal design satisfies the power requirements of two hypothesis testing setups: First </a:t>
                </a:r>
                <a14:m>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a:solidFill>
                              <a:srgbClr val="000000"/>
                            </a:solidFill>
                            <a:latin typeface="Cambria Math" panose="02040503050406030204" pitchFamily="18" charset="0"/>
                          </a:rPr>
                          <m:t>log</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𝑂</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𝐿</m:t>
                        </m:r>
                      </m:sub>
                    </m:sSub>
                    <m:r>
                      <a:rPr lang="en-US" i="1">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 </m:t>
                    </m:r>
                  </m:oMath>
                </a14:m>
                <a:r>
                  <a:rPr lang="en-US" dirty="0"/>
                  <a:t>plays the role of the null and </a:t>
                </a:r>
                <a14:m>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a:solidFill>
                              <a:srgbClr val="000000"/>
                            </a:solidFill>
                            <a:latin typeface="Cambria Math" panose="02040503050406030204" pitchFamily="18" charset="0"/>
                          </a:rPr>
                          <m:t>log</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𝑂</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𝑈</m:t>
                        </m:r>
                      </m:sub>
                    </m:sSub>
                    <m:r>
                      <a:rPr lang="en-US" i="1">
                        <a:solidFill>
                          <a:srgbClr val="000000"/>
                        </a:solidFill>
                        <a:latin typeface="Cambria Math" panose="02040503050406030204" pitchFamily="18" charset="0"/>
                      </a:rPr>
                      <m:t>)</m:t>
                    </m:r>
                  </m:oMath>
                </a14:m>
                <a:r>
                  <a:rPr lang="en-US" dirty="0"/>
                  <a:t> plays the role of the alternative; then </a:t>
                </a:r>
                <a14:m>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a:solidFill>
                              <a:srgbClr val="000000"/>
                            </a:solidFill>
                            <a:latin typeface="Cambria Math" panose="02040503050406030204" pitchFamily="18" charset="0"/>
                          </a:rPr>
                          <m:t>log</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𝑂</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𝐿</m:t>
                        </m:r>
                      </m:sub>
                    </m:sSub>
                    <m:r>
                      <a:rPr lang="en-US" i="1">
                        <a:solidFill>
                          <a:srgbClr val="000000"/>
                        </a:solidFill>
                        <a:latin typeface="Cambria Math" panose="02040503050406030204" pitchFamily="18" charset="0"/>
                      </a:rPr>
                      <m:t>)</m:t>
                    </m:r>
                  </m:oMath>
                </a14:m>
                <a:r>
                  <a:rPr lang="en-US" dirty="0"/>
                  <a:t> is the null and </a:t>
                </a:r>
                <a14:m>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a:solidFill>
                              <a:srgbClr val="000000"/>
                            </a:solidFill>
                            <a:latin typeface="Cambria Math" panose="02040503050406030204" pitchFamily="18" charset="0"/>
                          </a:rPr>
                          <m:t>log</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𝑂</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𝑈</m:t>
                        </m:r>
                      </m:sub>
                    </m:sSub>
                    <m:r>
                      <a:rPr lang="en-US" i="1">
                        <a:solidFill>
                          <a:srgbClr val="000000"/>
                        </a:solidFill>
                        <a:latin typeface="Cambria Math" panose="02040503050406030204" pitchFamily="18" charset="0"/>
                      </a:rPr>
                      <m:t>)</m:t>
                    </m:r>
                  </m:oMath>
                </a14:m>
                <a:r>
                  <a:rPr lang="en-US" dirty="0"/>
                  <a:t> is the alternative. </a:t>
                </a:r>
              </a:p>
            </p:txBody>
          </p:sp>
        </mc:Choice>
        <mc:Fallback>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1704" t="-1752" b="-16442"/>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pPr>
              <a:defRPr/>
            </a:pPr>
            <a:fld id="{9EC2F25A-7C19-4DC2-ACB6-9E5283462E2A}" type="slidenum">
              <a:rPr lang="zh-CN" altLang="en-US" smtClean="0"/>
              <a:pPr>
                <a:defRPr/>
              </a:pPr>
              <a:t>20</a:t>
            </a:fld>
            <a:endParaRPr lang="en-US" altLang="zh-CN" dirty="0"/>
          </a:p>
        </p:txBody>
      </p:sp>
    </p:spTree>
    <p:extLst>
      <p:ext uri="{BB962C8B-B14F-4D97-AF65-F5344CB8AC3E}">
        <p14:creationId xmlns:p14="http://schemas.microsoft.com/office/powerpoint/2010/main" val="40447912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874838"/>
          </a:xfrm>
        </p:spPr>
        <p:txBody>
          <a:bodyPr/>
          <a:lstStyle/>
          <a:p>
            <a:r>
              <a:rPr lang="en-US" sz="3600" b="1" dirty="0"/>
              <a:t>Discriminatory power</a:t>
            </a:r>
            <a:endParaRPr lang="en-US" sz="3600" dirty="0"/>
          </a:p>
        </p:txBody>
      </p:sp>
      <p:sp>
        <p:nvSpPr>
          <p:cNvPr id="3" name="Content Placeholder 2"/>
          <p:cNvSpPr>
            <a:spLocks noGrp="1"/>
          </p:cNvSpPr>
          <p:nvPr>
            <p:ph idx="1"/>
          </p:nvPr>
        </p:nvSpPr>
        <p:spPr>
          <a:xfrm>
            <a:off x="152400" y="1066800"/>
            <a:ext cx="8229600" cy="5334000"/>
          </a:xfrm>
        </p:spPr>
        <p:txBody>
          <a:bodyPr/>
          <a:lstStyle/>
          <a:p>
            <a:r>
              <a:rPr lang="en-US" dirty="0"/>
              <a:t>Power to discriminate two parameter values.</a:t>
            </a:r>
          </a:p>
          <a:p>
            <a:r>
              <a:rPr lang="en-US" dirty="0"/>
              <a:t>Let                  and                be the two values that we want to discriminate, and let (</a:t>
            </a:r>
            <a:r>
              <a:rPr lang="en-US" i="1" dirty="0"/>
              <a:t>e</a:t>
            </a:r>
            <a:r>
              <a:rPr lang="en-US" dirty="0"/>
              <a:t>, </a:t>
            </a:r>
            <a:r>
              <a:rPr lang="en-US" i="1" dirty="0"/>
              <a:t>f</a:t>
            </a:r>
            <a:r>
              <a:rPr lang="en-US" dirty="0"/>
              <a:t>) be the 95% CI for </a:t>
            </a:r>
            <a:r>
              <a:rPr lang="en-US" i="1" dirty="0"/>
              <a:t>log(OR)</a:t>
            </a:r>
            <a:r>
              <a:rPr lang="en-US" dirty="0"/>
              <a:t>. Then, the power to discriminate               and                 is the </a:t>
            </a:r>
            <a:r>
              <a:rPr lang="en-US" b="1" dirty="0"/>
              <a:t>smaller</a:t>
            </a:r>
            <a:r>
              <a:rPr lang="en-US" dirty="0"/>
              <a:t> of  </a:t>
            </a:r>
          </a:p>
          <a:p>
            <a:pPr marL="0" indent="0">
              <a:buNone/>
            </a:pPr>
            <a:r>
              <a:rPr lang="en-US" dirty="0"/>
              <a:t>   and                                               .   </a:t>
            </a:r>
          </a:p>
          <a:p>
            <a:r>
              <a:rPr lang="en-US" dirty="0"/>
              <a:t>Since                                                </a:t>
            </a:r>
          </a:p>
          <a:p>
            <a:pPr marL="0" indent="0">
              <a:buNone/>
            </a:pPr>
            <a:r>
              <a:rPr lang="en-US" dirty="0"/>
              <a:t>                                                   , it has one side 	type I error rate of 2.5% for each direction.</a:t>
            </a:r>
          </a:p>
          <a:p>
            <a:pPr marL="0" indent="0">
              <a:buNone/>
            </a:pPr>
            <a:r>
              <a:rPr lang="en-US" sz="1400" dirty="0"/>
              <a:t>Greenland S. On Sample-Size and Power Calculations for Studies Using Confidence Intervals. AJE 1988; 128, 231-235.                           </a:t>
            </a:r>
            <a:endParaRPr lang="en-US" sz="1400" i="1" dirty="0"/>
          </a:p>
        </p:txBody>
      </p:sp>
      <p:sp>
        <p:nvSpPr>
          <p:cNvPr id="4" name="Slide Number Placeholder 3"/>
          <p:cNvSpPr>
            <a:spLocks noGrp="1"/>
          </p:cNvSpPr>
          <p:nvPr>
            <p:ph type="sldNum" sz="quarter" idx="12"/>
          </p:nvPr>
        </p:nvSpPr>
        <p:spPr/>
        <p:txBody>
          <a:bodyPr/>
          <a:lstStyle/>
          <a:p>
            <a:pPr>
              <a:defRPr/>
            </a:pPr>
            <a:fld id="{F198F7EC-1B42-4AC7-B340-E18A20251A83}" type="slidenum">
              <a:rPr lang="zh-CN" altLang="en-US" smtClean="0"/>
              <a:pPr>
                <a:defRPr/>
              </a:pPr>
              <a:t>21</a:t>
            </a:fld>
            <a:endParaRPr lang="en-US" altLang="zh-CN" dirty="0"/>
          </a:p>
        </p:txBody>
      </p:sp>
      <p:graphicFrame>
        <p:nvGraphicFramePr>
          <p:cNvPr id="6" name="Object 5"/>
          <p:cNvGraphicFramePr>
            <a:graphicFrameLocks noChangeAspect="1"/>
          </p:cNvGraphicFramePr>
          <p:nvPr>
            <p:extLst>
              <p:ext uri="{D42A27DB-BD31-4B8C-83A1-F6EECF244321}">
                <p14:modId xmlns:p14="http://schemas.microsoft.com/office/powerpoint/2010/main" val="3292076027"/>
              </p:ext>
            </p:extLst>
          </p:nvPr>
        </p:nvGraphicFramePr>
        <p:xfrm>
          <a:off x="1125883" y="1639368"/>
          <a:ext cx="1524000" cy="610306"/>
        </p:xfrm>
        <a:graphic>
          <a:graphicData uri="http://schemas.openxmlformats.org/presentationml/2006/ole">
            <mc:AlternateContent xmlns:mc="http://schemas.openxmlformats.org/markup-compatibility/2006">
              <mc:Choice xmlns:v="urn:schemas-microsoft-com:vml" Requires="v">
                <p:oleObj name="Equation" r:id="rId2" imgW="698500" imgH="279400" progId="Equation.3">
                  <p:embed/>
                </p:oleObj>
              </mc:Choice>
              <mc:Fallback>
                <p:oleObj name="Equation" r:id="rId2" imgW="698500" imgH="279400" progId="Equation.3">
                  <p:embed/>
                  <p:pic>
                    <p:nvPicPr>
                      <p:cNvPr id="0" name=""/>
                      <p:cNvPicPr/>
                      <p:nvPr/>
                    </p:nvPicPr>
                    <p:blipFill>
                      <a:blip r:embed="rId3"/>
                      <a:stretch>
                        <a:fillRect/>
                      </a:stretch>
                    </p:blipFill>
                    <p:spPr>
                      <a:xfrm>
                        <a:off x="1125883" y="1639368"/>
                        <a:ext cx="1524000" cy="610306"/>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348268416"/>
              </p:ext>
            </p:extLst>
          </p:nvPr>
        </p:nvGraphicFramePr>
        <p:xfrm>
          <a:off x="3421199" y="1700912"/>
          <a:ext cx="1371600" cy="539564"/>
        </p:xfrm>
        <a:graphic>
          <a:graphicData uri="http://schemas.openxmlformats.org/presentationml/2006/ole">
            <mc:AlternateContent xmlns:mc="http://schemas.openxmlformats.org/markup-compatibility/2006">
              <mc:Choice xmlns:v="urn:schemas-microsoft-com:vml" Requires="v">
                <p:oleObj name="Equation" r:id="rId4" imgW="711200" imgH="279400" progId="Equation.3">
                  <p:embed/>
                </p:oleObj>
              </mc:Choice>
              <mc:Fallback>
                <p:oleObj name="Equation" r:id="rId4" imgW="711200" imgH="279400" progId="Equation.3">
                  <p:embed/>
                  <p:pic>
                    <p:nvPicPr>
                      <p:cNvPr id="0" name=""/>
                      <p:cNvPicPr/>
                      <p:nvPr/>
                    </p:nvPicPr>
                    <p:blipFill>
                      <a:blip r:embed="rId5"/>
                      <a:stretch>
                        <a:fillRect/>
                      </a:stretch>
                    </p:blipFill>
                    <p:spPr>
                      <a:xfrm>
                        <a:off x="3421199" y="1700912"/>
                        <a:ext cx="1371600" cy="539564"/>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759918401"/>
              </p:ext>
            </p:extLst>
          </p:nvPr>
        </p:nvGraphicFramePr>
        <p:xfrm>
          <a:off x="2600578" y="3192974"/>
          <a:ext cx="1371600" cy="548934"/>
        </p:xfrm>
        <a:graphic>
          <a:graphicData uri="http://schemas.openxmlformats.org/presentationml/2006/ole">
            <mc:AlternateContent xmlns:mc="http://schemas.openxmlformats.org/markup-compatibility/2006">
              <mc:Choice xmlns:v="urn:schemas-microsoft-com:vml" Requires="v">
                <p:oleObj name="Equation" r:id="rId6" imgW="698500" imgH="279400" progId="Equation.3">
                  <p:embed/>
                </p:oleObj>
              </mc:Choice>
              <mc:Fallback>
                <p:oleObj name="Equation" r:id="rId6" imgW="698500" imgH="279400" progId="Equation.3">
                  <p:embed/>
                  <p:pic>
                    <p:nvPicPr>
                      <p:cNvPr id="0" name=""/>
                      <p:cNvPicPr/>
                      <p:nvPr/>
                    </p:nvPicPr>
                    <p:blipFill>
                      <a:blip r:embed="rId7"/>
                      <a:stretch>
                        <a:fillRect/>
                      </a:stretch>
                    </p:blipFill>
                    <p:spPr>
                      <a:xfrm>
                        <a:off x="2600578" y="3192974"/>
                        <a:ext cx="1371600" cy="548934"/>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9" name="Object 8"/>
              <p:cNvSpPr txBox="1"/>
              <p:nvPr/>
            </p:nvSpPr>
            <p:spPr>
              <a:xfrm>
                <a:off x="4627376" y="3208220"/>
                <a:ext cx="1371600" cy="465278"/>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log</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𝑂</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𝑈</m:t>
                          </m:r>
                        </m:sub>
                      </m:sSub>
                      <m:r>
                        <a:rPr lang="en-US" i="1">
                          <a:solidFill>
                            <a:srgbClr val="000000"/>
                          </a:solidFill>
                          <a:latin typeface="Cambria Math" panose="02040503050406030204" pitchFamily="18" charset="0"/>
                        </a:rPr>
                        <m:t>)</m:t>
                      </m:r>
                    </m:oMath>
                  </m:oMathPara>
                </a14:m>
                <a:endParaRPr lang="en-US"/>
              </a:p>
            </p:txBody>
          </p:sp>
        </mc:Choice>
        <mc:Fallback xmlns="">
          <p:sp>
            <p:nvSpPr>
              <p:cNvPr id="9" name="Object 8"/>
              <p:cNvSpPr txBox="1">
                <a:spLocks noRot="1" noChangeAspect="1" noMove="1" noResize="1" noEditPoints="1" noAdjustHandles="1" noChangeArrowheads="1" noChangeShapeType="1" noTextEdit="1"/>
              </p:cNvSpPr>
              <p:nvPr/>
            </p:nvSpPr>
            <p:spPr>
              <a:xfrm>
                <a:off x="4627376" y="3208220"/>
                <a:ext cx="1371600" cy="465278"/>
              </a:xfrm>
              <a:prstGeom prst="rect">
                <a:avLst/>
              </a:prstGeom>
              <a:blipFill>
                <a:blip r:embed="rId8"/>
                <a:stretch>
                  <a:fillRect l="-1333"/>
                </a:stretch>
              </a:blipFill>
            </p:spPr>
            <p:txBody>
              <a:bodyPr/>
              <a:lstStyle/>
              <a:p>
                <a:r>
                  <a:rPr lang="en-US">
                    <a:noFill/>
                  </a:rPr>
                  <a:t> </a:t>
                </a:r>
              </a:p>
            </p:txBody>
          </p:sp>
        </mc:Fallback>
      </mc:AlternateContent>
      <p:graphicFrame>
        <p:nvGraphicFramePr>
          <p:cNvPr id="15" name="Object 14"/>
          <p:cNvGraphicFramePr>
            <a:graphicFrameLocks noChangeAspect="1"/>
          </p:cNvGraphicFramePr>
          <p:nvPr>
            <p:extLst>
              <p:ext uri="{D42A27DB-BD31-4B8C-83A1-F6EECF244321}">
                <p14:modId xmlns:p14="http://schemas.microsoft.com/office/powerpoint/2010/main" val="1486909623"/>
              </p:ext>
            </p:extLst>
          </p:nvPr>
        </p:nvGraphicFramePr>
        <p:xfrm>
          <a:off x="1190084" y="4207447"/>
          <a:ext cx="4192588" cy="565150"/>
        </p:xfrm>
        <a:graphic>
          <a:graphicData uri="http://schemas.openxmlformats.org/presentationml/2006/ole">
            <mc:AlternateContent xmlns:mc="http://schemas.openxmlformats.org/markup-compatibility/2006">
              <mc:Choice xmlns:v="urn:schemas-microsoft-com:vml" Requires="v">
                <p:oleObj name="Equation" r:id="rId9" imgW="2070100" imgH="279400" progId="Equation.3">
                  <p:embed/>
                </p:oleObj>
              </mc:Choice>
              <mc:Fallback>
                <p:oleObj name="Equation" r:id="rId9" imgW="2070100" imgH="279400" progId="Equation.3">
                  <p:embed/>
                  <p:pic>
                    <p:nvPicPr>
                      <p:cNvPr id="0" name=""/>
                      <p:cNvPicPr/>
                      <p:nvPr/>
                    </p:nvPicPr>
                    <p:blipFill>
                      <a:blip r:embed="rId10"/>
                      <a:stretch>
                        <a:fillRect/>
                      </a:stretch>
                    </p:blipFill>
                    <p:spPr>
                      <a:xfrm>
                        <a:off x="1190084" y="4207447"/>
                        <a:ext cx="4192588" cy="56515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216935590"/>
              </p:ext>
            </p:extLst>
          </p:nvPr>
        </p:nvGraphicFramePr>
        <p:xfrm>
          <a:off x="2284844" y="3614094"/>
          <a:ext cx="3800110" cy="609601"/>
        </p:xfrm>
        <a:graphic>
          <a:graphicData uri="http://schemas.openxmlformats.org/presentationml/2006/ole">
            <mc:AlternateContent xmlns:mc="http://schemas.openxmlformats.org/markup-compatibility/2006">
              <mc:Choice xmlns:v="urn:schemas-microsoft-com:vml" Requires="v">
                <p:oleObj name="Equation" r:id="rId11" imgW="2032000" imgH="279400" progId="Equation.3">
                  <p:embed/>
                </p:oleObj>
              </mc:Choice>
              <mc:Fallback>
                <p:oleObj name="Equation" r:id="rId11" imgW="2032000" imgH="279400" progId="Equation.3">
                  <p:embed/>
                  <p:pic>
                    <p:nvPicPr>
                      <p:cNvPr id="0" name=""/>
                      <p:cNvPicPr/>
                      <p:nvPr/>
                    </p:nvPicPr>
                    <p:blipFill>
                      <a:blip r:embed="rId12"/>
                      <a:stretch>
                        <a:fillRect/>
                      </a:stretch>
                    </p:blipFill>
                    <p:spPr>
                      <a:xfrm>
                        <a:off x="2284844" y="3614094"/>
                        <a:ext cx="3800110" cy="609601"/>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835197971"/>
              </p:ext>
            </p:extLst>
          </p:nvPr>
        </p:nvGraphicFramePr>
        <p:xfrm>
          <a:off x="1524000" y="4917155"/>
          <a:ext cx="4197932" cy="457200"/>
        </p:xfrm>
        <a:graphic>
          <a:graphicData uri="http://schemas.openxmlformats.org/presentationml/2006/ole">
            <mc:AlternateContent xmlns:mc="http://schemas.openxmlformats.org/markup-compatibility/2006">
              <mc:Choice xmlns:v="urn:schemas-microsoft-com:vml" Requires="v">
                <p:oleObj name="Equation" r:id="rId13" imgW="2565400" imgH="279400" progId="Equation.3">
                  <p:embed/>
                </p:oleObj>
              </mc:Choice>
              <mc:Fallback>
                <p:oleObj name="Equation" r:id="rId13" imgW="2565400" imgH="279400" progId="Equation.3">
                  <p:embed/>
                  <p:pic>
                    <p:nvPicPr>
                      <p:cNvPr id="0" name=""/>
                      <p:cNvPicPr/>
                      <p:nvPr/>
                    </p:nvPicPr>
                    <p:blipFill>
                      <a:blip r:embed="rId14"/>
                      <a:stretch>
                        <a:fillRect/>
                      </a:stretch>
                    </p:blipFill>
                    <p:spPr>
                      <a:xfrm>
                        <a:off x="1524000" y="4917155"/>
                        <a:ext cx="4197932" cy="457200"/>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2644473825"/>
              </p:ext>
            </p:extLst>
          </p:nvPr>
        </p:nvGraphicFramePr>
        <p:xfrm>
          <a:off x="609600" y="5410200"/>
          <a:ext cx="4322615" cy="457200"/>
        </p:xfrm>
        <a:graphic>
          <a:graphicData uri="http://schemas.openxmlformats.org/presentationml/2006/ole">
            <mc:AlternateContent xmlns:mc="http://schemas.openxmlformats.org/markup-compatibility/2006">
              <mc:Choice xmlns:v="urn:schemas-microsoft-com:vml" Requires="v">
                <p:oleObj name="Equation" r:id="rId15" imgW="2641600" imgH="279400" progId="Equation.3">
                  <p:embed/>
                </p:oleObj>
              </mc:Choice>
              <mc:Fallback>
                <p:oleObj name="Equation" r:id="rId15" imgW="2641600" imgH="279400" progId="Equation.3">
                  <p:embed/>
                  <p:pic>
                    <p:nvPicPr>
                      <p:cNvPr id="0" name=""/>
                      <p:cNvPicPr/>
                      <p:nvPr/>
                    </p:nvPicPr>
                    <p:blipFill>
                      <a:blip r:embed="rId16"/>
                      <a:stretch>
                        <a:fillRect/>
                      </a:stretch>
                    </p:blipFill>
                    <p:spPr>
                      <a:xfrm>
                        <a:off x="609600" y="5410200"/>
                        <a:ext cx="4322615" cy="457200"/>
                      </a:xfrm>
                      <a:prstGeom prst="rect">
                        <a:avLst/>
                      </a:prstGeom>
                    </p:spPr>
                  </p:pic>
                </p:oleObj>
              </mc:Fallback>
            </mc:AlternateContent>
          </a:graphicData>
        </a:graphic>
      </p:graphicFrame>
    </p:spTree>
    <p:extLst>
      <p:ext uri="{BB962C8B-B14F-4D97-AF65-F5344CB8AC3E}">
        <p14:creationId xmlns:p14="http://schemas.microsoft.com/office/powerpoint/2010/main" val="287505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341438"/>
          </a:xfrm>
        </p:spPr>
        <p:txBody>
          <a:bodyPr/>
          <a:lstStyle/>
          <a:p>
            <a:r>
              <a:rPr lang="en-US" b="1" dirty="0"/>
              <a:t>Discriminatory power</a:t>
            </a:r>
            <a:endParaRPr lang="en-US" dirty="0"/>
          </a:p>
        </p:txBody>
      </p:sp>
      <p:sp>
        <p:nvSpPr>
          <p:cNvPr id="3" name="Content Placeholder 2"/>
          <p:cNvSpPr>
            <a:spLocks noGrp="1"/>
          </p:cNvSpPr>
          <p:nvPr>
            <p:ph idx="1"/>
          </p:nvPr>
        </p:nvSpPr>
        <p:spPr/>
        <p:txBody>
          <a:bodyPr/>
          <a:lstStyle/>
          <a:p>
            <a:r>
              <a:rPr lang="en-US" dirty="0"/>
              <a:t>             (e                         f)  ----standard</a:t>
            </a:r>
          </a:p>
          <a:p>
            <a:pPr marL="0" indent="0">
              <a:buNone/>
            </a:pPr>
            <a:r>
              <a:rPr lang="en-US" dirty="0"/>
              <a:t>         (e                   f)                ----additional</a:t>
            </a:r>
          </a:p>
          <a:p>
            <a:pPr marL="0" indent="0">
              <a:buNone/>
            </a:pPr>
            <a:r>
              <a:rPr lang="en-US" dirty="0"/>
              <a:t>  </a:t>
            </a:r>
          </a:p>
          <a:p>
            <a:r>
              <a:rPr lang="en-US" dirty="0"/>
              <a:t>A sample size may be considered adequate for discriminating between two parameter values (one of which is correct), if it is large enough so that there is a good chance that the observed CI excludes the incorrect value.</a:t>
            </a:r>
          </a:p>
        </p:txBody>
      </p:sp>
      <p:sp>
        <p:nvSpPr>
          <p:cNvPr id="4" name="Slide Number Placeholder 3"/>
          <p:cNvSpPr>
            <a:spLocks noGrp="1"/>
          </p:cNvSpPr>
          <p:nvPr>
            <p:ph type="sldNum" sz="quarter" idx="12"/>
          </p:nvPr>
        </p:nvSpPr>
        <p:spPr/>
        <p:txBody>
          <a:bodyPr/>
          <a:lstStyle/>
          <a:p>
            <a:pPr>
              <a:defRPr/>
            </a:pPr>
            <a:fld id="{F198F7EC-1B42-4AC7-B340-E18A20251A83}" type="slidenum">
              <a:rPr lang="zh-CN" altLang="en-US" smtClean="0"/>
              <a:pPr>
                <a:defRPr/>
              </a:pPr>
              <a:t>22</a:t>
            </a:fld>
            <a:endParaRPr lang="en-US" altLang="zh-CN"/>
          </a:p>
        </p:txBody>
      </p:sp>
      <p:graphicFrame>
        <p:nvGraphicFramePr>
          <p:cNvPr id="5" name="Object 4"/>
          <p:cNvGraphicFramePr>
            <a:graphicFrameLocks noChangeAspect="1"/>
          </p:cNvGraphicFramePr>
          <p:nvPr>
            <p:extLst>
              <p:ext uri="{D42A27DB-BD31-4B8C-83A1-F6EECF244321}">
                <p14:modId xmlns:p14="http://schemas.microsoft.com/office/powerpoint/2010/main" val="803319365"/>
              </p:ext>
            </p:extLst>
          </p:nvPr>
        </p:nvGraphicFramePr>
        <p:xfrm>
          <a:off x="1905000" y="2209800"/>
          <a:ext cx="1371600" cy="548934"/>
        </p:xfrm>
        <a:graphic>
          <a:graphicData uri="http://schemas.openxmlformats.org/presentationml/2006/ole">
            <mc:AlternateContent xmlns:mc="http://schemas.openxmlformats.org/markup-compatibility/2006">
              <mc:Choice xmlns:v="urn:schemas-microsoft-com:vml" Requires="v">
                <p:oleObj name="Equation" r:id="rId2" imgW="698500" imgH="279400" progId="Equation.3">
                  <p:embed/>
                </p:oleObj>
              </mc:Choice>
              <mc:Fallback>
                <p:oleObj name="Equation" r:id="rId2" imgW="698500" imgH="279400" progId="Equation.3">
                  <p:embed/>
                  <p:pic>
                    <p:nvPicPr>
                      <p:cNvPr id="0" name=""/>
                      <p:cNvPicPr/>
                      <p:nvPr/>
                    </p:nvPicPr>
                    <p:blipFill>
                      <a:blip r:embed="rId3"/>
                      <a:stretch>
                        <a:fillRect/>
                      </a:stretch>
                    </p:blipFill>
                    <p:spPr>
                      <a:xfrm>
                        <a:off x="1905000" y="2209800"/>
                        <a:ext cx="1371600" cy="548934"/>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822999868"/>
              </p:ext>
            </p:extLst>
          </p:nvPr>
        </p:nvGraphicFramePr>
        <p:xfrm>
          <a:off x="3810000" y="2209800"/>
          <a:ext cx="1371600" cy="539564"/>
        </p:xfrm>
        <a:graphic>
          <a:graphicData uri="http://schemas.openxmlformats.org/presentationml/2006/ole">
            <mc:AlternateContent xmlns:mc="http://schemas.openxmlformats.org/markup-compatibility/2006">
              <mc:Choice xmlns:v="urn:schemas-microsoft-com:vml" Requires="v">
                <p:oleObj name="Equation" r:id="rId4" imgW="711200" imgH="279400" progId="Equation.3">
                  <p:embed/>
                </p:oleObj>
              </mc:Choice>
              <mc:Fallback>
                <p:oleObj name="Equation" r:id="rId4" imgW="711200" imgH="279400" progId="Equation.3">
                  <p:embed/>
                  <p:pic>
                    <p:nvPicPr>
                      <p:cNvPr id="0" name=""/>
                      <p:cNvPicPr/>
                      <p:nvPr/>
                    </p:nvPicPr>
                    <p:blipFill>
                      <a:blip r:embed="rId5"/>
                      <a:stretch>
                        <a:fillRect/>
                      </a:stretch>
                    </p:blipFill>
                    <p:spPr>
                      <a:xfrm>
                        <a:off x="3810000" y="2209800"/>
                        <a:ext cx="1371600" cy="539564"/>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267440644"/>
              </p:ext>
            </p:extLst>
          </p:nvPr>
        </p:nvGraphicFramePr>
        <p:xfrm>
          <a:off x="685800" y="1676400"/>
          <a:ext cx="1371600" cy="548934"/>
        </p:xfrm>
        <a:graphic>
          <a:graphicData uri="http://schemas.openxmlformats.org/presentationml/2006/ole">
            <mc:AlternateContent xmlns:mc="http://schemas.openxmlformats.org/markup-compatibility/2006">
              <mc:Choice xmlns:v="urn:schemas-microsoft-com:vml" Requires="v">
                <p:oleObj name="Equation" r:id="rId6" imgW="698500" imgH="279400" progId="Equation.3">
                  <p:embed/>
                </p:oleObj>
              </mc:Choice>
              <mc:Fallback>
                <p:oleObj name="Equation" r:id="rId6" imgW="698500" imgH="279400" progId="Equation.3">
                  <p:embed/>
                  <p:pic>
                    <p:nvPicPr>
                      <p:cNvPr id="0" name=""/>
                      <p:cNvPicPr/>
                      <p:nvPr/>
                    </p:nvPicPr>
                    <p:blipFill>
                      <a:blip r:embed="rId7"/>
                      <a:stretch>
                        <a:fillRect/>
                      </a:stretch>
                    </p:blipFill>
                    <p:spPr>
                      <a:xfrm>
                        <a:off x="685800" y="1676400"/>
                        <a:ext cx="1371600" cy="548934"/>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2615055418"/>
              </p:ext>
            </p:extLst>
          </p:nvPr>
        </p:nvGraphicFramePr>
        <p:xfrm>
          <a:off x="2971800" y="1676400"/>
          <a:ext cx="1371600" cy="539564"/>
        </p:xfrm>
        <a:graphic>
          <a:graphicData uri="http://schemas.openxmlformats.org/presentationml/2006/ole">
            <mc:AlternateContent xmlns:mc="http://schemas.openxmlformats.org/markup-compatibility/2006">
              <mc:Choice xmlns:v="urn:schemas-microsoft-com:vml" Requires="v">
                <p:oleObj name="Equation" r:id="rId8" imgW="711200" imgH="279400" progId="Equation.3">
                  <p:embed/>
                </p:oleObj>
              </mc:Choice>
              <mc:Fallback>
                <p:oleObj name="Equation" r:id="rId8" imgW="711200" imgH="279400" progId="Equation.3">
                  <p:embed/>
                  <p:pic>
                    <p:nvPicPr>
                      <p:cNvPr id="0" name=""/>
                      <p:cNvPicPr/>
                      <p:nvPr/>
                    </p:nvPicPr>
                    <p:blipFill>
                      <a:blip r:embed="rId5"/>
                      <a:stretch>
                        <a:fillRect/>
                      </a:stretch>
                    </p:blipFill>
                    <p:spPr>
                      <a:xfrm>
                        <a:off x="2971800" y="1676400"/>
                        <a:ext cx="1371600" cy="539564"/>
                      </a:xfrm>
                      <a:prstGeom prst="rect">
                        <a:avLst/>
                      </a:prstGeom>
                    </p:spPr>
                  </p:pic>
                </p:oleObj>
              </mc:Fallback>
            </mc:AlternateContent>
          </a:graphicData>
        </a:graphic>
      </p:graphicFrame>
    </p:spTree>
    <p:extLst>
      <p:ext uri="{BB962C8B-B14F-4D97-AF65-F5344CB8AC3E}">
        <p14:creationId xmlns:p14="http://schemas.microsoft.com/office/powerpoint/2010/main" val="675952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b="1" dirty="0">
                <a:latin typeface="Times New Roman" pitchFamily="18" charset="0"/>
                <a:cs typeface="Times New Roman" pitchFamily="18" charset="0"/>
              </a:rPr>
              <a:t>Spiegelman and Gray (1991)</a:t>
            </a:r>
            <a:br>
              <a:rPr lang="en-US" b="1" dirty="0">
                <a:latin typeface="Times New Roman" pitchFamily="18" charset="0"/>
                <a:cs typeface="Times New Roman" pitchFamily="18" charset="0"/>
              </a:rPr>
            </a:br>
            <a:endParaRPr lang="en-US" dirty="0"/>
          </a:p>
        </p:txBody>
      </p:sp>
      <p:sp>
        <p:nvSpPr>
          <p:cNvPr id="2" name="Slide Number Placeholder 1"/>
          <p:cNvSpPr>
            <a:spLocks noGrp="1"/>
          </p:cNvSpPr>
          <p:nvPr>
            <p:ph type="sldNum" sz="quarter" idx="12"/>
          </p:nvPr>
        </p:nvSpPr>
        <p:spPr/>
        <p:txBody>
          <a:bodyPr/>
          <a:lstStyle/>
          <a:p>
            <a:pPr>
              <a:defRPr/>
            </a:pPr>
            <a:fld id="{9EC2F25A-7C19-4DC2-ACB6-9E5283462E2A}" type="slidenum">
              <a:rPr lang="zh-CN" altLang="en-US" smtClean="0"/>
              <a:pPr>
                <a:defRPr/>
              </a:pPr>
              <a:t>23</a:t>
            </a:fld>
            <a:endParaRPr lang="en-US" altLang="zh-CN"/>
          </a:p>
        </p:txBody>
      </p:sp>
      <p:sp>
        <p:nvSpPr>
          <p:cNvPr id="6" name="Content Placeholder 5"/>
          <p:cNvSpPr>
            <a:spLocks noGrp="1"/>
          </p:cNvSpPr>
          <p:nvPr>
            <p:ph idx="1"/>
          </p:nvPr>
        </p:nvSpPr>
        <p:spPr/>
        <p:txBody>
          <a:bodyPr/>
          <a:lstStyle/>
          <a:p>
            <a:r>
              <a:rPr lang="en-US" dirty="0"/>
              <a:t>It assumes measurement error model:</a:t>
            </a:r>
          </a:p>
          <a:p>
            <a:endParaRPr lang="en-US" dirty="0"/>
          </a:p>
          <a:p>
            <a:endParaRPr lang="en-US" dirty="0"/>
          </a:p>
          <a:p>
            <a:r>
              <a:rPr lang="en-US" dirty="0"/>
              <a:t>Recall that if                               , classical measurement error                                     </a:t>
            </a:r>
          </a:p>
          <a:p>
            <a:pPr marL="0" indent="0">
              <a:buNone/>
            </a:pPr>
            <a:r>
              <a:rPr lang="en-US" dirty="0"/>
              <a:t>    can be written as                                                 with     </a:t>
            </a:r>
          </a:p>
          <a:p>
            <a:pPr marL="0" indent="0">
              <a:buNone/>
            </a:pPr>
            <a:r>
              <a:rPr lang="en-US" dirty="0"/>
              <a:t>    </a:t>
            </a:r>
          </a:p>
          <a:p>
            <a:pPr marL="0" indent="0">
              <a:buNone/>
            </a:pPr>
            <a:endParaRPr lang="en-US" dirty="0"/>
          </a:p>
        </p:txBody>
      </p:sp>
      <mc:AlternateContent xmlns:mc="http://schemas.openxmlformats.org/markup-compatibility/2006" xmlns:a14="http://schemas.microsoft.com/office/drawing/2010/main">
        <mc:Choice Requires="a14">
          <p:sp>
            <p:nvSpPr>
              <p:cNvPr id="7" name="Object 6"/>
              <p:cNvSpPr txBox="1"/>
              <p:nvPr/>
            </p:nvSpPr>
            <p:spPr bwMode="auto">
              <a:xfrm>
                <a:off x="1447800" y="2209800"/>
                <a:ext cx="4032250" cy="66675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𝑍</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𝑁</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𝛼</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𝛾</m:t>
                      </m:r>
                      <m:r>
                        <a:rPr lang="en-US" i="1">
                          <a:solidFill>
                            <a:srgbClr val="000000"/>
                          </a:solidFill>
                          <a:latin typeface="Cambria Math" panose="02040503050406030204" pitchFamily="18" charset="0"/>
                        </a:rPr>
                        <m:t>𝑍</m:t>
                      </m:r>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𝜎</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oMath>
                  </m:oMathPara>
                </a14:m>
                <a:endParaRPr lang="en-US"/>
              </a:p>
            </p:txBody>
          </p:sp>
        </mc:Choice>
        <mc:Fallback xmlns="">
          <p:sp>
            <p:nvSpPr>
              <p:cNvPr id="7" name="Object 6"/>
              <p:cNvSpPr txBox="1">
                <a:spLocks noRot="1" noChangeAspect="1" noMove="1" noResize="1" noEditPoints="1" noAdjustHandles="1" noChangeArrowheads="1" noChangeShapeType="1" noTextEdit="1"/>
              </p:cNvSpPr>
              <p:nvPr/>
            </p:nvSpPr>
            <p:spPr bwMode="auto">
              <a:xfrm>
                <a:off x="1447800" y="2209800"/>
                <a:ext cx="4032250" cy="666750"/>
              </a:xfrm>
              <a:prstGeom prst="rect">
                <a:avLst/>
              </a:prstGeom>
              <a:blipFill>
                <a:blip r:embed="rId2"/>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bject 7"/>
              <p:cNvSpPr txBox="1"/>
              <p:nvPr/>
            </p:nvSpPr>
            <p:spPr>
              <a:xfrm>
                <a:off x="612775" y="5486400"/>
                <a:ext cx="7412038" cy="6858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𝛼</m:t>
                      </m:r>
                      <m:r>
                        <a:rPr lang="en-US" i="1">
                          <a:solidFill>
                            <a:srgbClr val="000000"/>
                          </a:solidFill>
                          <a:latin typeface="Cambria Math" panose="02040503050406030204" pitchFamily="18" charset="0"/>
                        </a:rPr>
                        <m:t>=(1−</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𝜌</m:t>
                          </m:r>
                        </m:e>
                        <m:sub>
                          <m:r>
                            <a:rPr lang="en-US" i="1">
                              <a:solidFill>
                                <a:srgbClr val="000000"/>
                              </a:solidFill>
                              <a:latin typeface="Cambria Math" panose="02040503050406030204" pitchFamily="18" charset="0"/>
                            </a:rPr>
                            <m:t>𝐼</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𝜇</m:t>
                          </m:r>
                        </m:e>
                        <m:sub>
                          <m:r>
                            <a:rPr lang="en-US" i="1">
                              <a:solidFill>
                                <a:srgbClr val="000000"/>
                              </a:solidFill>
                              <a:latin typeface="Cambria Math" panose="02040503050406030204" pitchFamily="18" charset="0"/>
                            </a:rPr>
                            <m:t>𝑥</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𝛾</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𝜌</m:t>
                          </m:r>
                        </m:e>
                        <m:sub>
                          <m:r>
                            <a:rPr lang="en-US" i="1">
                              <a:solidFill>
                                <a:srgbClr val="000000"/>
                              </a:solidFill>
                              <a:latin typeface="Cambria Math" panose="02040503050406030204" pitchFamily="18" charset="0"/>
                            </a:rPr>
                            <m:t>𝐼</m:t>
                          </m:r>
                        </m:sub>
                      </m:sSub>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𝜎</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=(1−</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𝜌</m:t>
                          </m:r>
                        </m:e>
                        <m:sub>
                          <m:r>
                            <a:rPr lang="en-US" i="1">
                              <a:solidFill>
                                <a:srgbClr val="000000"/>
                              </a:solidFill>
                              <a:latin typeface="Cambria Math" panose="02040503050406030204" pitchFamily="18" charset="0"/>
                            </a:rPr>
                            <m:t>𝐼</m:t>
                          </m:r>
                        </m:sub>
                      </m:sSub>
                      <m:r>
                        <a:rPr lang="en-US" i="1">
                          <a:solidFill>
                            <a:srgbClr val="000000"/>
                          </a:solidFill>
                          <a:latin typeface="Cambria Math" panose="02040503050406030204" pitchFamily="18" charset="0"/>
                        </a:rPr>
                        <m:t>)</m:t>
                      </m:r>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𝑥</m:t>
                          </m:r>
                        </m:sub>
                        <m:sup>
                          <m:r>
                            <a:rPr lang="en-US" i="1">
                              <a:solidFill>
                                <a:srgbClr val="000000"/>
                              </a:solidFill>
                              <a:latin typeface="Cambria Math" panose="02040503050406030204" pitchFamily="18" charset="0"/>
                            </a:rPr>
                            <m:t>2</m:t>
                          </m:r>
                        </m:sup>
                      </m:sSubSup>
                      <m:r>
                        <a:rPr lang="en-US" i="1">
                          <a:solidFill>
                            <a:srgbClr val="000000"/>
                          </a:solidFill>
                          <a:latin typeface="Cambria Math" panose="02040503050406030204" pitchFamily="18" charset="0"/>
                        </a:rPr>
                        <m:t>.</m:t>
                      </m:r>
                    </m:oMath>
                  </m:oMathPara>
                </a14:m>
                <a:endParaRPr lang="en-US"/>
              </a:p>
            </p:txBody>
          </p:sp>
        </mc:Choice>
        <mc:Fallback xmlns="">
          <p:sp>
            <p:nvSpPr>
              <p:cNvPr id="8" name="Object 7"/>
              <p:cNvSpPr txBox="1">
                <a:spLocks noRot="1" noChangeAspect="1" noMove="1" noResize="1" noEditPoints="1" noAdjustHandles="1" noChangeArrowheads="1" noChangeShapeType="1" noTextEdit="1"/>
              </p:cNvSpPr>
              <p:nvPr/>
            </p:nvSpPr>
            <p:spPr>
              <a:xfrm>
                <a:off x="612775" y="5486400"/>
                <a:ext cx="7412038" cy="6858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8"/>
              <p:cNvSpPr txBox="1"/>
              <p:nvPr/>
            </p:nvSpPr>
            <p:spPr bwMode="auto">
              <a:xfrm>
                <a:off x="2895600" y="3276600"/>
                <a:ext cx="2825750" cy="66675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𝑁</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𝜇</m:t>
                          </m:r>
                        </m:e>
                        <m:sub>
                          <m:r>
                            <a:rPr lang="en-US" i="1">
                              <a:solidFill>
                                <a:srgbClr val="000000"/>
                              </a:solidFill>
                              <a:latin typeface="Cambria Math" panose="02040503050406030204" pitchFamily="18" charset="0"/>
                            </a:rPr>
                            <m:t>𝑥</m:t>
                          </m:r>
                        </m:sub>
                      </m:sSub>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𝑥</m:t>
                              </m:r>
                            </m:sub>
                            <m:sup>
                              <m:r>
                                <a:rPr lang="en-US" i="1">
                                  <a:solidFill>
                                    <a:srgbClr val="000000"/>
                                  </a:solidFill>
                                  <a:latin typeface="Cambria Math" panose="02040503050406030204" pitchFamily="18" charset="0"/>
                                </a:rPr>
                                <m:t>2</m:t>
                              </m:r>
                            </m:sup>
                          </m:sSubSup>
                        </m:e>
                        <m:sup/>
                      </m:sSup>
                      <m:r>
                        <a:rPr lang="en-US" i="1">
                          <a:solidFill>
                            <a:srgbClr val="000000"/>
                          </a:solidFill>
                          <a:latin typeface="Cambria Math" panose="02040503050406030204" pitchFamily="18" charset="0"/>
                        </a:rPr>
                        <m:t>)</m:t>
                      </m:r>
                    </m:oMath>
                  </m:oMathPara>
                </a14:m>
                <a:endParaRPr lang="en-US"/>
              </a:p>
            </p:txBody>
          </p:sp>
        </mc:Choice>
        <mc:Fallback xmlns="">
          <p:sp>
            <p:nvSpPr>
              <p:cNvPr id="9" name="Object 8"/>
              <p:cNvSpPr txBox="1">
                <a:spLocks noRot="1" noChangeAspect="1" noMove="1" noResize="1" noEditPoints="1" noAdjustHandles="1" noChangeArrowheads="1" noChangeShapeType="1" noTextEdit="1"/>
              </p:cNvSpPr>
              <p:nvPr/>
            </p:nvSpPr>
            <p:spPr bwMode="auto">
              <a:xfrm>
                <a:off x="2895600" y="3276600"/>
                <a:ext cx="2825750" cy="666750"/>
              </a:xfrm>
              <a:prstGeom prst="rect">
                <a:avLst/>
              </a:prstGeom>
              <a:blipFill>
                <a:blip r:embed="rId4"/>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bject 9"/>
              <p:cNvSpPr txBox="1"/>
              <p:nvPr/>
            </p:nvSpPr>
            <p:spPr>
              <a:xfrm>
                <a:off x="4267200" y="3886200"/>
                <a:ext cx="3403600" cy="5334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𝑍</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𝜀</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𝜀</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𝑁</m:t>
                      </m:r>
                      <m:r>
                        <a:rPr lang="en-US" i="1">
                          <a:solidFill>
                            <a:srgbClr val="000000"/>
                          </a:solidFill>
                          <a:latin typeface="Cambria Math" panose="02040503050406030204" pitchFamily="18" charset="0"/>
                        </a:rPr>
                        <m:t>(0,</m:t>
                      </m:r>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𝜀</m:t>
                          </m:r>
                        </m:sub>
                        <m:sup>
                          <m:r>
                            <a:rPr lang="en-US" i="1">
                              <a:solidFill>
                                <a:srgbClr val="000000"/>
                              </a:solidFill>
                              <a:latin typeface="Cambria Math" panose="02040503050406030204" pitchFamily="18" charset="0"/>
                            </a:rPr>
                            <m:t>2</m:t>
                          </m:r>
                        </m:sup>
                      </m:sSubSup>
                      <m:r>
                        <a:rPr lang="en-US" i="1">
                          <a:solidFill>
                            <a:srgbClr val="000000"/>
                          </a:solidFill>
                          <a:latin typeface="Cambria Math" panose="02040503050406030204" pitchFamily="18" charset="0"/>
                        </a:rPr>
                        <m:t>)</m:t>
                      </m:r>
                    </m:oMath>
                  </m:oMathPara>
                </a14:m>
                <a:endParaRPr lang="en-US"/>
              </a:p>
            </p:txBody>
          </p:sp>
        </mc:Choice>
        <mc:Fallback xmlns="">
          <p:sp>
            <p:nvSpPr>
              <p:cNvPr id="10" name="Object 9"/>
              <p:cNvSpPr txBox="1">
                <a:spLocks noRot="1" noChangeAspect="1" noMove="1" noResize="1" noEditPoints="1" noAdjustHandles="1" noChangeArrowheads="1" noChangeShapeType="1" noTextEdit="1"/>
              </p:cNvSpPr>
              <p:nvPr/>
            </p:nvSpPr>
            <p:spPr>
              <a:xfrm>
                <a:off x="4267200" y="3886200"/>
                <a:ext cx="3403600" cy="53340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10"/>
              <p:cNvSpPr txBox="1"/>
              <p:nvPr/>
            </p:nvSpPr>
            <p:spPr bwMode="auto">
              <a:xfrm>
                <a:off x="3733800" y="4419600"/>
                <a:ext cx="4032250" cy="66675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𝑍</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𝑁</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𝛼</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𝛾</m:t>
                      </m:r>
                      <m:r>
                        <a:rPr lang="en-US" i="1">
                          <a:solidFill>
                            <a:srgbClr val="000000"/>
                          </a:solidFill>
                          <a:latin typeface="Cambria Math" panose="02040503050406030204" pitchFamily="18" charset="0"/>
                        </a:rPr>
                        <m:t>𝑍</m:t>
                      </m:r>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𝜎</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oMath>
                  </m:oMathPara>
                </a14:m>
                <a:endParaRPr lang="en-US"/>
              </a:p>
            </p:txBody>
          </p:sp>
        </mc:Choice>
        <mc:Fallback xmlns="">
          <p:sp>
            <p:nvSpPr>
              <p:cNvPr id="11" name="Object 10"/>
              <p:cNvSpPr txBox="1">
                <a:spLocks noRot="1" noChangeAspect="1" noMove="1" noResize="1" noEditPoints="1" noAdjustHandles="1" noChangeArrowheads="1" noChangeShapeType="1" noTextEdit="1"/>
              </p:cNvSpPr>
              <p:nvPr/>
            </p:nvSpPr>
            <p:spPr bwMode="auto">
              <a:xfrm>
                <a:off x="3733800" y="4419600"/>
                <a:ext cx="4032250" cy="666750"/>
              </a:xfrm>
              <a:prstGeom prst="rect">
                <a:avLst/>
              </a:prstGeom>
              <a:blipFill>
                <a:blip r:embed="rId6"/>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9544104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676" name="Rectangle 2"/>
              <p:cNvSpPr>
                <a:spLocks noGrp="1" noChangeArrowheads="1"/>
              </p:cNvSpPr>
              <p:nvPr>
                <p:ph type="body" sz="half" idx="4294967295"/>
              </p:nvPr>
            </p:nvSpPr>
            <p:spPr>
              <a:xfrm>
                <a:off x="304800" y="152400"/>
                <a:ext cx="8839200" cy="6172200"/>
              </a:xfrm>
            </p:spPr>
            <p:txBody>
              <a:bodyPr lIns="92075" tIns="46038" rIns="92075" bIns="46038"/>
              <a:lstStyle/>
              <a:p>
                <a:pPr>
                  <a:buNone/>
                  <a:defRPr/>
                </a:pPr>
                <a:r>
                  <a:rPr lang="en-US" sz="2400" b="1" dirty="0">
                    <a:latin typeface="Times New Roman" pitchFamily="18" charset="0"/>
                    <a:cs typeface="Times New Roman" pitchFamily="18" charset="0"/>
                  </a:rPr>
                  <a:t>                      Spiegelman and Gray (1991)</a:t>
                </a:r>
                <a:endParaRPr lang="en-US" sz="2000" dirty="0">
                  <a:latin typeface="Times New Roman" pitchFamily="18" charset="0"/>
                  <a:cs typeface="Times New Roman" pitchFamily="18" charset="0"/>
                </a:endParaRPr>
              </a:p>
              <a:p>
                <a:pPr>
                  <a:defRPr/>
                </a:pPr>
                <a:endParaRPr lang="en-US" sz="2200" dirty="0">
                  <a:latin typeface="Times New Roman" pitchFamily="18" charset="0"/>
                  <a:cs typeface="Times New Roman" pitchFamily="18" charset="0"/>
                </a:endParaRPr>
              </a:p>
              <a:p>
                <a:pPr>
                  <a:defRPr/>
                </a:pPr>
                <a:r>
                  <a:rPr lang="en-US" sz="2200" dirty="0">
                    <a:latin typeface="Times New Roman" pitchFamily="18" charset="0"/>
                    <a:cs typeface="Times New Roman" pitchFamily="18" charset="0"/>
                  </a:rPr>
                  <a:t>No closed-form solutions. Results for classical measurement error model: </a:t>
                </a:r>
              </a:p>
              <a:p>
                <a:pPr>
                  <a:defRPr/>
                </a:pPr>
                <a:r>
                  <a:rPr lang="en-US" sz="2200" dirty="0">
                    <a:latin typeface="Times New Roman" pitchFamily="18" charset="0"/>
                    <a:cs typeface="Times New Roman" pitchFamily="18" charset="0"/>
                  </a:rPr>
                  <a:t>The optimal proportion allocated to the validation study              increased </a:t>
                </a:r>
              </a:p>
              <a:p>
                <a:pPr lvl="2">
                  <a:buFont typeface="Courier New" pitchFamily="49" charset="0"/>
                  <a:buChar char="o"/>
                  <a:defRPr/>
                </a:pPr>
                <a:r>
                  <a:rPr lang="en-US" sz="2200" dirty="0">
                    <a:latin typeface="Times New Roman" pitchFamily="18" charset="0"/>
                    <a:cs typeface="Times New Roman" pitchFamily="18" charset="0"/>
                  </a:rPr>
                  <a:t>as                    increased (presumably to 0.5)</a:t>
                </a:r>
              </a:p>
              <a:p>
                <a:pPr lvl="2">
                  <a:buFont typeface="Courier New" pitchFamily="49" charset="0"/>
                  <a:buChar char="o"/>
                  <a:defRPr/>
                </a:pPr>
                <a:r>
                  <a:rPr lang="en-US" sz="2200" dirty="0">
                    <a:latin typeface="Times New Roman" pitchFamily="18" charset="0"/>
                    <a:cs typeface="Times New Roman" pitchFamily="18" charset="0"/>
                  </a:rPr>
                  <a:t>as                    (unit cost of measuring </a:t>
                </a:r>
                <a14:m>
                  <m:oMath xmlns:m="http://schemas.openxmlformats.org/officeDocument/2006/math">
                    <m:r>
                      <a:rPr lang="en-US" sz="2200" b="0" i="1" dirty="0" smtClean="0">
                        <a:latin typeface="Cambria Math"/>
                        <a:cs typeface="Times New Roman" pitchFamily="18" charset="0"/>
                      </a:rPr>
                      <m:t>𝑋</m:t>
                    </m:r>
                  </m:oMath>
                </a14:m>
                <a:r>
                  <a:rPr lang="en-US" sz="2200" dirty="0">
                    <a:latin typeface="Times New Roman" pitchFamily="18" charset="0"/>
                    <a:cs typeface="Times New Roman" pitchFamily="18" charset="0"/>
                  </a:rPr>
                  <a:t> decreases)</a:t>
                </a:r>
              </a:p>
              <a:p>
                <a:pPr lvl="2">
                  <a:buFont typeface="Courier New" pitchFamily="49" charset="0"/>
                  <a:buChar char="o"/>
                  <a:defRPr/>
                </a:pPr>
                <a:r>
                  <a:rPr lang="en-US" sz="2200" dirty="0">
                    <a:latin typeface="Times New Roman" pitchFamily="18" charset="0"/>
                    <a:cs typeface="Times New Roman" pitchFamily="18" charset="0"/>
                  </a:rPr>
                  <a:t>as                     increases</a:t>
                </a:r>
              </a:p>
              <a:p>
                <a:pPr lvl="2">
                  <a:buFont typeface="Courier New" pitchFamily="49" charset="0"/>
                  <a:buChar char="o"/>
                  <a:defRPr/>
                </a:pPr>
                <a:endParaRPr lang="en-US" sz="1000" dirty="0">
                  <a:latin typeface="Times New Roman" pitchFamily="18" charset="0"/>
                  <a:cs typeface="Times New Roman" pitchFamily="18" charset="0"/>
                </a:endParaRPr>
              </a:p>
              <a:p>
                <a:pPr>
                  <a:defRPr/>
                </a:pPr>
                <a:r>
                  <a:rPr lang="en-US" sz="2200" dirty="0">
                    <a:latin typeface="Times New Roman" pitchFamily="18" charset="0"/>
                    <a:cs typeface="Times New Roman" pitchFamily="18" charset="0"/>
                  </a:rPr>
                  <a:t>The optimal proportion allocated to the validation study       depends on</a:t>
                </a:r>
              </a:p>
              <a:p>
                <a:pPr>
                  <a:buFont typeface="Arial" charset="0"/>
                  <a:buNone/>
                  <a:defRPr/>
                </a:pPr>
                <a:r>
                  <a:rPr lang="en-US" sz="2200" dirty="0">
                    <a:latin typeface="Times New Roman" pitchFamily="18" charset="0"/>
                    <a:cs typeface="Times New Roman" pitchFamily="18" charset="0"/>
                  </a:rPr>
                  <a:t>           in a non-linear manner (Recall that in the classical additive </a:t>
                </a:r>
              </a:p>
              <a:p>
                <a:pPr>
                  <a:buFont typeface="Arial" charset="0"/>
                  <a:buNone/>
                  <a:defRPr/>
                </a:pPr>
                <a:r>
                  <a:rPr lang="en-US" sz="2200" dirty="0">
                    <a:latin typeface="Times New Roman" pitchFamily="18" charset="0"/>
                    <a:cs typeface="Times New Roman" pitchFamily="18" charset="0"/>
                  </a:rPr>
                  <a:t>      measurement error model,              ).</a:t>
                </a:r>
              </a:p>
              <a:p>
                <a:pPr>
                  <a:buFont typeface="Arial" charset="0"/>
                  <a:buNone/>
                  <a:defRPr/>
                </a:pPr>
                <a:endParaRPr lang="en-US" sz="1200" dirty="0">
                  <a:latin typeface="Times New Roman" pitchFamily="18" charset="0"/>
                  <a:cs typeface="Times New Roman" pitchFamily="18" charset="0"/>
                </a:endParaRPr>
              </a:p>
              <a:p>
                <a:pPr>
                  <a:defRPr/>
                </a:pPr>
                <a:r>
                  <a:rPr lang="en-US" sz="2200" dirty="0">
                    <a:latin typeface="Times New Roman" pitchFamily="18" charset="0"/>
                    <a:cs typeface="Times New Roman" pitchFamily="18" charset="0"/>
                  </a:rPr>
                  <a:t>Efficiency gains are substantial when the validation study is internal</a:t>
                </a:r>
              </a:p>
              <a:p>
                <a:pPr>
                  <a:defRPr/>
                </a:pPr>
                <a:endParaRPr lang="en-US" sz="1200" dirty="0">
                  <a:latin typeface="Times New Roman" pitchFamily="18" charset="0"/>
                  <a:cs typeface="Times New Roman" pitchFamily="18" charset="0"/>
                </a:endParaRPr>
              </a:p>
              <a:p>
                <a:pPr>
                  <a:defRPr/>
                </a:pPr>
                <a:r>
                  <a:rPr lang="en-US" sz="2200" dirty="0">
                    <a:latin typeface="Times New Roman" pitchFamily="18" charset="0"/>
                    <a:cs typeface="Times New Roman" pitchFamily="18" charset="0"/>
                  </a:rPr>
                  <a:t>The fully validated design is not optimal when                    is very small </a:t>
                </a:r>
              </a:p>
              <a:p>
                <a:pPr>
                  <a:buFont typeface="Arial" charset="0"/>
                  <a:buNone/>
                  <a:defRPr/>
                </a:pPr>
                <a:r>
                  <a:rPr lang="en-US" sz="2200" dirty="0">
                    <a:latin typeface="Times New Roman" pitchFamily="18" charset="0"/>
                    <a:cs typeface="Times New Roman" pitchFamily="18" charset="0"/>
                  </a:rPr>
                  <a:t>     and when        is very large.</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   </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mc:Choice>
        <mc:Fallback xmlns="">
          <p:sp>
            <p:nvSpPr>
              <p:cNvPr id="28676" name="Rectangle 2"/>
              <p:cNvSpPr>
                <a:spLocks noGrp="1" noRot="1" noChangeAspect="1" noMove="1" noResize="1" noEditPoints="1" noAdjustHandles="1" noChangeArrowheads="1" noChangeShapeType="1" noTextEdit="1"/>
              </p:cNvSpPr>
              <p:nvPr>
                <p:ph type="body" sz="half" idx="4294967295"/>
              </p:nvPr>
            </p:nvSpPr>
            <p:spPr>
              <a:xfrm>
                <a:off x="304800" y="152400"/>
                <a:ext cx="8839200" cy="6172200"/>
              </a:xfrm>
              <a:blipFill rotWithShape="1">
                <a:blip r:embed="rId4"/>
                <a:stretch>
                  <a:fillRect l="-759" t="-790" r="-1379"/>
                </a:stretch>
              </a:blipFill>
            </p:spPr>
            <p:txBody>
              <a:bodyPr/>
              <a:lstStyle/>
              <a:p>
                <a:r>
                  <a:rPr lang="en-US">
                    <a:noFill/>
                  </a:rPr>
                  <a:t> </a:t>
                </a:r>
              </a:p>
            </p:txBody>
          </p:sp>
        </mc:Fallback>
      </mc:AlternateContent>
      <p:cxnSp>
        <p:nvCxnSpPr>
          <p:cNvPr id="22531" name="AutoShape 3"/>
          <p:cNvCxnSpPr>
            <a:cxnSpLocks noChangeShapeType="1"/>
            <a:stCxn id="28676" idx="3"/>
            <a:endCxn id="28676" idx="3"/>
          </p:cNvCxnSpPr>
          <p:nvPr/>
        </p:nvCxnSpPr>
        <p:spPr bwMode="auto">
          <a:xfrm>
            <a:off x="9144000" y="3238500"/>
            <a:ext cx="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2532"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2533"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22534"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22535"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2536"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2AA2A7A2-9462-4825-A572-59092588AACF}" type="slidenum">
              <a:rPr lang="zh-CN" altLang="en-US" sz="1200">
                <a:solidFill>
                  <a:srgbClr val="898989"/>
                </a:solidFill>
              </a:rPr>
              <a:pPr algn="r" eaLnBrk="1" hangingPunct="1">
                <a:spcBef>
                  <a:spcPct val="0"/>
                </a:spcBef>
                <a:buFontTx/>
                <a:buNone/>
              </a:pPr>
              <a:t>24</a:t>
            </a:fld>
            <a:endParaRPr lang="en-US" altLang="zh-CN" sz="1200">
              <a:solidFill>
                <a:srgbClr val="898989"/>
              </a:solidFill>
            </a:endParaRPr>
          </a:p>
        </p:txBody>
      </p:sp>
      <mc:AlternateContent xmlns:mc="http://schemas.openxmlformats.org/markup-compatibility/2006" xmlns:a14="http://schemas.microsoft.com/office/drawing/2010/main">
        <mc:Choice Requires="a14">
          <p:sp>
            <p:nvSpPr>
              <p:cNvPr id="22537" name="Object 7"/>
              <p:cNvSpPr txBox="1"/>
              <p:nvPr/>
            </p:nvSpPr>
            <p:spPr bwMode="auto">
              <a:xfrm>
                <a:off x="7086600" y="1295400"/>
                <a:ext cx="908050" cy="6651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𝜆</m:t>
                              </m:r>
                            </m:e>
                            <m:sub>
                              <m:r>
                                <a:rPr lang="en-US" i="1">
                                  <a:solidFill>
                                    <a:srgbClr val="000000"/>
                                  </a:solidFill>
                                  <a:latin typeface="Cambria Math" panose="02040503050406030204" pitchFamily="18" charset="0"/>
                                </a:rPr>
                                <m:t>𝑜𝑝𝑡</m:t>
                              </m:r>
                            </m:sub>
                          </m:sSub>
                        </m:e>
                      </m:d>
                    </m:oMath>
                  </m:oMathPara>
                </a14:m>
                <a:endParaRPr lang="en-US"/>
              </a:p>
            </p:txBody>
          </p:sp>
        </mc:Choice>
        <mc:Fallback xmlns="">
          <p:sp>
            <p:nvSpPr>
              <p:cNvPr id="22537" name="Object 7"/>
              <p:cNvSpPr txBox="1">
                <a:spLocks noRot="1" noChangeAspect="1" noMove="1" noResize="1" noEditPoints="1" noAdjustHandles="1" noChangeArrowheads="1" noChangeShapeType="1" noTextEdit="1"/>
              </p:cNvSpPr>
              <p:nvPr/>
            </p:nvSpPr>
            <p:spPr bwMode="auto">
              <a:xfrm>
                <a:off x="7086600" y="1295400"/>
                <a:ext cx="908050" cy="665163"/>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38" name="Object 8"/>
              <p:cNvSpPr txBox="1"/>
              <p:nvPr/>
            </p:nvSpPr>
            <p:spPr bwMode="auto">
              <a:xfrm>
                <a:off x="1828800" y="1828800"/>
                <a:ext cx="1281113" cy="4191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Pr</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oMath>
                  </m:oMathPara>
                </a14:m>
                <a:endParaRPr lang="en-US"/>
              </a:p>
            </p:txBody>
          </p:sp>
        </mc:Choice>
        <mc:Fallback xmlns="">
          <p:sp>
            <p:nvSpPr>
              <p:cNvPr id="22538" name="Object 8"/>
              <p:cNvSpPr txBox="1">
                <a:spLocks noRot="1" noChangeAspect="1" noMove="1" noResize="1" noEditPoints="1" noAdjustHandles="1" noChangeArrowheads="1" noChangeShapeType="1" noTextEdit="1"/>
              </p:cNvSpPr>
              <p:nvPr/>
            </p:nvSpPr>
            <p:spPr bwMode="auto">
              <a:xfrm>
                <a:off x="1828800" y="1828800"/>
                <a:ext cx="1281113" cy="419100"/>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39" name="Object 9"/>
              <p:cNvSpPr txBox="1"/>
              <p:nvPr/>
            </p:nvSpPr>
            <p:spPr bwMode="auto">
              <a:xfrm>
                <a:off x="1905000" y="2286000"/>
                <a:ext cx="874713" cy="369888"/>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𝑋</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𝑍</m:t>
                          </m:r>
                        </m:sub>
                      </m:sSub>
                    </m:oMath>
                  </m:oMathPara>
                </a14:m>
                <a:endParaRPr lang="en-US"/>
              </a:p>
            </p:txBody>
          </p:sp>
        </mc:Choice>
        <mc:Fallback xmlns="">
          <p:sp>
            <p:nvSpPr>
              <p:cNvPr id="22539" name="Object 9"/>
              <p:cNvSpPr txBox="1">
                <a:spLocks noRot="1" noChangeAspect="1" noMove="1" noResize="1" noEditPoints="1" noAdjustHandles="1" noChangeArrowheads="1" noChangeShapeType="1" noTextEdit="1"/>
              </p:cNvSpPr>
              <p:nvPr/>
            </p:nvSpPr>
            <p:spPr bwMode="auto">
              <a:xfrm>
                <a:off x="1905000" y="2286000"/>
                <a:ext cx="874713" cy="369888"/>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40" name="Object 12"/>
              <p:cNvSpPr txBox="1"/>
              <p:nvPr/>
            </p:nvSpPr>
            <p:spPr bwMode="auto">
              <a:xfrm>
                <a:off x="7010400" y="3220571"/>
                <a:ext cx="320675" cy="4000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𝜆</m:t>
                      </m:r>
                    </m:oMath>
                  </m:oMathPara>
                </a14:m>
                <a:endParaRPr lang="en-US"/>
              </a:p>
            </p:txBody>
          </p:sp>
        </mc:Choice>
        <mc:Fallback xmlns="">
          <p:sp>
            <p:nvSpPr>
              <p:cNvPr id="22540" name="Object 12"/>
              <p:cNvSpPr txBox="1">
                <a:spLocks noRot="1" noChangeAspect="1" noMove="1" noResize="1" noEditPoints="1" noAdjustHandles="1" noChangeArrowheads="1" noChangeShapeType="1" noTextEdit="1"/>
              </p:cNvSpPr>
              <p:nvPr/>
            </p:nvSpPr>
            <p:spPr bwMode="auto">
              <a:xfrm>
                <a:off x="7010400" y="3220571"/>
                <a:ext cx="320675" cy="400050"/>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41" name="Object 11"/>
              <p:cNvSpPr txBox="1"/>
              <p:nvPr/>
            </p:nvSpPr>
            <p:spPr bwMode="auto">
              <a:xfrm>
                <a:off x="762000" y="3657600"/>
                <a:ext cx="263525" cy="334962"/>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𝛾</m:t>
                      </m:r>
                    </m:oMath>
                  </m:oMathPara>
                </a14:m>
                <a:endParaRPr lang="en-US"/>
              </a:p>
            </p:txBody>
          </p:sp>
        </mc:Choice>
        <mc:Fallback xmlns="">
          <p:sp>
            <p:nvSpPr>
              <p:cNvPr id="22541" name="Object 11"/>
              <p:cNvSpPr txBox="1">
                <a:spLocks noRot="1" noChangeAspect="1" noMove="1" noResize="1" noEditPoints="1" noAdjustHandles="1" noChangeArrowheads="1" noChangeShapeType="1" noTextEdit="1"/>
              </p:cNvSpPr>
              <p:nvPr/>
            </p:nvSpPr>
            <p:spPr bwMode="auto">
              <a:xfrm>
                <a:off x="762000" y="3657600"/>
                <a:ext cx="263525" cy="334962"/>
              </a:xfrm>
              <a:prstGeom prst="rect">
                <a:avLst/>
              </a:prstGeom>
              <a:blipFill>
                <a:blip r:embed="rId9"/>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42" name="Object 12"/>
              <p:cNvSpPr txBox="1"/>
              <p:nvPr/>
            </p:nvSpPr>
            <p:spPr bwMode="auto">
              <a:xfrm>
                <a:off x="3886200" y="4038600"/>
                <a:ext cx="850900" cy="4254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𝛾</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𝜌</m:t>
                          </m:r>
                        </m:e>
                        <m:sub>
                          <m:r>
                            <a:rPr lang="en-US" i="1">
                              <a:solidFill>
                                <a:srgbClr val="000000"/>
                              </a:solidFill>
                              <a:latin typeface="Cambria Math" panose="02040503050406030204" pitchFamily="18" charset="0"/>
                            </a:rPr>
                            <m:t>𝐼</m:t>
                          </m:r>
                        </m:sub>
                      </m:sSub>
                    </m:oMath>
                  </m:oMathPara>
                </a14:m>
                <a:endParaRPr lang="en-US"/>
              </a:p>
            </p:txBody>
          </p:sp>
        </mc:Choice>
        <mc:Fallback xmlns="">
          <p:sp>
            <p:nvSpPr>
              <p:cNvPr id="22542" name="Object 12"/>
              <p:cNvSpPr txBox="1">
                <a:spLocks noRot="1" noChangeAspect="1" noMove="1" noResize="1" noEditPoints="1" noAdjustHandles="1" noChangeArrowheads="1" noChangeShapeType="1" noTextEdit="1"/>
              </p:cNvSpPr>
              <p:nvPr/>
            </p:nvSpPr>
            <p:spPr bwMode="auto">
              <a:xfrm>
                <a:off x="3886200" y="4038600"/>
                <a:ext cx="850900" cy="425450"/>
              </a:xfrm>
              <a:prstGeom prst="rect">
                <a:avLst/>
              </a:prstGeom>
              <a:blipFill>
                <a:blip r:embed="rId10"/>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43" name="Object 15"/>
              <p:cNvSpPr txBox="1"/>
              <p:nvPr/>
            </p:nvSpPr>
            <p:spPr bwMode="auto">
              <a:xfrm>
                <a:off x="1828800" y="2667000"/>
                <a:ext cx="1295400" cy="40163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m:t>
                      </m:r>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log</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𝑂𝑅</m:t>
                      </m:r>
                      <m:r>
                        <a:rPr lang="en-US" i="1">
                          <a:solidFill>
                            <a:srgbClr val="000000"/>
                          </a:solidFill>
                          <a:latin typeface="Cambria Math" panose="02040503050406030204" pitchFamily="18" charset="0"/>
                        </a:rPr>
                        <m:t>)|</m:t>
                      </m:r>
                    </m:oMath>
                  </m:oMathPara>
                </a14:m>
                <a:endParaRPr lang="en-US"/>
              </a:p>
            </p:txBody>
          </p:sp>
        </mc:Choice>
        <mc:Fallback xmlns="">
          <p:sp>
            <p:nvSpPr>
              <p:cNvPr id="22543" name="Object 15"/>
              <p:cNvSpPr txBox="1">
                <a:spLocks noRot="1" noChangeAspect="1" noMove="1" noResize="1" noEditPoints="1" noAdjustHandles="1" noChangeArrowheads="1" noChangeShapeType="1" noTextEdit="1"/>
              </p:cNvSpPr>
              <p:nvPr/>
            </p:nvSpPr>
            <p:spPr bwMode="auto">
              <a:xfrm>
                <a:off x="1828800" y="2667000"/>
                <a:ext cx="1295400" cy="401637"/>
              </a:xfrm>
              <a:prstGeom prst="rect">
                <a:avLst/>
              </a:prstGeom>
              <a:blipFill>
                <a:blip r:embed="rId11"/>
                <a:stretch>
                  <a:fillRect l="-1408" b="-6154"/>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44" name="Object 14"/>
              <p:cNvSpPr txBox="1"/>
              <p:nvPr/>
            </p:nvSpPr>
            <p:spPr bwMode="auto">
              <a:xfrm>
                <a:off x="6019800" y="5257800"/>
                <a:ext cx="1281113" cy="4191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Pr</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oMath>
                  </m:oMathPara>
                </a14:m>
                <a:endParaRPr lang="en-US"/>
              </a:p>
            </p:txBody>
          </p:sp>
        </mc:Choice>
        <mc:Fallback xmlns="">
          <p:sp>
            <p:nvSpPr>
              <p:cNvPr id="22544" name="Object 14"/>
              <p:cNvSpPr txBox="1">
                <a:spLocks noRot="1" noChangeAspect="1" noMove="1" noResize="1" noEditPoints="1" noAdjustHandles="1" noChangeArrowheads="1" noChangeShapeType="1" noTextEdit="1"/>
              </p:cNvSpPr>
              <p:nvPr/>
            </p:nvSpPr>
            <p:spPr bwMode="auto">
              <a:xfrm>
                <a:off x="6019800" y="5257800"/>
                <a:ext cx="1281113" cy="419100"/>
              </a:xfrm>
              <a:prstGeom prst="rect">
                <a:avLst/>
              </a:prstGeom>
              <a:blipFill>
                <a:blip r:embed="rId12"/>
                <a:stretch>
                  <a:fillRect b="-147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45" name="Object 15"/>
              <p:cNvSpPr txBox="1"/>
              <p:nvPr/>
            </p:nvSpPr>
            <p:spPr bwMode="auto">
              <a:xfrm>
                <a:off x="1905000" y="5638800"/>
                <a:ext cx="352425" cy="4460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𝑟</m:t>
                          </m:r>
                        </m:e>
                        <m:sub>
                          <m:r>
                            <a:rPr lang="en-US" i="1">
                              <a:solidFill>
                                <a:srgbClr val="000000"/>
                              </a:solidFill>
                              <a:latin typeface="Cambria Math" panose="02040503050406030204" pitchFamily="18" charset="0"/>
                            </a:rPr>
                            <m:t>𝑋</m:t>
                          </m:r>
                        </m:sub>
                      </m:sSub>
                    </m:oMath>
                  </m:oMathPara>
                </a14:m>
                <a:endParaRPr lang="en-US"/>
              </a:p>
            </p:txBody>
          </p:sp>
        </mc:Choice>
        <mc:Fallback xmlns="">
          <p:sp>
            <p:nvSpPr>
              <p:cNvPr id="22545" name="Object 15"/>
              <p:cNvSpPr txBox="1">
                <a:spLocks noRot="1" noChangeAspect="1" noMove="1" noResize="1" noEditPoints="1" noAdjustHandles="1" noChangeArrowheads="1" noChangeShapeType="1" noTextEdit="1"/>
              </p:cNvSpPr>
              <p:nvPr/>
            </p:nvSpPr>
            <p:spPr bwMode="auto">
              <a:xfrm>
                <a:off x="1905000" y="5638800"/>
                <a:ext cx="352425" cy="446088"/>
              </a:xfrm>
              <a:prstGeom prst="rect">
                <a:avLst/>
              </a:prstGeom>
              <a:blipFill>
                <a:blip r:embed="rId13"/>
                <a:stretch>
                  <a:fillRect/>
                </a:stretch>
              </a:blipFill>
              <a:ln>
                <a:noFill/>
              </a:ln>
              <a:effectLst/>
            </p:spPr>
            <p:txBody>
              <a:bodyPr/>
              <a:lstStyle/>
              <a:p>
                <a:r>
                  <a:rPr lang="en-US">
                    <a:noFill/>
                  </a:rPr>
                  <a:t> </a:t>
                </a:r>
              </a:p>
            </p:txBody>
          </p:sp>
        </mc:Fallback>
      </mc:AlternateContent>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body" sz="half" idx="4294967295"/>
          </p:nvPr>
        </p:nvSpPr>
        <p:spPr>
          <a:xfrm>
            <a:off x="152400" y="228600"/>
            <a:ext cx="8991600" cy="6629400"/>
          </a:xfrm>
        </p:spPr>
        <p:txBody>
          <a:bodyPr lIns="92075" tIns="46038" rIns="92075" bIns="46038"/>
          <a:lstStyle/>
          <a:p>
            <a:pPr marL="533400" indent="-533400">
              <a:lnSpc>
                <a:spcPct val="80000"/>
              </a:lnSpc>
              <a:buFont typeface="Arial" charset="0"/>
              <a:buNone/>
            </a:pPr>
            <a:r>
              <a:rPr lang="en-US" altLang="ja-JP" sz="1300" dirty="0">
                <a:latin typeface="Courier New" pitchFamily="49" charset="0"/>
              </a:rPr>
              <a:t> </a:t>
            </a: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1800" dirty="0"/>
          </a:p>
          <a:p>
            <a:pPr marL="533400" indent="-533400">
              <a:lnSpc>
                <a:spcPct val="80000"/>
              </a:lnSpc>
              <a:buFont typeface="Arial" charset="0"/>
              <a:buNone/>
            </a:pPr>
            <a:r>
              <a:rPr lang="en-US" altLang="en-US" sz="2200" dirty="0">
                <a:latin typeface="Times New Roman" pitchFamily="18" charset="0"/>
                <a:cs typeface="Times New Roman" pitchFamily="18" charset="0"/>
              </a:rPr>
              <a:t>       In this figure,                                    and                         under classical measurement error model for MS/EVS design.</a:t>
            </a:r>
            <a:endParaRPr lang="en-US" altLang="zh-CN" sz="2200" dirty="0">
              <a:latin typeface="Times New Roman" pitchFamily="18" charset="0"/>
              <a:cs typeface="Times New Roman" pitchFamily="18" charset="0"/>
            </a:endParaRPr>
          </a:p>
        </p:txBody>
      </p:sp>
      <p:cxnSp>
        <p:nvCxnSpPr>
          <p:cNvPr id="23555" name="AutoShape 3"/>
          <p:cNvCxnSpPr>
            <a:cxnSpLocks noChangeShapeType="1"/>
            <a:stCxn id="23554" idx="3"/>
            <a:endCxn id="23554" idx="3"/>
          </p:cNvCxnSpPr>
          <p:nvPr/>
        </p:nvCxnSpPr>
        <p:spPr bwMode="auto">
          <a:xfrm>
            <a:off x="9144000" y="35433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3556"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3557"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23558"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23559"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3560"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6C31B9A3-202D-42FA-9AD9-31F02676CD29}" type="slidenum">
              <a:rPr lang="zh-CN" altLang="en-US" sz="1200">
                <a:solidFill>
                  <a:srgbClr val="898989"/>
                </a:solidFill>
              </a:rPr>
              <a:pPr algn="r" eaLnBrk="1" hangingPunct="1">
                <a:spcBef>
                  <a:spcPct val="0"/>
                </a:spcBef>
                <a:buFontTx/>
                <a:buNone/>
              </a:pPr>
              <a:t>25</a:t>
            </a:fld>
            <a:endParaRPr lang="en-US" altLang="zh-CN" sz="1200">
              <a:solidFill>
                <a:srgbClr val="898989"/>
              </a:solidFill>
            </a:endParaRPr>
          </a:p>
        </p:txBody>
      </p:sp>
      <p:pic>
        <p:nvPicPr>
          <p:cNvPr id="2356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0"/>
            <a:ext cx="4114800" cy="555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562" name="Object 6"/>
              <p:cNvSpPr txBox="1"/>
              <p:nvPr/>
            </p:nvSpPr>
            <p:spPr bwMode="auto">
              <a:xfrm>
                <a:off x="5257800" y="5948363"/>
                <a:ext cx="1600200" cy="43021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𝑁</m:t>
                      </m:r>
                      <m:r>
                        <a:rPr lang="en-US" i="1">
                          <a:solidFill>
                            <a:srgbClr val="000000"/>
                          </a:solidFill>
                          <a:latin typeface="Cambria Math" panose="02040503050406030204" pitchFamily="18" charset="0"/>
                        </a:rPr>
                        <m:t>(0,1)</m:t>
                      </m:r>
                    </m:oMath>
                  </m:oMathPara>
                </a14:m>
                <a:endParaRPr lang="en-US"/>
              </a:p>
            </p:txBody>
          </p:sp>
        </mc:Choice>
        <mc:Fallback xmlns="">
          <p:sp>
            <p:nvSpPr>
              <p:cNvPr id="23562" name="Object 6"/>
              <p:cNvSpPr txBox="1">
                <a:spLocks noRot="1" noChangeAspect="1" noMove="1" noResize="1" noEditPoints="1" noAdjustHandles="1" noChangeArrowheads="1" noChangeShapeType="1" noTextEdit="1"/>
              </p:cNvSpPr>
              <p:nvPr/>
            </p:nvSpPr>
            <p:spPr bwMode="auto">
              <a:xfrm>
                <a:off x="5257800" y="5948363"/>
                <a:ext cx="1600200" cy="430212"/>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63" name="Object 8"/>
              <p:cNvSpPr txBox="1"/>
              <p:nvPr/>
            </p:nvSpPr>
            <p:spPr bwMode="auto">
              <a:xfrm>
                <a:off x="2311400" y="5937250"/>
                <a:ext cx="2328863" cy="4191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Pr</m:t>
                          </m:r>
                        </m:fName>
                        <m:e>
                          <m:r>
                            <a:rPr lang="en-US" i="1">
                              <a:solidFill>
                                <a:srgbClr val="000000"/>
                              </a:solidFill>
                              <a:latin typeface="Cambria Math" panose="02040503050406030204" pitchFamily="18" charset="0"/>
                            </a:rPr>
                            <m:t>(</m:t>
                          </m:r>
                        </m:e>
                      </m:func>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=1)=0.005</m:t>
                      </m:r>
                    </m:oMath>
                  </m:oMathPara>
                </a14:m>
                <a:endParaRPr lang="en-US"/>
              </a:p>
            </p:txBody>
          </p:sp>
        </mc:Choice>
        <mc:Fallback xmlns="">
          <p:sp>
            <p:nvSpPr>
              <p:cNvPr id="23563" name="Object 8"/>
              <p:cNvSpPr txBox="1">
                <a:spLocks noRot="1" noChangeAspect="1" noMove="1" noResize="1" noEditPoints="1" noAdjustHandles="1" noChangeArrowheads="1" noChangeShapeType="1" noTextEdit="1"/>
              </p:cNvSpPr>
              <p:nvPr/>
            </p:nvSpPr>
            <p:spPr bwMode="auto">
              <a:xfrm>
                <a:off x="2311400" y="5937250"/>
                <a:ext cx="2328863" cy="419100"/>
              </a:xfrm>
              <a:prstGeom prst="rect">
                <a:avLst/>
              </a:prstGeom>
              <a:blipFill>
                <a:blip r:embed="rId5"/>
                <a:stretch>
                  <a:fillRect/>
                </a:stretch>
              </a:blipFill>
              <a:ln>
                <a:noFill/>
              </a:ln>
              <a:effectLst/>
            </p:spPr>
            <p:txBody>
              <a:bodyPr/>
              <a:lstStyle/>
              <a:p>
                <a:r>
                  <a:rPr lang="en-US">
                    <a:noFill/>
                  </a:rPr>
                  <a:t> </a:t>
                </a:r>
              </a:p>
            </p:txBody>
          </p:sp>
        </mc:Fallback>
      </mc:AlternateContent>
      <p:pic>
        <p:nvPicPr>
          <p:cNvPr id="23564" name="Picture 15" descr="C:\Documents and Settings\ABERKELE\Desktop\Picture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76600" y="0"/>
            <a:ext cx="11985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5" name="Picture 15" descr="C:\Documents and Settings\ABERKELE\Desktop\Picture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76600" y="2819400"/>
            <a:ext cx="11985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124200" y="341313"/>
            <a:ext cx="1295400" cy="2317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Rectangle 18"/>
          <p:cNvSpPr/>
          <p:nvPr/>
        </p:nvSpPr>
        <p:spPr>
          <a:xfrm>
            <a:off x="3179763" y="3200400"/>
            <a:ext cx="1295400" cy="1603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mc:AlternateContent xmlns:mc="http://schemas.openxmlformats.org/markup-compatibility/2006" xmlns:a14="http://schemas.microsoft.com/office/drawing/2010/main">
        <mc:Choice Requires="a14">
          <p:sp>
            <p:nvSpPr>
              <p:cNvPr id="23568" name="Object 2"/>
              <p:cNvSpPr txBox="1"/>
              <p:nvPr/>
            </p:nvSpPr>
            <p:spPr bwMode="auto">
              <a:xfrm>
                <a:off x="1830388" y="1143000"/>
                <a:ext cx="525462" cy="5016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𝜆</m:t>
                          </m:r>
                        </m:e>
                        <m:sub>
                          <m:r>
                            <a:rPr lang="en-US" i="1">
                              <a:solidFill>
                                <a:srgbClr val="000000"/>
                              </a:solidFill>
                              <a:latin typeface="Cambria Math" panose="02040503050406030204" pitchFamily="18" charset="0"/>
                            </a:rPr>
                            <m:t>𝑜𝑝𝑡</m:t>
                          </m:r>
                        </m:sub>
                      </m:sSub>
                    </m:oMath>
                  </m:oMathPara>
                </a14:m>
                <a:endParaRPr lang="en-US"/>
              </a:p>
            </p:txBody>
          </p:sp>
        </mc:Choice>
        <mc:Fallback xmlns="">
          <p:sp>
            <p:nvSpPr>
              <p:cNvPr id="23568" name="Object 2"/>
              <p:cNvSpPr txBox="1">
                <a:spLocks noRot="1" noChangeAspect="1" noMove="1" noResize="1" noEditPoints="1" noAdjustHandles="1" noChangeArrowheads="1" noChangeShapeType="1" noTextEdit="1"/>
              </p:cNvSpPr>
              <p:nvPr/>
            </p:nvSpPr>
            <p:spPr bwMode="auto">
              <a:xfrm>
                <a:off x="1830388" y="1143000"/>
                <a:ext cx="525462" cy="501650"/>
              </a:xfrm>
              <a:prstGeom prst="rect">
                <a:avLst/>
              </a:prstGeom>
              <a:blipFill>
                <a:blip r:embed="rId7"/>
                <a:stretch>
                  <a:fillRect r="-5814"/>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69" name="Object 3"/>
              <p:cNvSpPr txBox="1"/>
              <p:nvPr/>
            </p:nvSpPr>
            <p:spPr bwMode="auto">
              <a:xfrm>
                <a:off x="1836738" y="3810000"/>
                <a:ext cx="525462" cy="5016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𝜆</m:t>
                          </m:r>
                        </m:e>
                        <m:sub>
                          <m:r>
                            <a:rPr lang="en-US" i="1">
                              <a:solidFill>
                                <a:srgbClr val="000000"/>
                              </a:solidFill>
                              <a:latin typeface="Cambria Math" panose="02040503050406030204" pitchFamily="18" charset="0"/>
                            </a:rPr>
                            <m:t>𝑜𝑝𝑡</m:t>
                          </m:r>
                        </m:sub>
                      </m:sSub>
                    </m:oMath>
                  </m:oMathPara>
                </a14:m>
                <a:endParaRPr lang="en-US"/>
              </a:p>
            </p:txBody>
          </p:sp>
        </mc:Choice>
        <mc:Fallback xmlns="">
          <p:sp>
            <p:nvSpPr>
              <p:cNvPr id="23569" name="Object 3"/>
              <p:cNvSpPr txBox="1">
                <a:spLocks noRot="1" noChangeAspect="1" noMove="1" noResize="1" noEditPoints="1" noAdjustHandles="1" noChangeArrowheads="1" noChangeShapeType="1" noTextEdit="1"/>
              </p:cNvSpPr>
              <p:nvPr/>
            </p:nvSpPr>
            <p:spPr bwMode="auto">
              <a:xfrm>
                <a:off x="1836738" y="3810000"/>
                <a:ext cx="525462" cy="501650"/>
              </a:xfrm>
              <a:prstGeom prst="rect">
                <a:avLst/>
              </a:prstGeom>
              <a:blipFill>
                <a:blip r:embed="rId8"/>
                <a:stretch>
                  <a:fillRect r="-4598"/>
                </a:stretch>
              </a:blipFill>
              <a:ln>
                <a:noFill/>
              </a:ln>
              <a:effectLst/>
            </p:spPr>
            <p:txBody>
              <a:bodyPr/>
              <a:lstStyle/>
              <a:p>
                <a:r>
                  <a:rPr lang="en-US">
                    <a:noFill/>
                  </a:rPr>
                  <a:t> </a:t>
                </a:r>
              </a:p>
            </p:txBody>
          </p:sp>
        </mc:Fallback>
      </mc:AlternateContent>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err="1">
                <a:latin typeface="Times New Roman" pitchFamily="18" charset="0"/>
                <a:cs typeface="Times New Roman" pitchFamily="18" charset="0"/>
              </a:rPr>
              <a:t>Rosner</a:t>
            </a:r>
            <a:r>
              <a:rPr lang="en-US" sz="2800" b="1" dirty="0">
                <a:latin typeface="Times New Roman" pitchFamily="18" charset="0"/>
                <a:cs typeface="Times New Roman" pitchFamily="18" charset="0"/>
              </a:rPr>
              <a:t>, Spiegelman and Willett (</a:t>
            </a:r>
            <a:r>
              <a:rPr lang="en-US" sz="2800" b="1" dirty="0" err="1">
                <a:latin typeface="Times New Roman" pitchFamily="18" charset="0"/>
                <a:cs typeface="Times New Roman" pitchFamily="18" charset="0"/>
              </a:rPr>
              <a:t>Rosner</a:t>
            </a:r>
            <a:r>
              <a:rPr lang="en-US" sz="2800" b="1" dirty="0">
                <a:latin typeface="Times New Roman" pitchFamily="18" charset="0"/>
                <a:cs typeface="Times New Roman" pitchFamily="18" charset="0"/>
              </a:rPr>
              <a:t> et al., 1992)</a:t>
            </a:r>
            <a:endParaRPr lang="en-US" sz="2800" b="1" dirty="0"/>
          </a:p>
        </p:txBody>
      </p:sp>
      <p:sp>
        <p:nvSpPr>
          <p:cNvPr id="28676" name="Rectangle 2"/>
          <p:cNvSpPr>
            <a:spLocks noGrp="1" noChangeArrowheads="1"/>
          </p:cNvSpPr>
          <p:nvPr>
            <p:ph idx="1"/>
          </p:nvPr>
        </p:nvSpPr>
        <p:spPr/>
        <p:txBody>
          <a:bodyPr lIns="92075" tIns="46038" rIns="92075" bIns="46038"/>
          <a:lstStyle/>
          <a:p>
            <a:pPr>
              <a:buFont typeface="Arial" charset="0"/>
              <a:buNone/>
              <a:defRPr/>
            </a:pPr>
            <a:r>
              <a:rPr lang="en-US" sz="2400" dirty="0" err="1">
                <a:latin typeface="Times New Roman" pitchFamily="18" charset="0"/>
                <a:cs typeface="Times New Roman" pitchFamily="18" charset="0"/>
              </a:rPr>
              <a:t>Rosner</a:t>
            </a:r>
            <a:r>
              <a:rPr lang="en-US" sz="2400" dirty="0">
                <a:latin typeface="Times New Roman" pitchFamily="18" charset="0"/>
                <a:cs typeface="Times New Roman" pitchFamily="18" charset="0"/>
              </a:rPr>
              <a:t>, Spiegelman and Willett (</a:t>
            </a:r>
            <a:r>
              <a:rPr lang="en-US" sz="2400" dirty="0" err="1">
                <a:latin typeface="Times New Roman" pitchFamily="18" charset="0"/>
                <a:cs typeface="Times New Roman" pitchFamily="18" charset="0"/>
              </a:rPr>
              <a:t>Rosner</a:t>
            </a:r>
            <a:r>
              <a:rPr lang="en-US" sz="2400" dirty="0">
                <a:latin typeface="Times New Roman" pitchFamily="18" charset="0"/>
                <a:cs typeface="Times New Roman" pitchFamily="18" charset="0"/>
              </a:rPr>
              <a:t> et al., 1992) investigated </a:t>
            </a:r>
          </a:p>
          <a:p>
            <a:pPr>
              <a:buFont typeface="Arial" charset="0"/>
              <a:buNone/>
              <a:defRPr/>
            </a:pPr>
            <a:r>
              <a:rPr lang="en-US" sz="2400" dirty="0">
                <a:latin typeface="Times New Roman" pitchFamily="18" charset="0"/>
                <a:cs typeface="Times New Roman" pitchFamily="18" charset="0"/>
              </a:rPr>
              <a:t>the role of        (size of reliability study) and       (number of replicates per participant in the reliability study)  on the efficiency of the regression calibration estimates for the effects of systolic blood pressure (SBP), serum cholesterol (CHOL), serum glucose (GLUC) and BMI on the 10-year cumulative  incidence of CHD, based on the Framingham Heart Study.  There were 1,731 men in the main study cohort.</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1600" dirty="0" err="1">
                <a:latin typeface="Times New Roman" pitchFamily="18" charset="0"/>
                <a:cs typeface="Times New Roman" pitchFamily="18" charset="0"/>
              </a:rPr>
              <a:t>Rosner</a:t>
            </a:r>
            <a:r>
              <a:rPr lang="en-US" sz="1600" dirty="0">
                <a:latin typeface="Times New Roman" pitchFamily="18" charset="0"/>
                <a:cs typeface="Times New Roman" pitchFamily="18" charset="0"/>
              </a:rPr>
              <a:t> B., Spiegelman D., Willett W.C. (1992) Correction of logistic regression relative risk</a:t>
            </a:r>
          </a:p>
          <a:p>
            <a:pPr>
              <a:buFont typeface="Arial" charset="0"/>
              <a:buNone/>
              <a:defRPr/>
            </a:pPr>
            <a:r>
              <a:rPr lang="en-US" sz="1600" dirty="0">
                <a:latin typeface="Times New Roman" pitchFamily="18" charset="0"/>
                <a:cs typeface="Times New Roman" pitchFamily="18" charset="0"/>
              </a:rPr>
              <a:t>estimates and confidence intervals for random within-person measurement error. </a:t>
            </a:r>
            <a:r>
              <a:rPr lang="en-US" sz="1600" i="1" dirty="0">
                <a:latin typeface="Times New Roman" pitchFamily="18" charset="0"/>
                <a:cs typeface="Times New Roman" pitchFamily="18" charset="0"/>
              </a:rPr>
              <a:t>Am J </a:t>
            </a:r>
            <a:r>
              <a:rPr lang="en-US" sz="1600" i="1" dirty="0" err="1">
                <a:latin typeface="Times New Roman" pitchFamily="18" charset="0"/>
                <a:cs typeface="Times New Roman" pitchFamily="18" charset="0"/>
              </a:rPr>
              <a:t>Epidemiol</a:t>
            </a:r>
            <a:r>
              <a:rPr lang="en-US" sz="1600" dirty="0">
                <a:latin typeface="Times New Roman" pitchFamily="18" charset="0"/>
                <a:cs typeface="Times New Roman" pitchFamily="18" charset="0"/>
              </a:rPr>
              <a:t> </a:t>
            </a:r>
          </a:p>
          <a:p>
            <a:pPr>
              <a:buFont typeface="Arial" charset="0"/>
              <a:buNone/>
              <a:defRPr/>
            </a:pPr>
            <a:r>
              <a:rPr lang="en-US" sz="1600" dirty="0">
                <a:latin typeface="Times New Roman" pitchFamily="18" charset="0"/>
                <a:cs typeface="Times New Roman" pitchFamily="18" charset="0"/>
              </a:rPr>
              <a:t>136:1400-13.</a:t>
            </a:r>
          </a:p>
          <a:p>
            <a:pPr>
              <a:buFont typeface="Arial" charset="0"/>
              <a:buNone/>
              <a:defRPr/>
            </a:pPr>
            <a:endParaRPr lang="en-US" sz="24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   </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p:cxnSp>
        <p:nvCxnSpPr>
          <p:cNvPr id="24579" name="AutoShape 3"/>
          <p:cNvCxnSpPr>
            <a:cxnSpLocks noChangeShapeType="1"/>
            <a:stCxn id="28676" idx="3"/>
            <a:endCxn id="28676" idx="3"/>
          </p:cNvCxnSpPr>
          <p:nvPr/>
        </p:nvCxnSpPr>
        <p:spPr bwMode="auto">
          <a:xfrm>
            <a:off x="8763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4580"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4581"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24582"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24583"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4584"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9FE166D5-50B8-48E2-AD62-02DE6515550F}" type="slidenum">
              <a:rPr lang="zh-CN" altLang="en-US" sz="1200">
                <a:solidFill>
                  <a:srgbClr val="898989"/>
                </a:solidFill>
              </a:rPr>
              <a:pPr algn="r" eaLnBrk="1" hangingPunct="1">
                <a:spcBef>
                  <a:spcPct val="0"/>
                </a:spcBef>
                <a:buFontTx/>
                <a:buNone/>
              </a:pPr>
              <a:t>26</a:t>
            </a:fld>
            <a:endParaRPr lang="en-US" altLang="zh-CN" sz="1200">
              <a:solidFill>
                <a:srgbClr val="898989"/>
              </a:solidFill>
            </a:endParaRPr>
          </a:p>
        </p:txBody>
      </p:sp>
      <mc:AlternateContent xmlns:mc="http://schemas.openxmlformats.org/markup-compatibility/2006" xmlns:a14="http://schemas.microsoft.com/office/drawing/2010/main">
        <mc:Choice Requires="a14">
          <p:sp>
            <p:nvSpPr>
              <p:cNvPr id="24585" name="Object 1"/>
              <p:cNvSpPr txBox="1"/>
              <p:nvPr/>
            </p:nvSpPr>
            <p:spPr bwMode="auto">
              <a:xfrm>
                <a:off x="1981200" y="2057400"/>
                <a:ext cx="382588" cy="4540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𝑅</m:t>
                          </m:r>
                        </m:sub>
                      </m:sSub>
                    </m:oMath>
                  </m:oMathPara>
                </a14:m>
                <a:endParaRPr lang="en-US"/>
              </a:p>
            </p:txBody>
          </p:sp>
        </mc:Choice>
        <mc:Fallback xmlns="">
          <p:sp>
            <p:nvSpPr>
              <p:cNvPr id="24585" name="Object 1"/>
              <p:cNvSpPr txBox="1">
                <a:spLocks noRot="1" noChangeAspect="1" noMove="1" noResize="1" noEditPoints="1" noAdjustHandles="1" noChangeArrowheads="1" noChangeShapeType="1" noTextEdit="1"/>
              </p:cNvSpPr>
              <p:nvPr/>
            </p:nvSpPr>
            <p:spPr bwMode="auto">
              <a:xfrm>
                <a:off x="1981200" y="2057400"/>
                <a:ext cx="382588" cy="454025"/>
              </a:xfrm>
              <a:prstGeom prst="rect">
                <a:avLst/>
              </a:prstGeom>
              <a:blipFill>
                <a:blip r:embed="rId3"/>
                <a:stretch>
                  <a:fillRect r="-158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86" name="Object 2"/>
              <p:cNvSpPr txBox="1"/>
              <p:nvPr/>
            </p:nvSpPr>
            <p:spPr bwMode="auto">
              <a:xfrm>
                <a:off x="5943600" y="2057400"/>
                <a:ext cx="454025" cy="5016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oMath>
                  </m:oMathPara>
                </a14:m>
                <a:endParaRPr lang="en-US"/>
              </a:p>
            </p:txBody>
          </p:sp>
        </mc:Choice>
        <mc:Fallback xmlns="">
          <p:sp>
            <p:nvSpPr>
              <p:cNvPr id="24586" name="Object 2"/>
              <p:cNvSpPr txBox="1">
                <a:spLocks noRot="1" noChangeAspect="1" noMove="1" noResize="1" noEditPoints="1" noAdjustHandles="1" noChangeArrowheads="1" noChangeShapeType="1" noTextEdit="1"/>
              </p:cNvSpPr>
              <p:nvPr/>
            </p:nvSpPr>
            <p:spPr bwMode="auto">
              <a:xfrm>
                <a:off x="5943600" y="2057400"/>
                <a:ext cx="454025" cy="501650"/>
              </a:xfrm>
              <a:prstGeom prst="rect">
                <a:avLst/>
              </a:prstGeom>
              <a:blipFill>
                <a:blip r:embed="rId4"/>
                <a:stretch>
                  <a:fillRect/>
                </a:stretch>
              </a:blipFill>
              <a:ln>
                <a:noFill/>
              </a:ln>
              <a:effectLst/>
            </p:spPr>
            <p:txBody>
              <a:bodyPr/>
              <a:lstStyle/>
              <a:p>
                <a:r>
                  <a:rPr lang="en-US">
                    <a:noFill/>
                  </a:rPr>
                  <a:t> </a:t>
                </a:r>
              </a:p>
            </p:txBody>
          </p:sp>
        </mc:Fallback>
      </mc:AlternateContent>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body" sz="half" idx="4294967295"/>
          </p:nvPr>
        </p:nvSpPr>
        <p:spPr>
          <a:xfrm>
            <a:off x="76200" y="230188"/>
            <a:ext cx="8991600" cy="6629400"/>
          </a:xfrm>
        </p:spPr>
        <p:txBody>
          <a:bodyPr lIns="92075" tIns="46038" rIns="92075" bIns="46038"/>
          <a:lstStyle/>
          <a:p>
            <a:pPr marL="533400" indent="-533400">
              <a:lnSpc>
                <a:spcPct val="80000"/>
              </a:lnSpc>
              <a:buFont typeface="Arial" charset="0"/>
              <a:buNone/>
            </a:pPr>
            <a:r>
              <a:rPr lang="en-US" altLang="ja-JP" sz="1300" dirty="0">
                <a:latin typeface="Courier New" pitchFamily="49" charset="0"/>
              </a:rPr>
              <a:t> </a:t>
            </a: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1300" dirty="0">
              <a:latin typeface="Courier New" pitchFamily="49" charset="0"/>
            </a:endParaRPr>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000" dirty="0"/>
          </a:p>
          <a:p>
            <a:pPr marL="533400" indent="-533400">
              <a:lnSpc>
                <a:spcPct val="80000"/>
              </a:lnSpc>
              <a:buFont typeface="Arial" charset="0"/>
              <a:buNone/>
            </a:pPr>
            <a:endParaRPr lang="en-US" altLang="en-US" sz="2400" dirty="0"/>
          </a:p>
          <a:p>
            <a:pPr marL="533400" indent="-533400">
              <a:lnSpc>
                <a:spcPct val="80000"/>
              </a:lnSpc>
              <a:buFont typeface="Arial" charset="0"/>
              <a:buNone/>
            </a:pPr>
            <a:endParaRPr lang="en-US" altLang="zh-CN" sz="2200" dirty="0">
              <a:latin typeface="Times New Roman" pitchFamily="18" charset="0"/>
              <a:cs typeface="Times New Roman" pitchFamily="18" charset="0"/>
            </a:endParaRPr>
          </a:p>
        </p:txBody>
      </p:sp>
      <p:cxnSp>
        <p:nvCxnSpPr>
          <p:cNvPr id="25603" name="AutoShape 3"/>
          <p:cNvCxnSpPr>
            <a:cxnSpLocks noChangeShapeType="1"/>
            <a:stCxn id="25602" idx="3"/>
            <a:endCxn id="25602" idx="3"/>
          </p:cNvCxnSpPr>
          <p:nvPr/>
        </p:nvCxnSpPr>
        <p:spPr bwMode="auto">
          <a:xfrm>
            <a:off x="9067800" y="3544888"/>
            <a:ext cx="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5604"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5605"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25606"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25607"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5608"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DDED91CB-0690-4B36-B396-0D304E53C0A5}" type="slidenum">
              <a:rPr lang="zh-CN" altLang="en-US" sz="1200">
                <a:solidFill>
                  <a:srgbClr val="898989"/>
                </a:solidFill>
              </a:rPr>
              <a:pPr algn="r" eaLnBrk="1" hangingPunct="1">
                <a:spcBef>
                  <a:spcPct val="0"/>
                </a:spcBef>
                <a:buFontTx/>
                <a:buNone/>
              </a:pPr>
              <a:t>27</a:t>
            </a:fld>
            <a:endParaRPr lang="en-US" altLang="zh-CN" sz="1200">
              <a:solidFill>
                <a:srgbClr val="898989"/>
              </a:solidFill>
            </a:endParaRPr>
          </a:p>
        </p:txBody>
      </p:sp>
      <p:pic>
        <p:nvPicPr>
          <p:cNvPr id="2560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533400"/>
            <a:ext cx="5562600" cy="577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0" name="TextBox 12"/>
          <p:cNvSpPr txBox="1">
            <a:spLocks noChangeArrowheads="1"/>
          </p:cNvSpPr>
          <p:nvPr/>
        </p:nvSpPr>
        <p:spPr bwMode="auto">
          <a:xfrm>
            <a:off x="152400" y="533400"/>
            <a:ext cx="3505200" cy="4216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dirty="0">
                <a:latin typeface="Times New Roman" pitchFamily="18" charset="0"/>
                <a:cs typeface="Times New Roman" pitchFamily="18" charset="0"/>
              </a:rPr>
              <a:t>It is apparent that as         increases, </a:t>
            </a:r>
          </a:p>
          <a:p>
            <a:pPr eaLnBrk="1" hangingPunct="1">
              <a:spcBef>
                <a:spcPct val="0"/>
              </a:spcBef>
              <a:buFontTx/>
              <a:buNone/>
            </a:pPr>
            <a:r>
              <a:rPr lang="en-US" altLang="en-US" sz="1800" dirty="0">
                <a:latin typeface="Times New Roman" pitchFamily="18" charset="0"/>
                <a:cs typeface="Times New Roman" pitchFamily="18" charset="0"/>
              </a:rPr>
              <a:t>the variances of the measurement</a:t>
            </a:r>
          </a:p>
          <a:p>
            <a:pPr eaLnBrk="1" hangingPunct="1">
              <a:spcBef>
                <a:spcPct val="0"/>
              </a:spcBef>
              <a:buFontTx/>
              <a:buNone/>
            </a:pPr>
            <a:r>
              <a:rPr lang="en-US" altLang="en-US" sz="1800" dirty="0">
                <a:latin typeface="Times New Roman" pitchFamily="18" charset="0"/>
                <a:cs typeface="Times New Roman" pitchFamily="18" charset="0"/>
              </a:rPr>
              <a:t>error corrected log relative risks</a:t>
            </a:r>
          </a:p>
          <a:p>
            <a:pPr eaLnBrk="1" hangingPunct="1">
              <a:spcBef>
                <a:spcPct val="0"/>
              </a:spcBef>
              <a:buFontTx/>
              <a:buNone/>
            </a:pPr>
            <a:r>
              <a:rPr lang="en-US" altLang="en-US" sz="1800" dirty="0">
                <a:latin typeface="Times New Roman" pitchFamily="18" charset="0"/>
                <a:cs typeface="Times New Roman" pitchFamily="18" charset="0"/>
              </a:rPr>
              <a:t>using regression calibration  converge to an asymptote. </a:t>
            </a:r>
          </a:p>
          <a:p>
            <a:pPr eaLnBrk="1" hangingPunct="1">
              <a:spcBef>
                <a:spcPct val="0"/>
              </a:spcBef>
              <a:buFontTx/>
              <a:buNone/>
            </a:pPr>
            <a:r>
              <a:rPr lang="en-US" altLang="en-US" sz="1800" dirty="0">
                <a:latin typeface="Times New Roman" pitchFamily="18" charset="0"/>
                <a:cs typeface="Times New Roman" pitchFamily="18" charset="0"/>
              </a:rPr>
              <a:t> </a:t>
            </a:r>
          </a:p>
          <a:p>
            <a:pPr eaLnBrk="1" hangingPunct="1">
              <a:spcBef>
                <a:spcPct val="0"/>
              </a:spcBef>
              <a:buFontTx/>
              <a:buNone/>
            </a:pPr>
            <a:endParaRPr lang="en-US" altLang="en-US" sz="1800" dirty="0">
              <a:latin typeface="Times New Roman" pitchFamily="18" charset="0"/>
              <a:cs typeface="Times New Roman" pitchFamily="18" charset="0"/>
            </a:endParaRPr>
          </a:p>
          <a:p>
            <a:pPr eaLnBrk="1" hangingPunct="1">
              <a:spcBef>
                <a:spcPct val="0"/>
              </a:spcBef>
              <a:buFontTx/>
              <a:buNone/>
            </a:pPr>
            <a:endParaRPr lang="en-US" altLang="en-US" sz="1800" dirty="0">
              <a:latin typeface="Times New Roman" pitchFamily="18" charset="0"/>
              <a:cs typeface="Times New Roman" pitchFamily="18" charset="0"/>
            </a:endParaRPr>
          </a:p>
          <a:p>
            <a:pPr eaLnBrk="1" hangingPunct="1">
              <a:spcBef>
                <a:spcPct val="0"/>
              </a:spcBef>
              <a:buFontTx/>
              <a:buNone/>
            </a:pPr>
            <a:endParaRPr lang="en-US" altLang="en-US" sz="1800" dirty="0">
              <a:latin typeface="Times New Roman" pitchFamily="18" charset="0"/>
              <a:cs typeface="Times New Roman" pitchFamily="18" charset="0"/>
            </a:endParaRPr>
          </a:p>
          <a:p>
            <a:pPr eaLnBrk="1" hangingPunct="1">
              <a:spcBef>
                <a:spcPct val="0"/>
              </a:spcBef>
              <a:buFontTx/>
              <a:buNone/>
            </a:pPr>
            <a:endParaRPr lang="en-US" altLang="en-US" sz="1600" dirty="0">
              <a:latin typeface="Times New Roman" pitchFamily="18" charset="0"/>
              <a:cs typeface="Times New Roman" pitchFamily="18" charset="0"/>
            </a:endParaRPr>
          </a:p>
          <a:p>
            <a:pPr eaLnBrk="1" hangingPunct="1">
              <a:spcBef>
                <a:spcPct val="0"/>
              </a:spcBef>
              <a:buFontTx/>
              <a:buNone/>
            </a:pPr>
            <a:r>
              <a:rPr lang="en-US" altLang="en-US" sz="1800" dirty="0">
                <a:latin typeface="Times New Roman" pitchFamily="18" charset="0"/>
                <a:cs typeface="Times New Roman" pitchFamily="18" charset="0"/>
              </a:rPr>
              <a:t>At small values of         , larger </a:t>
            </a:r>
          </a:p>
          <a:p>
            <a:pPr eaLnBrk="1" hangingPunct="1">
              <a:spcBef>
                <a:spcPct val="0"/>
              </a:spcBef>
              <a:buFontTx/>
              <a:buNone/>
            </a:pPr>
            <a:r>
              <a:rPr lang="en-US" altLang="en-US" sz="1800" dirty="0">
                <a:latin typeface="Times New Roman" pitchFamily="18" charset="0"/>
                <a:cs typeface="Times New Roman" pitchFamily="18" charset="0"/>
              </a:rPr>
              <a:t>values of           improve the </a:t>
            </a:r>
          </a:p>
          <a:p>
            <a:pPr eaLnBrk="1" hangingPunct="1">
              <a:spcBef>
                <a:spcPct val="0"/>
              </a:spcBef>
              <a:buFontTx/>
              <a:buNone/>
            </a:pPr>
            <a:r>
              <a:rPr lang="en-US" altLang="en-US" sz="1800" dirty="0">
                <a:latin typeface="Times New Roman" pitchFamily="18" charset="0"/>
                <a:cs typeface="Times New Roman" pitchFamily="18" charset="0"/>
              </a:rPr>
              <a:t>precision, but once         is greater </a:t>
            </a:r>
          </a:p>
          <a:p>
            <a:pPr eaLnBrk="1" hangingPunct="1">
              <a:spcBef>
                <a:spcPct val="0"/>
              </a:spcBef>
              <a:buFontTx/>
              <a:buNone/>
            </a:pPr>
            <a:r>
              <a:rPr lang="en-US" altLang="en-US" sz="1800" dirty="0">
                <a:latin typeface="Times New Roman" pitchFamily="18" charset="0"/>
                <a:cs typeface="Times New Roman" pitchFamily="18" charset="0"/>
              </a:rPr>
              <a:t>than 100 or so, there  is very little </a:t>
            </a:r>
          </a:p>
          <a:p>
            <a:pPr eaLnBrk="1" hangingPunct="1">
              <a:spcBef>
                <a:spcPct val="0"/>
              </a:spcBef>
              <a:buFontTx/>
              <a:buNone/>
            </a:pPr>
            <a:r>
              <a:rPr lang="en-US" altLang="en-US" sz="1800" dirty="0">
                <a:latin typeface="Times New Roman" pitchFamily="18" charset="0"/>
                <a:cs typeface="Times New Roman" pitchFamily="18" charset="0"/>
              </a:rPr>
              <a:t>advantage over                .</a:t>
            </a:r>
          </a:p>
        </p:txBody>
      </p:sp>
      <mc:AlternateContent xmlns:mc="http://schemas.openxmlformats.org/markup-compatibility/2006" xmlns:a14="http://schemas.microsoft.com/office/drawing/2010/main">
        <mc:Choice Requires="a14">
          <p:sp>
            <p:nvSpPr>
              <p:cNvPr id="25611" name="Object 7"/>
              <p:cNvSpPr txBox="1"/>
              <p:nvPr/>
            </p:nvSpPr>
            <p:spPr bwMode="auto">
              <a:xfrm>
                <a:off x="2209800" y="533400"/>
                <a:ext cx="358775" cy="4254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𝑅</m:t>
                          </m:r>
                        </m:sub>
                      </m:sSub>
                    </m:oMath>
                  </m:oMathPara>
                </a14:m>
                <a:endParaRPr lang="en-US"/>
              </a:p>
            </p:txBody>
          </p:sp>
        </mc:Choice>
        <mc:Fallback xmlns="">
          <p:sp>
            <p:nvSpPr>
              <p:cNvPr id="25611" name="Object 7"/>
              <p:cNvSpPr txBox="1">
                <a:spLocks noRot="1" noChangeAspect="1" noMove="1" noResize="1" noEditPoints="1" noAdjustHandles="1" noChangeArrowheads="1" noChangeShapeType="1" noTextEdit="1"/>
              </p:cNvSpPr>
              <p:nvPr/>
            </p:nvSpPr>
            <p:spPr bwMode="auto">
              <a:xfrm>
                <a:off x="2209800" y="533400"/>
                <a:ext cx="358775" cy="425450"/>
              </a:xfrm>
              <a:prstGeom prst="rect">
                <a:avLst/>
              </a:prstGeom>
              <a:blipFill>
                <a:blip r:embed="rId4"/>
                <a:stretch>
                  <a:fillRect r="-862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612" name="Object 8"/>
              <p:cNvSpPr txBox="1"/>
              <p:nvPr/>
            </p:nvSpPr>
            <p:spPr bwMode="auto">
              <a:xfrm>
                <a:off x="2057400" y="3207544"/>
                <a:ext cx="358775" cy="4254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𝑅</m:t>
                          </m:r>
                        </m:sub>
                      </m:sSub>
                    </m:oMath>
                  </m:oMathPara>
                </a14:m>
                <a:endParaRPr lang="en-US"/>
              </a:p>
            </p:txBody>
          </p:sp>
        </mc:Choice>
        <mc:Fallback xmlns="">
          <p:sp>
            <p:nvSpPr>
              <p:cNvPr id="25612" name="Object 8"/>
              <p:cNvSpPr txBox="1">
                <a:spLocks noRot="1" noChangeAspect="1" noMove="1" noResize="1" noEditPoints="1" noAdjustHandles="1" noChangeArrowheads="1" noChangeShapeType="1" noTextEdit="1"/>
              </p:cNvSpPr>
              <p:nvPr/>
            </p:nvSpPr>
            <p:spPr bwMode="auto">
              <a:xfrm>
                <a:off x="2057400" y="3207544"/>
                <a:ext cx="358775" cy="425450"/>
              </a:xfrm>
              <a:prstGeom prst="rect">
                <a:avLst/>
              </a:prstGeom>
              <a:blipFill>
                <a:blip r:embed="rId5"/>
                <a:stretch>
                  <a:fillRect r="-862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613" name="Object 9"/>
              <p:cNvSpPr txBox="1"/>
              <p:nvPr/>
            </p:nvSpPr>
            <p:spPr bwMode="auto">
              <a:xfrm>
                <a:off x="1219200" y="3482975"/>
                <a:ext cx="425450" cy="4714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oMath>
                  </m:oMathPara>
                </a14:m>
                <a:endParaRPr lang="en-US"/>
              </a:p>
            </p:txBody>
          </p:sp>
        </mc:Choice>
        <mc:Fallback xmlns="">
          <p:sp>
            <p:nvSpPr>
              <p:cNvPr id="25613" name="Object 9"/>
              <p:cNvSpPr txBox="1">
                <a:spLocks noRot="1" noChangeAspect="1" noMove="1" noResize="1" noEditPoints="1" noAdjustHandles="1" noChangeArrowheads="1" noChangeShapeType="1" noTextEdit="1"/>
              </p:cNvSpPr>
              <p:nvPr/>
            </p:nvSpPr>
            <p:spPr bwMode="auto">
              <a:xfrm>
                <a:off x="1219200" y="3482975"/>
                <a:ext cx="425450" cy="471488"/>
              </a:xfrm>
              <a:prstGeom prst="rect">
                <a:avLst/>
              </a:prstGeom>
              <a:blipFill>
                <a:blip r:embed="rId6"/>
                <a:stretch>
                  <a:fillRect r="-285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614" name="Object 14"/>
              <p:cNvSpPr txBox="1"/>
              <p:nvPr/>
            </p:nvSpPr>
            <p:spPr bwMode="auto">
              <a:xfrm>
                <a:off x="2057400" y="3810000"/>
                <a:ext cx="358775" cy="4254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𝑅</m:t>
                          </m:r>
                        </m:sub>
                      </m:sSub>
                    </m:oMath>
                  </m:oMathPara>
                </a14:m>
                <a:endParaRPr lang="en-US"/>
              </a:p>
            </p:txBody>
          </p:sp>
        </mc:Choice>
        <mc:Fallback xmlns="">
          <p:sp>
            <p:nvSpPr>
              <p:cNvPr id="25614" name="Object 14"/>
              <p:cNvSpPr txBox="1">
                <a:spLocks noRot="1" noChangeAspect="1" noMove="1" noResize="1" noEditPoints="1" noAdjustHandles="1" noChangeArrowheads="1" noChangeShapeType="1" noTextEdit="1"/>
              </p:cNvSpPr>
              <p:nvPr/>
            </p:nvSpPr>
            <p:spPr bwMode="auto">
              <a:xfrm>
                <a:off x="2057400" y="3810000"/>
                <a:ext cx="358775" cy="425450"/>
              </a:xfrm>
              <a:prstGeom prst="rect">
                <a:avLst/>
              </a:prstGeom>
              <a:blipFill>
                <a:blip r:embed="rId7"/>
                <a:stretch>
                  <a:fillRect r="-862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615" name="Object 11"/>
              <p:cNvSpPr txBox="1"/>
              <p:nvPr/>
            </p:nvSpPr>
            <p:spPr bwMode="auto">
              <a:xfrm>
                <a:off x="1752600" y="4314964"/>
                <a:ext cx="849313" cy="434975"/>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r>
                        <a:rPr lang="en-US" i="1">
                          <a:solidFill>
                            <a:srgbClr val="000000"/>
                          </a:solidFill>
                          <a:latin typeface="Cambria Math" panose="02040503050406030204" pitchFamily="18" charset="0"/>
                        </a:rPr>
                        <m:t>=2</m:t>
                      </m:r>
                    </m:oMath>
                  </m:oMathPara>
                </a14:m>
                <a:endParaRPr lang="en-US"/>
              </a:p>
            </p:txBody>
          </p:sp>
        </mc:Choice>
        <mc:Fallback xmlns="">
          <p:sp>
            <p:nvSpPr>
              <p:cNvPr id="25615" name="Object 11"/>
              <p:cNvSpPr txBox="1">
                <a:spLocks noRot="1" noChangeAspect="1" noMove="1" noResize="1" noEditPoints="1" noAdjustHandles="1" noChangeArrowheads="1" noChangeShapeType="1" noTextEdit="1"/>
              </p:cNvSpPr>
              <p:nvPr/>
            </p:nvSpPr>
            <p:spPr bwMode="auto">
              <a:xfrm>
                <a:off x="1752600" y="4314964"/>
                <a:ext cx="849313" cy="434975"/>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5181600" y="5581912"/>
                <a:ext cx="533400" cy="226024"/>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800" i="1" kern="100" smtClean="0">
                              <a:latin typeface="Cambria Math" panose="02040503050406030204" pitchFamily="18" charset="0"/>
                            </a:rPr>
                          </m:ctrlPr>
                        </m:sSubPr>
                        <m:e>
                          <m:r>
                            <a:rPr lang="en-US" sz="800" b="0" i="1" kern="100" smtClean="0">
                              <a:latin typeface="Cambria Math"/>
                            </a:rPr>
                            <m:t>𝑛</m:t>
                          </m:r>
                        </m:e>
                        <m:sub>
                          <m:sSub>
                            <m:sSubPr>
                              <m:ctrlPr>
                                <a:rPr lang="en-US" sz="800" i="1" kern="100" smtClean="0">
                                  <a:latin typeface="Cambria Math" panose="02040503050406030204" pitchFamily="18" charset="0"/>
                                </a:rPr>
                              </m:ctrlPr>
                            </m:sSubPr>
                            <m:e>
                              <m:r>
                                <a:rPr lang="en-US" sz="800" b="0" i="1" kern="100" smtClean="0">
                                  <a:latin typeface="Cambria Math"/>
                                </a:rPr>
                                <m:t>𝑅</m:t>
                              </m:r>
                            </m:e>
                            <m:sub>
                              <m:r>
                                <a:rPr lang="en-US" sz="800" b="0" i="1" kern="100" smtClean="0">
                                  <a:latin typeface="Cambria Math"/>
                                </a:rPr>
                                <m:t>𝐼</m:t>
                              </m:r>
                            </m:sub>
                          </m:sSub>
                        </m:sub>
                      </m:sSub>
                      <m:r>
                        <a:rPr lang="en-US" sz="800" b="0" i="1" kern="100" smtClean="0">
                          <a:latin typeface="Cambria Math"/>
                        </a:rPr>
                        <m:t>=2</m:t>
                      </m:r>
                    </m:oMath>
                  </m:oMathPara>
                </a14:m>
                <a:endParaRPr lang="en-US" sz="800" kern="100" dirty="0"/>
              </a:p>
            </p:txBody>
          </p:sp>
        </mc:Choice>
        <mc:Fallback xmlns="">
          <p:sp>
            <p:nvSpPr>
              <p:cNvPr id="20" name="TextBox 19"/>
              <p:cNvSpPr txBox="1">
                <a:spLocks noRot="1" noChangeAspect="1" noMove="1" noResize="1" noEditPoints="1" noAdjustHandles="1" noChangeArrowheads="1" noChangeShapeType="1" noTextEdit="1"/>
              </p:cNvSpPr>
              <p:nvPr/>
            </p:nvSpPr>
            <p:spPr>
              <a:xfrm>
                <a:off x="5181600" y="5581912"/>
                <a:ext cx="533400" cy="226024"/>
              </a:xfrm>
              <a:prstGeom prst="rect">
                <a:avLst/>
              </a:prstGeom>
              <a:blipFill rotWithShape="1">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6019800" y="5562600"/>
                <a:ext cx="533400" cy="226024"/>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800" i="1" kern="100" smtClean="0">
                              <a:latin typeface="Cambria Math" panose="02040503050406030204" pitchFamily="18" charset="0"/>
                            </a:rPr>
                          </m:ctrlPr>
                        </m:sSubPr>
                        <m:e>
                          <m:r>
                            <a:rPr lang="en-US" sz="800" b="0" i="1" kern="100" smtClean="0">
                              <a:latin typeface="Cambria Math"/>
                            </a:rPr>
                            <m:t>𝑛</m:t>
                          </m:r>
                        </m:e>
                        <m:sub>
                          <m:sSub>
                            <m:sSubPr>
                              <m:ctrlPr>
                                <a:rPr lang="en-US" sz="800" i="1" kern="100" smtClean="0">
                                  <a:latin typeface="Cambria Math" panose="02040503050406030204" pitchFamily="18" charset="0"/>
                                </a:rPr>
                              </m:ctrlPr>
                            </m:sSubPr>
                            <m:e>
                              <m:r>
                                <a:rPr lang="en-US" sz="800" b="0" i="1" kern="100" smtClean="0">
                                  <a:latin typeface="Cambria Math"/>
                                </a:rPr>
                                <m:t>𝑅</m:t>
                              </m:r>
                            </m:e>
                            <m:sub>
                              <m:r>
                                <a:rPr lang="en-US" sz="800" b="0" i="1" kern="100" smtClean="0">
                                  <a:latin typeface="Cambria Math"/>
                                </a:rPr>
                                <m:t>𝐼</m:t>
                              </m:r>
                            </m:sub>
                          </m:sSub>
                        </m:sub>
                      </m:sSub>
                      <m:r>
                        <a:rPr lang="en-US" sz="800" b="0" i="1" kern="100" smtClean="0">
                          <a:latin typeface="Cambria Math"/>
                        </a:rPr>
                        <m:t>=3</m:t>
                      </m:r>
                    </m:oMath>
                  </m:oMathPara>
                </a14:m>
                <a:endParaRPr lang="en-US" sz="800" kern="100" dirty="0"/>
              </a:p>
            </p:txBody>
          </p:sp>
        </mc:Choice>
        <mc:Fallback xmlns="">
          <p:sp>
            <p:nvSpPr>
              <p:cNvPr id="21" name="TextBox 20"/>
              <p:cNvSpPr txBox="1">
                <a:spLocks noRot="1" noChangeAspect="1" noMove="1" noResize="1" noEditPoints="1" noAdjustHandles="1" noChangeArrowheads="1" noChangeShapeType="1" noTextEdit="1"/>
              </p:cNvSpPr>
              <p:nvPr/>
            </p:nvSpPr>
            <p:spPr>
              <a:xfrm>
                <a:off x="6019800" y="5562600"/>
                <a:ext cx="533400" cy="226024"/>
              </a:xfrm>
              <a:prstGeom prst="rect">
                <a:avLst/>
              </a:prstGeom>
              <a:blipFill rotWithShape="1">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6781800" y="5567879"/>
                <a:ext cx="533400" cy="226024"/>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800" i="1" kern="100" smtClean="0">
                              <a:latin typeface="Cambria Math" panose="02040503050406030204" pitchFamily="18" charset="0"/>
                            </a:rPr>
                          </m:ctrlPr>
                        </m:sSubPr>
                        <m:e>
                          <m:r>
                            <a:rPr lang="en-US" sz="800" b="0" i="1" kern="100" smtClean="0">
                              <a:latin typeface="Cambria Math"/>
                            </a:rPr>
                            <m:t>𝑛</m:t>
                          </m:r>
                        </m:e>
                        <m:sub>
                          <m:sSub>
                            <m:sSubPr>
                              <m:ctrlPr>
                                <a:rPr lang="en-US" sz="800" i="1" kern="100" smtClean="0">
                                  <a:latin typeface="Cambria Math" panose="02040503050406030204" pitchFamily="18" charset="0"/>
                                </a:rPr>
                              </m:ctrlPr>
                            </m:sSubPr>
                            <m:e>
                              <m:r>
                                <a:rPr lang="en-US" sz="800" b="0" i="1" kern="100" smtClean="0">
                                  <a:latin typeface="Cambria Math"/>
                                </a:rPr>
                                <m:t>𝑅</m:t>
                              </m:r>
                            </m:e>
                            <m:sub>
                              <m:r>
                                <a:rPr lang="en-US" sz="800" b="0" i="1" kern="100" smtClean="0">
                                  <a:latin typeface="Cambria Math"/>
                                </a:rPr>
                                <m:t>𝐼</m:t>
                              </m:r>
                            </m:sub>
                          </m:sSub>
                        </m:sub>
                      </m:sSub>
                      <m:r>
                        <a:rPr lang="en-US" sz="800" b="0" i="1" kern="100" smtClean="0">
                          <a:latin typeface="Cambria Math"/>
                        </a:rPr>
                        <m:t>=5</m:t>
                      </m:r>
                    </m:oMath>
                  </m:oMathPara>
                </a14:m>
                <a:endParaRPr lang="en-US" sz="800" kern="100" dirty="0"/>
              </a:p>
            </p:txBody>
          </p:sp>
        </mc:Choice>
        <mc:Fallback xmlns="">
          <p:sp>
            <p:nvSpPr>
              <p:cNvPr id="22" name="TextBox 21"/>
              <p:cNvSpPr txBox="1">
                <a:spLocks noRot="1" noChangeAspect="1" noMove="1" noResize="1" noEditPoints="1" noAdjustHandles="1" noChangeArrowheads="1" noChangeShapeType="1" noTextEdit="1"/>
              </p:cNvSpPr>
              <p:nvPr/>
            </p:nvSpPr>
            <p:spPr>
              <a:xfrm>
                <a:off x="6781800" y="5567879"/>
                <a:ext cx="533400" cy="226024"/>
              </a:xfrm>
              <a:prstGeom prst="rect">
                <a:avLst/>
              </a:prstGeom>
              <a:blipFill rotWithShape="1">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7543800" y="5562600"/>
                <a:ext cx="685800" cy="226024"/>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800" i="1" kern="100" smtClean="0">
                              <a:latin typeface="Cambria Math" panose="02040503050406030204" pitchFamily="18" charset="0"/>
                            </a:rPr>
                          </m:ctrlPr>
                        </m:sSubPr>
                        <m:e>
                          <m:r>
                            <a:rPr lang="en-US" sz="800" b="0" i="1" kern="100" smtClean="0">
                              <a:latin typeface="Cambria Math"/>
                            </a:rPr>
                            <m:t>𝑛</m:t>
                          </m:r>
                        </m:e>
                        <m:sub>
                          <m:sSub>
                            <m:sSubPr>
                              <m:ctrlPr>
                                <a:rPr lang="en-US" sz="800" i="1" kern="100" smtClean="0">
                                  <a:latin typeface="Cambria Math" panose="02040503050406030204" pitchFamily="18" charset="0"/>
                                </a:rPr>
                              </m:ctrlPr>
                            </m:sSubPr>
                            <m:e>
                              <m:r>
                                <a:rPr lang="en-US" sz="800" b="0" i="1" kern="100" smtClean="0">
                                  <a:latin typeface="Cambria Math"/>
                                </a:rPr>
                                <m:t>𝑅</m:t>
                              </m:r>
                            </m:e>
                            <m:sub>
                              <m:r>
                                <a:rPr lang="en-US" sz="800" b="0" i="1" kern="100" smtClean="0">
                                  <a:latin typeface="Cambria Math"/>
                                </a:rPr>
                                <m:t>𝐼</m:t>
                              </m:r>
                            </m:sub>
                          </m:sSub>
                        </m:sub>
                      </m:sSub>
                      <m:r>
                        <a:rPr lang="en-US" sz="800" b="0" i="1" kern="100" smtClean="0">
                          <a:latin typeface="Cambria Math"/>
                        </a:rPr>
                        <m:t>=10</m:t>
                      </m:r>
                    </m:oMath>
                  </m:oMathPara>
                </a14:m>
                <a:endParaRPr lang="en-US" sz="800" kern="100" dirty="0"/>
              </a:p>
            </p:txBody>
          </p:sp>
        </mc:Choice>
        <mc:Fallback xmlns="">
          <p:sp>
            <p:nvSpPr>
              <p:cNvPr id="23" name="TextBox 22"/>
              <p:cNvSpPr txBox="1">
                <a:spLocks noRot="1" noChangeAspect="1" noMove="1" noResize="1" noEditPoints="1" noAdjustHandles="1" noChangeArrowheads="1" noChangeShapeType="1" noTextEdit="1"/>
              </p:cNvSpPr>
              <p:nvPr/>
            </p:nvSpPr>
            <p:spPr>
              <a:xfrm>
                <a:off x="7543800" y="5562600"/>
                <a:ext cx="685800" cy="226024"/>
              </a:xfrm>
              <a:prstGeom prst="rect">
                <a:avLst/>
              </a:prstGeom>
              <a:blipFill rotWithShape="1">
                <a:blip r:embed="rId19"/>
                <a:stretch>
                  <a:fillRect/>
                </a:stretch>
              </a:blipFill>
            </p:spPr>
            <p:txBody>
              <a:bodyPr/>
              <a:lstStyle/>
              <a:p>
                <a:r>
                  <a:rPr lang="en-US">
                    <a:noFill/>
                  </a:rPr>
                  <a:t> </a:t>
                </a:r>
              </a:p>
            </p:txBody>
          </p:sp>
        </mc:Fallback>
      </mc:AlternateContent>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81000" y="152400"/>
            <a:ext cx="8458200" cy="6172200"/>
          </a:xfrm>
        </p:spPr>
        <p:txBody>
          <a:bodyPr lIns="92075" tIns="46038" rIns="92075" bIns="46038"/>
          <a:lstStyle/>
          <a:p>
            <a:pPr>
              <a:buFont typeface="Arial" charset="0"/>
              <a:buNone/>
              <a:defRPr/>
            </a:pPr>
            <a:endParaRPr lang="en-US" sz="2200" dirty="0">
              <a:latin typeface="Times New Roman" pitchFamily="18" charset="0"/>
              <a:cs typeface="Times New Roman" pitchFamily="18" charset="0"/>
            </a:endParaRPr>
          </a:p>
          <a:p>
            <a:pPr>
              <a:buFont typeface="Arial" charset="0"/>
              <a:buNone/>
              <a:defRPr/>
            </a:pPr>
            <a:r>
              <a:rPr lang="en-US" sz="2400" dirty="0">
                <a:latin typeface="Times New Roman" pitchFamily="18" charset="0"/>
                <a:cs typeface="Times New Roman" pitchFamily="18" charset="0"/>
              </a:rPr>
              <a:t>Concepts</a:t>
            </a:r>
          </a:p>
          <a:p>
            <a:pPr>
              <a:buFont typeface="Arial" charset="0"/>
              <a:buNone/>
              <a:defRPr/>
            </a:pPr>
            <a:endParaRPr lang="en-US" sz="2400" dirty="0">
              <a:latin typeface="Times New Roman" pitchFamily="18" charset="0"/>
              <a:cs typeface="Times New Roman" pitchFamily="18" charset="0"/>
            </a:endParaRPr>
          </a:p>
          <a:p>
            <a:pPr>
              <a:defRPr/>
            </a:pPr>
            <a:r>
              <a:rPr lang="en-US" sz="2400" dirty="0">
                <a:latin typeface="Times New Roman" pitchFamily="18" charset="0"/>
                <a:cs typeface="Times New Roman" pitchFamily="18" charset="0"/>
              </a:rPr>
              <a:t>Fully validated design</a:t>
            </a:r>
          </a:p>
          <a:p>
            <a:pPr>
              <a:defRPr/>
            </a:pPr>
            <a:endParaRPr lang="en-US" sz="2400" dirty="0">
              <a:latin typeface="Times New Roman" pitchFamily="18" charset="0"/>
              <a:cs typeface="Times New Roman" pitchFamily="18" charset="0"/>
            </a:endParaRPr>
          </a:p>
          <a:p>
            <a:pPr>
              <a:defRPr/>
            </a:pPr>
            <a:r>
              <a:rPr lang="en-US" sz="2400" dirty="0">
                <a:latin typeface="Times New Roman" pitchFamily="18" charset="0"/>
                <a:cs typeface="Times New Roman" pitchFamily="18" charset="0"/>
              </a:rPr>
              <a:t>Optimal design </a:t>
            </a:r>
          </a:p>
          <a:p>
            <a:pPr>
              <a:defRPr/>
            </a:pPr>
            <a:endParaRPr lang="en-US" sz="2400" dirty="0">
              <a:latin typeface="Times New Roman" pitchFamily="18" charset="0"/>
              <a:cs typeface="Times New Roman" pitchFamily="18" charset="0"/>
            </a:endParaRPr>
          </a:p>
          <a:p>
            <a:pPr>
              <a:defRPr/>
            </a:pPr>
            <a:r>
              <a:rPr lang="en-US" sz="2400" dirty="0">
                <a:latin typeface="Times New Roman" pitchFamily="18" charset="0"/>
                <a:cs typeface="Times New Roman" pitchFamily="18" charset="0"/>
              </a:rPr>
              <a:t>Unit cost</a:t>
            </a:r>
          </a:p>
          <a:p>
            <a:pPr>
              <a:buFont typeface="Arial" charset="0"/>
              <a:buNone/>
              <a:defRPr/>
            </a:pPr>
            <a:endParaRPr lang="en-US" sz="2200" dirty="0">
              <a:latin typeface="Times New Roman" pitchFamily="18" charset="0"/>
              <a:cs typeface="Times New Roman" pitchFamily="18" charset="0"/>
            </a:endParaRPr>
          </a:p>
          <a:p>
            <a:pPr>
              <a:buFont typeface="Arial" charset="0"/>
              <a:buNone/>
              <a:defRPr/>
            </a:pPr>
            <a:r>
              <a:rPr lang="en-US" sz="2200" dirty="0">
                <a:latin typeface="Times New Roman" pitchFamily="18" charset="0"/>
                <a:cs typeface="Times New Roman" pitchFamily="18" charset="0"/>
              </a:rPr>
              <a:t> </a:t>
            </a:r>
          </a:p>
          <a:p>
            <a:pPr>
              <a:buFont typeface="Arial" charset="0"/>
              <a:buNone/>
              <a:defRPr/>
            </a:pPr>
            <a:r>
              <a:rPr lang="en-US" sz="2400" dirty="0">
                <a:latin typeface="Times New Roman" pitchFamily="18" charset="0"/>
                <a:cs typeface="Times New Roman" pitchFamily="18" charset="0"/>
              </a:rPr>
              <a:t>   </a:t>
            </a:r>
          </a:p>
          <a:p>
            <a:pPr>
              <a:buFont typeface="Arial" charset="0"/>
              <a:buNone/>
              <a:defRPr/>
            </a:pPr>
            <a:endParaRPr lang="en-US" sz="2400" dirty="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a:latin typeface="Times New Roman" pitchFamily="18" charset="0"/>
            </a:endParaRPr>
          </a:p>
        </p:txBody>
      </p:sp>
      <p:cxnSp>
        <p:nvCxnSpPr>
          <p:cNvPr id="26627" name="AutoShape 3"/>
          <p:cNvCxnSpPr>
            <a:cxnSpLocks noChangeShapeType="1"/>
            <a:stCxn id="28676" idx="3"/>
            <a:endCxn id="28676" idx="3"/>
          </p:cNvCxnSpPr>
          <p:nvPr/>
        </p:nvCxnSpPr>
        <p:spPr bwMode="auto">
          <a:xfrm>
            <a:off x="88392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6628"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6629" name="Object 10"/>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26630" name="Object 13"/>
          <p:cNvSpPr txBox="1"/>
          <p:nvPr/>
        </p:nvSpPr>
        <p:spPr bwMode="auto">
          <a:xfrm>
            <a:off x="0" y="0"/>
            <a:ext cx="114300" cy="180975"/>
          </a:xfrm>
          <a:prstGeom prst="rect">
            <a:avLst/>
          </a:prstGeom>
          <a:noFill/>
          <a:ln>
            <a:noFill/>
          </a:ln>
        </p:spPr>
        <p:txBody>
          <a:bodyPr>
            <a:normAutofit fontScale="40000" lnSpcReduction="20000"/>
          </a:bodyPr>
          <a:lstStyle/>
          <a:p>
            <a:endParaRPr lang="en-US"/>
          </a:p>
        </p:txBody>
      </p:sp>
      <p:sp>
        <p:nvSpPr>
          <p:cNvPr id="26631"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6632"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A2A97EAE-9DD8-4659-9619-6C1EE460D74E}" type="slidenum">
              <a:rPr lang="zh-CN" altLang="en-US" sz="1200">
                <a:solidFill>
                  <a:srgbClr val="898989"/>
                </a:solidFill>
              </a:rPr>
              <a:pPr algn="r" eaLnBrk="1" hangingPunct="1">
                <a:spcBef>
                  <a:spcPct val="0"/>
                </a:spcBef>
                <a:buFontTx/>
                <a:buNone/>
              </a:pPr>
              <a:t>28</a:t>
            </a:fld>
            <a:endParaRPr lang="en-US" altLang="zh-CN" sz="1200">
              <a:solidFill>
                <a:srgbClr val="898989"/>
              </a:solidFill>
            </a:endParaRP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15820</TotalTime>
  <Words>2807</Words>
  <Application>Microsoft Office PowerPoint</Application>
  <PresentationFormat>On-screen Show (4:3)</PresentationFormat>
  <Paragraphs>615</Paragraphs>
  <Slides>28</Slides>
  <Notes>24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7" baseType="lpstr">
      <vt:lpstr>宋体</vt:lpstr>
      <vt:lpstr>Arial</vt:lpstr>
      <vt:lpstr>Calibri</vt:lpstr>
      <vt:lpstr>Cambria Math</vt:lpstr>
      <vt:lpstr>Courier New</vt:lpstr>
      <vt:lpstr>Times New Roman</vt:lpstr>
      <vt:lpstr>Verdana</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Spiegelman and Gray (1991) </vt:lpstr>
      <vt:lpstr>Discriminatory power</vt:lpstr>
      <vt:lpstr>Discriminatory power</vt:lpstr>
      <vt:lpstr>Spiegelman and Gray (1991) </vt:lpstr>
      <vt:lpstr>PowerPoint Presentation</vt:lpstr>
      <vt:lpstr>PowerPoint Presentation</vt:lpstr>
      <vt:lpstr>Rosner, Spiegelman and Willett (Rosner et al., 1992)</vt:lpstr>
      <vt:lpstr>PowerPoint Presentation</vt:lpstr>
      <vt:lpstr>PowerPoint Presentation</vt:lpstr>
    </vt:vector>
  </TitlesOfParts>
  <Company>Harvard School of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HSPH IT</dc:creator>
  <cp:lastModifiedBy>Spiegelman, Donna</cp:lastModifiedBy>
  <cp:revision>901</cp:revision>
  <cp:lastPrinted>2016-10-18T13:40:09Z</cp:lastPrinted>
  <dcterms:created xsi:type="dcterms:W3CDTF">2010-11-19T21:18:53Z</dcterms:created>
  <dcterms:modified xsi:type="dcterms:W3CDTF">2026-03-02T20:28:25Z</dcterms:modified>
</cp:coreProperties>
</file>