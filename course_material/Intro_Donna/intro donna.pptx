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418" r:id="rId2"/>
    <p:sldId id="256" r:id="rId3"/>
    <p:sldId id="346" r:id="rId4"/>
    <p:sldId id="422" r:id="rId5"/>
    <p:sldId id="645" r:id="rId6"/>
    <p:sldId id="423" r:id="rId7"/>
    <p:sldId id="637" r:id="rId8"/>
    <p:sldId id="638" r:id="rId9"/>
    <p:sldId id="427" r:id="rId10"/>
    <p:sldId id="429" r:id="rId11"/>
    <p:sldId id="430" r:id="rId12"/>
    <p:sldId id="639" r:id="rId13"/>
    <p:sldId id="640" r:id="rId14"/>
    <p:sldId id="641" r:id="rId15"/>
    <p:sldId id="644" r:id="rId16"/>
    <p:sldId id="602" r:id="rId17"/>
    <p:sldId id="324" r:id="rId18"/>
    <p:sldId id="646" r:id="rId19"/>
    <p:sldId id="647"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5F8F6193-681F-F1F6-03A8-65DBBA4C0AEE}" name="Spiegelman, Donna" initials="DS" userId="S::donna.spiegelman@yale.edu::fb7e3339-209c-474a-bdc4-68157e32c0ce"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48" d="100"/>
          <a:sy n="48" d="100"/>
        </p:scale>
        <p:origin x="909" y="3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8/10/relationships/authors" Target="author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4T00:37:30.248"/>
    </inkml:context>
    <inkml:brush xml:id="br0">
      <inkml:brushProperty name="width" value="0.05" units="cm"/>
      <inkml:brushProperty name="height" value="0.05" units="cm"/>
      <inkml:brushProperty name="color" value="#66CC00"/>
    </inkml:brush>
  </inkml:definitions>
  <inkml:trace contextRef="#ctx0" brushRef="#br0">0 1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4T00:39:40.170"/>
    </inkml:context>
    <inkml:brush xml:id="br0">
      <inkml:brushProperty name="width" value="0.05" units="cm"/>
      <inkml:brushProperty name="height" value="0.05" units="cm"/>
      <inkml:brushProperty name="color" value="#66CC00"/>
    </inkml:brush>
  </inkml:definitions>
  <inkml:trace contextRef="#ctx0" brushRef="#br0">0 1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4T00:39:43.543"/>
    </inkml:context>
    <inkml:brush xml:id="br0">
      <inkml:brushProperty name="width" value="0.05" units="cm"/>
      <inkml:brushProperty name="height" value="0.05" units="cm"/>
      <inkml:brushProperty name="color" value="#66CC00"/>
    </inkml:brush>
  </inkml:definitions>
  <inkml:trace contextRef="#ctx0" brushRef="#br0">0 0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4T00:40:42.433"/>
    </inkml:context>
    <inkml:brush xml:id="br0">
      <inkml:brushProperty name="width" value="0.05" units="cm"/>
      <inkml:brushProperty name="height" value="0.05" units="cm"/>
      <inkml:brushProperty name="color" value="#66CC00"/>
    </inkml:brush>
  </inkml:definitions>
  <inkml:trace contextRef="#ctx0" brushRef="#br0">2856 99 24575,'-11'-1'0,"-1"0"0,1-1 0,0 0 0,0-1 0,0 0 0,0-1 0,-13-7 0,-18-6 0,0 5 0,-1 1 0,0 2 0,-69-5 0,-133 6 0,236 8 0,-32 0 0,-168 1 0,142 3 0,-73 13 0,14 3 0,-173 5 0,294-25 0,-51 2 0,-1 1 0,-56 12 0,82-8 0,-35 7 0,-67 5 0,103-17 0,-50 5 0,69-5 0,0 0 0,1 1 0,-1 0 0,1 1 0,-14 6 0,11-2 0,-1 1 0,1 0 0,0 0 0,-18 19 0,-41 52 0,48-53 0,-46 52 0,-69 80 0,104-114 0,-51 85 0,-23 87 0,96-190 0,2-2 0,2 1 0,0 0 0,2 0 0,1 1 0,1-1 0,1 1 0,1 0 0,1 1 0,2-1 0,1 0 0,1 0 0,1 0 0,2 0 0,0 0 0,2-1 0,1 0 0,1 0 0,1-1 0,1 0 0,24 39 0,-19-42 0,1 0 0,1-1 0,1 0 0,1-2 0,0 0 0,2-1 0,33 21 0,-11-13 0,1-1 0,1-3 0,54 18 0,-54-25 0,79 14 0,-55-15 0,12 2 0,1-3 0,101 1 0,169-14 0,-174-2 0,-62 2 0,283-12 0,-325 5 0,271-26 0,6 19 0,517 17 0,-795-7 0,114-19 0,-23 1 0,124-25 0,-5-23 0,-203 51 0,159-17 0,66-7 0,-22 3 0,-220 33 0,178-21 0,115-15 0,-185 13 0,-115 18 0,70-7 0,-80 13 0,0-2 0,65-21 0,31-6 0,-68 24 0,100-1 0,75 12 0,-147 1 0,192 11 0,-272-10 0,1 0 0,-1-2 0,1-1 0,-1-1 0,1-1 0,-1 0 0,0-2 0,0-1 0,0-1 0,34-16 0,-2-5 0,65-44 0,47-47 0,-151 107 0,15-11 0,36-35 0,-58 50 0,-2 0 0,1 0 0,-1-1 0,-1 0 0,0-1 0,0 1 0,-1-1 0,8-21 0,-11 26 0,-1-1 0,0 1 0,0 0 0,0-1 0,-1 1 0,0 0 0,0-1 0,0 1 0,-1 0 0,0-1 0,0 1 0,0 0 0,0 0 0,-1-1 0,0 1 0,0 0 0,-1 1 0,1-1 0,-1 0 0,0 1 0,0-1 0,-1 1 0,1 0 0,-7-5 0,-5-5 0,-1 1 0,-1 0 0,0 2 0,-36-19 0,14 7 0,-40-30 0,-7-5 0,-98-42 0,131 76 0,-78-25 0,-4-2 0,-162-73 0,239 103 0,0 3 0,-2 2 0,0 3 0,-96-8 0,-52 14 0,37 5 0,125-4 0,-1-2 0,-65-20 0,-46-8 0,77 26 0,-82 1 0,-83 11 0,95 1 0,-1445-2 0,848-2 0,682 3 0,-91 15 0,-62 23 0,-79 7 0,62-12 0,131-16 0,-150 25 0,-3-21 0,-112-24 87,176-2-1539,131 3-5374</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4T00:40:51.341"/>
    </inkml:context>
    <inkml:brush xml:id="br0">
      <inkml:brushProperty name="width" value="0.05" units="cm"/>
      <inkml:brushProperty name="height" value="0.05" units="cm"/>
      <inkml:brushProperty name="color" value="#66CC00"/>
    </inkml:brush>
  </inkml:definitions>
  <inkml:trace contextRef="#ctx0" brushRef="#br0">2170 1338 24575,'11'3'0,"1"0"0,-1-1 0,1-1 0,17 1 0,-7-1 0,447-16-1349,-324 5 1084,-140 10 261,202-15 66,-152 8 193,88-22 0,-104 19-73,0 2 0,0 2-1,0 1 1,43 1 0,-28 2-136,1-2-1,67-14 1,220-38-108,-50 9-868,-63 4 719,163-27 224,111-15-48,-363 60-25,1 7 1,157 1 0,260 19 1489,-165 2-1457,428-5 27,-772 3 0,90 14 0,46 23 0,-115-20 0,-2 2 0,0 3 0,85 43 0,-27-7 0,1-6 0,137 38 0,-146-54 0,30 9 0,-111-37 0,1-2 0,42 3 0,40-5 0,44 4 0,-55 5 0,161 43 0,-196-38 0,2-3 0,78 7 0,154-9 0,121-20 0,-395 5 0,1-2 0,57-10 0,-71 7 0,0-1 0,-1 0 0,0-2 0,-1 0 0,32-19 0,1-6 0,-2-3 0,63-57 0,82-96 0,-172 165 0,6-6 0,-1-2 0,-1 0 0,-2-2 0,-2 0 0,-1-2 0,-1 0 0,-2-2 0,-2 0 0,-2-1 0,-1 0 0,-2-1 0,-2-1 0,9-69 0,-17 94 0,-2 1 0,1-1 0,-2 0 0,0 0 0,-6-27 0,6 37 0,-1-1 0,0 1 0,0 0 0,-1 1 0,0-1 0,0 0 0,0 1 0,-1-1 0,0 1 0,0 0 0,0 0 0,0 1 0,-1-1 0,0 1 0,0 0 0,-11-6 0,-7-2 0,-47-16 0,41 17 0,-28-7 0,-2 2 0,-108-15 0,80 17 0,-271-31 0,283 37 0,1-3 0,-75-21 0,75 14 0,-1 4 0,0 2 0,-136-2 0,-641 19 0,776-3 0,0 3 0,-95 19 0,57-9 0,-163 1 0,-1-1 0,244-12 0,-346 48 0,-197 41 0,165-15-1067,75-11 885,84-26-245,-39 1-1280,-389 61-867,-416 56 1633,115-29-448,804-112 4147,-204-7 0,-11 10-858,219-6-1901,16-5-96,-244 22 56,187 0 41,-171 17 0,339-48 217,-1-1 0,-72-12 0,-2 0 142,-36 10-359,91 3 0,-119-14 0,132 5 0,-258-31 0,269 38 0,14 2 0,0-2 0,1 0 0,-1-2 0,-44-13 0,66 15 0,0-1 0,1 0 0,-1 0 0,1 0 0,-1-1 0,-9-8 0,13 9 0,0 1 0,0-1 0,1 0 0,-1 0 0,1-1 0,0 1 0,0 0 0,0-1 0,0 0 0,0 1 0,1-1 0,0 0 0,0 1 0,-2-9 0,3 1 0,-1 0 0,2 0 0,-1 0 0,1 0 0,5-20 0,20-55 0,-3 27 0,2 0 0,45-73 0,-63 121 0,0-1 0,1 1 0,1 0 0,0 1 0,0-1 0,1 2 0,0 0 0,1 0 0,0 1 0,1 0 0,-1 1 0,1 0 0,1 1 0,-1 0 0,1 1 0,17-5 0,3 2 0,1 0 0,0 3 0,1 0 0,34 1 0,141 10 0,-149-3 0,-32-2 0,1 1 0,0 1 0,-1 2 0,0 1 0,0 1 0,30 12 0,118 72 0,-18-8 0,-138-72 0,0 1 0,0 0 0,-1 2 0,-1 0 0,-1 2 0,0 0 0,0 0 0,-2 2 0,27 36 0,-4 5 0,-2 2 0,30 69 0,-59-117 0,0 1 0,1-1 0,0 0 0,1-1 0,19 17 0,14 18 0,-28-26 0,-1 0 0,0 0 0,-2 1 0,0 1 0,-2 0 0,13 38 0,-18-43 0,1-1 0,0 0 0,1-1 0,1 1 0,1-1 0,1-1 0,0 0 0,0 0 0,22 22 0,-12-18 0,2 0 0,0-1 0,1-2 0,1 0 0,0-1 0,1-2 0,42 17 0,-46-23 0,0-1 0,0-1 0,42 4 0,66-4 0,-106-5 0,421-1 110,-185-1-1585,-185 1-5351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4T00:38:34.637"/>
    </inkml:context>
    <inkml:brush xml:id="br0">
      <inkml:brushProperty name="width" value="0.05" units="cm"/>
      <inkml:brushProperty name="height" value="0.05" units="cm"/>
      <inkml:brushProperty name="color" value="#66CC00"/>
    </inkml:brush>
  </inkml:definitions>
  <inkml:trace contextRef="#ctx0" brushRef="#br0">0 0 24575,'0'0'-8191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4T00:39:11.920"/>
    </inkml:context>
    <inkml:brush xml:id="br0">
      <inkml:brushProperty name="width" value="0.05" units="cm"/>
      <inkml:brushProperty name="height" value="0.05" units="cm"/>
      <inkml:brushProperty name="color" value="#66CC00"/>
    </inkml:brush>
  </inkml:definitions>
  <inkml:trace contextRef="#ctx0" brushRef="#br0">1313 0 24575,'-3'3'0,"1"-2"0,-1 1 0,1 0 0,-1 0 0,0-1 0,1 1 0,-1-1 0,0 0 0,0 0 0,-4 1 0,-34 5 0,33-5 0,-61 4 0,-121-5 0,122-3 0,-122 12 0,174-8 0,1 0 0,-1 2 0,1 0 0,0 0 0,1 1 0,-1 1 0,1 1 0,0 0 0,0 0 0,1 2 0,-16 11 0,14-5 0,0 0 0,1 1 0,-20 30 0,-31 59 0,58-93 0,-42 73 0,-92 153 0,136-230 0,-98 166 0,90-150 0,2 1 0,1 1 0,2 0 0,0 0 0,-7 42 0,10-6 0,1 1 0,4-1 0,2 1 0,18 107 0,-16-148 0,0-1 0,2 0 0,11 30 0,-13-42 0,1 1 0,0-1 0,0 0 0,1-1 0,0 1 0,0-1 0,1 0 0,0-1 0,12 10 0,-4-6 0,0-1 0,1-1 0,0 0 0,1-1 0,0-1 0,0 0 0,1-1 0,0-1 0,-1-1 0,2-1 0,26 2 0,18-2 0,126-12 0,-135 4 0,78-1 0,-59 3 0,129-20 0,211-35 0,-304 47 0,94-20 0,85-7 0,30-9 0,-46 4 0,219 32 0,-349 13 0,2302 0-2174,-1382-3 3289,-421 1-807,-344 0-1081,145 0-2318,123 0 1549,849 0-3718,712 0 1878,-1766 0 3251,-81 0 668,-75 0 110,1213 0 12499,-1270-2-13146,199-27 0,5-5 100,-315 34 25,-1-2 0,1-1 0,41-10 0,-66 10-125,144-29 0,0 7 0,8-1 0,486-70 0,-455 57 0,23-3 0,139-21 0,-46 11 0,123-10-114,172-9-401,-412 46 461,2-2 54,94-11 0,4 19 0,294 20 425,-166 2-167,3160-3-660,-3578 0 412,220 5 362,-178-2-365,0 3 0,87 22-1,240 102-6,-349-119 0,-1 1 0,0 1 0,-1 1 0,0 1 0,-1 0 0,31 33 0,88 117 0,-131-155 0,43 59 0,79 140 0,-120-186 0,0 0 0,9 36 0,13 29 0,-15-50 0,-1-5 0,-2 0 0,-1 2 0,14 54 0,-23-68 0,0 0 0,-2 1 0,0-1 0,-1 1 0,-4 34 0,2-49 0,0 0 0,0 1 0,-1-1 0,0-1 0,-1 1 0,1 0 0,-1 0 0,0-1 0,-1 1 0,0-1 0,0 0 0,0 0 0,-1-1 0,0 1 0,0-1 0,0 0 0,0 0 0,-1-1 0,0 0 0,-10 6 0,3-4 0,1-1 0,-1 0 0,0-1 0,0 0 0,0-2 0,-27 4 0,-87-4 0,58-3 0,-4 5 0,0 3 0,-131 29 0,-141 63 0,243-65 0,-262 78 0,322-101 0,-134 33 0,124-34 0,-74 6 0,-287-14 0,224-5 0,-248 4-246,-446-8-477,740-1 302,-236-46 0,-128-70-420,-5 10 113,-341-24 728,593 101 0,-20-3 0,-379-69 142,342 72 577,132 18-730,28 3 7,-171-27 1420,248 26-1029,-23-6-21,-181-17-1,-208 36-365,322 6 0,-536 0 0,626 1 0,-91 16 0,47-3 0,-44-2 0,-61 7 0,164-13 0,-413 39 0,420-45 0,-2-1 0,-104 16 0,-258 80 0,329-77 0,59-14 0,1 2 0,-58 20 0,-42 34 0,0 1 0,-190 54 0,242-94 0,-1-3 0,-88 9 0,-555 42 0,654-67 0,1 4 0,-92 21 0,60-7 0,-1-5 0,-162 7 0,-212-22 0,258-5 0,-1635 1 0,1075 3 0,86-1 0,228-32 0,101 2 0,347 29 0,-28 0 0,1-2 0,-69-14 0,-183-58 0,245 64 0,-71-4 0,71 10 0,-75-17 0,62 6 0,-144-41 0,155 38 0,2-2 0,-73-42 0,103 52 0,1-1 0,0-1 0,1-1 0,-24-22 0,34 26 0,-1 0 0,2 0 0,-1-1 0,1 0 0,1 0 0,0-1 0,1 0 0,0 0 0,-5-16 0,4 2 0,1 0 0,-6-46 0,3-57 0,3 30 0,-9-20 0,7 68 0,2 1 0,2-61 0,4 102-124,0 1 0,1-1 0,0 1 0,1-1 0,0 1 0,0-1-1,1 1 1,0 0 0,1 0 0,6-12 0,15-11-6702</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8F1462-AF41-4EA6-B1BE-ABC9A24BDEA4}" type="datetimeFigureOut">
              <a:rPr lang="en-US" smtClean="0"/>
              <a:t>3/3/2026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6462DD-17F8-4376-B0D8-32B218ABA592}" type="slidenum">
              <a:rPr lang="en-US" smtClean="0"/>
              <a:t>‹#›</a:t>
            </a:fld>
            <a:endParaRPr lang="en-US"/>
          </a:p>
        </p:txBody>
      </p:sp>
    </p:spTree>
    <p:extLst>
      <p:ext uri="{BB962C8B-B14F-4D97-AF65-F5344CB8AC3E}">
        <p14:creationId xmlns:p14="http://schemas.microsoft.com/office/powerpoint/2010/main" val="11051113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DA979E6-713B-4271-BC29-AFAD243A2AFB}" type="slidenum">
              <a:rPr lang="en-US" smtClean="0"/>
              <a:t>1</a:t>
            </a:fld>
            <a:endParaRPr lang="en-US"/>
          </a:p>
        </p:txBody>
      </p:sp>
    </p:spTree>
    <p:extLst>
      <p:ext uri="{BB962C8B-B14F-4D97-AF65-F5344CB8AC3E}">
        <p14:creationId xmlns:p14="http://schemas.microsoft.com/office/powerpoint/2010/main" val="24148851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DA979E6-713B-4271-BC29-AFAD243A2AFB}" type="slidenum">
              <a:rPr lang="en-US" smtClean="0"/>
              <a:t>3</a:t>
            </a:fld>
            <a:endParaRPr lang="en-US"/>
          </a:p>
        </p:txBody>
      </p:sp>
    </p:spTree>
    <p:extLst>
      <p:ext uri="{BB962C8B-B14F-4D97-AF65-F5344CB8AC3E}">
        <p14:creationId xmlns:p14="http://schemas.microsoft.com/office/powerpoint/2010/main" val="42530527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DA979E6-713B-4271-BC29-AFAD243A2AFB}" type="slidenum">
              <a:rPr lang="en-US" smtClean="0"/>
              <a:t>4</a:t>
            </a:fld>
            <a:endParaRPr lang="en-US"/>
          </a:p>
        </p:txBody>
      </p:sp>
    </p:spTree>
    <p:extLst>
      <p:ext uri="{BB962C8B-B14F-4D97-AF65-F5344CB8AC3E}">
        <p14:creationId xmlns:p14="http://schemas.microsoft.com/office/powerpoint/2010/main" val="9448455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EAB95-C7D8-C7AF-7899-D81F6EB2BD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B0B995-049D-60F7-3149-B31F1B677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960D78-75A8-321C-78E9-B67451D258C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769464-2B52-E9F1-3463-96CA1D6DD149}"/>
              </a:ext>
            </a:extLst>
          </p:cNvPr>
          <p:cNvSpPr>
            <a:spLocks noGrp="1"/>
          </p:cNvSpPr>
          <p:nvPr>
            <p:ph type="sldNum" sz="quarter" idx="10"/>
          </p:nvPr>
        </p:nvSpPr>
        <p:spPr/>
        <p:txBody>
          <a:bodyPr/>
          <a:lstStyle/>
          <a:p>
            <a:fld id="{9DA979E6-713B-4271-BC29-AFAD243A2AFB}" type="slidenum">
              <a:rPr lang="en-US" smtClean="0"/>
              <a:t>5</a:t>
            </a:fld>
            <a:endParaRPr lang="en-US"/>
          </a:p>
        </p:txBody>
      </p:sp>
    </p:spTree>
    <p:extLst>
      <p:ext uri="{BB962C8B-B14F-4D97-AF65-F5344CB8AC3E}">
        <p14:creationId xmlns:p14="http://schemas.microsoft.com/office/powerpoint/2010/main" val="8462239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DA979E6-713B-4271-BC29-AFAD243A2AFB}" type="slidenum">
              <a:rPr lang="en-US" smtClean="0"/>
              <a:t>6</a:t>
            </a:fld>
            <a:endParaRPr lang="en-US"/>
          </a:p>
        </p:txBody>
      </p:sp>
    </p:spTree>
    <p:extLst>
      <p:ext uri="{BB962C8B-B14F-4D97-AF65-F5344CB8AC3E}">
        <p14:creationId xmlns:p14="http://schemas.microsoft.com/office/powerpoint/2010/main" val="29333923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7</a:t>
            </a:fld>
            <a:endParaRPr lang="en-US"/>
          </a:p>
        </p:txBody>
      </p:sp>
    </p:spTree>
    <p:extLst>
      <p:ext uri="{BB962C8B-B14F-4D97-AF65-F5344CB8AC3E}">
        <p14:creationId xmlns:p14="http://schemas.microsoft.com/office/powerpoint/2010/main" val="12867427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8</a:t>
            </a:fld>
            <a:endParaRPr lang="en-US"/>
          </a:p>
        </p:txBody>
      </p:sp>
    </p:spTree>
    <p:extLst>
      <p:ext uri="{BB962C8B-B14F-4D97-AF65-F5344CB8AC3E}">
        <p14:creationId xmlns:p14="http://schemas.microsoft.com/office/powerpoint/2010/main" val="15515062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DA979E6-713B-4271-BC29-AFAD243A2AFB}" type="slidenum">
              <a:rPr lang="en-US" smtClean="0"/>
              <a:t>9</a:t>
            </a:fld>
            <a:endParaRPr lang="en-US"/>
          </a:p>
        </p:txBody>
      </p:sp>
    </p:spTree>
    <p:extLst>
      <p:ext uri="{BB962C8B-B14F-4D97-AF65-F5344CB8AC3E}">
        <p14:creationId xmlns:p14="http://schemas.microsoft.com/office/powerpoint/2010/main" val="12056090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DA979E6-713B-4271-BC29-AFAD243A2AFB}" type="slidenum">
              <a:rPr lang="en-US" smtClean="0"/>
              <a:t>10</a:t>
            </a:fld>
            <a:endParaRPr lang="en-US"/>
          </a:p>
        </p:txBody>
      </p:sp>
    </p:spTree>
    <p:extLst>
      <p:ext uri="{BB962C8B-B14F-4D97-AF65-F5344CB8AC3E}">
        <p14:creationId xmlns:p14="http://schemas.microsoft.com/office/powerpoint/2010/main" val="5113849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DA979E6-713B-4271-BC29-AFAD243A2AFB}" type="slidenum">
              <a:rPr lang="en-US" smtClean="0"/>
              <a:t>11</a:t>
            </a:fld>
            <a:endParaRPr lang="en-US"/>
          </a:p>
        </p:txBody>
      </p:sp>
    </p:spTree>
    <p:extLst>
      <p:ext uri="{BB962C8B-B14F-4D97-AF65-F5344CB8AC3E}">
        <p14:creationId xmlns:p14="http://schemas.microsoft.com/office/powerpoint/2010/main" val="10792038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12</a:t>
            </a:fld>
            <a:endParaRPr lang="en-US"/>
          </a:p>
        </p:txBody>
      </p:sp>
    </p:spTree>
    <p:extLst>
      <p:ext uri="{BB962C8B-B14F-4D97-AF65-F5344CB8AC3E}">
        <p14:creationId xmlns:p14="http://schemas.microsoft.com/office/powerpoint/2010/main" val="18666264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13</a:t>
            </a:fld>
            <a:endParaRPr lang="en-US"/>
          </a:p>
        </p:txBody>
      </p:sp>
    </p:spTree>
    <p:extLst>
      <p:ext uri="{BB962C8B-B14F-4D97-AF65-F5344CB8AC3E}">
        <p14:creationId xmlns:p14="http://schemas.microsoft.com/office/powerpoint/2010/main" val="32443825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14</a:t>
            </a:fld>
            <a:endParaRPr lang="en-US"/>
          </a:p>
        </p:txBody>
      </p:sp>
    </p:spTree>
    <p:extLst>
      <p:ext uri="{BB962C8B-B14F-4D97-AF65-F5344CB8AC3E}">
        <p14:creationId xmlns:p14="http://schemas.microsoft.com/office/powerpoint/2010/main" val="41728343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15</a:t>
            </a:fld>
            <a:endParaRPr lang="en-US"/>
          </a:p>
        </p:txBody>
      </p:sp>
    </p:spTree>
    <p:extLst>
      <p:ext uri="{BB962C8B-B14F-4D97-AF65-F5344CB8AC3E}">
        <p14:creationId xmlns:p14="http://schemas.microsoft.com/office/powerpoint/2010/main" val="16441122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16</a:t>
            </a:fld>
            <a:endParaRPr lang="en-US"/>
          </a:p>
        </p:txBody>
      </p:sp>
    </p:spTree>
    <p:extLst>
      <p:ext uri="{BB962C8B-B14F-4D97-AF65-F5344CB8AC3E}">
        <p14:creationId xmlns:p14="http://schemas.microsoft.com/office/powerpoint/2010/main" val="22145358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17</a:t>
            </a:fld>
            <a:endParaRPr lang="en-US"/>
          </a:p>
        </p:txBody>
      </p:sp>
    </p:spTree>
    <p:extLst>
      <p:ext uri="{BB962C8B-B14F-4D97-AF65-F5344CB8AC3E}">
        <p14:creationId xmlns:p14="http://schemas.microsoft.com/office/powerpoint/2010/main" val="31692161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C6413-0C47-1503-C4AE-BE0313588AA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24396D6-B115-6D1A-2929-B1CCF9EABCD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4C08C2E-E2DE-BBEC-68CF-A2EB107C1293}"/>
              </a:ext>
            </a:extLst>
          </p:cNvPr>
          <p:cNvSpPr>
            <a:spLocks noGrp="1"/>
          </p:cNvSpPr>
          <p:nvPr>
            <p:ph type="dt" sz="half" idx="10"/>
          </p:nvPr>
        </p:nvSpPr>
        <p:spPr/>
        <p:txBody>
          <a:bodyPr/>
          <a:lstStyle/>
          <a:p>
            <a:fld id="{4135E4B0-EC3C-4629-A031-8E995D00366F}" type="datetimeFigureOut">
              <a:rPr lang="en-US" smtClean="0"/>
              <a:t>3/3/2026</a:t>
            </a:fld>
            <a:endParaRPr lang="en-US"/>
          </a:p>
        </p:txBody>
      </p:sp>
      <p:sp>
        <p:nvSpPr>
          <p:cNvPr id="5" name="Footer Placeholder 4">
            <a:extLst>
              <a:ext uri="{FF2B5EF4-FFF2-40B4-BE49-F238E27FC236}">
                <a16:creationId xmlns:a16="http://schemas.microsoft.com/office/drawing/2014/main" id="{09D4E551-4E3E-3941-0CA0-6FB5D6A475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61C16E-CFB6-8B09-A455-7257CD9D8FBB}"/>
              </a:ext>
            </a:extLst>
          </p:cNvPr>
          <p:cNvSpPr>
            <a:spLocks noGrp="1"/>
          </p:cNvSpPr>
          <p:nvPr>
            <p:ph type="sldNum" sz="quarter" idx="12"/>
          </p:nvPr>
        </p:nvSpPr>
        <p:spPr/>
        <p:txBody>
          <a:bodyPr/>
          <a:lstStyle/>
          <a:p>
            <a:fld id="{0DF9A644-045D-4594-AEE4-ECCA02A8CEDB}" type="slidenum">
              <a:rPr lang="en-US" smtClean="0"/>
              <a:t>‹#›</a:t>
            </a:fld>
            <a:endParaRPr lang="en-US"/>
          </a:p>
        </p:txBody>
      </p:sp>
    </p:spTree>
    <p:extLst>
      <p:ext uri="{BB962C8B-B14F-4D97-AF65-F5344CB8AC3E}">
        <p14:creationId xmlns:p14="http://schemas.microsoft.com/office/powerpoint/2010/main" val="907374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77EE2-E0ED-1B85-255E-757BB7D8FAC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D653383-0AD9-2E02-75B6-70EA50041F5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71CD70-B949-3576-1D80-6BDB767B93A8}"/>
              </a:ext>
            </a:extLst>
          </p:cNvPr>
          <p:cNvSpPr>
            <a:spLocks noGrp="1"/>
          </p:cNvSpPr>
          <p:nvPr>
            <p:ph type="dt" sz="half" idx="10"/>
          </p:nvPr>
        </p:nvSpPr>
        <p:spPr/>
        <p:txBody>
          <a:bodyPr/>
          <a:lstStyle/>
          <a:p>
            <a:fld id="{4135E4B0-EC3C-4629-A031-8E995D00366F}" type="datetimeFigureOut">
              <a:rPr lang="en-US" smtClean="0"/>
              <a:t>3/3/2026</a:t>
            </a:fld>
            <a:endParaRPr lang="en-US"/>
          </a:p>
        </p:txBody>
      </p:sp>
      <p:sp>
        <p:nvSpPr>
          <p:cNvPr id="5" name="Footer Placeholder 4">
            <a:extLst>
              <a:ext uri="{FF2B5EF4-FFF2-40B4-BE49-F238E27FC236}">
                <a16:creationId xmlns:a16="http://schemas.microsoft.com/office/drawing/2014/main" id="{F6EC6330-255D-3F1A-2D8C-386AF18FF5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81521A-5B26-FFB5-4568-7C1B8EB6E966}"/>
              </a:ext>
            </a:extLst>
          </p:cNvPr>
          <p:cNvSpPr>
            <a:spLocks noGrp="1"/>
          </p:cNvSpPr>
          <p:nvPr>
            <p:ph type="sldNum" sz="quarter" idx="12"/>
          </p:nvPr>
        </p:nvSpPr>
        <p:spPr/>
        <p:txBody>
          <a:bodyPr/>
          <a:lstStyle/>
          <a:p>
            <a:fld id="{0DF9A644-045D-4594-AEE4-ECCA02A8CEDB}" type="slidenum">
              <a:rPr lang="en-US" smtClean="0"/>
              <a:t>‹#›</a:t>
            </a:fld>
            <a:endParaRPr lang="en-US"/>
          </a:p>
        </p:txBody>
      </p:sp>
    </p:spTree>
    <p:extLst>
      <p:ext uri="{BB962C8B-B14F-4D97-AF65-F5344CB8AC3E}">
        <p14:creationId xmlns:p14="http://schemas.microsoft.com/office/powerpoint/2010/main" val="2003198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84910-465A-10A8-47B9-DD51AD747A7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ACF9C5E-7577-B7E3-F7E5-9E21609B6FE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C1172E6-A2E8-BB62-A780-244F3B739E2F}"/>
              </a:ext>
            </a:extLst>
          </p:cNvPr>
          <p:cNvSpPr>
            <a:spLocks noGrp="1"/>
          </p:cNvSpPr>
          <p:nvPr>
            <p:ph type="dt" sz="half" idx="10"/>
          </p:nvPr>
        </p:nvSpPr>
        <p:spPr/>
        <p:txBody>
          <a:bodyPr/>
          <a:lstStyle/>
          <a:p>
            <a:fld id="{4135E4B0-EC3C-4629-A031-8E995D00366F}" type="datetimeFigureOut">
              <a:rPr lang="en-US" smtClean="0"/>
              <a:t>3/3/2026</a:t>
            </a:fld>
            <a:endParaRPr lang="en-US"/>
          </a:p>
        </p:txBody>
      </p:sp>
      <p:sp>
        <p:nvSpPr>
          <p:cNvPr id="5" name="Footer Placeholder 4">
            <a:extLst>
              <a:ext uri="{FF2B5EF4-FFF2-40B4-BE49-F238E27FC236}">
                <a16:creationId xmlns:a16="http://schemas.microsoft.com/office/drawing/2014/main" id="{5C13D343-BC84-4391-0CAF-11C6BC7085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3D630F-24DA-273E-01B1-46B5B1EFF0B3}"/>
              </a:ext>
            </a:extLst>
          </p:cNvPr>
          <p:cNvSpPr>
            <a:spLocks noGrp="1"/>
          </p:cNvSpPr>
          <p:nvPr>
            <p:ph type="sldNum" sz="quarter" idx="12"/>
          </p:nvPr>
        </p:nvSpPr>
        <p:spPr/>
        <p:txBody>
          <a:bodyPr/>
          <a:lstStyle/>
          <a:p>
            <a:fld id="{0DF9A644-045D-4594-AEE4-ECCA02A8CEDB}" type="slidenum">
              <a:rPr lang="en-US" smtClean="0"/>
              <a:t>‹#›</a:t>
            </a:fld>
            <a:endParaRPr lang="en-US"/>
          </a:p>
        </p:txBody>
      </p:sp>
    </p:spTree>
    <p:extLst>
      <p:ext uri="{BB962C8B-B14F-4D97-AF65-F5344CB8AC3E}">
        <p14:creationId xmlns:p14="http://schemas.microsoft.com/office/powerpoint/2010/main" val="8642209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E7D9C-87D7-DFAB-8065-B417CDCED5B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02B88E-C3FC-ECC3-C24A-0C57BE05AEC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05F70CF-6EF7-55B1-C1E7-622385910A4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88671CD-7454-C87F-2A45-5BABA4C0CFAB}"/>
              </a:ext>
            </a:extLst>
          </p:cNvPr>
          <p:cNvSpPr>
            <a:spLocks noGrp="1"/>
          </p:cNvSpPr>
          <p:nvPr>
            <p:ph type="dt" sz="half" idx="10"/>
          </p:nvPr>
        </p:nvSpPr>
        <p:spPr/>
        <p:txBody>
          <a:bodyPr/>
          <a:lstStyle/>
          <a:p>
            <a:fld id="{4135E4B0-EC3C-4629-A031-8E995D00366F}" type="datetimeFigureOut">
              <a:rPr lang="en-US" smtClean="0"/>
              <a:t>3/3/2026</a:t>
            </a:fld>
            <a:endParaRPr lang="en-US"/>
          </a:p>
        </p:txBody>
      </p:sp>
      <p:sp>
        <p:nvSpPr>
          <p:cNvPr id="6" name="Footer Placeholder 5">
            <a:extLst>
              <a:ext uri="{FF2B5EF4-FFF2-40B4-BE49-F238E27FC236}">
                <a16:creationId xmlns:a16="http://schemas.microsoft.com/office/drawing/2014/main" id="{F068E635-EBB3-0B49-8547-779D829C604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648D8F-42E8-594C-86C0-CB6617246738}"/>
              </a:ext>
            </a:extLst>
          </p:cNvPr>
          <p:cNvSpPr>
            <a:spLocks noGrp="1"/>
          </p:cNvSpPr>
          <p:nvPr>
            <p:ph type="sldNum" sz="quarter" idx="12"/>
          </p:nvPr>
        </p:nvSpPr>
        <p:spPr/>
        <p:txBody>
          <a:bodyPr/>
          <a:lstStyle/>
          <a:p>
            <a:fld id="{0DF9A644-045D-4594-AEE4-ECCA02A8CEDB}" type="slidenum">
              <a:rPr lang="en-US" smtClean="0"/>
              <a:t>‹#›</a:t>
            </a:fld>
            <a:endParaRPr lang="en-US"/>
          </a:p>
        </p:txBody>
      </p:sp>
    </p:spTree>
    <p:extLst>
      <p:ext uri="{BB962C8B-B14F-4D97-AF65-F5344CB8AC3E}">
        <p14:creationId xmlns:p14="http://schemas.microsoft.com/office/powerpoint/2010/main" val="10349466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B57FB-854B-86A7-5EE4-97A289F753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8D02820-86A4-3877-8015-EAABA9EF040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1F7D7FD-57B9-22B6-085D-DE2316E0DB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8EE9D6B-E9AD-E076-EC07-1A449A2D13D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2A1A54-D64B-4F56-3010-E3446D22B2D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6356F34-47C6-41CD-C8F4-9DA2015BD74B}"/>
              </a:ext>
            </a:extLst>
          </p:cNvPr>
          <p:cNvSpPr>
            <a:spLocks noGrp="1"/>
          </p:cNvSpPr>
          <p:nvPr>
            <p:ph type="dt" sz="half" idx="10"/>
          </p:nvPr>
        </p:nvSpPr>
        <p:spPr/>
        <p:txBody>
          <a:bodyPr/>
          <a:lstStyle/>
          <a:p>
            <a:fld id="{4135E4B0-EC3C-4629-A031-8E995D00366F}" type="datetimeFigureOut">
              <a:rPr lang="en-US" smtClean="0"/>
              <a:t>3/3/2026</a:t>
            </a:fld>
            <a:endParaRPr lang="en-US"/>
          </a:p>
        </p:txBody>
      </p:sp>
      <p:sp>
        <p:nvSpPr>
          <p:cNvPr id="8" name="Footer Placeholder 7">
            <a:extLst>
              <a:ext uri="{FF2B5EF4-FFF2-40B4-BE49-F238E27FC236}">
                <a16:creationId xmlns:a16="http://schemas.microsoft.com/office/drawing/2014/main" id="{52F64D3A-E1B6-1BA0-7AAE-AADABB321A8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78CF46-915F-270E-3143-1961DA4EDA67}"/>
              </a:ext>
            </a:extLst>
          </p:cNvPr>
          <p:cNvSpPr>
            <a:spLocks noGrp="1"/>
          </p:cNvSpPr>
          <p:nvPr>
            <p:ph type="sldNum" sz="quarter" idx="12"/>
          </p:nvPr>
        </p:nvSpPr>
        <p:spPr/>
        <p:txBody>
          <a:bodyPr/>
          <a:lstStyle/>
          <a:p>
            <a:fld id="{0DF9A644-045D-4594-AEE4-ECCA02A8CEDB}" type="slidenum">
              <a:rPr lang="en-US" smtClean="0"/>
              <a:t>‹#›</a:t>
            </a:fld>
            <a:endParaRPr lang="en-US"/>
          </a:p>
        </p:txBody>
      </p:sp>
    </p:spTree>
    <p:extLst>
      <p:ext uri="{BB962C8B-B14F-4D97-AF65-F5344CB8AC3E}">
        <p14:creationId xmlns:p14="http://schemas.microsoft.com/office/powerpoint/2010/main" val="35426247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8F0FA-8F51-8C5A-1A56-C0256D18CA8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522EF63-E0D9-55E1-C060-8EE6C13BF28E}"/>
              </a:ext>
            </a:extLst>
          </p:cNvPr>
          <p:cNvSpPr>
            <a:spLocks noGrp="1"/>
          </p:cNvSpPr>
          <p:nvPr>
            <p:ph type="dt" sz="half" idx="10"/>
          </p:nvPr>
        </p:nvSpPr>
        <p:spPr/>
        <p:txBody>
          <a:bodyPr/>
          <a:lstStyle/>
          <a:p>
            <a:fld id="{4135E4B0-EC3C-4629-A031-8E995D00366F}" type="datetimeFigureOut">
              <a:rPr lang="en-US" smtClean="0"/>
              <a:t>3/3/2026</a:t>
            </a:fld>
            <a:endParaRPr lang="en-US"/>
          </a:p>
        </p:txBody>
      </p:sp>
      <p:sp>
        <p:nvSpPr>
          <p:cNvPr id="4" name="Footer Placeholder 3">
            <a:extLst>
              <a:ext uri="{FF2B5EF4-FFF2-40B4-BE49-F238E27FC236}">
                <a16:creationId xmlns:a16="http://schemas.microsoft.com/office/drawing/2014/main" id="{2FCAF38F-5BF3-2443-ECF5-15D97872B0A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19C899A-B01A-F4C9-BF5D-68C40315A789}"/>
              </a:ext>
            </a:extLst>
          </p:cNvPr>
          <p:cNvSpPr>
            <a:spLocks noGrp="1"/>
          </p:cNvSpPr>
          <p:nvPr>
            <p:ph type="sldNum" sz="quarter" idx="12"/>
          </p:nvPr>
        </p:nvSpPr>
        <p:spPr/>
        <p:txBody>
          <a:bodyPr/>
          <a:lstStyle/>
          <a:p>
            <a:fld id="{0DF9A644-045D-4594-AEE4-ECCA02A8CEDB}" type="slidenum">
              <a:rPr lang="en-US" smtClean="0"/>
              <a:t>‹#›</a:t>
            </a:fld>
            <a:endParaRPr lang="en-US"/>
          </a:p>
        </p:txBody>
      </p:sp>
    </p:spTree>
    <p:extLst>
      <p:ext uri="{BB962C8B-B14F-4D97-AF65-F5344CB8AC3E}">
        <p14:creationId xmlns:p14="http://schemas.microsoft.com/office/powerpoint/2010/main" val="1452305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E4D2E9-D3B8-774D-A371-860744DCB093}"/>
              </a:ext>
            </a:extLst>
          </p:cNvPr>
          <p:cNvSpPr>
            <a:spLocks noGrp="1"/>
          </p:cNvSpPr>
          <p:nvPr>
            <p:ph type="dt" sz="half" idx="10"/>
          </p:nvPr>
        </p:nvSpPr>
        <p:spPr/>
        <p:txBody>
          <a:bodyPr/>
          <a:lstStyle/>
          <a:p>
            <a:fld id="{4135E4B0-EC3C-4629-A031-8E995D00366F}" type="datetimeFigureOut">
              <a:rPr lang="en-US" smtClean="0"/>
              <a:t>3/3/2026</a:t>
            </a:fld>
            <a:endParaRPr lang="en-US"/>
          </a:p>
        </p:txBody>
      </p:sp>
      <p:sp>
        <p:nvSpPr>
          <p:cNvPr id="3" name="Footer Placeholder 2">
            <a:extLst>
              <a:ext uri="{FF2B5EF4-FFF2-40B4-BE49-F238E27FC236}">
                <a16:creationId xmlns:a16="http://schemas.microsoft.com/office/drawing/2014/main" id="{14C8A87B-085A-C3A7-6379-64DD7043035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A3BF810-C63B-9811-1372-2AE1463D795A}"/>
              </a:ext>
            </a:extLst>
          </p:cNvPr>
          <p:cNvSpPr>
            <a:spLocks noGrp="1"/>
          </p:cNvSpPr>
          <p:nvPr>
            <p:ph type="sldNum" sz="quarter" idx="12"/>
          </p:nvPr>
        </p:nvSpPr>
        <p:spPr/>
        <p:txBody>
          <a:bodyPr/>
          <a:lstStyle/>
          <a:p>
            <a:fld id="{0DF9A644-045D-4594-AEE4-ECCA02A8CEDB}" type="slidenum">
              <a:rPr lang="en-US" smtClean="0"/>
              <a:t>‹#›</a:t>
            </a:fld>
            <a:endParaRPr lang="en-US"/>
          </a:p>
        </p:txBody>
      </p:sp>
    </p:spTree>
    <p:extLst>
      <p:ext uri="{BB962C8B-B14F-4D97-AF65-F5344CB8AC3E}">
        <p14:creationId xmlns:p14="http://schemas.microsoft.com/office/powerpoint/2010/main" val="1912907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BCCC4-EDE4-FFD8-9A43-F1EC94AFE62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75D8EA-B9E8-0586-1068-B4EEB51AD23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C10866F-B43B-EB0B-B398-B37C36FBD5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7DD1F54-5AD4-B3CC-2D7E-F82294BB2295}"/>
              </a:ext>
            </a:extLst>
          </p:cNvPr>
          <p:cNvSpPr>
            <a:spLocks noGrp="1"/>
          </p:cNvSpPr>
          <p:nvPr>
            <p:ph type="dt" sz="half" idx="10"/>
          </p:nvPr>
        </p:nvSpPr>
        <p:spPr/>
        <p:txBody>
          <a:bodyPr/>
          <a:lstStyle/>
          <a:p>
            <a:fld id="{4135E4B0-EC3C-4629-A031-8E995D00366F}" type="datetimeFigureOut">
              <a:rPr lang="en-US" smtClean="0"/>
              <a:t>3/3/2026</a:t>
            </a:fld>
            <a:endParaRPr lang="en-US"/>
          </a:p>
        </p:txBody>
      </p:sp>
      <p:sp>
        <p:nvSpPr>
          <p:cNvPr id="6" name="Footer Placeholder 5">
            <a:extLst>
              <a:ext uri="{FF2B5EF4-FFF2-40B4-BE49-F238E27FC236}">
                <a16:creationId xmlns:a16="http://schemas.microsoft.com/office/drawing/2014/main" id="{DE632BCA-D6B5-5018-D1B3-DA12B5B324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608C34-7145-3059-74FB-F705F3334118}"/>
              </a:ext>
            </a:extLst>
          </p:cNvPr>
          <p:cNvSpPr>
            <a:spLocks noGrp="1"/>
          </p:cNvSpPr>
          <p:nvPr>
            <p:ph type="sldNum" sz="quarter" idx="12"/>
          </p:nvPr>
        </p:nvSpPr>
        <p:spPr/>
        <p:txBody>
          <a:bodyPr/>
          <a:lstStyle/>
          <a:p>
            <a:fld id="{0DF9A644-045D-4594-AEE4-ECCA02A8CEDB}" type="slidenum">
              <a:rPr lang="en-US" smtClean="0"/>
              <a:t>‹#›</a:t>
            </a:fld>
            <a:endParaRPr lang="en-US"/>
          </a:p>
        </p:txBody>
      </p:sp>
    </p:spTree>
    <p:extLst>
      <p:ext uri="{BB962C8B-B14F-4D97-AF65-F5344CB8AC3E}">
        <p14:creationId xmlns:p14="http://schemas.microsoft.com/office/powerpoint/2010/main" val="39502839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AA8D9-49F0-2048-5092-CAF4DE3EDD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0A5DD17-F885-6CD7-76CE-03C76B76BD0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A9AA667-717C-F307-FE72-1F0CEA0826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312CC3-F98B-CECB-AF27-592580AE88BC}"/>
              </a:ext>
            </a:extLst>
          </p:cNvPr>
          <p:cNvSpPr>
            <a:spLocks noGrp="1"/>
          </p:cNvSpPr>
          <p:nvPr>
            <p:ph type="dt" sz="half" idx="10"/>
          </p:nvPr>
        </p:nvSpPr>
        <p:spPr/>
        <p:txBody>
          <a:bodyPr/>
          <a:lstStyle/>
          <a:p>
            <a:fld id="{4135E4B0-EC3C-4629-A031-8E995D00366F}" type="datetimeFigureOut">
              <a:rPr lang="en-US" smtClean="0"/>
              <a:t>3/3/2026</a:t>
            </a:fld>
            <a:endParaRPr lang="en-US"/>
          </a:p>
        </p:txBody>
      </p:sp>
      <p:sp>
        <p:nvSpPr>
          <p:cNvPr id="6" name="Footer Placeholder 5">
            <a:extLst>
              <a:ext uri="{FF2B5EF4-FFF2-40B4-BE49-F238E27FC236}">
                <a16:creationId xmlns:a16="http://schemas.microsoft.com/office/drawing/2014/main" id="{56A2845E-61AC-E8C2-8378-B25A0419F7F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6D6FBB-770F-6F3E-72D2-673D6DCD9789}"/>
              </a:ext>
            </a:extLst>
          </p:cNvPr>
          <p:cNvSpPr>
            <a:spLocks noGrp="1"/>
          </p:cNvSpPr>
          <p:nvPr>
            <p:ph type="sldNum" sz="quarter" idx="12"/>
          </p:nvPr>
        </p:nvSpPr>
        <p:spPr/>
        <p:txBody>
          <a:bodyPr/>
          <a:lstStyle/>
          <a:p>
            <a:fld id="{0DF9A644-045D-4594-AEE4-ECCA02A8CEDB}" type="slidenum">
              <a:rPr lang="en-US" smtClean="0"/>
              <a:t>‹#›</a:t>
            </a:fld>
            <a:endParaRPr lang="en-US"/>
          </a:p>
        </p:txBody>
      </p:sp>
    </p:spTree>
    <p:extLst>
      <p:ext uri="{BB962C8B-B14F-4D97-AF65-F5344CB8AC3E}">
        <p14:creationId xmlns:p14="http://schemas.microsoft.com/office/powerpoint/2010/main" val="13388817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9863E-FCC8-8DC4-61FA-610C89D9BF8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8A07F1F-0FC6-333C-1281-C12E1B5D7F6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9A0481-1B43-C051-4E95-D26E5D8C9549}"/>
              </a:ext>
            </a:extLst>
          </p:cNvPr>
          <p:cNvSpPr>
            <a:spLocks noGrp="1"/>
          </p:cNvSpPr>
          <p:nvPr>
            <p:ph type="dt" sz="half" idx="10"/>
          </p:nvPr>
        </p:nvSpPr>
        <p:spPr/>
        <p:txBody>
          <a:bodyPr/>
          <a:lstStyle/>
          <a:p>
            <a:fld id="{4135E4B0-EC3C-4629-A031-8E995D00366F}" type="datetimeFigureOut">
              <a:rPr lang="en-US" smtClean="0"/>
              <a:t>3/3/2026</a:t>
            </a:fld>
            <a:endParaRPr lang="en-US"/>
          </a:p>
        </p:txBody>
      </p:sp>
      <p:sp>
        <p:nvSpPr>
          <p:cNvPr id="5" name="Footer Placeholder 4">
            <a:extLst>
              <a:ext uri="{FF2B5EF4-FFF2-40B4-BE49-F238E27FC236}">
                <a16:creationId xmlns:a16="http://schemas.microsoft.com/office/drawing/2014/main" id="{5B7E7FF9-6557-B462-0491-A112068AA6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F98E88-E8E0-E7B1-4860-13EC4B4DDAB1}"/>
              </a:ext>
            </a:extLst>
          </p:cNvPr>
          <p:cNvSpPr>
            <a:spLocks noGrp="1"/>
          </p:cNvSpPr>
          <p:nvPr>
            <p:ph type="sldNum" sz="quarter" idx="12"/>
          </p:nvPr>
        </p:nvSpPr>
        <p:spPr/>
        <p:txBody>
          <a:bodyPr/>
          <a:lstStyle/>
          <a:p>
            <a:fld id="{0DF9A644-045D-4594-AEE4-ECCA02A8CEDB}" type="slidenum">
              <a:rPr lang="en-US" smtClean="0"/>
              <a:t>‹#›</a:t>
            </a:fld>
            <a:endParaRPr lang="en-US"/>
          </a:p>
        </p:txBody>
      </p:sp>
    </p:spTree>
    <p:extLst>
      <p:ext uri="{BB962C8B-B14F-4D97-AF65-F5344CB8AC3E}">
        <p14:creationId xmlns:p14="http://schemas.microsoft.com/office/powerpoint/2010/main" val="37088943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C5F787E-E737-D0B0-CC3B-E11AA0D93EA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2F08519-521C-148A-E2B4-98C5A42A39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923C0A-39B6-2823-3066-96552E994A35}"/>
              </a:ext>
            </a:extLst>
          </p:cNvPr>
          <p:cNvSpPr>
            <a:spLocks noGrp="1"/>
          </p:cNvSpPr>
          <p:nvPr>
            <p:ph type="dt" sz="half" idx="10"/>
          </p:nvPr>
        </p:nvSpPr>
        <p:spPr/>
        <p:txBody>
          <a:bodyPr/>
          <a:lstStyle/>
          <a:p>
            <a:fld id="{4135E4B0-EC3C-4629-A031-8E995D00366F}" type="datetimeFigureOut">
              <a:rPr lang="en-US" smtClean="0"/>
              <a:t>3/3/2026</a:t>
            </a:fld>
            <a:endParaRPr lang="en-US"/>
          </a:p>
        </p:txBody>
      </p:sp>
      <p:sp>
        <p:nvSpPr>
          <p:cNvPr id="5" name="Footer Placeholder 4">
            <a:extLst>
              <a:ext uri="{FF2B5EF4-FFF2-40B4-BE49-F238E27FC236}">
                <a16:creationId xmlns:a16="http://schemas.microsoft.com/office/drawing/2014/main" id="{7FDAAA3C-11A4-59BD-6522-6CD48F0B80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F56630-4266-A1E5-4FA2-96A8A1FF1F91}"/>
              </a:ext>
            </a:extLst>
          </p:cNvPr>
          <p:cNvSpPr>
            <a:spLocks noGrp="1"/>
          </p:cNvSpPr>
          <p:nvPr>
            <p:ph type="sldNum" sz="quarter" idx="12"/>
          </p:nvPr>
        </p:nvSpPr>
        <p:spPr/>
        <p:txBody>
          <a:bodyPr/>
          <a:lstStyle/>
          <a:p>
            <a:fld id="{0DF9A644-045D-4594-AEE4-ECCA02A8CEDB}" type="slidenum">
              <a:rPr lang="en-US" smtClean="0"/>
              <a:t>‹#›</a:t>
            </a:fld>
            <a:endParaRPr lang="en-US"/>
          </a:p>
        </p:txBody>
      </p:sp>
    </p:spTree>
    <p:extLst>
      <p:ext uri="{BB962C8B-B14F-4D97-AF65-F5344CB8AC3E}">
        <p14:creationId xmlns:p14="http://schemas.microsoft.com/office/powerpoint/2010/main" val="8272924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6109F7-A6D7-D551-A1EE-40AE81AC7E0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2E02A83-46D5-6B19-7110-D6FCBC4EA41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096437-29D7-A313-4BB9-FEF1C7A8A59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135E4B0-EC3C-4629-A031-8E995D00366F}" type="datetimeFigureOut">
              <a:rPr lang="en-US" smtClean="0"/>
              <a:t>3/3/2026</a:t>
            </a:fld>
            <a:endParaRPr lang="en-US"/>
          </a:p>
        </p:txBody>
      </p:sp>
      <p:sp>
        <p:nvSpPr>
          <p:cNvPr id="5" name="Footer Placeholder 4">
            <a:extLst>
              <a:ext uri="{FF2B5EF4-FFF2-40B4-BE49-F238E27FC236}">
                <a16:creationId xmlns:a16="http://schemas.microsoft.com/office/drawing/2014/main" id="{C28E804F-DC5E-1E21-7BB4-DED4A67687B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9860836-1F33-800C-8204-DB4B5266644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DF9A644-045D-4594-AEE4-ECCA02A8CEDB}" type="slidenum">
              <a:rPr lang="en-US" smtClean="0"/>
              <a:t>‹#›</a:t>
            </a:fld>
            <a:endParaRPr lang="en-US"/>
          </a:p>
        </p:txBody>
      </p:sp>
    </p:spTree>
    <p:extLst>
      <p:ext uri="{BB962C8B-B14F-4D97-AF65-F5344CB8AC3E}">
        <p14:creationId xmlns:p14="http://schemas.microsoft.com/office/powerpoint/2010/main" val="36720707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xml"/><Relationship Id="rId1" Type="http://schemas.openxmlformats.org/officeDocument/2006/relationships/slideLayout" Target="../slideLayouts/slideLayout4.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46.png"/><Relationship Id="rId4" Type="http://schemas.openxmlformats.org/officeDocument/2006/relationships/image" Target="../media/image1.emf"/></Relationships>
</file>

<file path=ppt/slides/_rels/slide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4.png"/><Relationship Id="rId7" Type="http://schemas.openxmlformats.org/officeDocument/2006/relationships/customXml" Target="../ink/ink4.xml"/><Relationship Id="rId2" Type="http://schemas.openxmlformats.org/officeDocument/2006/relationships/customXml" Target="../ink/ink1.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customXml" Target="../ink/ink3.xml"/><Relationship Id="rId10" Type="http://schemas.openxmlformats.org/officeDocument/2006/relationships/image" Target="../media/image17.png"/><Relationship Id="rId4" Type="http://schemas.openxmlformats.org/officeDocument/2006/relationships/customXml" Target="../ink/ink2.xml"/><Relationship Id="rId9" Type="http://schemas.openxmlformats.org/officeDocument/2006/relationships/customXml" Target="../ink/ink5.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customXml" Target="../ink/ink6.xml"/><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customXml" Target="../ink/ink7.xml"/><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75B9600-05DF-4A77-84B8-BC4AD27FBCC1}"/>
              </a:ext>
            </a:extLst>
          </p:cNvPr>
          <p:cNvSpPr/>
          <p:nvPr/>
        </p:nvSpPr>
        <p:spPr>
          <a:xfrm>
            <a:off x="0" y="0"/>
            <a:ext cx="12192000" cy="713232"/>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Arial" panose="020B0604020202020204" pitchFamily="34" charset="0"/>
                <a:cs typeface="Arial" panose="020B0604020202020204" pitchFamily="34" charset="0"/>
              </a:rPr>
              <a:t>The Boundlessness of Measurement Error</a:t>
            </a:r>
          </a:p>
        </p:txBody>
      </p:sp>
      <p:pic>
        <p:nvPicPr>
          <p:cNvPr id="9" name="Picture 8">
            <a:extLst>
              <a:ext uri="{FF2B5EF4-FFF2-40B4-BE49-F238E27FC236}">
                <a16:creationId xmlns:a16="http://schemas.microsoft.com/office/drawing/2014/main" id="{C5F619FB-6B44-4D0B-94C2-54A59CC4CB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8180" y="6491732"/>
            <a:ext cx="3208020" cy="201958"/>
          </a:xfrm>
          <a:prstGeom prst="rect">
            <a:avLst/>
          </a:prstGeom>
        </p:spPr>
      </p:pic>
      <p:sp>
        <p:nvSpPr>
          <p:cNvPr id="10" name="Title 9">
            <a:extLst>
              <a:ext uri="{FF2B5EF4-FFF2-40B4-BE49-F238E27FC236}">
                <a16:creationId xmlns:a16="http://schemas.microsoft.com/office/drawing/2014/main" id="{29B6BF7D-DCC7-4DCF-B910-7EAC0B7CC482}"/>
              </a:ext>
            </a:extLst>
          </p:cNvPr>
          <p:cNvSpPr txBox="1">
            <a:spLocks/>
          </p:cNvSpPr>
          <p:nvPr/>
        </p:nvSpPr>
        <p:spPr>
          <a:xfrm>
            <a:off x="0" y="26658"/>
            <a:ext cx="12192000" cy="986802"/>
          </a:xfrm>
          <a:prstGeom prst="rect">
            <a:avLst/>
          </a:prstGeom>
        </p:spPr>
        <p:txBody>
          <a:bodyPr>
            <a:noAutofit/>
          </a:bodyPr>
          <a:lstStyle>
            <a:lvl1pPr algn="l" defTabSz="914400" rtl="0" eaLnBrk="1" fontAlgn="b" latinLnBrk="0" hangingPunct="1">
              <a:lnSpc>
                <a:spcPct val="90000"/>
              </a:lnSpc>
              <a:spcBef>
                <a:spcPct val="0"/>
              </a:spcBef>
              <a:buNone/>
              <a:defRPr sz="4800" kern="1200">
                <a:solidFill>
                  <a:schemeClr val="bg1"/>
                </a:solidFill>
                <a:latin typeface="+mj-lt"/>
                <a:ea typeface="+mj-ea"/>
                <a:cs typeface="+mj-cs"/>
              </a:defRPr>
            </a:lvl1pPr>
          </a:lstStyle>
          <a:p>
            <a:pPr algn="ctr"/>
            <a:endParaRPr lang="en-US" sz="3600" dirty="0">
              <a:latin typeface="Times New Roman" panose="02020603050405020304" pitchFamily="18" charset="0"/>
              <a:cs typeface="Times New Roman" panose="02020603050405020304" pitchFamily="18" charset="0"/>
            </a:endParaRPr>
          </a:p>
        </p:txBody>
      </p:sp>
      <p:pic>
        <p:nvPicPr>
          <p:cNvPr id="2" name="Content Placeholder 1">
            <a:extLst>
              <a:ext uri="{FF2B5EF4-FFF2-40B4-BE49-F238E27FC236}">
                <a16:creationId xmlns:a16="http://schemas.microsoft.com/office/drawing/2014/main" id="{B518D9DF-0EB9-E7A1-CD26-FC7E2C164CC2}"/>
              </a:ext>
            </a:extLst>
          </p:cNvPr>
          <p:cNvPicPr>
            <a:picLocks noGrp="1" noChangeAspect="1"/>
          </p:cNvPicPr>
          <p:nvPr>
            <p:ph sz="half" idx="1"/>
          </p:nvPr>
        </p:nvPicPr>
        <p:blipFill>
          <a:blip r:embed="rId4"/>
          <a:stretch>
            <a:fillRect/>
          </a:stretch>
        </p:blipFill>
        <p:spPr>
          <a:xfrm>
            <a:off x="8629359" y="1865823"/>
            <a:ext cx="3379761" cy="2049147"/>
          </a:xfrm>
          <a:prstGeom prst="rect">
            <a:avLst/>
          </a:prstGeom>
        </p:spPr>
      </p:pic>
      <p:pic>
        <p:nvPicPr>
          <p:cNvPr id="3" name="Picture 2">
            <a:extLst>
              <a:ext uri="{FF2B5EF4-FFF2-40B4-BE49-F238E27FC236}">
                <a16:creationId xmlns:a16="http://schemas.microsoft.com/office/drawing/2014/main" id="{2E22D246-80B9-F716-8077-0AAD1C6E79E1}"/>
              </a:ext>
            </a:extLst>
          </p:cNvPr>
          <p:cNvPicPr>
            <a:picLocks noChangeAspect="1"/>
          </p:cNvPicPr>
          <p:nvPr/>
        </p:nvPicPr>
        <p:blipFill>
          <a:blip r:embed="rId5"/>
          <a:stretch>
            <a:fillRect/>
          </a:stretch>
        </p:blipFill>
        <p:spPr>
          <a:xfrm>
            <a:off x="4114800" y="6592711"/>
            <a:ext cx="7696200" cy="181935"/>
          </a:xfrm>
          <a:prstGeom prst="rect">
            <a:avLst/>
          </a:prstGeom>
        </p:spPr>
      </p:pic>
      <p:sp>
        <p:nvSpPr>
          <p:cNvPr id="7" name="TextBox 6">
            <a:extLst>
              <a:ext uri="{FF2B5EF4-FFF2-40B4-BE49-F238E27FC236}">
                <a16:creationId xmlns:a16="http://schemas.microsoft.com/office/drawing/2014/main" id="{37F02C10-CFF2-65A4-3CED-10FF7F169487}"/>
              </a:ext>
            </a:extLst>
          </p:cNvPr>
          <p:cNvSpPr txBox="1"/>
          <p:nvPr/>
        </p:nvSpPr>
        <p:spPr>
          <a:xfrm>
            <a:off x="324321" y="713232"/>
            <a:ext cx="8190738" cy="6888039"/>
          </a:xfrm>
          <a:prstGeom prst="rect">
            <a:avLst/>
          </a:prstGeom>
          <a:noFill/>
        </p:spPr>
        <p:txBody>
          <a:bodyPr wrap="square">
            <a:spAutoFit/>
          </a:bodyPr>
          <a:lstStyle/>
          <a:p>
            <a:pPr>
              <a:buFont typeface="Wingdings" panose="05000000000000000000" pitchFamily="2" charset="2"/>
              <a:buChar char="Ø"/>
            </a:pPr>
            <a:r>
              <a:rPr lang="en-US" sz="2400" kern="0" dirty="0">
                <a:effectLst/>
                <a:latin typeface="Aptos Display" panose="020B0004020202020204" pitchFamily="34" charset="0"/>
                <a:ea typeface="Times New Roman" panose="02020603050405020304" pitchFamily="18" charset="0"/>
                <a:cs typeface="Arial" panose="020B0604020202020204" pitchFamily="34" charset="0"/>
              </a:rPr>
              <a:t>Unlike confounding bias, which is more tightly bounded by than by  </a:t>
            </a:r>
            <a:r>
              <a:rPr lang="en-US" sz="2400" kern="0" dirty="0" err="1">
                <a:effectLst/>
                <a:latin typeface="Aptos Display" panose="020B0004020202020204" pitchFamily="34" charset="0"/>
                <a:ea typeface="Times New Roman" panose="02020603050405020304" pitchFamily="18" charset="0"/>
                <a:cs typeface="Arial" panose="020B0604020202020204" pitchFamily="34" charset="0"/>
              </a:rPr>
              <a:t>Vanderweele</a:t>
            </a:r>
            <a:r>
              <a:rPr lang="en-US" sz="2400" kern="0" dirty="0">
                <a:effectLst/>
                <a:latin typeface="Aptos Display" panose="020B0004020202020204" pitchFamily="34" charset="0"/>
                <a:ea typeface="Times New Roman" panose="02020603050405020304" pitchFamily="18" charset="0"/>
                <a:cs typeface="Arial" panose="020B0604020202020204" pitchFamily="34" charset="0"/>
              </a:rPr>
              <a:t> and Ding’s (2017) </a:t>
            </a:r>
            <a:r>
              <a:rPr lang="en-US" sz="2400" kern="0" dirty="0">
                <a:latin typeface="Aptos Display" panose="020B0004020202020204" pitchFamily="34" charset="0"/>
                <a:ea typeface="Times New Roman" panose="02020603050405020304" pitchFamily="18" charset="0"/>
                <a:cs typeface="Arial" panose="020B0604020202020204" pitchFamily="34" charset="0"/>
              </a:rPr>
              <a:t>E-</a:t>
            </a:r>
            <a:r>
              <a:rPr lang="en-US" sz="2400" kern="0" dirty="0">
                <a:effectLst/>
                <a:latin typeface="Aptos Display" panose="020B0004020202020204" pitchFamily="34" charset="0"/>
                <a:ea typeface="Times New Roman" panose="02020603050405020304" pitchFamily="18" charset="0"/>
                <a:cs typeface="Arial" panose="020B0604020202020204" pitchFamily="34" charset="0"/>
              </a:rPr>
              <a:t>value,</a:t>
            </a:r>
          </a:p>
          <a:p>
            <a:pPr>
              <a:buFont typeface="Wingdings" panose="05000000000000000000" pitchFamily="2" charset="2"/>
              <a:buChar char="Ø"/>
            </a:pPr>
            <a:endParaRPr lang="en-US" dirty="0"/>
          </a:p>
          <a:p>
            <a:r>
              <a:rPr lang="en-US" sz="2400" dirty="0"/>
              <a:t>bias due to measurement error has no bounds, </a:t>
            </a:r>
          </a:p>
          <a:p>
            <a:endParaRPr lang="en-US" sz="2400" dirty="0"/>
          </a:p>
          <a:p>
            <a:r>
              <a:rPr lang="en-US" sz="2400" dirty="0"/>
              <a:t>robust methods and software are available to correct for this bias in exposures of interest and potential confounders, empirically eliminating the residual confounding issues</a:t>
            </a:r>
          </a:p>
          <a:p>
            <a:pPr>
              <a:buFont typeface="Wingdings" panose="05000000000000000000" pitchFamily="2" charset="2"/>
              <a:buChar char="Ø"/>
            </a:pPr>
            <a:endParaRPr lang="en-US" sz="2400" dirty="0"/>
          </a:p>
          <a:p>
            <a:pPr lvl="1"/>
            <a:r>
              <a:rPr lang="en-US" sz="2400" dirty="0"/>
              <a:t>High quality validation and reliability data are available across a range of chronic disease risk factors, permitting empirical adjustment to eliminate this source of bias. </a:t>
            </a:r>
            <a:r>
              <a:rPr lang="en-US" sz="2400" b="1" dirty="0"/>
              <a:t>This is the focus of this course: design of validation and reliability studies to then correct analyses for measurement error bias.</a:t>
            </a:r>
          </a:p>
          <a:p>
            <a:r>
              <a:rPr lang="en-US" sz="1050" dirty="0"/>
              <a:t>VanderWeele, Tyler J., and Peng Ding. 2017. “Sensitivity Analysis in Observational Research: Introducing the E-Value.” Annals of Internal Medicine (July 11). doi:10.7326/m16-2607.</a:t>
            </a:r>
          </a:p>
          <a:p>
            <a:pPr lvl="1"/>
            <a:endParaRPr lang="en-US" sz="2400" dirty="0"/>
          </a:p>
          <a:p>
            <a:pPr marL="0" marR="0">
              <a:lnSpc>
                <a:spcPct val="107000"/>
              </a:lnSpc>
              <a:spcBef>
                <a:spcPts val="0"/>
              </a:spcBef>
              <a:spcAft>
                <a:spcPts val="0"/>
              </a:spcAft>
            </a:pPr>
            <a:endParaRPr lang="en-US" sz="3000" kern="100" dirty="0">
              <a:effectLst/>
              <a:latin typeface="Arial" panose="020B0604020202020204" pitchFamily="34" charset="0"/>
              <a:ea typeface="Calibri" panose="020F0502020204030204" pitchFamily="34" charset="0"/>
              <a:cs typeface="Arial" panose="020B0604020202020204" pitchFamily="34" charset="0"/>
            </a:endParaRPr>
          </a:p>
          <a:p>
            <a:pPr marL="0" marR="0">
              <a:spcBef>
                <a:spcPts val="0"/>
              </a:spcBef>
              <a:spcAft>
                <a:spcPts val="800"/>
              </a:spcAft>
            </a:pPr>
            <a:r>
              <a:rPr lang="en-US" sz="1050" kern="100" dirty="0">
                <a:effectLst/>
                <a:latin typeface="Calibri" panose="020F0502020204030204" pitchFamily="34" charset="0"/>
                <a:ea typeface="Calibri" panose="020F0502020204030204" pitchFamily="34" charset="0"/>
                <a:cs typeface="Times New Roman" panose="02020603050405020304" pitchFamily="18" charset="0"/>
              </a:rPr>
              <a:t> </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022B3BE7-D164-B9A6-D7D7-956B3E79A446}"/>
              </a:ext>
            </a:extLst>
          </p:cNvPr>
          <p:cNvSpPr>
            <a:spLocks noGrp="1"/>
          </p:cNvSpPr>
          <p:nvPr>
            <p:ph type="sldNum" sz="quarter" idx="12"/>
          </p:nvPr>
        </p:nvSpPr>
        <p:spPr/>
        <p:txBody>
          <a:bodyPr/>
          <a:lstStyle/>
          <a:p>
            <a:fld id="{77C6A7FE-225D-49F1-B302-AA37EA92BB49}" type="slidenum">
              <a:rPr lang="en-US" smtClean="0"/>
              <a:t>1</a:t>
            </a:fld>
            <a:endParaRPr lang="en-US" dirty="0"/>
          </a:p>
        </p:txBody>
      </p:sp>
    </p:spTree>
    <p:extLst>
      <p:ext uri="{BB962C8B-B14F-4D97-AF65-F5344CB8AC3E}">
        <p14:creationId xmlns:p14="http://schemas.microsoft.com/office/powerpoint/2010/main" val="3469247147"/>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164080" y="320041"/>
            <a:ext cx="7007046" cy="646331"/>
          </a:xfrm>
          <a:prstGeom prst="rect">
            <a:avLst/>
          </a:prstGeom>
          <a:noFill/>
        </p:spPr>
        <p:txBody>
          <a:bodyPr wrap="none">
            <a:spAutoFit/>
          </a:bodyPr>
          <a:lstStyle/>
          <a:p>
            <a:pPr>
              <a:defRPr sz="3600">
                <a:latin typeface="Times New Roman"/>
              </a:defRPr>
            </a:pPr>
            <a:r>
              <a:rPr sz="3600" dirty="0"/>
              <a:t>Bias in Point Estimate of Odds Ratio</a:t>
            </a:r>
          </a:p>
        </p:txBody>
      </p:sp>
      <p:sp>
        <p:nvSpPr>
          <p:cNvPr id="3" name="TextBox 2"/>
          <p:cNvSpPr txBox="1"/>
          <p:nvPr/>
        </p:nvSpPr>
        <p:spPr>
          <a:xfrm>
            <a:off x="2164080" y="960121"/>
            <a:ext cx="5094664" cy="461665"/>
          </a:xfrm>
          <a:prstGeom prst="rect">
            <a:avLst/>
          </a:prstGeom>
          <a:noFill/>
        </p:spPr>
        <p:txBody>
          <a:bodyPr wrap="none">
            <a:spAutoFit/>
          </a:bodyPr>
          <a:lstStyle/>
          <a:p>
            <a:r>
              <a:rPr lang="en-US" sz="2400" dirty="0">
                <a:latin typeface="Times New Roman"/>
              </a:rPr>
              <a:t>The case of r</a:t>
            </a:r>
            <a:r>
              <a:rPr sz="2400" dirty="0">
                <a:latin typeface="Times New Roman"/>
              </a:rPr>
              <a:t>andom measurement error</a:t>
            </a:r>
          </a:p>
        </p:txBody>
      </p:sp>
      <mc:AlternateContent xmlns:mc="http://schemas.openxmlformats.org/markup-compatibility/2006">
        <mc:Choice xmlns:a14="http://schemas.microsoft.com/office/drawing/2010/main" Requires="a14">
          <p:sp>
            <p:nvSpPr>
              <p:cNvPr id="4" name="TextBox 3"/>
              <p:cNvSpPr txBox="1"/>
              <p:nvPr/>
            </p:nvSpPr>
            <p:spPr>
              <a:xfrm>
                <a:off x="2392681" y="1572876"/>
                <a:ext cx="7128105" cy="836191"/>
              </a:xfrm>
              <a:prstGeom prst="rect">
                <a:avLst/>
              </a:prstGeom>
              <a:noFill/>
            </p:spPr>
            <p:txBody>
              <a:bodyPr wrap="none">
                <a:spAutoFit/>
              </a:bodyPr>
              <a:lstStyle/>
              <a:p>
                <a:pPr>
                  <a:defRPr sz="2400">
                    <a:latin typeface="Times New Roman"/>
                  </a:defRPr>
                </a:pPr>
                <a14:m>
                  <m:oMath xmlns:m="http://schemas.openxmlformats.org/officeDocument/2006/math">
                    <m:r>
                      <a:rPr lang="en-US" sz="2400" i="1" dirty="0" smtClean="0">
                        <a:latin typeface="Cambria Math" panose="02040503050406030204" pitchFamily="18" charset="0"/>
                      </a:rPr>
                      <m:t>𝑍</m:t>
                    </m:r>
                    <m:r>
                      <a:rPr lang="en-US" sz="2400" i="1" dirty="0" smtClean="0">
                        <a:latin typeface="Cambria Math" panose="02040503050406030204" pitchFamily="18" charset="0"/>
                      </a:rPr>
                      <m:t>ᵢ = </m:t>
                    </m:r>
                    <m:r>
                      <a:rPr lang="en-US" sz="2400" i="1" dirty="0" smtClean="0">
                        <a:latin typeface="Cambria Math" panose="02040503050406030204" pitchFamily="18" charset="0"/>
                      </a:rPr>
                      <m:t>𝑋</m:t>
                    </m:r>
                    <m:r>
                      <a:rPr lang="en-US" sz="2400" i="1" dirty="0" smtClean="0">
                        <a:latin typeface="Cambria Math" panose="02040503050406030204" pitchFamily="18" charset="0"/>
                      </a:rPr>
                      <m:t>ᵢ + </m:t>
                    </m:r>
                    <m:sSub>
                      <m:sSubPr>
                        <m:ctrlPr>
                          <a:rPr lang="en-US" sz="2400" i="1" dirty="0" smtClean="0">
                            <a:latin typeface="Cambria Math" panose="02040503050406030204" pitchFamily="18" charset="0"/>
                          </a:rPr>
                        </m:ctrlPr>
                      </m:sSubPr>
                      <m:e>
                        <m:acc>
                          <m:accPr>
                            <m:chr m:val="̃"/>
                            <m:ctrlPr>
                              <a:rPr lang="en-US" sz="2400" i="1" dirty="0">
                                <a:latin typeface="Cambria Math" panose="02040503050406030204" pitchFamily="18" charset="0"/>
                              </a:rPr>
                            </m:ctrlPr>
                          </m:accPr>
                          <m:e>
                            <m:r>
                              <a:rPr lang="en-US" sz="2400" i="1" dirty="0">
                                <a:latin typeface="Cambria Math" panose="02040503050406030204" pitchFamily="18" charset="0"/>
                                <a:ea typeface="Cambria Math" panose="02040503050406030204" pitchFamily="18" charset="0"/>
                              </a:rPr>
                              <m:t>𝜀</m:t>
                            </m:r>
                          </m:e>
                        </m:acc>
                      </m:e>
                      <m:sub>
                        <m:r>
                          <a:rPr lang="en-US" sz="2400" b="0" i="1" dirty="0" smtClean="0">
                            <a:latin typeface="Cambria Math" panose="02040503050406030204" pitchFamily="18" charset="0"/>
                          </a:rPr>
                          <m:t>𝑖</m:t>
                        </m:r>
                      </m:sub>
                    </m:sSub>
                  </m:oMath>
                </a14:m>
                <a:r>
                  <a:rPr lang="en-US" sz="2400" dirty="0"/>
                  <a:t>,</a:t>
                </a:r>
                <a14:m>
                  <m:oMath xmlns:m="http://schemas.openxmlformats.org/officeDocument/2006/math">
                    <m:sSub>
                      <m:sSubPr>
                        <m:ctrlPr>
                          <a:rPr lang="en-US" sz="2400" i="1" dirty="0">
                            <a:latin typeface="Cambria Math" panose="02040503050406030204" pitchFamily="18" charset="0"/>
                          </a:rPr>
                        </m:ctrlPr>
                      </m:sSubPr>
                      <m:e>
                        <m:r>
                          <a:rPr lang="en-US" sz="2400" b="0" i="1" dirty="0" smtClean="0">
                            <a:latin typeface="Cambria Math" panose="02040503050406030204" pitchFamily="18" charset="0"/>
                          </a:rPr>
                          <m:t>   </m:t>
                        </m:r>
                        <m:acc>
                          <m:accPr>
                            <m:chr m:val="̃"/>
                            <m:ctrlPr>
                              <a:rPr lang="en-US" sz="2400" i="1" dirty="0">
                                <a:latin typeface="Cambria Math" panose="02040503050406030204" pitchFamily="18" charset="0"/>
                              </a:rPr>
                            </m:ctrlPr>
                          </m:accPr>
                          <m:e>
                            <m:r>
                              <a:rPr lang="en-US" sz="2400" i="1" dirty="0">
                                <a:latin typeface="Cambria Math" panose="02040503050406030204" pitchFamily="18" charset="0"/>
                                <a:ea typeface="Cambria Math" panose="02040503050406030204" pitchFamily="18" charset="0"/>
                              </a:rPr>
                              <m:t>𝜀</m:t>
                            </m:r>
                          </m:e>
                        </m:acc>
                      </m:e>
                      <m:sub>
                        <m:r>
                          <a:rPr lang="en-US" sz="2400" i="1" dirty="0">
                            <a:latin typeface="Cambria Math" panose="02040503050406030204" pitchFamily="18" charset="0"/>
                          </a:rPr>
                          <m:t>𝑖</m:t>
                        </m:r>
                      </m:sub>
                    </m:sSub>
                    <m:r>
                      <a:rPr lang="en-US" sz="2400" i="1" dirty="0">
                        <a:latin typeface="Cambria Math" panose="02040503050406030204" pitchFamily="18" charset="0"/>
                      </a:rPr>
                      <m:t>~ </m:t>
                    </m:r>
                    <m:r>
                      <a:rPr lang="en-US" sz="2400" i="1" dirty="0">
                        <a:latin typeface="Cambria Math" panose="02040503050406030204" pitchFamily="18" charset="0"/>
                      </a:rPr>
                      <m:t>𝑁</m:t>
                    </m:r>
                    <m:r>
                      <a:rPr lang="en-US" sz="2400" i="1" dirty="0">
                        <a:latin typeface="Cambria Math" panose="02040503050406030204" pitchFamily="18" charset="0"/>
                      </a:rPr>
                      <m:t>(0, </m:t>
                    </m:r>
                    <m:r>
                      <a:rPr lang="en-US" sz="2400" i="1" dirty="0">
                        <a:latin typeface="Cambria Math" panose="02040503050406030204" pitchFamily="18" charset="0"/>
                      </a:rPr>
                      <m:t>𝜎</m:t>
                    </m:r>
                    <m:r>
                      <a:rPr lang="en-US" sz="2400" i="1" dirty="0">
                        <a:latin typeface="Cambria Math" panose="02040503050406030204" pitchFamily="18" charset="0"/>
                      </a:rPr>
                      <m:t>²) </m:t>
                    </m:r>
                  </m:oMath>
                </a14:m>
                <a:r>
                  <a:rPr lang="en-US" sz="2400" dirty="0"/>
                  <a:t>,        </a:t>
                </a:r>
                <a14:m>
                  <m:oMath xmlns:m="http://schemas.openxmlformats.org/officeDocument/2006/math">
                    <m:r>
                      <a:rPr lang="en-US" sz="2400" i="1" dirty="0">
                        <a:latin typeface="Cambria Math" panose="02040503050406030204" pitchFamily="18" charset="0"/>
                      </a:rPr>
                      <m:t>𝐶𝑜𝑟𝑟</m:t>
                    </m:r>
                    <m:r>
                      <a:rPr lang="en-US" sz="2400" i="1" dirty="0">
                        <a:latin typeface="Cambria Math" panose="02040503050406030204" pitchFamily="18" charset="0"/>
                      </a:rPr>
                      <m:t>(</m:t>
                    </m:r>
                    <m:sSub>
                      <m:sSubPr>
                        <m:ctrlPr>
                          <a:rPr lang="en-US" sz="2400" i="1" dirty="0">
                            <a:latin typeface="Cambria Math" panose="02040503050406030204" pitchFamily="18" charset="0"/>
                          </a:rPr>
                        </m:ctrlPr>
                      </m:sSubPr>
                      <m:e>
                        <m:acc>
                          <m:accPr>
                            <m:chr m:val="̃"/>
                            <m:ctrlPr>
                              <a:rPr lang="en-US" sz="2400" i="1" dirty="0">
                                <a:latin typeface="Cambria Math" panose="02040503050406030204" pitchFamily="18" charset="0"/>
                              </a:rPr>
                            </m:ctrlPr>
                          </m:accPr>
                          <m:e>
                            <m:r>
                              <a:rPr lang="en-US" sz="2400" i="1" dirty="0">
                                <a:latin typeface="Cambria Math" panose="02040503050406030204" pitchFamily="18" charset="0"/>
                                <a:ea typeface="Cambria Math" panose="02040503050406030204" pitchFamily="18" charset="0"/>
                              </a:rPr>
                              <m:t>𝜀</m:t>
                            </m:r>
                          </m:e>
                        </m:acc>
                      </m:e>
                      <m:sub>
                        <m:r>
                          <a:rPr lang="en-US" sz="2400" i="1" dirty="0">
                            <a:latin typeface="Cambria Math" panose="02040503050406030204" pitchFamily="18" charset="0"/>
                          </a:rPr>
                          <m:t>𝑖</m:t>
                        </m:r>
                      </m:sub>
                    </m:sSub>
                    <m:r>
                      <a:rPr lang="en-US" sz="2400" i="1" dirty="0">
                        <a:latin typeface="Cambria Math" panose="02040503050406030204" pitchFamily="18" charset="0"/>
                      </a:rPr>
                      <m:t>, </m:t>
                    </m:r>
                    <m:r>
                      <a:rPr lang="en-US" sz="2400" i="1" dirty="0">
                        <a:latin typeface="Cambria Math" panose="02040503050406030204" pitchFamily="18" charset="0"/>
                      </a:rPr>
                      <m:t>𝑋</m:t>
                    </m:r>
                    <m:r>
                      <a:rPr lang="en-US" sz="2400" i="1" dirty="0">
                        <a:latin typeface="Cambria Math" panose="02040503050406030204" pitchFamily="18" charset="0"/>
                      </a:rPr>
                      <m:t>ᵢ) = 0</m:t>
                    </m:r>
                  </m:oMath>
                </a14:m>
                <a:endParaRPr lang="en-US" sz="2400" dirty="0"/>
              </a:p>
              <a:p>
                <a:pPr>
                  <a:defRPr sz="2400">
                    <a:latin typeface="Times New Roman"/>
                  </a:defRPr>
                </a:pPr>
                <a14:m>
                  <m:oMath xmlns:m="http://schemas.openxmlformats.org/officeDocument/2006/math">
                    <m:r>
                      <a:rPr lang="en-US" sz="2400" i="1" dirty="0">
                        <a:latin typeface="Cambria Math" panose="02040503050406030204" pitchFamily="18" charset="0"/>
                      </a:rPr>
                      <m:t>                          </m:t>
                    </m:r>
                    <m:r>
                      <a:rPr lang="en-US" sz="2400" b="0" i="1" dirty="0" smtClean="0">
                        <a:latin typeface="Cambria Math" panose="02040503050406030204" pitchFamily="18" charset="0"/>
                      </a:rPr>
                      <m:t>     </m:t>
                    </m:r>
                    <m:r>
                      <a:rPr lang="en-US" sz="2400" i="1" dirty="0">
                        <a:latin typeface="Cambria Math" panose="02040503050406030204" pitchFamily="18" charset="0"/>
                      </a:rPr>
                      <m:t>𝑋</m:t>
                    </m:r>
                    <m:r>
                      <a:rPr lang="en-US" sz="2400" i="1" dirty="0">
                        <a:latin typeface="Cambria Math" panose="02040503050406030204" pitchFamily="18" charset="0"/>
                      </a:rPr>
                      <m:t>ᵢ ~ </m:t>
                    </m:r>
                    <m:r>
                      <a:rPr lang="en-US" sz="2400" i="1" dirty="0">
                        <a:latin typeface="Cambria Math" panose="02040503050406030204" pitchFamily="18" charset="0"/>
                      </a:rPr>
                      <m:t>𝑁</m:t>
                    </m:r>
                    <m:r>
                      <a:rPr lang="en-US" sz="2400" i="1" dirty="0">
                        <a:latin typeface="Cambria Math" panose="02040503050406030204" pitchFamily="18" charset="0"/>
                      </a:rPr>
                      <m:t>(</m:t>
                    </m:r>
                    <m:r>
                      <a:rPr lang="en-US" sz="2400" i="1" dirty="0">
                        <a:latin typeface="Cambria Math" panose="02040503050406030204" pitchFamily="18" charset="0"/>
                      </a:rPr>
                      <m:t>𝜇</m:t>
                    </m:r>
                    <m:r>
                      <a:rPr lang="en-US" sz="2400" i="1" dirty="0">
                        <a:latin typeface="Cambria Math" panose="02040503050406030204" pitchFamily="18" charset="0"/>
                      </a:rPr>
                      <m:t>ₓ , </m:t>
                    </m:r>
                    <m:r>
                      <a:rPr lang="en-US" sz="2400" i="1" dirty="0">
                        <a:latin typeface="Cambria Math" panose="02040503050406030204" pitchFamily="18" charset="0"/>
                      </a:rPr>
                      <m:t>𝜎</m:t>
                    </m:r>
                    <m:r>
                      <a:rPr lang="en-US" sz="2400" i="1" dirty="0">
                        <a:latin typeface="Cambria Math" panose="02040503050406030204" pitchFamily="18" charset="0"/>
                      </a:rPr>
                      <m:t>ₓ²</m:t>
                    </m:r>
                  </m:oMath>
                </a14:m>
                <a:r>
                  <a:rPr lang="en-US" sz="2400" dirty="0"/>
                  <a:t>) ,   </a:t>
                </a:r>
                <a14:m>
                  <m:oMath xmlns:m="http://schemas.openxmlformats.org/officeDocument/2006/math">
                    <m:sSubSup>
                      <m:sSubSupPr>
                        <m:ctrlPr>
                          <a:rPr lang="en-US" sz="2400" i="1" dirty="0">
                            <a:latin typeface="Cambria Math" panose="02040503050406030204" pitchFamily="18" charset="0"/>
                          </a:rPr>
                        </m:ctrlPr>
                      </m:sSubSupPr>
                      <m:e>
                        <m:r>
                          <a:rPr lang="en-US" sz="2400" i="1" dirty="0">
                            <a:latin typeface="Cambria Math" panose="02040503050406030204" pitchFamily="18" charset="0"/>
                          </a:rPr>
                          <m:t>𝜌</m:t>
                        </m:r>
                      </m:e>
                      <m:sub>
                        <m:r>
                          <a:rPr lang="en-US" sz="2400" i="1" dirty="0">
                            <a:latin typeface="Cambria Math" panose="02040503050406030204" pitchFamily="18" charset="0"/>
                          </a:rPr>
                          <m:t>𝐼</m:t>
                        </m:r>
                      </m:sub>
                      <m:sup>
                        <m:r>
                          <a:rPr lang="en-US" sz="2400" i="1" dirty="0">
                            <a:latin typeface="Cambria Math" panose="02040503050406030204" pitchFamily="18" charset="0"/>
                          </a:rPr>
                          <m:t>2</m:t>
                        </m:r>
                      </m:sup>
                    </m:sSubSup>
                    <m:r>
                      <a:rPr lang="en-US" sz="2400" i="1" dirty="0">
                        <a:latin typeface="Cambria Math" panose="02040503050406030204" pitchFamily="18" charset="0"/>
                      </a:rPr>
                      <m:t>= </m:t>
                    </m:r>
                    <m:r>
                      <a:rPr lang="en-US" sz="2400" i="1" dirty="0">
                        <a:latin typeface="Cambria Math" panose="02040503050406030204" pitchFamily="18" charset="0"/>
                      </a:rPr>
                      <m:t>𝐶𝑜𝑟𝑟</m:t>
                    </m:r>
                    <m:r>
                      <a:rPr lang="en-US" sz="2400" i="1" dirty="0">
                        <a:latin typeface="Cambria Math" panose="02040503050406030204" pitchFamily="18" charset="0"/>
                      </a:rPr>
                      <m:t>²(</m:t>
                    </m:r>
                    <m:r>
                      <a:rPr lang="en-US" sz="2400" i="1" dirty="0">
                        <a:latin typeface="Cambria Math" panose="02040503050406030204" pitchFamily="18" charset="0"/>
                      </a:rPr>
                      <m:t>𝑋</m:t>
                    </m:r>
                    <m:r>
                      <a:rPr lang="en-US" sz="2400" i="1" dirty="0">
                        <a:latin typeface="Cambria Math" panose="02040503050406030204" pitchFamily="18" charset="0"/>
                      </a:rPr>
                      <m:t>ᵢ , </m:t>
                    </m:r>
                    <m:r>
                      <a:rPr lang="en-US" sz="2400" i="1" dirty="0">
                        <a:latin typeface="Cambria Math" panose="02040503050406030204" pitchFamily="18" charset="0"/>
                      </a:rPr>
                      <m:t>𝑍</m:t>
                    </m:r>
                    <m:r>
                      <a:rPr lang="en-US" sz="2400" i="1" dirty="0">
                        <a:latin typeface="Cambria Math" panose="02040503050406030204" pitchFamily="18" charset="0"/>
                      </a:rPr>
                      <m:t>ᵢ)</m:t>
                    </m:r>
                  </m:oMath>
                </a14:m>
                <a:endParaRPr sz="2400" dirty="0"/>
              </a:p>
            </p:txBody>
          </p:sp>
        </mc:Choice>
        <mc:Fallback>
          <p:sp>
            <p:nvSpPr>
              <p:cNvPr id="4" name="TextBox 3"/>
              <p:cNvSpPr txBox="1">
                <a:spLocks noRot="1" noChangeAspect="1" noMove="1" noResize="1" noEditPoints="1" noAdjustHandles="1" noChangeArrowheads="1" noChangeShapeType="1" noTextEdit="1"/>
              </p:cNvSpPr>
              <p:nvPr/>
            </p:nvSpPr>
            <p:spPr>
              <a:xfrm>
                <a:off x="2392681" y="1572876"/>
                <a:ext cx="7128105" cy="836191"/>
              </a:xfrm>
              <a:prstGeom prst="rect">
                <a:avLst/>
              </a:prstGeom>
              <a:blipFill>
                <a:blip r:embed="rId2"/>
                <a:stretch>
                  <a:fillRect l="-513" t="-5839" b="-16058"/>
                </a:stretch>
              </a:blipFill>
            </p:spPr>
            <p:txBody>
              <a:bodyPr/>
              <a:lstStyle/>
              <a:p>
                <a:r>
                  <a:rPr lang="en-US">
                    <a:noFill/>
                  </a:rPr>
                  <a:t> </a:t>
                </a:r>
              </a:p>
            </p:txBody>
          </p:sp>
        </mc:Fallback>
      </mc:AlternateContent>
      <p:sp>
        <p:nvSpPr>
          <p:cNvPr id="5" name="Up Arrow 4"/>
          <p:cNvSpPr/>
          <p:nvPr/>
        </p:nvSpPr>
        <p:spPr>
          <a:xfrm>
            <a:off x="2575560" y="2057400"/>
            <a:ext cx="320040" cy="411480"/>
          </a:xfrm>
          <a:prstGeom prst="up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Down Arrow 5"/>
          <p:cNvSpPr/>
          <p:nvPr/>
        </p:nvSpPr>
        <p:spPr>
          <a:xfrm>
            <a:off x="3261496" y="2018273"/>
            <a:ext cx="320040" cy="411480"/>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912620" y="2515910"/>
            <a:ext cx="2194832" cy="338554"/>
          </a:xfrm>
          <a:prstGeom prst="rect">
            <a:avLst/>
          </a:prstGeom>
          <a:noFill/>
        </p:spPr>
        <p:txBody>
          <a:bodyPr wrap="none">
            <a:spAutoFit/>
          </a:bodyPr>
          <a:lstStyle/>
          <a:p>
            <a:pPr>
              <a:defRPr sz="1600">
                <a:latin typeface="Times New Roman"/>
              </a:defRPr>
            </a:pPr>
            <a:r>
              <a:rPr sz="1600" dirty="0"/>
              <a:t>observed   </a:t>
            </a:r>
            <a:r>
              <a:rPr lang="en-US" sz="1600" dirty="0"/>
              <a:t>g</a:t>
            </a:r>
            <a:r>
              <a:rPr sz="1600" dirty="0"/>
              <a:t>old standard</a:t>
            </a:r>
          </a:p>
        </p:txBody>
      </p:sp>
      <mc:AlternateContent xmlns:mc="http://schemas.openxmlformats.org/markup-compatibility/2006">
        <mc:Choice xmlns:a14="http://schemas.microsoft.com/office/drawing/2010/main" Requires="a14">
          <p:graphicFrame>
            <p:nvGraphicFramePr>
              <p:cNvPr id="8" name="Table 7"/>
              <p:cNvGraphicFramePr>
                <a:graphicFrameLocks noGrp="1"/>
              </p:cNvGraphicFramePr>
              <p:nvPr/>
            </p:nvGraphicFramePr>
            <p:xfrm>
              <a:off x="4366524" y="2515911"/>
              <a:ext cx="5912857" cy="3965321"/>
            </p:xfrm>
            <a:graphic>
              <a:graphicData uri="http://schemas.openxmlformats.org/drawingml/2006/table">
                <a:tbl>
                  <a:tblPr firstRow="1" bandRow="1">
                    <a:tableStyleId>{5C22544A-7EE6-4342-B048-85BDC9FD1C3A}</a:tableStyleId>
                  </a:tblPr>
                  <a:tblGrid>
                    <a:gridCol w="920640">
                      <a:extLst>
                        <a:ext uri="{9D8B030D-6E8A-4147-A177-3AD203B41FA5}">
                          <a16:colId xmlns:a16="http://schemas.microsoft.com/office/drawing/2014/main" val="20000"/>
                        </a:ext>
                      </a:extLst>
                    </a:gridCol>
                    <a:gridCol w="1859846">
                      <a:extLst>
                        <a:ext uri="{9D8B030D-6E8A-4147-A177-3AD203B41FA5}">
                          <a16:colId xmlns:a16="http://schemas.microsoft.com/office/drawing/2014/main" val="20001"/>
                        </a:ext>
                      </a:extLst>
                    </a:gridCol>
                    <a:gridCol w="3132371">
                      <a:extLst>
                        <a:ext uri="{9D8B030D-6E8A-4147-A177-3AD203B41FA5}">
                          <a16:colId xmlns:a16="http://schemas.microsoft.com/office/drawing/2014/main" val="20002"/>
                        </a:ext>
                      </a:extLst>
                    </a:gridCol>
                  </a:tblGrid>
                  <a:tr h="227246">
                    <a:tc>
                      <a:txBody>
                        <a:bodyPr/>
                        <a:lstStyle/>
                        <a:p>
                          <a:pPr algn="ctr">
                            <a:defRPr sz="1800">
                              <a:latin typeface="Times New Roman"/>
                            </a:defRPr>
                          </a:pPr>
                          <a:r>
                            <a:rPr sz="1400" baseline="0" dirty="0"/>
                            <a:t>True OR</a:t>
                          </a:r>
                        </a:p>
                      </a:txBody>
                      <a:tcPr/>
                    </a:tc>
                    <a:tc>
                      <a:txBody>
                        <a:bodyPr/>
                        <a:lstStyle/>
                        <a:p>
                          <a:pPr algn="ctr">
                            <a:defRPr sz="1800">
                              <a:latin typeface="Times New Roman"/>
                            </a:defRPr>
                          </a:pPr>
                          <a14:m>
                            <m:oMathPara xmlns:m="http://schemas.openxmlformats.org/officeDocument/2006/math">
                              <m:oMathParaPr>
                                <m:jc m:val="centerGroup"/>
                              </m:oMathParaPr>
                              <m:oMath xmlns:m="http://schemas.openxmlformats.org/officeDocument/2006/math">
                                <m:sSubSup>
                                  <m:sSubSupPr>
                                    <m:ctrlPr>
                                      <a:rPr lang="en-US" sz="1400" i="1" baseline="0" dirty="0" smtClean="0">
                                        <a:latin typeface="Cambria Math" panose="02040503050406030204" pitchFamily="18" charset="0"/>
                                      </a:rPr>
                                    </m:ctrlPr>
                                  </m:sSubSupPr>
                                  <m:e>
                                    <m:r>
                                      <a:rPr lang="en-US" sz="1400" i="1" baseline="0" dirty="0">
                                        <a:latin typeface="Cambria Math" panose="02040503050406030204" pitchFamily="18" charset="0"/>
                                      </a:rPr>
                                      <m:t>𝜌</m:t>
                                    </m:r>
                                  </m:e>
                                  <m:sub>
                                    <m:r>
                                      <a:rPr lang="en-US" sz="1400" b="0" i="1" baseline="0" dirty="0" smtClean="0">
                                        <a:latin typeface="Cambria Math" panose="02040503050406030204" pitchFamily="18" charset="0"/>
                                      </a:rPr>
                                      <m:t>𝐼</m:t>
                                    </m:r>
                                  </m:sub>
                                  <m:sup>
                                    <m:r>
                                      <a:rPr lang="en-US" sz="1400" b="0" i="1" baseline="0" dirty="0" smtClean="0">
                                        <a:latin typeface="Cambria Math" panose="02040503050406030204" pitchFamily="18" charset="0"/>
                                      </a:rPr>
                                      <m:t>2</m:t>
                                    </m:r>
                                  </m:sup>
                                </m:sSubSup>
                              </m:oMath>
                            </m:oMathPara>
                          </a14:m>
                          <a:endParaRPr sz="1400" baseline="0" dirty="0"/>
                        </a:p>
                      </a:txBody>
                      <a:tcPr/>
                    </a:tc>
                    <a:tc>
                      <a:txBody>
                        <a:bodyPr/>
                        <a:lstStyle/>
                        <a:p>
                          <a:pPr algn="ctr">
                            <a:defRPr sz="1800">
                              <a:latin typeface="Times New Roman"/>
                            </a:defRPr>
                          </a:pPr>
                          <a:r>
                            <a:rPr sz="1400" baseline="0" dirty="0"/>
                            <a:t>Observed OR for  </a:t>
                          </a:r>
                          <a:r>
                            <a:rPr lang="en-US" sz="1400" baseline="0" dirty="0"/>
                            <a:t>1</a:t>
                          </a:r>
                          <a:r>
                            <a:rPr sz="1400" baseline="0" dirty="0"/>
                            <a:t> SD in X</a:t>
                          </a:r>
                        </a:p>
                      </a:txBody>
                      <a:tcPr/>
                    </a:tc>
                    <a:extLst>
                      <a:ext uri="{0D108BD9-81ED-4DB2-BD59-A6C34878D82A}">
                        <a16:rowId xmlns:a16="http://schemas.microsoft.com/office/drawing/2014/main" val="10000"/>
                      </a:ext>
                    </a:extLst>
                  </a:tr>
                  <a:tr h="224903">
                    <a:tc rowSpan="4">
                      <a:txBody>
                        <a:bodyPr/>
                        <a:lstStyle/>
                        <a:p>
                          <a:pPr algn="l">
                            <a:defRPr sz="1800">
                              <a:latin typeface="Times New Roman"/>
                            </a:defRPr>
                          </a:pPr>
                          <a:r>
                            <a:rPr sz="1400" baseline="0"/>
                            <a:t>1.5</a:t>
                          </a:r>
                        </a:p>
                      </a:txBody>
                      <a:tcPr/>
                    </a:tc>
                    <a:tc>
                      <a:txBody>
                        <a:bodyPr/>
                        <a:lstStyle/>
                        <a:p>
                          <a:pPr algn="ctr">
                            <a:defRPr sz="1800">
                              <a:latin typeface="Times New Roman"/>
                            </a:defRPr>
                          </a:pPr>
                          <a:r>
                            <a:rPr sz="1400" baseline="0"/>
                            <a:t>0.9</a:t>
                          </a:r>
                        </a:p>
                      </a:txBody>
                      <a:tcPr/>
                    </a:tc>
                    <a:tc>
                      <a:txBody>
                        <a:bodyPr/>
                        <a:lstStyle/>
                        <a:p>
                          <a:pPr algn="ctr">
                            <a:defRPr sz="1800">
                              <a:latin typeface="Times New Roman"/>
                            </a:defRPr>
                          </a:pPr>
                          <a:r>
                            <a:rPr sz="1400" baseline="0" dirty="0"/>
                            <a:t>1.44</a:t>
                          </a:r>
                        </a:p>
                      </a:txBody>
                      <a:tcPr/>
                    </a:tc>
                    <a:extLst>
                      <a:ext uri="{0D108BD9-81ED-4DB2-BD59-A6C34878D82A}">
                        <a16:rowId xmlns:a16="http://schemas.microsoft.com/office/drawing/2014/main" val="10001"/>
                      </a:ext>
                    </a:extLst>
                  </a:tr>
                  <a:tr h="224903">
                    <a:tc vMerge="1">
                      <a:txBody>
                        <a:bodyPr/>
                        <a:lstStyle/>
                        <a:p>
                          <a:pPr algn="l">
                            <a:defRPr sz="1800">
                              <a:latin typeface="Times New Roman"/>
                            </a:defRPr>
                          </a:pPr>
                          <a:endParaRPr/>
                        </a:p>
                      </a:txBody>
                      <a:tcPr/>
                    </a:tc>
                    <a:tc>
                      <a:txBody>
                        <a:bodyPr/>
                        <a:lstStyle/>
                        <a:p>
                          <a:pPr algn="ctr">
                            <a:defRPr sz="1800">
                              <a:latin typeface="Times New Roman"/>
                            </a:defRPr>
                          </a:pPr>
                          <a:r>
                            <a:rPr sz="1400" baseline="0"/>
                            <a:t>0.7</a:t>
                          </a:r>
                        </a:p>
                      </a:txBody>
                      <a:tcPr/>
                    </a:tc>
                    <a:tc>
                      <a:txBody>
                        <a:bodyPr/>
                        <a:lstStyle/>
                        <a:p>
                          <a:pPr algn="ctr">
                            <a:defRPr sz="1800">
                              <a:latin typeface="Times New Roman"/>
                            </a:defRPr>
                          </a:pPr>
                          <a:r>
                            <a:rPr sz="1400" baseline="0" dirty="0"/>
                            <a:t>1.33</a:t>
                          </a:r>
                        </a:p>
                      </a:txBody>
                      <a:tcPr/>
                    </a:tc>
                    <a:extLst>
                      <a:ext uri="{0D108BD9-81ED-4DB2-BD59-A6C34878D82A}">
                        <a16:rowId xmlns:a16="http://schemas.microsoft.com/office/drawing/2014/main" val="10002"/>
                      </a:ext>
                    </a:extLst>
                  </a:tr>
                  <a:tr h="224903">
                    <a:tc vMerge="1">
                      <a:txBody>
                        <a:bodyPr/>
                        <a:lstStyle/>
                        <a:p>
                          <a:pPr algn="l">
                            <a:defRPr sz="1800">
                              <a:latin typeface="Times New Roman"/>
                            </a:defRPr>
                          </a:pPr>
                          <a:endParaRPr/>
                        </a:p>
                      </a:txBody>
                      <a:tcPr/>
                    </a:tc>
                    <a:tc>
                      <a:txBody>
                        <a:bodyPr/>
                        <a:lstStyle/>
                        <a:p>
                          <a:pPr algn="ctr">
                            <a:defRPr sz="1800">
                              <a:latin typeface="Times New Roman"/>
                            </a:defRPr>
                          </a:pPr>
                          <a:r>
                            <a:rPr sz="1400" baseline="0"/>
                            <a:t>0.5</a:t>
                          </a:r>
                        </a:p>
                      </a:txBody>
                      <a:tcPr/>
                    </a:tc>
                    <a:tc>
                      <a:txBody>
                        <a:bodyPr/>
                        <a:lstStyle/>
                        <a:p>
                          <a:pPr algn="ctr">
                            <a:defRPr sz="1800">
                              <a:latin typeface="Times New Roman"/>
                            </a:defRPr>
                          </a:pPr>
                          <a:r>
                            <a:rPr sz="1400" baseline="0" dirty="0"/>
                            <a:t>1.22</a:t>
                          </a:r>
                        </a:p>
                      </a:txBody>
                      <a:tcPr/>
                    </a:tc>
                    <a:extLst>
                      <a:ext uri="{0D108BD9-81ED-4DB2-BD59-A6C34878D82A}">
                        <a16:rowId xmlns:a16="http://schemas.microsoft.com/office/drawing/2014/main" val="10003"/>
                      </a:ext>
                    </a:extLst>
                  </a:tr>
                  <a:tr h="224903">
                    <a:tc vMerge="1">
                      <a:txBody>
                        <a:bodyPr/>
                        <a:lstStyle/>
                        <a:p>
                          <a:pPr algn="l">
                            <a:defRPr sz="1800">
                              <a:latin typeface="Times New Roman"/>
                            </a:defRPr>
                          </a:pPr>
                          <a:endParaRPr/>
                        </a:p>
                      </a:txBody>
                      <a:tcPr/>
                    </a:tc>
                    <a:tc>
                      <a:txBody>
                        <a:bodyPr/>
                        <a:lstStyle/>
                        <a:p>
                          <a:pPr algn="ctr">
                            <a:defRPr sz="1800">
                              <a:latin typeface="Times New Roman"/>
                            </a:defRPr>
                          </a:pPr>
                          <a:r>
                            <a:rPr sz="1400" baseline="0"/>
                            <a:t>0.3</a:t>
                          </a:r>
                        </a:p>
                      </a:txBody>
                      <a:tcPr/>
                    </a:tc>
                    <a:tc>
                      <a:txBody>
                        <a:bodyPr/>
                        <a:lstStyle/>
                        <a:p>
                          <a:pPr algn="ctr">
                            <a:defRPr sz="1800">
                              <a:latin typeface="Times New Roman"/>
                            </a:defRPr>
                          </a:pPr>
                          <a:r>
                            <a:rPr sz="1400" baseline="0" dirty="0"/>
                            <a:t>1.12</a:t>
                          </a:r>
                        </a:p>
                      </a:txBody>
                      <a:tcPr/>
                    </a:tc>
                    <a:extLst>
                      <a:ext uri="{0D108BD9-81ED-4DB2-BD59-A6C34878D82A}">
                        <a16:rowId xmlns:a16="http://schemas.microsoft.com/office/drawing/2014/main" val="10004"/>
                      </a:ext>
                    </a:extLst>
                  </a:tr>
                  <a:tr h="224903">
                    <a:tc rowSpan="4">
                      <a:txBody>
                        <a:bodyPr/>
                        <a:lstStyle/>
                        <a:p>
                          <a:pPr algn="l">
                            <a:defRPr sz="1800">
                              <a:latin typeface="Times New Roman"/>
                            </a:defRPr>
                          </a:pPr>
                          <a:r>
                            <a:rPr sz="1400" baseline="0"/>
                            <a:t>2.0</a:t>
                          </a:r>
                        </a:p>
                      </a:txBody>
                      <a:tcPr/>
                    </a:tc>
                    <a:tc>
                      <a:txBody>
                        <a:bodyPr/>
                        <a:lstStyle/>
                        <a:p>
                          <a:pPr algn="ctr">
                            <a:defRPr sz="1800">
                              <a:latin typeface="Times New Roman"/>
                            </a:defRPr>
                          </a:pPr>
                          <a:r>
                            <a:rPr sz="1400" baseline="0"/>
                            <a:t>0.9</a:t>
                          </a:r>
                        </a:p>
                      </a:txBody>
                      <a:tcPr/>
                    </a:tc>
                    <a:tc>
                      <a:txBody>
                        <a:bodyPr/>
                        <a:lstStyle/>
                        <a:p>
                          <a:pPr algn="ctr">
                            <a:defRPr sz="1800">
                              <a:latin typeface="Times New Roman"/>
                            </a:defRPr>
                          </a:pPr>
                          <a:r>
                            <a:rPr sz="1400" baseline="0" dirty="0"/>
                            <a:t>1.87</a:t>
                          </a:r>
                        </a:p>
                      </a:txBody>
                      <a:tcPr/>
                    </a:tc>
                    <a:extLst>
                      <a:ext uri="{0D108BD9-81ED-4DB2-BD59-A6C34878D82A}">
                        <a16:rowId xmlns:a16="http://schemas.microsoft.com/office/drawing/2014/main" val="10005"/>
                      </a:ext>
                    </a:extLst>
                  </a:tr>
                  <a:tr h="224903">
                    <a:tc vMerge="1">
                      <a:txBody>
                        <a:bodyPr/>
                        <a:lstStyle/>
                        <a:p>
                          <a:pPr algn="l">
                            <a:defRPr sz="1800">
                              <a:latin typeface="Times New Roman"/>
                            </a:defRPr>
                          </a:pPr>
                          <a:endParaRPr/>
                        </a:p>
                      </a:txBody>
                      <a:tcPr/>
                    </a:tc>
                    <a:tc>
                      <a:txBody>
                        <a:bodyPr/>
                        <a:lstStyle/>
                        <a:p>
                          <a:pPr algn="ctr">
                            <a:defRPr sz="1800">
                              <a:latin typeface="Times New Roman"/>
                            </a:defRPr>
                          </a:pPr>
                          <a:r>
                            <a:rPr sz="1400" baseline="0"/>
                            <a:t>0.7</a:t>
                          </a:r>
                        </a:p>
                      </a:txBody>
                      <a:tcPr/>
                    </a:tc>
                    <a:tc>
                      <a:txBody>
                        <a:bodyPr/>
                        <a:lstStyle/>
                        <a:p>
                          <a:pPr algn="ctr">
                            <a:defRPr sz="1800">
                              <a:latin typeface="Times New Roman"/>
                            </a:defRPr>
                          </a:pPr>
                          <a:r>
                            <a:rPr sz="1400" baseline="0" dirty="0"/>
                            <a:t>1.62</a:t>
                          </a:r>
                        </a:p>
                      </a:txBody>
                      <a:tcPr/>
                    </a:tc>
                    <a:extLst>
                      <a:ext uri="{0D108BD9-81ED-4DB2-BD59-A6C34878D82A}">
                        <a16:rowId xmlns:a16="http://schemas.microsoft.com/office/drawing/2014/main" val="10006"/>
                      </a:ext>
                    </a:extLst>
                  </a:tr>
                  <a:tr h="224903">
                    <a:tc vMerge="1">
                      <a:txBody>
                        <a:bodyPr/>
                        <a:lstStyle/>
                        <a:p>
                          <a:pPr algn="l">
                            <a:defRPr sz="1800">
                              <a:latin typeface="Times New Roman"/>
                            </a:defRPr>
                          </a:pPr>
                          <a:endParaRPr/>
                        </a:p>
                      </a:txBody>
                      <a:tcPr/>
                    </a:tc>
                    <a:tc>
                      <a:txBody>
                        <a:bodyPr/>
                        <a:lstStyle/>
                        <a:p>
                          <a:pPr algn="ctr">
                            <a:defRPr sz="1800">
                              <a:latin typeface="Times New Roman"/>
                            </a:defRPr>
                          </a:pPr>
                          <a:r>
                            <a:rPr sz="1400" baseline="0"/>
                            <a:t>0.5</a:t>
                          </a:r>
                        </a:p>
                      </a:txBody>
                      <a:tcPr/>
                    </a:tc>
                    <a:tc>
                      <a:txBody>
                        <a:bodyPr/>
                        <a:lstStyle/>
                        <a:p>
                          <a:pPr algn="ctr">
                            <a:defRPr sz="1800">
                              <a:latin typeface="Times New Roman"/>
                            </a:defRPr>
                          </a:pPr>
                          <a:r>
                            <a:rPr sz="1400" baseline="0" dirty="0"/>
                            <a:t>1.41</a:t>
                          </a:r>
                        </a:p>
                      </a:txBody>
                      <a:tcPr/>
                    </a:tc>
                    <a:extLst>
                      <a:ext uri="{0D108BD9-81ED-4DB2-BD59-A6C34878D82A}">
                        <a16:rowId xmlns:a16="http://schemas.microsoft.com/office/drawing/2014/main" val="10007"/>
                      </a:ext>
                    </a:extLst>
                  </a:tr>
                  <a:tr h="224903">
                    <a:tc vMerge="1">
                      <a:txBody>
                        <a:bodyPr/>
                        <a:lstStyle/>
                        <a:p>
                          <a:pPr algn="l">
                            <a:defRPr sz="1800">
                              <a:latin typeface="Times New Roman"/>
                            </a:defRPr>
                          </a:pPr>
                          <a:endParaRPr/>
                        </a:p>
                      </a:txBody>
                      <a:tcPr/>
                    </a:tc>
                    <a:tc>
                      <a:txBody>
                        <a:bodyPr/>
                        <a:lstStyle/>
                        <a:p>
                          <a:pPr algn="ctr">
                            <a:defRPr sz="1800">
                              <a:latin typeface="Times New Roman"/>
                            </a:defRPr>
                          </a:pPr>
                          <a:r>
                            <a:rPr sz="1400" baseline="0"/>
                            <a:t>0.3</a:t>
                          </a:r>
                        </a:p>
                      </a:txBody>
                      <a:tcPr/>
                    </a:tc>
                    <a:tc>
                      <a:txBody>
                        <a:bodyPr/>
                        <a:lstStyle/>
                        <a:p>
                          <a:pPr algn="ctr">
                            <a:defRPr sz="1800">
                              <a:latin typeface="Times New Roman"/>
                            </a:defRPr>
                          </a:pPr>
                          <a:r>
                            <a:rPr sz="1400" baseline="0" dirty="0"/>
                            <a:t>1.23</a:t>
                          </a:r>
                        </a:p>
                      </a:txBody>
                      <a:tcPr/>
                    </a:tc>
                    <a:extLst>
                      <a:ext uri="{0D108BD9-81ED-4DB2-BD59-A6C34878D82A}">
                        <a16:rowId xmlns:a16="http://schemas.microsoft.com/office/drawing/2014/main" val="10008"/>
                      </a:ext>
                    </a:extLst>
                  </a:tr>
                  <a:tr h="224903">
                    <a:tc rowSpan="4">
                      <a:txBody>
                        <a:bodyPr/>
                        <a:lstStyle/>
                        <a:p>
                          <a:pPr algn="l">
                            <a:defRPr sz="1800">
                              <a:latin typeface="Times New Roman"/>
                            </a:defRPr>
                          </a:pPr>
                          <a:r>
                            <a:rPr sz="1400" baseline="0"/>
                            <a:t>4.0</a:t>
                          </a:r>
                        </a:p>
                      </a:txBody>
                      <a:tcPr/>
                    </a:tc>
                    <a:tc>
                      <a:txBody>
                        <a:bodyPr/>
                        <a:lstStyle/>
                        <a:p>
                          <a:pPr algn="ctr">
                            <a:defRPr sz="1800">
                              <a:latin typeface="Times New Roman"/>
                            </a:defRPr>
                          </a:pPr>
                          <a:r>
                            <a:rPr sz="1400" baseline="0"/>
                            <a:t>0.9</a:t>
                          </a:r>
                        </a:p>
                      </a:txBody>
                      <a:tcPr/>
                    </a:tc>
                    <a:tc>
                      <a:txBody>
                        <a:bodyPr/>
                        <a:lstStyle/>
                        <a:p>
                          <a:pPr algn="ctr">
                            <a:defRPr sz="1800">
                              <a:latin typeface="Times New Roman"/>
                            </a:defRPr>
                          </a:pPr>
                          <a:r>
                            <a:rPr sz="1400" baseline="0" dirty="0"/>
                            <a:t>3.48</a:t>
                          </a:r>
                        </a:p>
                      </a:txBody>
                      <a:tcPr/>
                    </a:tc>
                    <a:extLst>
                      <a:ext uri="{0D108BD9-81ED-4DB2-BD59-A6C34878D82A}">
                        <a16:rowId xmlns:a16="http://schemas.microsoft.com/office/drawing/2014/main" val="10009"/>
                      </a:ext>
                    </a:extLst>
                  </a:tr>
                  <a:tr h="224903">
                    <a:tc vMerge="1">
                      <a:txBody>
                        <a:bodyPr/>
                        <a:lstStyle/>
                        <a:p>
                          <a:pPr algn="l">
                            <a:defRPr sz="1800">
                              <a:latin typeface="Times New Roman"/>
                            </a:defRPr>
                          </a:pPr>
                          <a:endParaRPr/>
                        </a:p>
                      </a:txBody>
                      <a:tcPr/>
                    </a:tc>
                    <a:tc>
                      <a:txBody>
                        <a:bodyPr/>
                        <a:lstStyle/>
                        <a:p>
                          <a:pPr algn="ctr">
                            <a:defRPr sz="1800">
                              <a:latin typeface="Times New Roman"/>
                            </a:defRPr>
                          </a:pPr>
                          <a:r>
                            <a:rPr sz="1400" baseline="0"/>
                            <a:t>0.7</a:t>
                          </a:r>
                        </a:p>
                      </a:txBody>
                      <a:tcPr/>
                    </a:tc>
                    <a:tc>
                      <a:txBody>
                        <a:bodyPr/>
                        <a:lstStyle/>
                        <a:p>
                          <a:pPr algn="ctr">
                            <a:defRPr sz="1800">
                              <a:latin typeface="Times New Roman"/>
                            </a:defRPr>
                          </a:pPr>
                          <a:r>
                            <a:rPr sz="1400" baseline="0" dirty="0"/>
                            <a:t>2.64</a:t>
                          </a:r>
                        </a:p>
                      </a:txBody>
                      <a:tcPr/>
                    </a:tc>
                    <a:extLst>
                      <a:ext uri="{0D108BD9-81ED-4DB2-BD59-A6C34878D82A}">
                        <a16:rowId xmlns:a16="http://schemas.microsoft.com/office/drawing/2014/main" val="10010"/>
                      </a:ext>
                    </a:extLst>
                  </a:tr>
                  <a:tr h="224903">
                    <a:tc vMerge="1">
                      <a:txBody>
                        <a:bodyPr/>
                        <a:lstStyle/>
                        <a:p>
                          <a:pPr algn="l">
                            <a:defRPr sz="1800">
                              <a:latin typeface="Times New Roman"/>
                            </a:defRPr>
                          </a:pPr>
                          <a:endParaRPr/>
                        </a:p>
                      </a:txBody>
                      <a:tcPr/>
                    </a:tc>
                    <a:tc>
                      <a:txBody>
                        <a:bodyPr/>
                        <a:lstStyle/>
                        <a:p>
                          <a:pPr algn="ctr">
                            <a:defRPr sz="1800">
                              <a:latin typeface="Times New Roman"/>
                            </a:defRPr>
                          </a:pPr>
                          <a:r>
                            <a:rPr sz="1400" baseline="0"/>
                            <a:t>0.5</a:t>
                          </a:r>
                        </a:p>
                      </a:txBody>
                      <a:tcPr/>
                    </a:tc>
                    <a:tc>
                      <a:txBody>
                        <a:bodyPr/>
                        <a:lstStyle/>
                        <a:p>
                          <a:pPr algn="ctr">
                            <a:defRPr sz="1800">
                              <a:latin typeface="Times New Roman"/>
                            </a:defRPr>
                          </a:pPr>
                          <a:r>
                            <a:rPr sz="1400" baseline="0" dirty="0"/>
                            <a:t>2.0</a:t>
                          </a:r>
                        </a:p>
                      </a:txBody>
                      <a:tcPr/>
                    </a:tc>
                    <a:extLst>
                      <a:ext uri="{0D108BD9-81ED-4DB2-BD59-A6C34878D82A}">
                        <a16:rowId xmlns:a16="http://schemas.microsoft.com/office/drawing/2014/main" val="10011"/>
                      </a:ext>
                    </a:extLst>
                  </a:tr>
                  <a:tr h="224903">
                    <a:tc vMerge="1">
                      <a:txBody>
                        <a:bodyPr/>
                        <a:lstStyle/>
                        <a:p>
                          <a:pPr algn="l">
                            <a:defRPr sz="1800">
                              <a:latin typeface="Times New Roman"/>
                            </a:defRPr>
                          </a:pPr>
                          <a:endParaRPr/>
                        </a:p>
                      </a:txBody>
                      <a:tcPr/>
                    </a:tc>
                    <a:tc>
                      <a:txBody>
                        <a:bodyPr/>
                        <a:lstStyle/>
                        <a:p>
                          <a:pPr algn="ctr">
                            <a:defRPr sz="1800">
                              <a:latin typeface="Times New Roman"/>
                            </a:defRPr>
                          </a:pPr>
                          <a:r>
                            <a:rPr sz="1400" baseline="0"/>
                            <a:t>0.3</a:t>
                          </a:r>
                        </a:p>
                      </a:txBody>
                      <a:tcPr/>
                    </a:tc>
                    <a:tc>
                      <a:txBody>
                        <a:bodyPr/>
                        <a:lstStyle/>
                        <a:p>
                          <a:pPr algn="ctr">
                            <a:defRPr sz="1800">
                              <a:latin typeface="Times New Roman"/>
                            </a:defRPr>
                          </a:pPr>
                          <a:r>
                            <a:rPr sz="1400" baseline="0" dirty="0"/>
                            <a:t>1.5</a:t>
                          </a:r>
                        </a:p>
                      </a:txBody>
                      <a:tcPr/>
                    </a:tc>
                    <a:extLst>
                      <a:ext uri="{0D108BD9-81ED-4DB2-BD59-A6C34878D82A}">
                        <a16:rowId xmlns:a16="http://schemas.microsoft.com/office/drawing/2014/main" val="10012"/>
                      </a:ext>
                    </a:extLst>
                  </a:tr>
                </a:tbl>
              </a:graphicData>
            </a:graphic>
          </p:graphicFrame>
        </mc:Choice>
        <mc:Fallback>
          <p:graphicFrame>
            <p:nvGraphicFramePr>
              <p:cNvPr id="8" name="Table 7"/>
              <p:cNvGraphicFramePr>
                <a:graphicFrameLocks noGrp="1"/>
              </p:cNvGraphicFramePr>
              <p:nvPr/>
            </p:nvGraphicFramePr>
            <p:xfrm>
              <a:off x="4366524" y="2515911"/>
              <a:ext cx="5912857" cy="3965321"/>
            </p:xfrm>
            <a:graphic>
              <a:graphicData uri="http://schemas.openxmlformats.org/drawingml/2006/table">
                <a:tbl>
                  <a:tblPr firstRow="1" bandRow="1">
                    <a:tableStyleId>{5C22544A-7EE6-4342-B048-85BDC9FD1C3A}</a:tableStyleId>
                  </a:tblPr>
                  <a:tblGrid>
                    <a:gridCol w="920640">
                      <a:extLst>
                        <a:ext uri="{9D8B030D-6E8A-4147-A177-3AD203B41FA5}">
                          <a16:colId xmlns:a16="http://schemas.microsoft.com/office/drawing/2014/main" val="20000"/>
                        </a:ext>
                      </a:extLst>
                    </a:gridCol>
                    <a:gridCol w="1859846">
                      <a:extLst>
                        <a:ext uri="{9D8B030D-6E8A-4147-A177-3AD203B41FA5}">
                          <a16:colId xmlns:a16="http://schemas.microsoft.com/office/drawing/2014/main" val="20001"/>
                        </a:ext>
                      </a:extLst>
                    </a:gridCol>
                    <a:gridCol w="3132371">
                      <a:extLst>
                        <a:ext uri="{9D8B030D-6E8A-4147-A177-3AD203B41FA5}">
                          <a16:colId xmlns:a16="http://schemas.microsoft.com/office/drawing/2014/main" val="20002"/>
                        </a:ext>
                      </a:extLst>
                    </a:gridCol>
                  </a:tblGrid>
                  <a:tr h="307721">
                    <a:tc>
                      <a:txBody>
                        <a:bodyPr/>
                        <a:lstStyle/>
                        <a:p>
                          <a:pPr algn="ctr">
                            <a:defRPr sz="1800">
                              <a:latin typeface="Times New Roman"/>
                            </a:defRPr>
                          </a:pPr>
                          <a:r>
                            <a:rPr sz="1400" baseline="0" dirty="0"/>
                            <a:t>True OR</a:t>
                          </a:r>
                        </a:p>
                      </a:txBody>
                      <a:tcPr/>
                    </a:tc>
                    <a:tc>
                      <a:txBody>
                        <a:bodyPr/>
                        <a:lstStyle/>
                        <a:p>
                          <a:endParaRPr lang="en-US"/>
                        </a:p>
                      </a:txBody>
                      <a:tcPr>
                        <a:blipFill>
                          <a:blip r:embed="rId3"/>
                          <a:stretch>
                            <a:fillRect l="-49673" t="-1961" r="-169281" b="-1198039"/>
                          </a:stretch>
                        </a:blipFill>
                      </a:tcPr>
                    </a:tc>
                    <a:tc>
                      <a:txBody>
                        <a:bodyPr/>
                        <a:lstStyle/>
                        <a:p>
                          <a:pPr algn="ctr">
                            <a:defRPr sz="1800">
                              <a:latin typeface="Times New Roman"/>
                            </a:defRPr>
                          </a:pPr>
                          <a:r>
                            <a:rPr sz="1400" baseline="0" dirty="0"/>
                            <a:t>Observed OR for  </a:t>
                          </a:r>
                          <a:r>
                            <a:rPr lang="en-US" sz="1400" baseline="0" dirty="0"/>
                            <a:t>1</a:t>
                          </a:r>
                          <a:r>
                            <a:rPr sz="1400" baseline="0" dirty="0"/>
                            <a:t> SD in X</a:t>
                          </a:r>
                        </a:p>
                      </a:txBody>
                      <a:tcPr/>
                    </a:tc>
                    <a:extLst>
                      <a:ext uri="{0D108BD9-81ED-4DB2-BD59-A6C34878D82A}">
                        <a16:rowId xmlns:a16="http://schemas.microsoft.com/office/drawing/2014/main" val="10000"/>
                      </a:ext>
                    </a:extLst>
                  </a:tr>
                  <a:tr h="304800">
                    <a:tc rowSpan="4">
                      <a:txBody>
                        <a:bodyPr/>
                        <a:lstStyle/>
                        <a:p>
                          <a:pPr algn="l">
                            <a:defRPr sz="1800">
                              <a:latin typeface="Times New Roman"/>
                            </a:defRPr>
                          </a:pPr>
                          <a:r>
                            <a:rPr sz="1400" baseline="0"/>
                            <a:t>1.5</a:t>
                          </a:r>
                        </a:p>
                      </a:txBody>
                      <a:tcPr/>
                    </a:tc>
                    <a:tc>
                      <a:txBody>
                        <a:bodyPr/>
                        <a:lstStyle/>
                        <a:p>
                          <a:pPr algn="ctr">
                            <a:defRPr sz="1800">
                              <a:latin typeface="Times New Roman"/>
                            </a:defRPr>
                          </a:pPr>
                          <a:r>
                            <a:rPr sz="1400" baseline="0"/>
                            <a:t>0.9</a:t>
                          </a:r>
                        </a:p>
                      </a:txBody>
                      <a:tcPr/>
                    </a:tc>
                    <a:tc>
                      <a:txBody>
                        <a:bodyPr/>
                        <a:lstStyle/>
                        <a:p>
                          <a:pPr algn="ctr">
                            <a:defRPr sz="1800">
                              <a:latin typeface="Times New Roman"/>
                            </a:defRPr>
                          </a:pPr>
                          <a:r>
                            <a:rPr sz="1400" baseline="0" dirty="0"/>
                            <a:t>1.44</a:t>
                          </a:r>
                        </a:p>
                      </a:txBody>
                      <a:tcPr/>
                    </a:tc>
                    <a:extLst>
                      <a:ext uri="{0D108BD9-81ED-4DB2-BD59-A6C34878D82A}">
                        <a16:rowId xmlns:a16="http://schemas.microsoft.com/office/drawing/2014/main" val="10001"/>
                      </a:ext>
                    </a:extLst>
                  </a:tr>
                  <a:tr h="304800">
                    <a:tc vMerge="1">
                      <a:txBody>
                        <a:bodyPr/>
                        <a:lstStyle/>
                        <a:p>
                          <a:pPr algn="l">
                            <a:defRPr sz="1800">
                              <a:latin typeface="Times New Roman"/>
                            </a:defRPr>
                          </a:pPr>
                          <a:endParaRPr/>
                        </a:p>
                      </a:txBody>
                      <a:tcPr/>
                    </a:tc>
                    <a:tc>
                      <a:txBody>
                        <a:bodyPr/>
                        <a:lstStyle/>
                        <a:p>
                          <a:pPr algn="ctr">
                            <a:defRPr sz="1800">
                              <a:latin typeface="Times New Roman"/>
                            </a:defRPr>
                          </a:pPr>
                          <a:r>
                            <a:rPr sz="1400" baseline="0"/>
                            <a:t>0.7</a:t>
                          </a:r>
                        </a:p>
                      </a:txBody>
                      <a:tcPr/>
                    </a:tc>
                    <a:tc>
                      <a:txBody>
                        <a:bodyPr/>
                        <a:lstStyle/>
                        <a:p>
                          <a:pPr algn="ctr">
                            <a:defRPr sz="1800">
                              <a:latin typeface="Times New Roman"/>
                            </a:defRPr>
                          </a:pPr>
                          <a:r>
                            <a:rPr sz="1400" baseline="0" dirty="0"/>
                            <a:t>1.33</a:t>
                          </a:r>
                        </a:p>
                      </a:txBody>
                      <a:tcPr/>
                    </a:tc>
                    <a:extLst>
                      <a:ext uri="{0D108BD9-81ED-4DB2-BD59-A6C34878D82A}">
                        <a16:rowId xmlns:a16="http://schemas.microsoft.com/office/drawing/2014/main" val="10002"/>
                      </a:ext>
                    </a:extLst>
                  </a:tr>
                  <a:tr h="304800">
                    <a:tc vMerge="1">
                      <a:txBody>
                        <a:bodyPr/>
                        <a:lstStyle/>
                        <a:p>
                          <a:pPr algn="l">
                            <a:defRPr sz="1800">
                              <a:latin typeface="Times New Roman"/>
                            </a:defRPr>
                          </a:pPr>
                          <a:endParaRPr/>
                        </a:p>
                      </a:txBody>
                      <a:tcPr/>
                    </a:tc>
                    <a:tc>
                      <a:txBody>
                        <a:bodyPr/>
                        <a:lstStyle/>
                        <a:p>
                          <a:pPr algn="ctr">
                            <a:defRPr sz="1800">
                              <a:latin typeface="Times New Roman"/>
                            </a:defRPr>
                          </a:pPr>
                          <a:r>
                            <a:rPr sz="1400" baseline="0"/>
                            <a:t>0.5</a:t>
                          </a:r>
                        </a:p>
                      </a:txBody>
                      <a:tcPr/>
                    </a:tc>
                    <a:tc>
                      <a:txBody>
                        <a:bodyPr/>
                        <a:lstStyle/>
                        <a:p>
                          <a:pPr algn="ctr">
                            <a:defRPr sz="1800">
                              <a:latin typeface="Times New Roman"/>
                            </a:defRPr>
                          </a:pPr>
                          <a:r>
                            <a:rPr sz="1400" baseline="0" dirty="0"/>
                            <a:t>1.22</a:t>
                          </a:r>
                        </a:p>
                      </a:txBody>
                      <a:tcPr/>
                    </a:tc>
                    <a:extLst>
                      <a:ext uri="{0D108BD9-81ED-4DB2-BD59-A6C34878D82A}">
                        <a16:rowId xmlns:a16="http://schemas.microsoft.com/office/drawing/2014/main" val="10003"/>
                      </a:ext>
                    </a:extLst>
                  </a:tr>
                  <a:tr h="304800">
                    <a:tc vMerge="1">
                      <a:txBody>
                        <a:bodyPr/>
                        <a:lstStyle/>
                        <a:p>
                          <a:pPr algn="l">
                            <a:defRPr sz="1800">
                              <a:latin typeface="Times New Roman"/>
                            </a:defRPr>
                          </a:pPr>
                          <a:endParaRPr/>
                        </a:p>
                      </a:txBody>
                      <a:tcPr/>
                    </a:tc>
                    <a:tc>
                      <a:txBody>
                        <a:bodyPr/>
                        <a:lstStyle/>
                        <a:p>
                          <a:pPr algn="ctr">
                            <a:defRPr sz="1800">
                              <a:latin typeface="Times New Roman"/>
                            </a:defRPr>
                          </a:pPr>
                          <a:r>
                            <a:rPr sz="1400" baseline="0"/>
                            <a:t>0.3</a:t>
                          </a:r>
                        </a:p>
                      </a:txBody>
                      <a:tcPr/>
                    </a:tc>
                    <a:tc>
                      <a:txBody>
                        <a:bodyPr/>
                        <a:lstStyle/>
                        <a:p>
                          <a:pPr algn="ctr">
                            <a:defRPr sz="1800">
                              <a:latin typeface="Times New Roman"/>
                            </a:defRPr>
                          </a:pPr>
                          <a:r>
                            <a:rPr sz="1400" baseline="0" dirty="0"/>
                            <a:t>1.12</a:t>
                          </a:r>
                        </a:p>
                      </a:txBody>
                      <a:tcPr/>
                    </a:tc>
                    <a:extLst>
                      <a:ext uri="{0D108BD9-81ED-4DB2-BD59-A6C34878D82A}">
                        <a16:rowId xmlns:a16="http://schemas.microsoft.com/office/drawing/2014/main" val="10004"/>
                      </a:ext>
                    </a:extLst>
                  </a:tr>
                  <a:tr h="304800">
                    <a:tc rowSpan="4">
                      <a:txBody>
                        <a:bodyPr/>
                        <a:lstStyle/>
                        <a:p>
                          <a:pPr algn="l">
                            <a:defRPr sz="1800">
                              <a:latin typeface="Times New Roman"/>
                            </a:defRPr>
                          </a:pPr>
                          <a:r>
                            <a:rPr sz="1400" baseline="0"/>
                            <a:t>2.0</a:t>
                          </a:r>
                        </a:p>
                      </a:txBody>
                      <a:tcPr/>
                    </a:tc>
                    <a:tc>
                      <a:txBody>
                        <a:bodyPr/>
                        <a:lstStyle/>
                        <a:p>
                          <a:pPr algn="ctr">
                            <a:defRPr sz="1800">
                              <a:latin typeface="Times New Roman"/>
                            </a:defRPr>
                          </a:pPr>
                          <a:r>
                            <a:rPr sz="1400" baseline="0"/>
                            <a:t>0.9</a:t>
                          </a:r>
                        </a:p>
                      </a:txBody>
                      <a:tcPr/>
                    </a:tc>
                    <a:tc>
                      <a:txBody>
                        <a:bodyPr/>
                        <a:lstStyle/>
                        <a:p>
                          <a:pPr algn="ctr">
                            <a:defRPr sz="1800">
                              <a:latin typeface="Times New Roman"/>
                            </a:defRPr>
                          </a:pPr>
                          <a:r>
                            <a:rPr sz="1400" baseline="0" dirty="0"/>
                            <a:t>1.87</a:t>
                          </a:r>
                        </a:p>
                      </a:txBody>
                      <a:tcPr/>
                    </a:tc>
                    <a:extLst>
                      <a:ext uri="{0D108BD9-81ED-4DB2-BD59-A6C34878D82A}">
                        <a16:rowId xmlns:a16="http://schemas.microsoft.com/office/drawing/2014/main" val="10005"/>
                      </a:ext>
                    </a:extLst>
                  </a:tr>
                  <a:tr h="304800">
                    <a:tc vMerge="1">
                      <a:txBody>
                        <a:bodyPr/>
                        <a:lstStyle/>
                        <a:p>
                          <a:pPr algn="l">
                            <a:defRPr sz="1800">
                              <a:latin typeface="Times New Roman"/>
                            </a:defRPr>
                          </a:pPr>
                          <a:endParaRPr/>
                        </a:p>
                      </a:txBody>
                      <a:tcPr/>
                    </a:tc>
                    <a:tc>
                      <a:txBody>
                        <a:bodyPr/>
                        <a:lstStyle/>
                        <a:p>
                          <a:pPr algn="ctr">
                            <a:defRPr sz="1800">
                              <a:latin typeface="Times New Roman"/>
                            </a:defRPr>
                          </a:pPr>
                          <a:r>
                            <a:rPr sz="1400" baseline="0"/>
                            <a:t>0.7</a:t>
                          </a:r>
                        </a:p>
                      </a:txBody>
                      <a:tcPr/>
                    </a:tc>
                    <a:tc>
                      <a:txBody>
                        <a:bodyPr/>
                        <a:lstStyle/>
                        <a:p>
                          <a:pPr algn="ctr">
                            <a:defRPr sz="1800">
                              <a:latin typeface="Times New Roman"/>
                            </a:defRPr>
                          </a:pPr>
                          <a:r>
                            <a:rPr sz="1400" baseline="0" dirty="0"/>
                            <a:t>1.62</a:t>
                          </a:r>
                        </a:p>
                      </a:txBody>
                      <a:tcPr/>
                    </a:tc>
                    <a:extLst>
                      <a:ext uri="{0D108BD9-81ED-4DB2-BD59-A6C34878D82A}">
                        <a16:rowId xmlns:a16="http://schemas.microsoft.com/office/drawing/2014/main" val="10006"/>
                      </a:ext>
                    </a:extLst>
                  </a:tr>
                  <a:tr h="304800">
                    <a:tc vMerge="1">
                      <a:txBody>
                        <a:bodyPr/>
                        <a:lstStyle/>
                        <a:p>
                          <a:pPr algn="l">
                            <a:defRPr sz="1800">
                              <a:latin typeface="Times New Roman"/>
                            </a:defRPr>
                          </a:pPr>
                          <a:endParaRPr/>
                        </a:p>
                      </a:txBody>
                      <a:tcPr/>
                    </a:tc>
                    <a:tc>
                      <a:txBody>
                        <a:bodyPr/>
                        <a:lstStyle/>
                        <a:p>
                          <a:pPr algn="ctr">
                            <a:defRPr sz="1800">
                              <a:latin typeface="Times New Roman"/>
                            </a:defRPr>
                          </a:pPr>
                          <a:r>
                            <a:rPr sz="1400" baseline="0"/>
                            <a:t>0.5</a:t>
                          </a:r>
                        </a:p>
                      </a:txBody>
                      <a:tcPr/>
                    </a:tc>
                    <a:tc>
                      <a:txBody>
                        <a:bodyPr/>
                        <a:lstStyle/>
                        <a:p>
                          <a:pPr algn="ctr">
                            <a:defRPr sz="1800">
                              <a:latin typeface="Times New Roman"/>
                            </a:defRPr>
                          </a:pPr>
                          <a:r>
                            <a:rPr sz="1400" baseline="0" dirty="0"/>
                            <a:t>1.41</a:t>
                          </a:r>
                        </a:p>
                      </a:txBody>
                      <a:tcPr/>
                    </a:tc>
                    <a:extLst>
                      <a:ext uri="{0D108BD9-81ED-4DB2-BD59-A6C34878D82A}">
                        <a16:rowId xmlns:a16="http://schemas.microsoft.com/office/drawing/2014/main" val="10007"/>
                      </a:ext>
                    </a:extLst>
                  </a:tr>
                  <a:tr h="304800">
                    <a:tc vMerge="1">
                      <a:txBody>
                        <a:bodyPr/>
                        <a:lstStyle/>
                        <a:p>
                          <a:pPr algn="l">
                            <a:defRPr sz="1800">
                              <a:latin typeface="Times New Roman"/>
                            </a:defRPr>
                          </a:pPr>
                          <a:endParaRPr/>
                        </a:p>
                      </a:txBody>
                      <a:tcPr/>
                    </a:tc>
                    <a:tc>
                      <a:txBody>
                        <a:bodyPr/>
                        <a:lstStyle/>
                        <a:p>
                          <a:pPr algn="ctr">
                            <a:defRPr sz="1800">
                              <a:latin typeface="Times New Roman"/>
                            </a:defRPr>
                          </a:pPr>
                          <a:r>
                            <a:rPr sz="1400" baseline="0"/>
                            <a:t>0.3</a:t>
                          </a:r>
                        </a:p>
                      </a:txBody>
                      <a:tcPr/>
                    </a:tc>
                    <a:tc>
                      <a:txBody>
                        <a:bodyPr/>
                        <a:lstStyle/>
                        <a:p>
                          <a:pPr algn="ctr">
                            <a:defRPr sz="1800">
                              <a:latin typeface="Times New Roman"/>
                            </a:defRPr>
                          </a:pPr>
                          <a:r>
                            <a:rPr sz="1400" baseline="0" dirty="0"/>
                            <a:t>1.23</a:t>
                          </a:r>
                        </a:p>
                      </a:txBody>
                      <a:tcPr/>
                    </a:tc>
                    <a:extLst>
                      <a:ext uri="{0D108BD9-81ED-4DB2-BD59-A6C34878D82A}">
                        <a16:rowId xmlns:a16="http://schemas.microsoft.com/office/drawing/2014/main" val="10008"/>
                      </a:ext>
                    </a:extLst>
                  </a:tr>
                  <a:tr h="304800">
                    <a:tc rowSpan="4">
                      <a:txBody>
                        <a:bodyPr/>
                        <a:lstStyle/>
                        <a:p>
                          <a:pPr algn="l">
                            <a:defRPr sz="1800">
                              <a:latin typeface="Times New Roman"/>
                            </a:defRPr>
                          </a:pPr>
                          <a:r>
                            <a:rPr sz="1400" baseline="0"/>
                            <a:t>4.0</a:t>
                          </a:r>
                        </a:p>
                      </a:txBody>
                      <a:tcPr/>
                    </a:tc>
                    <a:tc>
                      <a:txBody>
                        <a:bodyPr/>
                        <a:lstStyle/>
                        <a:p>
                          <a:pPr algn="ctr">
                            <a:defRPr sz="1800">
                              <a:latin typeface="Times New Roman"/>
                            </a:defRPr>
                          </a:pPr>
                          <a:r>
                            <a:rPr sz="1400" baseline="0"/>
                            <a:t>0.9</a:t>
                          </a:r>
                        </a:p>
                      </a:txBody>
                      <a:tcPr/>
                    </a:tc>
                    <a:tc>
                      <a:txBody>
                        <a:bodyPr/>
                        <a:lstStyle/>
                        <a:p>
                          <a:pPr algn="ctr">
                            <a:defRPr sz="1800">
                              <a:latin typeface="Times New Roman"/>
                            </a:defRPr>
                          </a:pPr>
                          <a:r>
                            <a:rPr sz="1400" baseline="0" dirty="0"/>
                            <a:t>3.48</a:t>
                          </a:r>
                        </a:p>
                      </a:txBody>
                      <a:tcPr/>
                    </a:tc>
                    <a:extLst>
                      <a:ext uri="{0D108BD9-81ED-4DB2-BD59-A6C34878D82A}">
                        <a16:rowId xmlns:a16="http://schemas.microsoft.com/office/drawing/2014/main" val="10009"/>
                      </a:ext>
                    </a:extLst>
                  </a:tr>
                  <a:tr h="304800">
                    <a:tc vMerge="1">
                      <a:txBody>
                        <a:bodyPr/>
                        <a:lstStyle/>
                        <a:p>
                          <a:pPr algn="l">
                            <a:defRPr sz="1800">
                              <a:latin typeface="Times New Roman"/>
                            </a:defRPr>
                          </a:pPr>
                          <a:endParaRPr/>
                        </a:p>
                      </a:txBody>
                      <a:tcPr/>
                    </a:tc>
                    <a:tc>
                      <a:txBody>
                        <a:bodyPr/>
                        <a:lstStyle/>
                        <a:p>
                          <a:pPr algn="ctr">
                            <a:defRPr sz="1800">
                              <a:latin typeface="Times New Roman"/>
                            </a:defRPr>
                          </a:pPr>
                          <a:r>
                            <a:rPr sz="1400" baseline="0"/>
                            <a:t>0.7</a:t>
                          </a:r>
                        </a:p>
                      </a:txBody>
                      <a:tcPr/>
                    </a:tc>
                    <a:tc>
                      <a:txBody>
                        <a:bodyPr/>
                        <a:lstStyle/>
                        <a:p>
                          <a:pPr algn="ctr">
                            <a:defRPr sz="1800">
                              <a:latin typeface="Times New Roman"/>
                            </a:defRPr>
                          </a:pPr>
                          <a:r>
                            <a:rPr sz="1400" baseline="0" dirty="0"/>
                            <a:t>2.64</a:t>
                          </a:r>
                        </a:p>
                      </a:txBody>
                      <a:tcPr/>
                    </a:tc>
                    <a:extLst>
                      <a:ext uri="{0D108BD9-81ED-4DB2-BD59-A6C34878D82A}">
                        <a16:rowId xmlns:a16="http://schemas.microsoft.com/office/drawing/2014/main" val="10010"/>
                      </a:ext>
                    </a:extLst>
                  </a:tr>
                  <a:tr h="304800">
                    <a:tc vMerge="1">
                      <a:txBody>
                        <a:bodyPr/>
                        <a:lstStyle/>
                        <a:p>
                          <a:pPr algn="l">
                            <a:defRPr sz="1800">
                              <a:latin typeface="Times New Roman"/>
                            </a:defRPr>
                          </a:pPr>
                          <a:endParaRPr/>
                        </a:p>
                      </a:txBody>
                      <a:tcPr/>
                    </a:tc>
                    <a:tc>
                      <a:txBody>
                        <a:bodyPr/>
                        <a:lstStyle/>
                        <a:p>
                          <a:pPr algn="ctr">
                            <a:defRPr sz="1800">
                              <a:latin typeface="Times New Roman"/>
                            </a:defRPr>
                          </a:pPr>
                          <a:r>
                            <a:rPr sz="1400" baseline="0"/>
                            <a:t>0.5</a:t>
                          </a:r>
                        </a:p>
                      </a:txBody>
                      <a:tcPr/>
                    </a:tc>
                    <a:tc>
                      <a:txBody>
                        <a:bodyPr/>
                        <a:lstStyle/>
                        <a:p>
                          <a:pPr algn="ctr">
                            <a:defRPr sz="1800">
                              <a:latin typeface="Times New Roman"/>
                            </a:defRPr>
                          </a:pPr>
                          <a:r>
                            <a:rPr sz="1400" baseline="0" dirty="0"/>
                            <a:t>2.0</a:t>
                          </a:r>
                        </a:p>
                      </a:txBody>
                      <a:tcPr/>
                    </a:tc>
                    <a:extLst>
                      <a:ext uri="{0D108BD9-81ED-4DB2-BD59-A6C34878D82A}">
                        <a16:rowId xmlns:a16="http://schemas.microsoft.com/office/drawing/2014/main" val="10011"/>
                      </a:ext>
                    </a:extLst>
                  </a:tr>
                  <a:tr h="304800">
                    <a:tc vMerge="1">
                      <a:txBody>
                        <a:bodyPr/>
                        <a:lstStyle/>
                        <a:p>
                          <a:pPr algn="l">
                            <a:defRPr sz="1800">
                              <a:latin typeface="Times New Roman"/>
                            </a:defRPr>
                          </a:pPr>
                          <a:endParaRPr/>
                        </a:p>
                      </a:txBody>
                      <a:tcPr/>
                    </a:tc>
                    <a:tc>
                      <a:txBody>
                        <a:bodyPr/>
                        <a:lstStyle/>
                        <a:p>
                          <a:pPr algn="ctr">
                            <a:defRPr sz="1800">
                              <a:latin typeface="Times New Roman"/>
                            </a:defRPr>
                          </a:pPr>
                          <a:r>
                            <a:rPr sz="1400" baseline="0"/>
                            <a:t>0.3</a:t>
                          </a:r>
                        </a:p>
                      </a:txBody>
                      <a:tcPr/>
                    </a:tc>
                    <a:tc>
                      <a:txBody>
                        <a:bodyPr/>
                        <a:lstStyle/>
                        <a:p>
                          <a:pPr algn="ctr">
                            <a:defRPr sz="1800">
                              <a:latin typeface="Times New Roman"/>
                            </a:defRPr>
                          </a:pPr>
                          <a:r>
                            <a:rPr sz="1400" baseline="0" dirty="0"/>
                            <a:t>1.5</a:t>
                          </a:r>
                        </a:p>
                      </a:txBody>
                      <a:tcPr/>
                    </a:tc>
                    <a:extLst>
                      <a:ext uri="{0D108BD9-81ED-4DB2-BD59-A6C34878D82A}">
                        <a16:rowId xmlns:a16="http://schemas.microsoft.com/office/drawing/2014/main" val="10012"/>
                      </a:ext>
                    </a:extLst>
                  </a:tr>
                </a:tbl>
              </a:graphicData>
            </a:graphic>
          </p:graphicFrame>
        </mc:Fallback>
      </mc:AlternateContent>
      <p:sp>
        <p:nvSpPr>
          <p:cNvPr id="9" name="TextBox 8"/>
          <p:cNvSpPr txBox="1"/>
          <p:nvPr/>
        </p:nvSpPr>
        <p:spPr>
          <a:xfrm>
            <a:off x="1546363" y="4572358"/>
            <a:ext cx="2920992" cy="954107"/>
          </a:xfrm>
          <a:prstGeom prst="rect">
            <a:avLst/>
          </a:prstGeom>
          <a:noFill/>
        </p:spPr>
        <p:txBody>
          <a:bodyPr wrap="none">
            <a:spAutoFit/>
          </a:bodyPr>
          <a:lstStyle/>
          <a:p>
            <a:pPr>
              <a:defRPr sz="1400">
                <a:latin typeface="Times New Roman"/>
              </a:defRPr>
            </a:pPr>
            <a:r>
              <a:rPr sz="1400" dirty="0"/>
              <a:t>Armstrong BK, White E, </a:t>
            </a:r>
            <a:r>
              <a:rPr sz="1400" dirty="0" err="1"/>
              <a:t>Saracci</a:t>
            </a:r>
            <a:r>
              <a:rPr sz="1400" dirty="0"/>
              <a:t> R.</a:t>
            </a:r>
            <a:endParaRPr lang="en-US" sz="1400" dirty="0"/>
          </a:p>
          <a:p>
            <a:pPr>
              <a:defRPr sz="1400">
                <a:latin typeface="Times New Roman"/>
              </a:defRPr>
            </a:pPr>
            <a:r>
              <a:rPr sz="1400" dirty="0"/>
              <a:t> 'Principles of Exposure Measurement</a:t>
            </a:r>
            <a:endParaRPr lang="en-US" sz="1400" dirty="0"/>
          </a:p>
          <a:p>
            <a:pPr>
              <a:defRPr sz="1400">
                <a:latin typeface="Times New Roman"/>
              </a:defRPr>
            </a:pPr>
            <a:r>
              <a:rPr sz="1400" dirty="0"/>
              <a:t> in Epidemiology'.</a:t>
            </a:r>
            <a:endParaRPr lang="en-US" sz="1400" dirty="0"/>
          </a:p>
          <a:p>
            <a:pPr>
              <a:defRPr sz="1400">
                <a:latin typeface="Times New Roman"/>
              </a:defRPr>
            </a:pPr>
            <a:r>
              <a:rPr sz="1400" dirty="0"/>
              <a:t> Oxford University Press Inc; 1992.</a:t>
            </a:r>
          </a:p>
        </p:txBody>
      </p:sp>
      <p:sp>
        <p:nvSpPr>
          <p:cNvPr id="10" name="TextBox 9"/>
          <p:cNvSpPr txBox="1"/>
          <p:nvPr/>
        </p:nvSpPr>
        <p:spPr>
          <a:xfrm>
            <a:off x="1752737" y="6457950"/>
            <a:ext cx="3161443" cy="400110"/>
          </a:xfrm>
          <a:prstGeom prst="rect">
            <a:avLst/>
          </a:prstGeom>
          <a:noFill/>
        </p:spPr>
        <p:txBody>
          <a:bodyPr wrap="none">
            <a:spAutoFit/>
          </a:bodyPr>
          <a:lstStyle/>
          <a:p>
            <a:pPr>
              <a:defRPr sz="2000">
                <a:latin typeface="Times New Roman"/>
              </a:defRPr>
            </a:pPr>
            <a:r>
              <a:rPr sz="2000"/>
              <a:t>Yale School of Public Health</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75B9600-05DF-4A77-84B8-BC4AD27FBCC1}"/>
              </a:ext>
            </a:extLst>
          </p:cNvPr>
          <p:cNvSpPr/>
          <p:nvPr/>
        </p:nvSpPr>
        <p:spPr>
          <a:xfrm>
            <a:off x="0" y="-18028"/>
            <a:ext cx="12192000" cy="1237230"/>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Arial" panose="020B0604020202020204" pitchFamily="34" charset="0"/>
                <a:cs typeface="Arial" panose="020B0604020202020204" pitchFamily="34" charset="0"/>
              </a:rPr>
              <a:t>Common Approaches to the Measurement Error</a:t>
            </a:r>
          </a:p>
          <a:p>
            <a:pPr algn="ctr"/>
            <a:r>
              <a:rPr lang="en-US" sz="4000" dirty="0">
                <a:latin typeface="Arial" panose="020B0604020202020204" pitchFamily="34" charset="0"/>
                <a:cs typeface="Arial" panose="020B0604020202020204" pitchFamily="34" charset="0"/>
              </a:rPr>
              <a:t>     Problem in Epidemiology</a:t>
            </a:r>
          </a:p>
        </p:txBody>
      </p:sp>
      <p:pic>
        <p:nvPicPr>
          <p:cNvPr id="9" name="Picture 8">
            <a:extLst>
              <a:ext uri="{FF2B5EF4-FFF2-40B4-BE49-F238E27FC236}">
                <a16:creationId xmlns:a16="http://schemas.microsoft.com/office/drawing/2014/main" id="{C5F619FB-6B44-4D0B-94C2-54A59CC4CB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8180" y="6491732"/>
            <a:ext cx="3208020" cy="201958"/>
          </a:xfrm>
          <a:prstGeom prst="rect">
            <a:avLst/>
          </a:prstGeom>
        </p:spPr>
      </p:pic>
      <p:sp>
        <p:nvSpPr>
          <p:cNvPr id="10" name="Title 9">
            <a:extLst>
              <a:ext uri="{FF2B5EF4-FFF2-40B4-BE49-F238E27FC236}">
                <a16:creationId xmlns:a16="http://schemas.microsoft.com/office/drawing/2014/main" id="{29B6BF7D-DCC7-4DCF-B910-7EAC0B7CC482}"/>
              </a:ext>
            </a:extLst>
          </p:cNvPr>
          <p:cNvSpPr txBox="1">
            <a:spLocks/>
          </p:cNvSpPr>
          <p:nvPr/>
        </p:nvSpPr>
        <p:spPr>
          <a:xfrm>
            <a:off x="0" y="26658"/>
            <a:ext cx="12192000" cy="671938"/>
          </a:xfrm>
          <a:prstGeom prst="rect">
            <a:avLst/>
          </a:prstGeom>
        </p:spPr>
        <p:txBody>
          <a:bodyPr>
            <a:noAutofit/>
          </a:bodyPr>
          <a:lstStyle>
            <a:lvl1pPr algn="l" defTabSz="914400" rtl="0" eaLnBrk="1" fontAlgn="b" latinLnBrk="0" hangingPunct="1">
              <a:lnSpc>
                <a:spcPct val="90000"/>
              </a:lnSpc>
              <a:spcBef>
                <a:spcPct val="0"/>
              </a:spcBef>
              <a:buNone/>
              <a:defRPr sz="4800" kern="1200">
                <a:solidFill>
                  <a:schemeClr val="bg1"/>
                </a:solidFill>
                <a:latin typeface="+mj-lt"/>
                <a:ea typeface="+mj-ea"/>
                <a:cs typeface="+mj-cs"/>
              </a:defRPr>
            </a:lvl1pPr>
          </a:lstStyle>
          <a:p>
            <a:pPr algn="ctr"/>
            <a:endParaRPr lang="en-US" sz="6000" dirty="0"/>
          </a:p>
        </p:txBody>
      </p:sp>
      <p:sp>
        <p:nvSpPr>
          <p:cNvPr id="4" name="Content Placeholder 3">
            <a:extLst>
              <a:ext uri="{FF2B5EF4-FFF2-40B4-BE49-F238E27FC236}">
                <a16:creationId xmlns:a16="http://schemas.microsoft.com/office/drawing/2014/main" id="{5398935C-62CE-48B0-ABE4-E375FF6A6152}"/>
              </a:ext>
            </a:extLst>
          </p:cNvPr>
          <p:cNvSpPr>
            <a:spLocks noGrp="1"/>
          </p:cNvSpPr>
          <p:nvPr>
            <p:ph sz="half" idx="1"/>
          </p:nvPr>
        </p:nvSpPr>
        <p:spPr>
          <a:xfrm>
            <a:off x="470474" y="1367908"/>
            <a:ext cx="11188126" cy="4975122"/>
          </a:xfrm>
        </p:spPr>
        <p:txBody>
          <a:bodyPr>
            <a:noAutofit/>
          </a:bodyPr>
          <a:lstStyle/>
          <a:p>
            <a:pPr marL="0" marR="0" lvl="0" indent="0" algn="l" defTabSz="914400" rtl="0" eaLnBrk="1" fontAlgn="base" latinLnBrk="0" hangingPunct="1">
              <a:lnSpc>
                <a:spcPct val="80000"/>
              </a:lnSpc>
              <a:spcBef>
                <a:spcPct val="20000"/>
              </a:spcBef>
              <a:spcAft>
                <a:spcPct val="0"/>
              </a:spcAft>
              <a:buClrTx/>
              <a:buSzTx/>
              <a:buNone/>
              <a:tabLst/>
              <a:defRPr/>
            </a:pPr>
            <a:r>
              <a:rPr kumimoji="0" lang="en-US" altLang="zh-CN" sz="30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rPr>
              <a:t>1. Sensitivity Analysis</a:t>
            </a:r>
          </a:p>
          <a:p>
            <a:pPr lvl="1" fontAlgn="base">
              <a:lnSpc>
                <a:spcPct val="80000"/>
              </a:lnSpc>
              <a:spcBef>
                <a:spcPct val="20000"/>
              </a:spcBef>
              <a:spcAft>
                <a:spcPct val="0"/>
              </a:spcAft>
              <a:buFont typeface="Wingdings" panose="05000000000000000000" pitchFamily="2" charset="2"/>
              <a:buChar char="Ø"/>
              <a:defRPr/>
            </a:pPr>
            <a:r>
              <a:rPr kumimoji="0" lang="en-US" altLang="zh-CN" sz="2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rPr>
              <a:t>Non-differential error bias toward the null - but not always</a:t>
            </a:r>
            <a:endParaRPr lang="en-US" altLang="zh-CN" sz="2600" dirty="0">
              <a:solidFill>
                <a:srgbClr val="000000"/>
              </a:solidFill>
              <a:latin typeface="Arial" panose="020B0604020202020204" pitchFamily="34" charset="0"/>
              <a:ea typeface="宋体" panose="02010600030101010101" pitchFamily="2" charset="-122"/>
              <a:cs typeface="Arial" panose="020B0604020202020204" pitchFamily="34" charset="0"/>
            </a:endParaRPr>
          </a:p>
          <a:p>
            <a:pPr lvl="1" fontAlgn="base">
              <a:lnSpc>
                <a:spcPct val="80000"/>
              </a:lnSpc>
              <a:spcBef>
                <a:spcPct val="20000"/>
              </a:spcBef>
              <a:spcAft>
                <a:spcPct val="0"/>
              </a:spcAft>
              <a:buFont typeface="Wingdings" panose="05000000000000000000" pitchFamily="2" charset="2"/>
              <a:buChar char="Ø"/>
              <a:defRPr/>
            </a:pPr>
            <a:endParaRPr kumimoji="0" lang="en-US" altLang="zh-CN" sz="2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endParaRPr>
          </a:p>
          <a:p>
            <a:pPr marL="0" indent="0">
              <a:buNone/>
            </a:pPr>
            <a:r>
              <a:rPr lang="en-US" altLang="zh-CN" sz="3000" dirty="0">
                <a:solidFill>
                  <a:srgbClr val="000000"/>
                </a:solidFill>
                <a:latin typeface="Arial" panose="020B0604020202020204" pitchFamily="34" charset="0"/>
                <a:ea typeface="宋体" panose="02010600030101010101" pitchFamily="2" charset="-122"/>
                <a:cs typeface="Arial" panose="020B0604020202020204" pitchFamily="34" charset="0"/>
              </a:rPr>
              <a:t>2.</a:t>
            </a:r>
            <a:r>
              <a:rPr lang="en-US" sz="3000" dirty="0">
                <a:latin typeface="Arial" panose="020B0604020202020204" pitchFamily="34" charset="0"/>
                <a:cs typeface="Arial" panose="020B0604020202020204" pitchFamily="34" charset="0"/>
              </a:rPr>
              <a:t> Validation of exposure measurement</a:t>
            </a:r>
          </a:p>
          <a:p>
            <a:pPr lvl="1">
              <a:buFont typeface="Wingdings" panose="05000000000000000000" pitchFamily="2" charset="2"/>
              <a:buChar char="Ø"/>
            </a:pPr>
            <a:r>
              <a:rPr lang="en-US" sz="3000" dirty="0">
                <a:latin typeface="Arial" panose="020B0604020202020204" pitchFamily="34" charset="0"/>
                <a:cs typeface="Arial" panose="020B0604020202020204" pitchFamily="34" charset="0"/>
              </a:rPr>
              <a:t>Reporting a statistically significant association  (through p-value testing) between true and observed does not imply no bias due to measurement error.</a:t>
            </a:r>
          </a:p>
          <a:p>
            <a:pPr lvl="1">
              <a:buFont typeface="Wingdings" panose="05000000000000000000" pitchFamily="2" charset="2"/>
              <a:buChar char="Ø"/>
            </a:pPr>
            <a:endParaRPr lang="en-US" sz="3000" dirty="0">
              <a:latin typeface="Arial" panose="020B0604020202020204" pitchFamily="34" charset="0"/>
              <a:cs typeface="Arial" panose="020B0604020202020204" pitchFamily="34" charset="0"/>
            </a:endParaRPr>
          </a:p>
          <a:p>
            <a:pPr marL="0" indent="0">
              <a:buNone/>
            </a:pPr>
            <a:r>
              <a:rPr lang="en-US" altLang="zh-CN" sz="3000" dirty="0">
                <a:solidFill>
                  <a:srgbClr val="000000"/>
                </a:solidFill>
                <a:latin typeface="Arial" panose="020B0604020202020204" pitchFamily="34" charset="0"/>
                <a:ea typeface="宋体" panose="02010600030101010101" pitchFamily="2" charset="-122"/>
                <a:cs typeface="Arial" panose="020B0604020202020204" pitchFamily="34" charset="0"/>
              </a:rPr>
              <a:t>3. </a:t>
            </a:r>
            <a:r>
              <a:rPr lang="en-US" sz="3000" dirty="0">
                <a:highlight>
                  <a:srgbClr val="00FF00"/>
                </a:highlight>
                <a:latin typeface="Arial" panose="020B0604020202020204" pitchFamily="34" charset="0"/>
                <a:cs typeface="Arial" panose="020B0604020202020204" pitchFamily="34" charset="0"/>
              </a:rPr>
              <a:t>Quantitative correction of effect estimate</a:t>
            </a:r>
          </a:p>
          <a:p>
            <a:pPr marL="457200" lvl="1" indent="0">
              <a:buNone/>
            </a:pPr>
            <a:r>
              <a:rPr lang="en-US" sz="2600" dirty="0">
                <a:highlight>
                  <a:srgbClr val="00FF00"/>
                </a:highlight>
                <a:latin typeface="Arial" panose="020B0604020202020204" pitchFamily="34" charset="0"/>
                <a:cs typeface="Arial" panose="020B0604020202020204" pitchFamily="34" charset="0"/>
              </a:rPr>
              <a:t> i. DESIGN:  Main study/ reliability or validation study</a:t>
            </a:r>
          </a:p>
          <a:p>
            <a:pPr marL="457200" lvl="1" indent="0">
              <a:buNone/>
            </a:pPr>
            <a:r>
              <a:rPr lang="en-US" sz="2600" dirty="0">
                <a:highlight>
                  <a:srgbClr val="00FF00"/>
                </a:highlight>
                <a:latin typeface="Arial" panose="020B0604020202020204" pitchFamily="34" charset="0"/>
                <a:cs typeface="Arial" panose="020B0604020202020204" pitchFamily="34" charset="0"/>
              </a:rPr>
              <a:t> ii. ANALYSIS: measurement error &amp; misclassification methods</a:t>
            </a:r>
          </a:p>
          <a:p>
            <a:pPr marL="457200" lvl="1" indent="0" fontAlgn="base">
              <a:lnSpc>
                <a:spcPct val="80000"/>
              </a:lnSpc>
              <a:spcBef>
                <a:spcPct val="20000"/>
              </a:spcBef>
              <a:spcAft>
                <a:spcPct val="0"/>
              </a:spcAft>
              <a:buNone/>
              <a:defRPr/>
            </a:pPr>
            <a:endParaRPr kumimoji="0" lang="en-US" altLang="zh-CN" sz="2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endParaRPr>
          </a:p>
          <a:p>
            <a:pPr marL="342900" marR="0" lvl="0" indent="-342900" algn="l" defTabSz="914400" rtl="0" eaLnBrk="1" fontAlgn="base" latinLnBrk="0" hangingPunct="1">
              <a:lnSpc>
                <a:spcPct val="80000"/>
              </a:lnSpc>
              <a:spcBef>
                <a:spcPct val="20000"/>
              </a:spcBef>
              <a:spcAft>
                <a:spcPct val="0"/>
              </a:spcAft>
              <a:buClrTx/>
              <a:buSzTx/>
              <a:buFont typeface="Arial" pitchFamily="34" charset="0"/>
              <a:buNone/>
              <a:tabLst/>
              <a:defRPr/>
            </a:pPr>
            <a:r>
              <a:rPr kumimoji="0" lang="en-US" altLang="zh-CN" sz="30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rPr>
              <a:t> </a:t>
            </a:r>
          </a:p>
          <a:p>
            <a:pPr marL="342900" marR="0" lvl="0" indent="-342900" algn="l" defTabSz="914400" rtl="0" eaLnBrk="1" fontAlgn="base" latinLnBrk="0" hangingPunct="1">
              <a:lnSpc>
                <a:spcPct val="80000"/>
              </a:lnSpc>
              <a:spcBef>
                <a:spcPct val="20000"/>
              </a:spcBef>
              <a:spcAft>
                <a:spcPct val="0"/>
              </a:spcAft>
              <a:buClrTx/>
              <a:buSzTx/>
              <a:buFont typeface="Arial" pitchFamily="34" charset="0"/>
              <a:buNone/>
              <a:tabLst/>
              <a:defRPr/>
            </a:pPr>
            <a:endParaRPr kumimoji="0" lang="en-US" altLang="zh-CN" sz="30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endParaRPr>
          </a:p>
          <a:p>
            <a:pPr marL="342900" marR="0" lvl="0" indent="-342900" algn="l" defTabSz="914400" rtl="0" eaLnBrk="1" fontAlgn="base" latinLnBrk="0" hangingPunct="1">
              <a:lnSpc>
                <a:spcPct val="80000"/>
              </a:lnSpc>
              <a:spcBef>
                <a:spcPct val="20000"/>
              </a:spcBef>
              <a:spcAft>
                <a:spcPct val="0"/>
              </a:spcAft>
              <a:buClrTx/>
              <a:buSzTx/>
              <a:buFont typeface="Arial" pitchFamily="34" charset="0"/>
              <a:buNone/>
              <a:tabLst/>
              <a:defRPr/>
            </a:pPr>
            <a:endParaRPr kumimoji="0" lang="en-US" altLang="zh-CN" sz="800" b="0" i="0" u="none" strike="noStrike" kern="1200" cap="none" spc="0" normalizeH="0" baseline="0" noProof="0" dirty="0">
              <a:ln>
                <a:noFill/>
              </a:ln>
              <a:solidFill>
                <a:srgbClr val="000000"/>
              </a:solidFill>
              <a:effectLst/>
              <a:uLnTx/>
              <a:uFillTx/>
              <a:latin typeface="Calibri"/>
              <a:ea typeface="宋体" panose="02010600030101010101" pitchFamily="2" charset="-122"/>
              <a:cs typeface="+mn-cs"/>
            </a:endParaRPr>
          </a:p>
          <a:p>
            <a:pPr marL="342900" marR="0" lvl="0" indent="-342900" algn="l" defTabSz="914400" rtl="0" eaLnBrk="1" fontAlgn="base" latinLnBrk="0" hangingPunct="1">
              <a:lnSpc>
                <a:spcPct val="80000"/>
              </a:lnSpc>
              <a:spcBef>
                <a:spcPct val="20000"/>
              </a:spcBef>
              <a:spcAft>
                <a:spcPct val="0"/>
              </a:spcAft>
              <a:buClrTx/>
              <a:buSzTx/>
              <a:buFont typeface="Arial" pitchFamily="34" charset="0"/>
              <a:buNone/>
              <a:tabLst/>
              <a:defRPr/>
            </a:pPr>
            <a:endParaRPr kumimoji="0" lang="en-US" altLang="zh-CN" sz="800" b="0" i="0" u="none" strike="noStrike" kern="1200" cap="none" spc="0" normalizeH="0" baseline="0" noProof="0" dirty="0">
              <a:ln>
                <a:noFill/>
              </a:ln>
              <a:solidFill>
                <a:srgbClr val="000000"/>
              </a:solidFill>
              <a:effectLst/>
              <a:uLnTx/>
              <a:uFillTx/>
              <a:latin typeface="Calibri"/>
              <a:ea typeface="宋体" panose="02010600030101010101" pitchFamily="2" charset="-122"/>
              <a:cs typeface="+mn-cs"/>
            </a:endParaRPr>
          </a:p>
          <a:p>
            <a:pPr marL="0" indent="0">
              <a:buNone/>
            </a:pPr>
            <a:endParaRPr lang="en-US" sz="1700" dirty="0"/>
          </a:p>
        </p:txBody>
      </p:sp>
      <p:sp>
        <p:nvSpPr>
          <p:cNvPr id="2" name="Slide Number Placeholder 1">
            <a:extLst>
              <a:ext uri="{FF2B5EF4-FFF2-40B4-BE49-F238E27FC236}">
                <a16:creationId xmlns:a16="http://schemas.microsoft.com/office/drawing/2014/main" id="{D36C2E3D-83B5-73DC-943E-C9FDDCD679D8}"/>
              </a:ext>
            </a:extLst>
          </p:cNvPr>
          <p:cNvSpPr>
            <a:spLocks noGrp="1"/>
          </p:cNvSpPr>
          <p:nvPr>
            <p:ph type="sldNum" sz="quarter" idx="12"/>
          </p:nvPr>
        </p:nvSpPr>
        <p:spPr/>
        <p:txBody>
          <a:bodyPr/>
          <a:lstStyle/>
          <a:p>
            <a:fld id="{77C6A7FE-225D-49F1-B302-AA37EA92BB49}" type="slidenum">
              <a:rPr lang="en-US" smtClean="0"/>
              <a:t>3</a:t>
            </a:fld>
            <a:endParaRPr lang="en-US"/>
          </a:p>
        </p:txBody>
      </p:sp>
    </p:spTree>
    <p:extLst>
      <p:ext uri="{BB962C8B-B14F-4D97-AF65-F5344CB8AC3E}">
        <p14:creationId xmlns:p14="http://schemas.microsoft.com/office/powerpoint/2010/main" val="202064233"/>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75B9600-05DF-4A77-84B8-BC4AD27FBCC1}"/>
              </a:ext>
            </a:extLst>
          </p:cNvPr>
          <p:cNvSpPr/>
          <p:nvPr/>
        </p:nvSpPr>
        <p:spPr>
          <a:xfrm>
            <a:off x="0" y="-18028"/>
            <a:ext cx="12192000" cy="1237230"/>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Arial" panose="020B0604020202020204" pitchFamily="34" charset="0"/>
                <a:cs typeface="Arial" panose="020B0604020202020204" pitchFamily="34" charset="0"/>
              </a:rPr>
              <a:t>Validation Study</a:t>
            </a:r>
          </a:p>
        </p:txBody>
      </p:sp>
      <p:pic>
        <p:nvPicPr>
          <p:cNvPr id="9" name="Picture 8">
            <a:extLst>
              <a:ext uri="{FF2B5EF4-FFF2-40B4-BE49-F238E27FC236}">
                <a16:creationId xmlns:a16="http://schemas.microsoft.com/office/drawing/2014/main" id="{C5F619FB-6B44-4D0B-94C2-54A59CC4CB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8180" y="6491732"/>
            <a:ext cx="3208020" cy="201958"/>
          </a:xfrm>
          <a:prstGeom prst="rect">
            <a:avLst/>
          </a:prstGeom>
        </p:spPr>
      </p:pic>
      <p:sp>
        <p:nvSpPr>
          <p:cNvPr id="10" name="Title 9">
            <a:extLst>
              <a:ext uri="{FF2B5EF4-FFF2-40B4-BE49-F238E27FC236}">
                <a16:creationId xmlns:a16="http://schemas.microsoft.com/office/drawing/2014/main" id="{29B6BF7D-DCC7-4DCF-B910-7EAC0B7CC482}"/>
              </a:ext>
            </a:extLst>
          </p:cNvPr>
          <p:cNvSpPr txBox="1">
            <a:spLocks/>
          </p:cNvSpPr>
          <p:nvPr/>
        </p:nvSpPr>
        <p:spPr>
          <a:xfrm>
            <a:off x="0" y="26658"/>
            <a:ext cx="12192000" cy="671938"/>
          </a:xfrm>
          <a:prstGeom prst="rect">
            <a:avLst/>
          </a:prstGeom>
        </p:spPr>
        <p:txBody>
          <a:bodyPr>
            <a:noAutofit/>
          </a:bodyPr>
          <a:lstStyle>
            <a:lvl1pPr algn="l" defTabSz="914400" rtl="0" eaLnBrk="1" fontAlgn="b" latinLnBrk="0" hangingPunct="1">
              <a:lnSpc>
                <a:spcPct val="90000"/>
              </a:lnSpc>
              <a:spcBef>
                <a:spcPct val="0"/>
              </a:spcBef>
              <a:buNone/>
              <a:defRPr sz="4800" kern="1200">
                <a:solidFill>
                  <a:schemeClr val="bg1"/>
                </a:solidFill>
                <a:latin typeface="+mj-lt"/>
                <a:ea typeface="+mj-ea"/>
                <a:cs typeface="+mj-cs"/>
              </a:defRPr>
            </a:lvl1pPr>
          </a:lstStyle>
          <a:p>
            <a:pPr algn="ctr"/>
            <a:endParaRPr lang="en-US" sz="6000" dirty="0"/>
          </a:p>
        </p:txBody>
      </p:sp>
      <p:pic>
        <p:nvPicPr>
          <p:cNvPr id="6" name="Content Placeholder 5">
            <a:extLst>
              <a:ext uri="{FF2B5EF4-FFF2-40B4-BE49-F238E27FC236}">
                <a16:creationId xmlns:a16="http://schemas.microsoft.com/office/drawing/2014/main" id="{AE479C25-C193-122A-4397-65A7DBE74588}"/>
              </a:ext>
            </a:extLst>
          </p:cNvPr>
          <p:cNvPicPr>
            <a:picLocks noGrp="1" noChangeAspect="1"/>
          </p:cNvPicPr>
          <p:nvPr>
            <p:ph sz="half" idx="1"/>
          </p:nvPr>
        </p:nvPicPr>
        <p:blipFill>
          <a:blip r:embed="rId4"/>
          <a:stretch>
            <a:fillRect/>
          </a:stretch>
        </p:blipFill>
        <p:spPr>
          <a:xfrm>
            <a:off x="2891787" y="1311083"/>
            <a:ext cx="6907533" cy="5045267"/>
          </a:xfrm>
          <a:prstGeom prst="rect">
            <a:avLst/>
          </a:prstGeom>
        </p:spPr>
      </p:pic>
      <p:sp>
        <p:nvSpPr>
          <p:cNvPr id="2" name="Slide Number Placeholder 1">
            <a:extLst>
              <a:ext uri="{FF2B5EF4-FFF2-40B4-BE49-F238E27FC236}">
                <a16:creationId xmlns:a16="http://schemas.microsoft.com/office/drawing/2014/main" id="{6758EC6E-AD94-59B3-7BE3-F8C8EF6BCE1C}"/>
              </a:ext>
            </a:extLst>
          </p:cNvPr>
          <p:cNvSpPr>
            <a:spLocks noGrp="1"/>
          </p:cNvSpPr>
          <p:nvPr>
            <p:ph type="sldNum" sz="quarter" idx="12"/>
          </p:nvPr>
        </p:nvSpPr>
        <p:spPr/>
        <p:txBody>
          <a:bodyPr/>
          <a:lstStyle/>
          <a:p>
            <a:fld id="{77C6A7FE-225D-49F1-B302-AA37EA92BB49}" type="slidenum">
              <a:rPr lang="en-US" smtClean="0"/>
              <a:t>4</a:t>
            </a:fld>
            <a:endParaRPr lang="en-US"/>
          </a:p>
        </p:txBody>
      </p:sp>
    </p:spTree>
    <p:extLst>
      <p:ext uri="{BB962C8B-B14F-4D97-AF65-F5344CB8AC3E}">
        <p14:creationId xmlns:p14="http://schemas.microsoft.com/office/powerpoint/2010/main" val="2752204553"/>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44F5F-9D31-D483-7099-0A1442EC4DB3}"/>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7890E29-8E80-E09A-D827-E5F7AC183511}"/>
              </a:ext>
            </a:extLst>
          </p:cNvPr>
          <p:cNvSpPr/>
          <p:nvPr/>
        </p:nvSpPr>
        <p:spPr>
          <a:xfrm>
            <a:off x="0" y="-18028"/>
            <a:ext cx="12192000" cy="1237230"/>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Arial" panose="020B0604020202020204" pitchFamily="34" charset="0"/>
                <a:cs typeface="Arial" panose="020B0604020202020204" pitchFamily="34" charset="0"/>
              </a:rPr>
              <a:t>Reliability study</a:t>
            </a:r>
          </a:p>
        </p:txBody>
      </p:sp>
      <p:pic>
        <p:nvPicPr>
          <p:cNvPr id="9" name="Picture 8">
            <a:extLst>
              <a:ext uri="{FF2B5EF4-FFF2-40B4-BE49-F238E27FC236}">
                <a16:creationId xmlns:a16="http://schemas.microsoft.com/office/drawing/2014/main" id="{6E89F7C3-DB56-00F4-F5F6-6AB1FC431F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8180" y="6491732"/>
            <a:ext cx="3208020" cy="201958"/>
          </a:xfrm>
          <a:prstGeom prst="rect">
            <a:avLst/>
          </a:prstGeom>
        </p:spPr>
      </p:pic>
      <p:sp>
        <p:nvSpPr>
          <p:cNvPr id="10" name="Title 9">
            <a:extLst>
              <a:ext uri="{FF2B5EF4-FFF2-40B4-BE49-F238E27FC236}">
                <a16:creationId xmlns:a16="http://schemas.microsoft.com/office/drawing/2014/main" id="{FB46847E-89FB-DD94-5F30-0DA8D440368E}"/>
              </a:ext>
            </a:extLst>
          </p:cNvPr>
          <p:cNvSpPr txBox="1">
            <a:spLocks/>
          </p:cNvSpPr>
          <p:nvPr/>
        </p:nvSpPr>
        <p:spPr>
          <a:xfrm>
            <a:off x="0" y="26658"/>
            <a:ext cx="12192000" cy="671938"/>
          </a:xfrm>
          <a:prstGeom prst="rect">
            <a:avLst/>
          </a:prstGeom>
        </p:spPr>
        <p:txBody>
          <a:bodyPr>
            <a:noAutofit/>
          </a:bodyPr>
          <a:lstStyle>
            <a:lvl1pPr algn="l" defTabSz="914400" rtl="0" eaLnBrk="1" fontAlgn="b" latinLnBrk="0" hangingPunct="1">
              <a:lnSpc>
                <a:spcPct val="90000"/>
              </a:lnSpc>
              <a:spcBef>
                <a:spcPct val="0"/>
              </a:spcBef>
              <a:buNone/>
              <a:defRPr sz="4800" kern="1200">
                <a:solidFill>
                  <a:schemeClr val="bg1"/>
                </a:solidFill>
                <a:latin typeface="+mj-lt"/>
                <a:ea typeface="+mj-ea"/>
                <a:cs typeface="+mj-cs"/>
              </a:defRPr>
            </a:lvl1pPr>
          </a:lstStyle>
          <a:p>
            <a:pPr algn="ctr"/>
            <a:endParaRPr lang="en-US" sz="6000" dirty="0"/>
          </a:p>
        </p:txBody>
      </p:sp>
      <p:sp>
        <p:nvSpPr>
          <p:cNvPr id="2" name="Slide Number Placeholder 1">
            <a:extLst>
              <a:ext uri="{FF2B5EF4-FFF2-40B4-BE49-F238E27FC236}">
                <a16:creationId xmlns:a16="http://schemas.microsoft.com/office/drawing/2014/main" id="{482965E4-E362-017E-4C4B-56548BBC8249}"/>
              </a:ext>
            </a:extLst>
          </p:cNvPr>
          <p:cNvSpPr>
            <a:spLocks noGrp="1"/>
          </p:cNvSpPr>
          <p:nvPr>
            <p:ph type="sldNum" sz="quarter" idx="12"/>
          </p:nvPr>
        </p:nvSpPr>
        <p:spPr/>
        <p:txBody>
          <a:bodyPr/>
          <a:lstStyle/>
          <a:p>
            <a:fld id="{77C6A7FE-225D-49F1-B302-AA37EA92BB49}" type="slidenum">
              <a:rPr lang="en-US" smtClean="0"/>
              <a:t>5</a:t>
            </a:fld>
            <a:endParaRPr lang="en-US"/>
          </a:p>
        </p:txBody>
      </p:sp>
      <mc:AlternateContent xmlns:mc="http://schemas.openxmlformats.org/markup-compatibility/2006">
        <mc:Choice xmlns:a14="http://schemas.microsoft.com/office/drawing/2010/main" Requires="a14">
          <p:sp>
            <p:nvSpPr>
              <p:cNvPr id="12" name="Content Placeholder 11">
                <a:extLst>
                  <a:ext uri="{FF2B5EF4-FFF2-40B4-BE49-F238E27FC236}">
                    <a16:creationId xmlns:a16="http://schemas.microsoft.com/office/drawing/2014/main" id="{FAFCB2AE-12A2-9A3D-888C-3BF367FD1E36}"/>
                  </a:ext>
                </a:extLst>
              </p:cNvPr>
              <p:cNvSpPr>
                <a:spLocks noGrp="1"/>
              </p:cNvSpPr>
              <p:nvPr>
                <p:ph sz="half" idx="1"/>
              </p:nvPr>
            </p:nvSpPr>
            <p:spPr>
              <a:xfrm>
                <a:off x="838200" y="1825625"/>
                <a:ext cx="9745980" cy="4351338"/>
              </a:xfrm>
            </p:spPr>
            <p:txBody>
              <a:bodyPr>
                <a:normAutofit fontScale="92500"/>
              </a:bodyPr>
              <a:lstStyle/>
              <a:p>
                <a:pPr>
                  <a:buFont typeface="Arial" charset="0"/>
                  <a:buNone/>
                  <a:defRPr/>
                </a:pPr>
                <a:r>
                  <a:rPr lang="en-US" dirty="0">
                    <a:latin typeface="Times New Roman" pitchFamily="18" charset="0"/>
                    <a:cs typeface="Times New Roman" pitchFamily="18" charset="0"/>
                  </a:rPr>
                  <a:t>When the exposure data can be assumed to follow the classical additive measurement error model</a:t>
                </a:r>
              </a:p>
              <a:p>
                <a:pPr algn="ctr">
                  <a:buNone/>
                  <a:defRPr/>
                </a:pPr>
                <a14:m>
                  <m:oMath xmlns:m="http://schemas.openxmlformats.org/officeDocument/2006/math">
                    <m:sSub>
                      <m:sSubPr>
                        <m:ctrlPr>
                          <a:rPr lang="en-US" i="1">
                            <a:latin typeface="Cambria Math" panose="02040503050406030204" pitchFamily="18" charset="0"/>
                            <a:cs typeface="Times New Roman" pitchFamily="18" charset="0"/>
                          </a:rPr>
                        </m:ctrlPr>
                      </m:sSubPr>
                      <m:e>
                        <m:r>
                          <a:rPr lang="en-US" i="1">
                            <a:latin typeface="Cambria Math" panose="02040503050406030204" pitchFamily="18" charset="0"/>
                            <a:cs typeface="Times New Roman" pitchFamily="18" charset="0"/>
                          </a:rPr>
                          <m:t>𝑍</m:t>
                        </m:r>
                      </m:e>
                      <m:sub>
                        <m:r>
                          <a:rPr lang="en-US" i="1">
                            <a:latin typeface="Cambria Math" panose="02040503050406030204" pitchFamily="18" charset="0"/>
                            <a:cs typeface="Times New Roman" pitchFamily="18" charset="0"/>
                          </a:rPr>
                          <m:t>𝑖𝑗</m:t>
                        </m:r>
                      </m:sub>
                    </m:sSub>
                    <m:r>
                      <a:rPr lang="en-US" i="1">
                        <a:latin typeface="Cambria Math" panose="02040503050406030204" pitchFamily="18" charset="0"/>
                        <a:cs typeface="Times New Roman" pitchFamily="18" charset="0"/>
                      </a:rPr>
                      <m:t>=</m:t>
                    </m:r>
                    <m:sSub>
                      <m:sSubPr>
                        <m:ctrlPr>
                          <a:rPr lang="en-US" i="1">
                            <a:latin typeface="Cambria Math" panose="02040503050406030204" pitchFamily="18" charset="0"/>
                            <a:cs typeface="Times New Roman" pitchFamily="18" charset="0"/>
                          </a:rPr>
                        </m:ctrlPr>
                      </m:sSubPr>
                      <m:e>
                        <m:r>
                          <a:rPr lang="en-US" i="1">
                            <a:latin typeface="Cambria Math" panose="02040503050406030204" pitchFamily="18" charset="0"/>
                            <a:cs typeface="Times New Roman" pitchFamily="18" charset="0"/>
                          </a:rPr>
                          <m:t>𝑋</m:t>
                        </m:r>
                      </m:e>
                      <m:sub>
                        <m:r>
                          <a:rPr lang="en-US" i="1">
                            <a:latin typeface="Cambria Math" panose="02040503050406030204" pitchFamily="18" charset="0"/>
                            <a:cs typeface="Times New Roman" pitchFamily="18" charset="0"/>
                          </a:rPr>
                          <m:t>𝑖</m:t>
                        </m:r>
                      </m:sub>
                    </m:sSub>
                    <m:r>
                      <a:rPr lang="en-US" i="1">
                        <a:latin typeface="Cambria Math" panose="02040503050406030204" pitchFamily="18" charset="0"/>
                        <a:cs typeface="Times New Roman" pitchFamily="18" charset="0"/>
                      </a:rPr>
                      <m:t>+ </m:t>
                    </m:r>
                    <m:sSub>
                      <m:sSubPr>
                        <m:ctrlPr>
                          <a:rPr lang="en-US" i="1">
                            <a:latin typeface="Cambria Math" panose="02040503050406030204" pitchFamily="18" charset="0"/>
                            <a:cs typeface="Times New Roman" pitchFamily="18" charset="0"/>
                          </a:rPr>
                        </m:ctrlPr>
                      </m:sSubPr>
                      <m:e>
                        <m:acc>
                          <m:accPr>
                            <m:chr m:val="̃"/>
                            <m:ctrlPr>
                              <a:rPr lang="en-US" i="1">
                                <a:latin typeface="Cambria Math" panose="02040503050406030204" pitchFamily="18" charset="0"/>
                                <a:cs typeface="Times New Roman" pitchFamily="18" charset="0"/>
                              </a:rPr>
                            </m:ctrlPr>
                          </m:accPr>
                          <m:e>
                            <m:r>
                              <a:rPr lang="en-US" i="1">
                                <a:latin typeface="Cambria Math" panose="02040503050406030204" pitchFamily="18" charset="0"/>
                                <a:ea typeface="Cambria Math" panose="02040503050406030204" pitchFamily="18" charset="0"/>
                                <a:cs typeface="Times New Roman" pitchFamily="18" charset="0"/>
                              </a:rPr>
                              <m:t>𝜀</m:t>
                            </m:r>
                            <m:r>
                              <m:rPr>
                                <m:nor/>
                              </m:rPr>
                              <a:rPr lang="en-US" dirty="0">
                                <a:latin typeface="Times New Roman" pitchFamily="18" charset="0"/>
                                <a:cs typeface="Times New Roman" pitchFamily="18" charset="0"/>
                              </a:rPr>
                              <m:t> </m:t>
                            </m:r>
                          </m:e>
                        </m:acc>
                      </m:e>
                      <m:sub>
                        <m:r>
                          <a:rPr lang="en-US" i="1">
                            <a:latin typeface="Cambria Math" panose="02040503050406030204" pitchFamily="18" charset="0"/>
                            <a:cs typeface="Times New Roman" pitchFamily="18" charset="0"/>
                          </a:rPr>
                          <m:t>𝑖𝑗</m:t>
                        </m:r>
                      </m:sub>
                    </m:sSub>
                    <m:r>
                      <a:rPr lang="en-US">
                        <a:latin typeface="Cambria Math" panose="02040503050406030204" pitchFamily="18" charset="0"/>
                        <a:cs typeface="Times New Roman" pitchFamily="18" charset="0"/>
                      </a:rPr>
                      <m:t>, </m:t>
                    </m:r>
                    <m:r>
                      <m:rPr>
                        <m:sty m:val="p"/>
                      </m:rPr>
                      <a:rPr lang="en-US">
                        <a:latin typeface="Cambria Math" panose="02040503050406030204" pitchFamily="18" charset="0"/>
                        <a:cs typeface="Times New Roman" pitchFamily="18" charset="0"/>
                      </a:rPr>
                      <m:t>i</m:t>
                    </m:r>
                    <m:r>
                      <a:rPr lang="en-US">
                        <a:latin typeface="Cambria Math" panose="02040503050406030204" pitchFamily="18" charset="0"/>
                        <a:cs typeface="Times New Roman" pitchFamily="18" charset="0"/>
                      </a:rPr>
                      <m:t>=1,</m:t>
                    </m:r>
                  </m:oMath>
                </a14:m>
                <a:r>
                  <a:rPr lang="en-US" dirty="0">
                    <a:latin typeface="Times New Roman" pitchFamily="18" charset="0"/>
                    <a:cs typeface="Times New Roman" pitchFamily="18" charset="0"/>
                  </a:rPr>
                  <a:t>…,</a:t>
                </a:r>
                <a:r>
                  <a:rPr lang="en-US" dirty="0">
                    <a:solidFill>
                      <a:srgbClr val="000000"/>
                    </a:solidFill>
                  </a:rPr>
                  <a:t> </a:t>
                </a:r>
                <a14:m>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r>
                          <a:rPr lang="en-US" i="1">
                            <a:solidFill>
                              <a:srgbClr val="000000"/>
                            </a:solidFill>
                            <a:latin typeface="Cambria Math" panose="02040503050406030204" pitchFamily="18" charset="0"/>
                          </a:rPr>
                          <m:t>𝑅</m:t>
                        </m:r>
                      </m:sub>
                    </m:sSub>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𝑗</m:t>
                    </m:r>
                    <m:r>
                      <a:rPr lang="en-US" i="1">
                        <a:solidFill>
                          <a:srgbClr val="000000"/>
                        </a:solidFill>
                        <a:latin typeface="Cambria Math" panose="02040503050406030204" pitchFamily="18" charset="0"/>
                      </a:rPr>
                      <m:t>=1,…,</m:t>
                    </m:r>
                  </m:oMath>
                </a14:m>
                <a:r>
                  <a:rPr lang="en-US" dirty="0">
                    <a:solidFill>
                      <a:srgbClr val="000000"/>
                    </a:solidFill>
                  </a:rPr>
                  <a:t> </a:t>
                </a:r>
                <a14:m>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𝑅</m:t>
                            </m:r>
                          </m:e>
                          <m:sub>
                            <m:r>
                              <a:rPr lang="en-US" i="1">
                                <a:solidFill>
                                  <a:srgbClr val="000000"/>
                                </a:solidFill>
                                <a:latin typeface="Cambria Math" panose="02040503050406030204" pitchFamily="18" charset="0"/>
                              </a:rPr>
                              <m:t>𝐼</m:t>
                            </m:r>
                          </m:sub>
                        </m:sSub>
                      </m:sub>
                    </m:sSub>
                    <m:r>
                      <a:rPr lang="en-US">
                        <a:solidFill>
                          <a:srgbClr val="000000"/>
                        </a:solidFill>
                        <a:latin typeface="Cambria Math" panose="02040503050406030204" pitchFamily="18" charset="0"/>
                      </a:rPr>
                      <m:t>,</m:t>
                    </m:r>
                  </m:oMath>
                </a14:m>
                <a:r>
                  <a:rPr lang="en-US" dirty="0">
                    <a:latin typeface="Times New Roman" pitchFamily="18" charset="0"/>
                    <a:cs typeface="Times New Roman" pitchFamily="18" charset="0"/>
                  </a:rPr>
                  <a:t> </a:t>
                </a:r>
              </a:p>
              <a:p>
                <a:pPr>
                  <a:buNone/>
                  <a:defRPr/>
                </a:pPr>
                <a:r>
                  <a:rPr lang="en-US" dirty="0">
                    <a:latin typeface="Times New Roman" pitchFamily="18" charset="0"/>
                    <a:cs typeface="Times New Roman" pitchFamily="18" charset="0"/>
                  </a:rPr>
                  <a:t>where  in a Main study/External reliability study (MS/ERS), the main study consists of </a:t>
                </a:r>
                <a14:m>
                  <m:oMath xmlns:m="http://schemas.openxmlformats.org/officeDocument/2006/math">
                    <m:sSub>
                      <m:sSubPr>
                        <m:ctrlPr>
                          <a:rPr lang="en-US" i="1">
                            <a:latin typeface="Cambria Math" panose="02040503050406030204" pitchFamily="18" charset="0"/>
                            <a:cs typeface="Times New Roman" pitchFamily="18" charset="0"/>
                          </a:rPr>
                        </m:ctrlPr>
                      </m:sSubPr>
                      <m:e>
                        <m:r>
                          <a:rPr lang="en-US" i="1">
                            <a:latin typeface="Cambria Math" panose="02040503050406030204" pitchFamily="18" charset="0"/>
                            <a:cs typeface="Times New Roman" pitchFamily="18" charset="0"/>
                          </a:rPr>
                          <m:t>(</m:t>
                        </m:r>
                        <m:r>
                          <a:rPr lang="en-US" i="1">
                            <a:latin typeface="Cambria Math" panose="02040503050406030204" pitchFamily="18" charset="0"/>
                            <a:cs typeface="Times New Roman" pitchFamily="18" charset="0"/>
                          </a:rPr>
                          <m:t>𝐷</m:t>
                        </m:r>
                      </m:e>
                      <m:sub>
                        <m:r>
                          <a:rPr lang="en-US" i="1">
                            <a:latin typeface="Cambria Math" panose="02040503050406030204" pitchFamily="18" charset="0"/>
                            <a:cs typeface="Times New Roman" pitchFamily="18" charset="0"/>
                          </a:rPr>
                          <m:t>𝑖</m:t>
                        </m:r>
                      </m:sub>
                    </m:sSub>
                    <m:r>
                      <a:rPr lang="en-US" i="1">
                        <a:latin typeface="Cambria Math" panose="02040503050406030204" pitchFamily="18" charset="0"/>
                        <a:cs typeface="Times New Roman" pitchFamily="18" charset="0"/>
                      </a:rPr>
                      <m:t>,</m:t>
                    </m:r>
                    <m:sSub>
                      <m:sSubPr>
                        <m:ctrlPr>
                          <a:rPr lang="en-US" i="1">
                            <a:latin typeface="Cambria Math" panose="02040503050406030204" pitchFamily="18" charset="0"/>
                            <a:cs typeface="Times New Roman" pitchFamily="18" charset="0"/>
                          </a:rPr>
                        </m:ctrlPr>
                      </m:sSubPr>
                      <m:e>
                        <m:r>
                          <a:rPr lang="en-US" i="1">
                            <a:latin typeface="Cambria Math" panose="02040503050406030204" pitchFamily="18" charset="0"/>
                            <a:cs typeface="Times New Roman" pitchFamily="18" charset="0"/>
                          </a:rPr>
                          <m:t>𝑍</m:t>
                        </m:r>
                      </m:e>
                      <m:sub>
                        <m:r>
                          <a:rPr lang="en-US" i="1">
                            <a:latin typeface="Cambria Math" panose="02040503050406030204" pitchFamily="18" charset="0"/>
                            <a:cs typeface="Times New Roman" pitchFamily="18" charset="0"/>
                          </a:rPr>
                          <m:t>𝑖</m:t>
                        </m:r>
                        <m:r>
                          <a:rPr lang="en-US" i="1">
                            <a:latin typeface="Cambria Math" panose="02040503050406030204" pitchFamily="18" charset="0"/>
                            <a:cs typeface="Times New Roman" pitchFamily="18" charset="0"/>
                          </a:rPr>
                          <m:t>1</m:t>
                        </m:r>
                      </m:sub>
                    </m:sSub>
                    <m:r>
                      <a:rPr lang="en-US" i="1">
                        <a:latin typeface="Cambria Math" panose="02040503050406030204" pitchFamily="18" charset="0"/>
                        <a:cs typeface="Times New Roman" pitchFamily="18" charset="0"/>
                      </a:rPr>
                      <m:t>), </m:t>
                    </m:r>
                    <m:r>
                      <a:rPr lang="en-US" i="1">
                        <a:latin typeface="Cambria Math" panose="02040503050406030204" pitchFamily="18" charset="0"/>
                        <a:cs typeface="Times New Roman" pitchFamily="18" charset="0"/>
                      </a:rPr>
                      <m:t>𝑖</m:t>
                    </m:r>
                    <m:r>
                      <a:rPr lang="en-US" i="1">
                        <a:latin typeface="Cambria Math" panose="02040503050406030204" pitchFamily="18" charset="0"/>
                        <a:cs typeface="Times New Roman" pitchFamily="18" charset="0"/>
                      </a:rPr>
                      <m:t>=1,…,</m:t>
                    </m:r>
                    <m:sSub>
                      <m:sSubPr>
                        <m:ctrlPr>
                          <a:rPr lang="en-US" i="1">
                            <a:latin typeface="Cambria Math" panose="02040503050406030204" pitchFamily="18" charset="0"/>
                            <a:cs typeface="Times New Roman" pitchFamily="18" charset="0"/>
                          </a:rPr>
                        </m:ctrlPr>
                      </m:sSubPr>
                      <m:e>
                        <m:r>
                          <a:rPr lang="en-US" i="1">
                            <a:latin typeface="Cambria Math" panose="02040503050406030204" pitchFamily="18" charset="0"/>
                            <a:cs typeface="Times New Roman" pitchFamily="18" charset="0"/>
                          </a:rPr>
                          <m:t>𝑛</m:t>
                        </m:r>
                      </m:e>
                      <m:sub>
                        <m:r>
                          <a:rPr lang="en-US" i="1">
                            <a:latin typeface="Cambria Math" panose="02040503050406030204" pitchFamily="18" charset="0"/>
                            <a:cs typeface="Times New Roman" pitchFamily="18" charset="0"/>
                          </a:rPr>
                          <m:t>𝑚</m:t>
                        </m:r>
                      </m:sub>
                    </m:sSub>
                  </m:oMath>
                </a14:m>
                <a:r>
                  <a:rPr lang="en-US" dirty="0">
                    <a:latin typeface="Times New Roman" pitchFamily="18" charset="0"/>
                    <a:cs typeface="Times New Roman" pitchFamily="18" charset="0"/>
                  </a:rPr>
                  <a:t>, the external reliability study consists of </a:t>
                </a:r>
              </a:p>
              <a:p>
                <a:pPr algn="ctr">
                  <a:buNone/>
                  <a:defRPr/>
                </a:pPr>
                <a14:m>
                  <m:oMath xmlns:m="http://schemas.openxmlformats.org/officeDocument/2006/math">
                    <m:sSub>
                      <m:sSubPr>
                        <m:ctrlPr>
                          <a:rPr lang="en-US" i="1">
                            <a:latin typeface="Cambria Math" panose="02040503050406030204" pitchFamily="18" charset="0"/>
                            <a:cs typeface="Times New Roman" pitchFamily="18" charset="0"/>
                          </a:rPr>
                        </m:ctrlPr>
                      </m:sSubPr>
                      <m:e>
                        <m:r>
                          <a:rPr lang="en-US" i="1">
                            <a:latin typeface="Cambria Math" panose="02040503050406030204" pitchFamily="18" charset="0"/>
                            <a:cs typeface="Times New Roman" pitchFamily="18" charset="0"/>
                          </a:rPr>
                          <m:t>𝑍</m:t>
                        </m:r>
                      </m:e>
                      <m:sub>
                        <m:r>
                          <a:rPr lang="en-US" i="1">
                            <a:latin typeface="Cambria Math" panose="02040503050406030204" pitchFamily="18" charset="0"/>
                            <a:cs typeface="Times New Roman" pitchFamily="18" charset="0"/>
                          </a:rPr>
                          <m:t>𝑖</m:t>
                        </m:r>
                        <m:r>
                          <a:rPr lang="en-US" i="1">
                            <a:latin typeface="Cambria Math" panose="02040503050406030204" pitchFamily="18" charset="0"/>
                            <a:cs typeface="Times New Roman" pitchFamily="18" charset="0"/>
                          </a:rPr>
                          <m:t>𝑗</m:t>
                        </m:r>
                      </m:sub>
                    </m:sSub>
                    <m:r>
                      <a:rPr lang="en-US" i="1">
                        <a:latin typeface="Cambria Math" panose="02040503050406030204" pitchFamily="18" charset="0"/>
                        <a:cs typeface="Times New Roman" pitchFamily="18" charset="0"/>
                      </a:rPr>
                      <m:t>, </m:t>
                    </m:r>
                    <m:r>
                      <a:rPr lang="en-US" i="1">
                        <a:latin typeface="Cambria Math" panose="02040503050406030204" pitchFamily="18" charset="0"/>
                        <a:cs typeface="Times New Roman" pitchFamily="18" charset="0"/>
                      </a:rPr>
                      <m:t>𝑖</m:t>
                    </m:r>
                    <m:r>
                      <a:rPr lang="en-US" i="1">
                        <a:latin typeface="Cambria Math" panose="02040503050406030204" pitchFamily="18" charset="0"/>
                        <a:cs typeface="Times New Roman" pitchFamily="18" charset="0"/>
                      </a:rPr>
                      <m:t>=1,…,</m:t>
                    </m:r>
                    <m:sSub>
                      <m:sSubPr>
                        <m:ctrlPr>
                          <a:rPr lang="en-US" i="1">
                            <a:latin typeface="Cambria Math" panose="02040503050406030204" pitchFamily="18" charset="0"/>
                            <a:cs typeface="Times New Roman" pitchFamily="18" charset="0"/>
                          </a:rPr>
                        </m:ctrlPr>
                      </m:sSubPr>
                      <m:e>
                        <m:r>
                          <a:rPr lang="en-US" i="1">
                            <a:latin typeface="Cambria Math" panose="02040503050406030204" pitchFamily="18" charset="0"/>
                            <a:cs typeface="Times New Roman" pitchFamily="18" charset="0"/>
                          </a:rPr>
                          <m:t>𝑛</m:t>
                        </m:r>
                      </m:e>
                      <m:sub>
                        <m:r>
                          <a:rPr lang="en-US" i="1">
                            <a:latin typeface="Cambria Math" panose="02040503050406030204" pitchFamily="18" charset="0"/>
                            <a:cs typeface="Times New Roman" pitchFamily="18" charset="0"/>
                          </a:rPr>
                          <m:t>𝑚</m:t>
                        </m:r>
                      </m:sub>
                    </m:sSub>
                  </m:oMath>
                </a14:m>
                <a:r>
                  <a:rPr lang="en-US" dirty="0">
                    <a:latin typeface="Times New Roman" pitchFamily="18" charset="0"/>
                    <a:cs typeface="Times New Roman" pitchFamily="18" charset="0"/>
                  </a:rPr>
                  <a:t>; </a:t>
                </a:r>
                <a14:m>
                  <m:oMath xmlns:m="http://schemas.openxmlformats.org/officeDocument/2006/math">
                    <m:r>
                      <a:rPr lang="en-US" i="1">
                        <a:solidFill>
                          <a:srgbClr val="000000"/>
                        </a:solidFill>
                        <a:latin typeface="Cambria Math" panose="02040503050406030204" pitchFamily="18" charset="0"/>
                      </a:rPr>
                      <m:t>𝑗</m:t>
                    </m:r>
                    <m:r>
                      <a:rPr lang="en-US" i="1">
                        <a:solidFill>
                          <a:srgbClr val="000000"/>
                        </a:solidFill>
                        <a:latin typeface="Cambria Math" panose="02040503050406030204" pitchFamily="18" charset="0"/>
                      </a:rPr>
                      <m:t>=1,…,</m:t>
                    </m:r>
                  </m:oMath>
                </a14:m>
                <a:r>
                  <a:rPr lang="en-US" dirty="0">
                    <a:solidFill>
                      <a:srgbClr val="000000"/>
                    </a:solidFill>
                  </a:rPr>
                  <a:t> </a:t>
                </a:r>
                <a14:m>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𝑅</m:t>
                            </m:r>
                          </m:e>
                          <m:sub>
                            <m:r>
                              <a:rPr lang="en-US" i="1">
                                <a:solidFill>
                                  <a:srgbClr val="000000"/>
                                </a:solidFill>
                                <a:latin typeface="Cambria Math" panose="02040503050406030204" pitchFamily="18" charset="0"/>
                              </a:rPr>
                              <m:t>𝐼</m:t>
                            </m:r>
                          </m:sub>
                        </m:sSub>
                      </m:sub>
                    </m:sSub>
                    <m:r>
                      <a:rPr lang="en-US">
                        <a:solidFill>
                          <a:srgbClr val="000000"/>
                        </a:solidFill>
                        <a:latin typeface="Cambria Math" panose="02040503050406030204" pitchFamily="18" charset="0"/>
                      </a:rPr>
                      <m:t>, </m:t>
                    </m:r>
                  </m:oMath>
                </a14:m>
                <a:endParaRPr lang="en-US" dirty="0">
                  <a:solidFill>
                    <a:srgbClr val="000000"/>
                  </a:solidFill>
                  <a:latin typeface="Cambria Math" panose="02040503050406030204" pitchFamily="18" charset="0"/>
                </a:endParaRPr>
              </a:p>
              <a:p>
                <a:pPr>
                  <a:buNone/>
                  <a:defRPr/>
                </a:pPr>
                <a14:m>
                  <m:oMath xmlns:m="http://schemas.openxmlformats.org/officeDocument/2006/math">
                    <m:r>
                      <m:rPr>
                        <m:sty m:val="p"/>
                      </m:rPr>
                      <a:rPr lang="en-US">
                        <a:solidFill>
                          <a:srgbClr val="000000"/>
                        </a:solidFill>
                        <a:latin typeface="Cambria Math" panose="02040503050406030204" pitchFamily="18" charset="0"/>
                      </a:rPr>
                      <m:t>and</m:t>
                    </m:r>
                    <m:r>
                      <a:rPr lang="en-US">
                        <a:solidFill>
                          <a:srgbClr val="000000"/>
                        </a:solidFill>
                        <a:latin typeface="Cambria Math" panose="02040503050406030204" pitchFamily="18" charset="0"/>
                      </a:rPr>
                      <m:t> </m:t>
                    </m:r>
                    <m:sSub>
                      <m:sSubPr>
                        <m:ctrlPr>
                          <a:rPr lang="en-US" i="1" dirty="0">
                            <a:latin typeface="Cambria Math" panose="02040503050406030204" pitchFamily="18" charset="0"/>
                            <a:cs typeface="Times New Roman" pitchFamily="18" charset="0"/>
                          </a:rPr>
                        </m:ctrlPr>
                      </m:sSubPr>
                      <m:e>
                        <m:r>
                          <a:rPr lang="en-US" i="1" dirty="0">
                            <a:latin typeface="Cambria Math" panose="02040503050406030204" pitchFamily="18" charset="0"/>
                            <a:ea typeface="Cambria Math" panose="02040503050406030204" pitchFamily="18" charset="0"/>
                            <a:cs typeface="Times New Roman" pitchFamily="18" charset="0"/>
                          </a:rPr>
                          <m:t>𝜌</m:t>
                        </m:r>
                      </m:e>
                      <m:sub>
                        <m:r>
                          <a:rPr lang="en-US" i="1" dirty="0">
                            <a:latin typeface="Cambria Math" panose="02040503050406030204" pitchFamily="18" charset="0"/>
                            <a:cs typeface="Times New Roman" pitchFamily="18" charset="0"/>
                          </a:rPr>
                          <m:t>𝐼</m:t>
                        </m:r>
                      </m:sub>
                    </m:sSub>
                  </m:oMath>
                </a14:m>
                <a:r>
                  <a:rPr lang="en-US" dirty="0">
                    <a:latin typeface="Times New Roman" pitchFamily="18" charset="0"/>
                    <a:cs typeface="Times New Roman" pitchFamily="18" charset="0"/>
                  </a:rPr>
                  <a:t>=Corr</a:t>
                </a:r>
                <a14:m>
                  <m:oMath xmlns:m="http://schemas.openxmlformats.org/officeDocument/2006/math">
                    <m:sSub>
                      <m:sSubPr>
                        <m:ctrlPr>
                          <a:rPr lang="en-US" i="1">
                            <a:latin typeface="Cambria Math" panose="02040503050406030204" pitchFamily="18" charset="0"/>
                            <a:cs typeface="Times New Roman" pitchFamily="18" charset="0"/>
                          </a:rPr>
                        </m:ctrlPr>
                      </m:sSubPr>
                      <m:e>
                        <m:r>
                          <a:rPr lang="en-US" i="1">
                            <a:latin typeface="Cambria Math" panose="02040503050406030204" pitchFamily="18" charset="0"/>
                            <a:cs typeface="Times New Roman" pitchFamily="18" charset="0"/>
                          </a:rPr>
                          <m:t>(</m:t>
                        </m:r>
                        <m:r>
                          <a:rPr lang="en-US" i="1">
                            <a:latin typeface="Cambria Math" panose="02040503050406030204" pitchFamily="18" charset="0"/>
                            <a:cs typeface="Times New Roman" pitchFamily="18" charset="0"/>
                          </a:rPr>
                          <m:t>𝑍</m:t>
                        </m:r>
                      </m:e>
                      <m:sub>
                        <m:r>
                          <a:rPr lang="en-US" i="1">
                            <a:latin typeface="Cambria Math" panose="02040503050406030204" pitchFamily="18" charset="0"/>
                            <a:cs typeface="Times New Roman" pitchFamily="18" charset="0"/>
                          </a:rPr>
                          <m:t>𝑖𝑗</m:t>
                        </m:r>
                      </m:sub>
                    </m:sSub>
                    <m:r>
                      <a:rPr lang="en-US" i="1">
                        <a:latin typeface="Cambria Math" panose="02040503050406030204" pitchFamily="18" charset="0"/>
                        <a:cs typeface="Times New Roman" pitchFamily="18" charset="0"/>
                      </a:rPr>
                      <m:t>,</m:t>
                    </m:r>
                    <m:sSub>
                      <m:sSubPr>
                        <m:ctrlPr>
                          <a:rPr lang="en-US" i="1">
                            <a:latin typeface="Cambria Math" panose="02040503050406030204" pitchFamily="18" charset="0"/>
                            <a:cs typeface="Times New Roman" pitchFamily="18" charset="0"/>
                          </a:rPr>
                        </m:ctrlPr>
                      </m:sSubPr>
                      <m:e>
                        <m:r>
                          <a:rPr lang="en-US" i="1">
                            <a:latin typeface="Cambria Math" panose="02040503050406030204" pitchFamily="18" charset="0"/>
                            <a:cs typeface="Times New Roman" pitchFamily="18" charset="0"/>
                          </a:rPr>
                          <m:t>𝑍</m:t>
                        </m:r>
                      </m:e>
                      <m:sub>
                        <m:r>
                          <a:rPr lang="en-US" i="1">
                            <a:latin typeface="Cambria Math" panose="02040503050406030204" pitchFamily="18" charset="0"/>
                            <a:cs typeface="Times New Roman" pitchFamily="18" charset="0"/>
                          </a:rPr>
                          <m:t>𝑖</m:t>
                        </m:r>
                        <m:sSup>
                          <m:sSupPr>
                            <m:ctrlPr>
                              <a:rPr lang="en-US" i="1">
                                <a:latin typeface="Cambria Math" panose="02040503050406030204" pitchFamily="18" charset="0"/>
                                <a:cs typeface="Times New Roman" pitchFamily="18" charset="0"/>
                              </a:rPr>
                            </m:ctrlPr>
                          </m:sSupPr>
                          <m:e>
                            <m:r>
                              <a:rPr lang="en-US" i="1">
                                <a:latin typeface="Cambria Math" panose="02040503050406030204" pitchFamily="18" charset="0"/>
                                <a:cs typeface="Times New Roman" pitchFamily="18" charset="0"/>
                              </a:rPr>
                              <m:t>𝑗</m:t>
                            </m:r>
                          </m:e>
                          <m:sup>
                            <m:r>
                              <a:rPr lang="en-US" i="1">
                                <a:latin typeface="Cambria Math" panose="02040503050406030204" pitchFamily="18" charset="0"/>
                                <a:cs typeface="Times New Roman" pitchFamily="18" charset="0"/>
                              </a:rPr>
                              <m:t>′</m:t>
                            </m:r>
                          </m:sup>
                        </m:sSup>
                      </m:sub>
                    </m:sSub>
                  </m:oMath>
                </a14:m>
                <a:r>
                  <a:rPr lang="en-US" dirty="0">
                    <a:latin typeface="Times New Roman" pitchFamily="18" charset="0"/>
                    <a:cs typeface="Times New Roman" pitchFamily="18" charset="0"/>
                  </a:rPr>
                  <a:t>) characterizes the extent of measurement error in the data. In a MS/Internal (I) RS reliability study, the internal reliability study consist of </a:t>
                </a:r>
                <a14:m>
                  <m:oMath xmlns:m="http://schemas.openxmlformats.org/officeDocument/2006/math">
                    <m:sSub>
                      <m:sSubPr>
                        <m:ctrlPr>
                          <a:rPr lang="en-US" i="1">
                            <a:latin typeface="Cambria Math" panose="02040503050406030204" pitchFamily="18" charset="0"/>
                            <a:cs typeface="Times New Roman" pitchFamily="18" charset="0"/>
                          </a:rPr>
                        </m:ctrlPr>
                      </m:sSubPr>
                      <m:e>
                        <m:r>
                          <a:rPr lang="en-US" i="1">
                            <a:latin typeface="Cambria Math" panose="02040503050406030204" pitchFamily="18" charset="0"/>
                            <a:cs typeface="Times New Roman" pitchFamily="18" charset="0"/>
                          </a:rPr>
                          <m:t>(</m:t>
                        </m:r>
                        <m:sSub>
                          <m:sSubPr>
                            <m:ctrlPr>
                              <a:rPr lang="en-US" i="1">
                                <a:latin typeface="Cambria Math" panose="02040503050406030204" pitchFamily="18" charset="0"/>
                                <a:cs typeface="Times New Roman" pitchFamily="18" charset="0"/>
                              </a:rPr>
                            </m:ctrlPr>
                          </m:sSubPr>
                          <m:e>
                            <m:r>
                              <a:rPr lang="en-US" i="1">
                                <a:latin typeface="Cambria Math" panose="02040503050406030204" pitchFamily="18" charset="0"/>
                                <a:cs typeface="Times New Roman" pitchFamily="18" charset="0"/>
                              </a:rPr>
                              <m:t>𝑌</m:t>
                            </m:r>
                          </m:e>
                          <m:sub>
                            <m:r>
                              <a:rPr lang="en-US" i="1">
                                <a:latin typeface="Cambria Math" panose="02040503050406030204" pitchFamily="18" charset="0"/>
                                <a:cs typeface="Times New Roman" pitchFamily="18" charset="0"/>
                              </a:rPr>
                              <m:t>𝑖</m:t>
                            </m:r>
                          </m:sub>
                        </m:sSub>
                        <m:r>
                          <a:rPr lang="en-US" i="1">
                            <a:latin typeface="Cambria Math" panose="02040503050406030204" pitchFamily="18" charset="0"/>
                            <a:cs typeface="Times New Roman" pitchFamily="18" charset="0"/>
                          </a:rPr>
                          <m:t>,</m:t>
                        </m:r>
                        <m:r>
                          <a:rPr lang="en-US" i="1">
                            <a:latin typeface="Cambria Math" panose="02040503050406030204" pitchFamily="18" charset="0"/>
                            <a:cs typeface="Times New Roman" pitchFamily="18" charset="0"/>
                          </a:rPr>
                          <m:t>𝑍</m:t>
                        </m:r>
                      </m:e>
                      <m:sub>
                        <m:r>
                          <a:rPr lang="en-US" i="1">
                            <a:latin typeface="Cambria Math" panose="02040503050406030204" pitchFamily="18" charset="0"/>
                            <a:cs typeface="Times New Roman" pitchFamily="18" charset="0"/>
                          </a:rPr>
                          <m:t>𝑖𝑗</m:t>
                        </m:r>
                      </m:sub>
                    </m:sSub>
                    <m:r>
                      <a:rPr lang="en-US" i="1">
                        <a:latin typeface="Cambria Math" panose="02040503050406030204" pitchFamily="18" charset="0"/>
                        <a:cs typeface="Times New Roman" pitchFamily="18" charset="0"/>
                      </a:rPr>
                      <m:t>)</m:t>
                    </m:r>
                    <m:r>
                      <a:rPr lang="en-US" i="1">
                        <a:latin typeface="Cambria Math" panose="02040503050406030204" pitchFamily="18" charset="0"/>
                        <a:cs typeface="Times New Roman" pitchFamily="18" charset="0"/>
                      </a:rPr>
                      <m:t>, </m:t>
                    </m:r>
                    <m:r>
                      <a:rPr lang="en-US" i="1">
                        <a:latin typeface="Cambria Math" panose="02040503050406030204" pitchFamily="18" charset="0"/>
                        <a:cs typeface="Times New Roman" pitchFamily="18" charset="0"/>
                      </a:rPr>
                      <m:t>𝑖</m:t>
                    </m:r>
                    <m:r>
                      <a:rPr lang="en-US" i="1">
                        <a:latin typeface="Cambria Math" panose="02040503050406030204" pitchFamily="18" charset="0"/>
                        <a:cs typeface="Times New Roman" pitchFamily="18" charset="0"/>
                      </a:rPr>
                      <m:t>=1,…,</m:t>
                    </m:r>
                    <m:sSub>
                      <m:sSubPr>
                        <m:ctrlPr>
                          <a:rPr lang="en-US" i="1">
                            <a:latin typeface="Cambria Math" panose="02040503050406030204" pitchFamily="18" charset="0"/>
                            <a:cs typeface="Times New Roman" pitchFamily="18" charset="0"/>
                          </a:rPr>
                        </m:ctrlPr>
                      </m:sSubPr>
                      <m:e>
                        <m:r>
                          <a:rPr lang="en-US" i="1">
                            <a:latin typeface="Cambria Math" panose="02040503050406030204" pitchFamily="18" charset="0"/>
                            <a:cs typeface="Times New Roman" pitchFamily="18" charset="0"/>
                          </a:rPr>
                          <m:t>𝑛</m:t>
                        </m:r>
                      </m:e>
                      <m:sub>
                        <m:r>
                          <a:rPr lang="en-US" i="1">
                            <a:latin typeface="Cambria Math" panose="02040503050406030204" pitchFamily="18" charset="0"/>
                            <a:cs typeface="Times New Roman" pitchFamily="18" charset="0"/>
                          </a:rPr>
                          <m:t>𝑚</m:t>
                        </m:r>
                      </m:sub>
                    </m:sSub>
                  </m:oMath>
                </a14:m>
                <a:r>
                  <a:rPr lang="en-US" dirty="0">
                    <a:latin typeface="Times New Roman" pitchFamily="18" charset="0"/>
                    <a:cs typeface="Times New Roman" pitchFamily="18" charset="0"/>
                  </a:rPr>
                  <a:t>; </a:t>
                </a:r>
                <a14:m>
                  <m:oMath xmlns:m="http://schemas.openxmlformats.org/officeDocument/2006/math">
                    <m:r>
                      <a:rPr lang="en-US" i="1">
                        <a:solidFill>
                          <a:srgbClr val="000000"/>
                        </a:solidFill>
                        <a:latin typeface="Cambria Math" panose="02040503050406030204" pitchFamily="18" charset="0"/>
                      </a:rPr>
                      <m:t>𝑗</m:t>
                    </m:r>
                    <m:r>
                      <a:rPr lang="en-US" i="1">
                        <a:solidFill>
                          <a:srgbClr val="000000"/>
                        </a:solidFill>
                        <a:latin typeface="Cambria Math" panose="02040503050406030204" pitchFamily="18" charset="0"/>
                      </a:rPr>
                      <m:t>=1,…,</m:t>
                    </m:r>
                  </m:oMath>
                </a14:m>
                <a:r>
                  <a:rPr lang="en-US" dirty="0">
                    <a:solidFill>
                      <a:srgbClr val="000000"/>
                    </a:solidFill>
                  </a:rPr>
                  <a:t> </a:t>
                </a:r>
                <a14:m>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𝑅</m:t>
                            </m:r>
                          </m:e>
                          <m:sub>
                            <m:r>
                              <a:rPr lang="en-US" i="1">
                                <a:solidFill>
                                  <a:srgbClr val="000000"/>
                                </a:solidFill>
                                <a:latin typeface="Cambria Math" panose="02040503050406030204" pitchFamily="18" charset="0"/>
                              </a:rPr>
                              <m:t>𝐼</m:t>
                            </m:r>
                          </m:sub>
                        </m:sSub>
                      </m:sub>
                    </m:sSub>
                  </m:oMath>
                </a14:m>
                <a:endParaRPr lang="en-US" dirty="0"/>
              </a:p>
            </p:txBody>
          </p:sp>
        </mc:Choice>
        <mc:Fallback>
          <p:sp>
            <p:nvSpPr>
              <p:cNvPr id="12" name="Content Placeholder 11">
                <a:extLst>
                  <a:ext uri="{FF2B5EF4-FFF2-40B4-BE49-F238E27FC236}">
                    <a16:creationId xmlns:a16="http://schemas.microsoft.com/office/drawing/2014/main" id="{FAFCB2AE-12A2-9A3D-888C-3BF367FD1E36}"/>
                  </a:ext>
                </a:extLst>
              </p:cNvPr>
              <p:cNvSpPr>
                <a:spLocks noGrp="1" noRot="1" noChangeAspect="1" noMove="1" noResize="1" noEditPoints="1" noAdjustHandles="1" noChangeArrowheads="1" noChangeShapeType="1" noTextEdit="1"/>
              </p:cNvSpPr>
              <p:nvPr>
                <p:ph sz="half" idx="1"/>
              </p:nvPr>
            </p:nvSpPr>
            <p:spPr>
              <a:xfrm>
                <a:off x="838200" y="1825625"/>
                <a:ext cx="9745980" cy="4351338"/>
              </a:xfrm>
              <a:blipFill>
                <a:blip r:embed="rId4"/>
                <a:stretch>
                  <a:fillRect l="-1126" t="-2101" r="-751" b="-1961"/>
                </a:stretch>
              </a:blipFill>
            </p:spPr>
            <p:txBody>
              <a:bodyPr/>
              <a:lstStyle/>
              <a:p>
                <a:r>
                  <a:rPr lang="en-US">
                    <a:noFill/>
                  </a:rPr>
                  <a:t> </a:t>
                </a:r>
              </a:p>
            </p:txBody>
          </p:sp>
        </mc:Fallback>
      </mc:AlternateContent>
    </p:spTree>
    <p:extLst>
      <p:ext uri="{BB962C8B-B14F-4D97-AF65-F5344CB8AC3E}">
        <p14:creationId xmlns:p14="http://schemas.microsoft.com/office/powerpoint/2010/main" val="4103690459"/>
      </p:ext>
    </p:extLst>
  </p:cSld>
  <p:clrMapOvr>
    <a:masterClrMapping/>
  </p:clrMapOvr>
  <mc:AlternateContent xmlns:mc="http://schemas.openxmlformats.org/markup-compatibility/2006">
    <mc:Choice xmlns:p14="http://schemas.microsoft.com/office/powerpoint/2010/main" Requires="p14">
      <p:transition spd="slow" p14:dur="12250"/>
    </mc:Choice>
    <mc:Fallback>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F7E988DF-6941-A93C-A4EA-F1BE425BB924}"/>
              </a:ext>
            </a:extLst>
          </p:cNvPr>
          <p:cNvPicPr>
            <a:picLocks noChangeAspect="1"/>
          </p:cNvPicPr>
          <p:nvPr/>
        </p:nvPicPr>
        <p:blipFill>
          <a:blip r:embed="rId3"/>
          <a:stretch>
            <a:fillRect/>
          </a:stretch>
        </p:blipFill>
        <p:spPr>
          <a:xfrm>
            <a:off x="3410712" y="2995843"/>
            <a:ext cx="4268511" cy="754722"/>
          </a:xfrm>
          <a:prstGeom prst="rect">
            <a:avLst/>
          </a:prstGeom>
        </p:spPr>
      </p:pic>
      <p:sp>
        <p:nvSpPr>
          <p:cNvPr id="5" name="Rectangle 4">
            <a:extLst>
              <a:ext uri="{FF2B5EF4-FFF2-40B4-BE49-F238E27FC236}">
                <a16:creationId xmlns:a16="http://schemas.microsoft.com/office/drawing/2014/main" id="{B75B9600-05DF-4A77-84B8-BC4AD27FBCC1}"/>
              </a:ext>
            </a:extLst>
          </p:cNvPr>
          <p:cNvSpPr/>
          <p:nvPr/>
        </p:nvSpPr>
        <p:spPr>
          <a:xfrm>
            <a:off x="0" y="-18028"/>
            <a:ext cx="12192000" cy="1237230"/>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Arial" panose="020B0604020202020204" pitchFamily="34" charset="0"/>
                <a:cs typeface="Arial" panose="020B0604020202020204" pitchFamily="34" charset="0"/>
              </a:rPr>
              <a:t>Empirical estimates of measurement error from Harvard’s Nurses’ Health Study validation study</a:t>
            </a:r>
          </a:p>
        </p:txBody>
      </p:sp>
      <p:pic>
        <p:nvPicPr>
          <p:cNvPr id="9" name="Picture 8">
            <a:extLst>
              <a:ext uri="{FF2B5EF4-FFF2-40B4-BE49-F238E27FC236}">
                <a16:creationId xmlns:a16="http://schemas.microsoft.com/office/drawing/2014/main" id="{C5F619FB-6B44-4D0B-94C2-54A59CC4CBE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8180" y="6491732"/>
            <a:ext cx="3208020" cy="201958"/>
          </a:xfrm>
          <a:prstGeom prst="rect">
            <a:avLst/>
          </a:prstGeom>
        </p:spPr>
      </p:pic>
      <p:sp>
        <p:nvSpPr>
          <p:cNvPr id="10" name="Title 9">
            <a:extLst>
              <a:ext uri="{FF2B5EF4-FFF2-40B4-BE49-F238E27FC236}">
                <a16:creationId xmlns:a16="http://schemas.microsoft.com/office/drawing/2014/main" id="{29B6BF7D-DCC7-4DCF-B910-7EAC0B7CC482}"/>
              </a:ext>
            </a:extLst>
          </p:cNvPr>
          <p:cNvSpPr txBox="1">
            <a:spLocks/>
          </p:cNvSpPr>
          <p:nvPr/>
        </p:nvSpPr>
        <p:spPr>
          <a:xfrm>
            <a:off x="0" y="26658"/>
            <a:ext cx="12192000" cy="671938"/>
          </a:xfrm>
          <a:prstGeom prst="rect">
            <a:avLst/>
          </a:prstGeom>
        </p:spPr>
        <p:txBody>
          <a:bodyPr>
            <a:noAutofit/>
          </a:bodyPr>
          <a:lstStyle>
            <a:lvl1pPr algn="l" defTabSz="914400" rtl="0" eaLnBrk="1" fontAlgn="b" latinLnBrk="0" hangingPunct="1">
              <a:lnSpc>
                <a:spcPct val="90000"/>
              </a:lnSpc>
              <a:spcBef>
                <a:spcPct val="0"/>
              </a:spcBef>
              <a:buNone/>
              <a:defRPr sz="4800" kern="1200">
                <a:solidFill>
                  <a:schemeClr val="bg1"/>
                </a:solidFill>
                <a:latin typeface="+mj-lt"/>
                <a:ea typeface="+mj-ea"/>
                <a:cs typeface="+mj-cs"/>
              </a:defRPr>
            </a:lvl1pPr>
          </a:lstStyle>
          <a:p>
            <a:pPr algn="ctr"/>
            <a:endParaRPr lang="en-US" sz="6000" dirty="0"/>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B659EE0A-3B85-6A59-3FF5-1BFF863DD740}"/>
                  </a:ext>
                </a:extLst>
              </p:cNvPr>
              <p:cNvSpPr txBox="1"/>
              <p:nvPr/>
            </p:nvSpPr>
            <p:spPr>
              <a:xfrm>
                <a:off x="0" y="1263888"/>
                <a:ext cx="12079224" cy="7017306"/>
              </a:xfrm>
              <a:prstGeom prst="rect">
                <a:avLst/>
              </a:prstGeom>
              <a:noFill/>
            </p:spPr>
            <p:txBody>
              <a:bodyPr wrap="square" rtlCol="0">
                <a:spAutoFit/>
              </a:bodyPr>
              <a:lstStyle/>
              <a:p>
                <a:r>
                  <a:rPr lang="en-US" sz="3000" dirty="0">
                    <a:latin typeface="Arial" panose="020B0604020202020204" pitchFamily="34" charset="0"/>
                    <a:cs typeface="Arial" panose="020B0604020202020204" pitchFamily="34" charset="0"/>
                  </a:rPr>
                  <a:t>Alcohol intake (g/day),  </a:t>
                </a:r>
              </a:p>
              <a:p>
                <a:pPr lvl="1"/>
                <a14:m>
                  <m:oMath xmlns:m="http://schemas.openxmlformats.org/officeDocument/2006/math">
                    <m:r>
                      <a:rPr lang="en-US" sz="2400" b="0" i="1" smtClean="0">
                        <a:latin typeface="Cambria Math" panose="02040503050406030204" pitchFamily="18" charset="0"/>
                        <a:cs typeface="Arial" panose="020B0604020202020204" pitchFamily="34" charset="0"/>
                      </a:rPr>
                      <m:t>𝑋</m:t>
                    </m:r>
                  </m:oMath>
                </a14:m>
                <a:r>
                  <a:rPr lang="en-US" sz="2400" dirty="0">
                    <a:latin typeface="Arial" panose="020B0604020202020204" pitchFamily="34" charset="0"/>
                    <a:cs typeface="Arial" panose="020B0604020202020204" pitchFamily="34" charset="0"/>
                  </a:rPr>
                  <a:t>= g/day of alcohol intake from the average of 28 days of weighed and measured food records</a:t>
                </a:r>
              </a:p>
              <a:p>
                <a:pPr lvl="1"/>
                <a14:m>
                  <m:oMath xmlns:m="http://schemas.openxmlformats.org/officeDocument/2006/math">
                    <m:r>
                      <a:rPr lang="en-US" sz="2400" b="0" i="1" smtClean="0">
                        <a:latin typeface="Cambria Math" panose="02040503050406030204" pitchFamily="18" charset="0"/>
                        <a:cs typeface="Arial" panose="020B0604020202020204" pitchFamily="34" charset="0"/>
                      </a:rPr>
                      <m:t>𝑍</m:t>
                    </m:r>
                  </m:oMath>
                </a14:m>
                <a:r>
                  <a:rPr lang="en-US" sz="2400" dirty="0">
                    <a:latin typeface="Arial" panose="020B0604020202020204" pitchFamily="34" charset="0"/>
                    <a:cs typeface="Arial" panose="020B0604020202020204" pitchFamily="34" charset="0"/>
                  </a:rPr>
                  <a:t>= g/day of alcohol intake from the food frequency, asking</a:t>
                </a:r>
              </a:p>
              <a:p>
                <a:pPr lvl="1"/>
                <a:r>
                  <a:rPr lang="en-US" sz="2400" dirty="0">
                    <a:latin typeface="Arial" panose="020B0604020202020204" pitchFamily="34" charset="0"/>
                    <a:cs typeface="Arial" panose="020B0604020202020204" pitchFamily="34" charset="0"/>
                  </a:rPr>
                  <a:t>usual frequency of consumption of beer, wine and liquor of the past year        </a:t>
                </a:r>
              </a:p>
              <a:p>
                <a:endParaRPr lang="en-US" sz="3000" dirty="0">
                  <a:latin typeface="Arial" panose="020B0604020202020204" pitchFamily="34" charset="0"/>
                  <a:cs typeface="Arial" panose="020B0604020202020204" pitchFamily="34" charset="0"/>
                </a:endParaRPr>
              </a:p>
              <a:p>
                <a:endParaRPr lang="en-US" sz="3000"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Calories from fat (fat density) </a:t>
                </a:r>
              </a:p>
              <a:p>
                <a:pPr lvl="1"/>
                <a14:m>
                  <m:oMath xmlns:m="http://schemas.openxmlformats.org/officeDocument/2006/math">
                    <m:r>
                      <a:rPr lang="en-US" sz="2400" b="0" i="1" smtClean="0">
                        <a:latin typeface="Cambria Math" panose="02040503050406030204" pitchFamily="18" charset="0"/>
                        <a:cs typeface="Arial" panose="020B0604020202020204" pitchFamily="34" charset="0"/>
                      </a:rPr>
                      <m:t>𝑋</m:t>
                    </m:r>
                    <m:r>
                      <a:rPr lang="en-US" sz="2400" b="0" i="1" smtClean="0">
                        <a:latin typeface="Cambria Math" panose="02040503050406030204" pitchFamily="18" charset="0"/>
                        <a:cs typeface="Arial" panose="020B0604020202020204" pitchFamily="34" charset="0"/>
                      </a:rPr>
                      <m:t> </m:t>
                    </m:r>
                  </m:oMath>
                </a14:m>
                <a:r>
                  <a:rPr lang="en-US" sz="2400" dirty="0">
                    <a:latin typeface="Arial" panose="020B0604020202020204" pitchFamily="34" charset="0"/>
                    <a:cs typeface="Arial" panose="020B0604020202020204" pitchFamily="34" charset="0"/>
                  </a:rPr>
                  <a:t>= % calories from fat from the average of 28 days of weighed and measured food records</a:t>
                </a:r>
              </a:p>
              <a:p>
                <a:pPr lvl="1"/>
                <a14:m>
                  <m:oMath xmlns:m="http://schemas.openxmlformats.org/officeDocument/2006/math">
                    <m:r>
                      <a:rPr lang="en-US" sz="2400" b="0" i="1" smtClean="0">
                        <a:latin typeface="Cambria Math" panose="02040503050406030204" pitchFamily="18" charset="0"/>
                        <a:cs typeface="Arial" panose="020B0604020202020204" pitchFamily="34" charset="0"/>
                      </a:rPr>
                      <m:t>𝑍</m:t>
                    </m:r>
                    <m:r>
                      <a:rPr lang="en-US" sz="2400" b="0" i="1" smtClean="0">
                        <a:latin typeface="Cambria Math" panose="02040503050406030204" pitchFamily="18" charset="0"/>
                        <a:cs typeface="Arial" panose="020B0604020202020204" pitchFamily="34" charset="0"/>
                      </a:rPr>
                      <m:t> </m:t>
                    </m:r>
                  </m:oMath>
                </a14:m>
                <a:r>
                  <a:rPr lang="en-US" sz="2400" dirty="0">
                    <a:latin typeface="Arial" panose="020B0604020202020204" pitchFamily="34" charset="0"/>
                    <a:cs typeface="Arial" panose="020B0604020202020204" pitchFamily="34" charset="0"/>
                  </a:rPr>
                  <a:t>= % calories from fat from the food frequency, adding up fat calories expected from the frequency of each of 121 foods, time the standard portion size for each, times the fat content (g/day) of each food intake, divided by similar for total calories </a:t>
                </a:r>
              </a:p>
              <a:p>
                <a:r>
                  <a:rPr lang="en-US" sz="3000" dirty="0">
                    <a:latin typeface="Arial" panose="020B0604020202020204" pitchFamily="34" charset="0"/>
                    <a:cs typeface="Arial" panose="020B0604020202020204" pitchFamily="34" charset="0"/>
                  </a:rPr>
                  <a:t>           </a:t>
                </a:r>
              </a:p>
              <a:p>
                <a:r>
                  <a:rPr lang="en-US" sz="3000" dirty="0">
                    <a:latin typeface="Arial" panose="020B0604020202020204" pitchFamily="34" charset="0"/>
                    <a:cs typeface="Arial" panose="020B0604020202020204" pitchFamily="34" charset="0"/>
                  </a:rPr>
                  <a:t> </a:t>
                </a:r>
              </a:p>
              <a:p>
                <a:r>
                  <a:rPr lang="en-US" sz="3000" dirty="0">
                    <a:latin typeface="Arial" panose="020B0604020202020204" pitchFamily="34" charset="0"/>
                    <a:cs typeface="Arial" panose="020B0604020202020204" pitchFamily="34" charset="0"/>
                  </a:rPr>
                  <a:t>	</a:t>
                </a:r>
              </a:p>
              <a:p>
                <a:endParaRPr lang="en-US" sz="3000" dirty="0">
                  <a:latin typeface="Arial" panose="020B0604020202020204" pitchFamily="34" charset="0"/>
                  <a:cs typeface="Arial" panose="020B0604020202020204" pitchFamily="34" charset="0"/>
                </a:endParaRPr>
              </a:p>
            </p:txBody>
          </p:sp>
        </mc:Choice>
        <mc:Fallback xmlns="">
          <p:sp>
            <p:nvSpPr>
              <p:cNvPr id="22" name="TextBox 21">
                <a:extLst>
                  <a:ext uri="{FF2B5EF4-FFF2-40B4-BE49-F238E27FC236}">
                    <a16:creationId xmlns:a16="http://schemas.microsoft.com/office/drawing/2014/main" id="{B659EE0A-3B85-6A59-3FF5-1BFF863DD740}"/>
                  </a:ext>
                </a:extLst>
              </p:cNvPr>
              <p:cNvSpPr txBox="1">
                <a:spLocks noRot="1" noChangeAspect="1" noMove="1" noResize="1" noEditPoints="1" noAdjustHandles="1" noChangeArrowheads="1" noChangeShapeType="1" noTextEdit="1"/>
              </p:cNvSpPr>
              <p:nvPr/>
            </p:nvSpPr>
            <p:spPr>
              <a:xfrm>
                <a:off x="0" y="1263888"/>
                <a:ext cx="12079224" cy="7017306"/>
              </a:xfrm>
              <a:prstGeom prst="rect">
                <a:avLst/>
              </a:prstGeom>
              <a:blipFill>
                <a:blip r:embed="rId5"/>
                <a:stretch>
                  <a:fillRect l="-1160" t="-1129" r="-1160"/>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112F7FDD-4A26-4789-E350-B2F0AE191C4D}"/>
              </a:ext>
            </a:extLst>
          </p:cNvPr>
          <p:cNvSpPr txBox="1"/>
          <p:nvPr/>
        </p:nvSpPr>
        <p:spPr>
          <a:xfrm>
            <a:off x="9098280" y="6281928"/>
            <a:ext cx="2493055" cy="646331"/>
          </a:xfrm>
          <a:prstGeom prst="rect">
            <a:avLst/>
          </a:prstGeom>
          <a:noFill/>
        </p:spPr>
        <p:txBody>
          <a:bodyPr wrap="none" rtlCol="0">
            <a:spAutoFit/>
          </a:bodyPr>
          <a:lstStyle/>
          <a:p>
            <a:r>
              <a:rPr lang="en-US" sz="1800" dirty="0">
                <a:latin typeface="Arial" panose="020B0604020202020204" pitchFamily="34" charset="0"/>
                <a:cs typeface="Arial" panose="020B0604020202020204" pitchFamily="34" charset="0"/>
              </a:rPr>
              <a:t>Willett et al, AJE, 1985</a:t>
            </a:r>
          </a:p>
          <a:p>
            <a:endParaRPr lang="en-US" dirty="0"/>
          </a:p>
        </p:txBody>
      </p:sp>
      <p:pic>
        <p:nvPicPr>
          <p:cNvPr id="3" name="Picture 2">
            <a:extLst>
              <a:ext uri="{FF2B5EF4-FFF2-40B4-BE49-F238E27FC236}">
                <a16:creationId xmlns:a16="http://schemas.microsoft.com/office/drawing/2014/main" id="{4184E59E-4745-446D-4B83-EA4B55715BD1}"/>
              </a:ext>
            </a:extLst>
          </p:cNvPr>
          <p:cNvPicPr>
            <a:picLocks noChangeAspect="1"/>
          </p:cNvPicPr>
          <p:nvPr/>
        </p:nvPicPr>
        <p:blipFill>
          <a:blip r:embed="rId6"/>
          <a:stretch>
            <a:fillRect/>
          </a:stretch>
        </p:blipFill>
        <p:spPr>
          <a:xfrm>
            <a:off x="4443569" y="6310550"/>
            <a:ext cx="4394379" cy="766280"/>
          </a:xfrm>
          <a:prstGeom prst="rect">
            <a:avLst/>
          </a:prstGeom>
        </p:spPr>
      </p:pic>
      <p:sp>
        <p:nvSpPr>
          <p:cNvPr id="4" name="Slide Number Placeholder 3">
            <a:extLst>
              <a:ext uri="{FF2B5EF4-FFF2-40B4-BE49-F238E27FC236}">
                <a16:creationId xmlns:a16="http://schemas.microsoft.com/office/drawing/2014/main" id="{F871DB0F-1F1C-5B77-BBB0-8A2A3638B9AB}"/>
              </a:ext>
            </a:extLst>
          </p:cNvPr>
          <p:cNvSpPr>
            <a:spLocks noGrp="1"/>
          </p:cNvSpPr>
          <p:nvPr>
            <p:ph type="sldNum" sz="quarter" idx="12"/>
          </p:nvPr>
        </p:nvSpPr>
        <p:spPr/>
        <p:txBody>
          <a:bodyPr/>
          <a:lstStyle/>
          <a:p>
            <a:fld id="{77C6A7FE-225D-49F1-B302-AA37EA92BB49}" type="slidenum">
              <a:rPr lang="en-US" smtClean="0"/>
              <a:t>6</a:t>
            </a:fld>
            <a:endParaRPr lang="en-US"/>
          </a:p>
        </p:txBody>
      </p:sp>
    </p:spTree>
    <p:extLst>
      <p:ext uri="{BB962C8B-B14F-4D97-AF65-F5344CB8AC3E}">
        <p14:creationId xmlns:p14="http://schemas.microsoft.com/office/powerpoint/2010/main" val="1834369"/>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0"/>
            <a:ext cx="12192000" cy="1265382"/>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2400" dirty="0">
                <a:solidFill>
                  <a:schemeClr val="bg1"/>
                </a:solidFill>
                <a:latin typeface="Arial" panose="020B0604020202020204" pitchFamily="34" charset="0"/>
                <a:cs typeface="Arial" panose="020B0604020202020204" pitchFamily="34" charset="0"/>
              </a:rPr>
              <a:t>High quality validation and reliability data are available across a range of chronic disease risk factors, permitting empirical adjustment to eliminate this source of uncertainty </a:t>
            </a:r>
            <a:endParaRPr lang="en-US" sz="2400" dirty="0">
              <a:solidFill>
                <a:schemeClr val="bg1"/>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765336C-0B35-1829-5129-186E51F81F6E}"/>
                  </a:ext>
                </a:extLst>
              </p:cNvPr>
              <p:cNvSpPr>
                <a:spLocks noGrp="1"/>
              </p:cNvSpPr>
              <p:nvPr>
                <p:ph idx="1"/>
              </p:nvPr>
            </p:nvSpPr>
            <p:spPr/>
            <p:txBody>
              <a:bodyPr>
                <a:normAutofit/>
              </a:bodyPr>
              <a:lstStyle/>
              <a:p>
                <a:pPr marL="0" indent="0">
                  <a:buNone/>
                </a:pPr>
                <a:r>
                  <a:rPr lang="en-US" dirty="0"/>
                  <a:t>A quick look at what we know about measurement error in chronic disease risk factors other than diet</a:t>
                </a:r>
              </a:p>
              <a:p>
                <a:pPr marL="0" indent="0">
                  <a:buNone/>
                </a:pPr>
                <a:endParaRPr lang="en-US" dirty="0"/>
              </a:p>
              <a:p>
                <a:pPr marL="0" indent="0">
                  <a:buNone/>
                </a:pPr>
                <a:r>
                  <a:rPr lang="en-US" dirty="0"/>
                  <a:t>Goal: Permit direct correction for measurement error eliminating the issue of measurement error bias </a:t>
                </a:r>
              </a:p>
              <a:p>
                <a:pPr marL="0" indent="0">
                  <a:buNone/>
                </a:pPr>
                <a:r>
                  <a:rPr lang="en-US" dirty="0"/>
                  <a:t>Let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𝜌</m:t>
                        </m:r>
                      </m:e>
                      <m:sub>
                        <m:r>
                          <a:rPr lang="en-US" b="0" i="1" dirty="0" smtClean="0">
                            <a:latin typeface="Cambria Math" panose="02040503050406030204" pitchFamily="18" charset="0"/>
                          </a:rPr>
                          <m:t>𝐼</m:t>
                        </m:r>
                      </m:sub>
                    </m:sSub>
                    <m:r>
                      <a:rPr lang="en-US" i="1" dirty="0" smtClean="0">
                        <a:latin typeface="Cambria Math" panose="02040503050406030204" pitchFamily="18" charset="0"/>
                      </a:rPr>
                      <m:t> = </m:t>
                    </m:r>
                    <m:r>
                      <a:rPr lang="en-US" i="1" dirty="0" smtClean="0">
                        <a:latin typeface="Cambria Math" panose="02040503050406030204" pitchFamily="18" charset="0"/>
                      </a:rPr>
                      <m:t>𝐶𝑜𝑟𝑟</m:t>
                    </m:r>
                    <m:r>
                      <a:rPr lang="en-US" i="1" dirty="0" smtClean="0">
                        <a:latin typeface="Cambria Math" panose="02040503050406030204" pitchFamily="18" charset="0"/>
                      </a:rPr>
                      <m:t> </m:t>
                    </m:r>
                    <m:d>
                      <m:dPr>
                        <m:ctrlPr>
                          <a:rPr lang="en-US" i="1" dirty="0" smtClean="0">
                            <a:latin typeface="Cambria Math" panose="02040503050406030204" pitchFamily="18" charset="0"/>
                          </a:rPr>
                        </m:ctrlPr>
                      </m:dPr>
                      <m:e>
                        <m:r>
                          <a:rPr lang="en-US" i="1" dirty="0" smtClean="0">
                            <a:latin typeface="Cambria Math" panose="02040503050406030204" pitchFamily="18" charset="0"/>
                          </a:rPr>
                          <m:t>𝑋</m:t>
                        </m:r>
                        <m:r>
                          <a:rPr lang="en-US" i="1" dirty="0" smtClean="0">
                            <a:latin typeface="Cambria Math" panose="02040503050406030204" pitchFamily="18" charset="0"/>
                          </a:rPr>
                          <m:t>,</m:t>
                        </m:r>
                        <m:r>
                          <a:rPr lang="en-US" i="1" dirty="0" smtClean="0">
                            <a:latin typeface="Cambria Math" panose="02040503050406030204" pitchFamily="18" charset="0"/>
                          </a:rPr>
                          <m:t>𝑍</m:t>
                        </m:r>
                      </m:e>
                    </m:d>
                    <m:r>
                      <a:rPr lang="en-US" b="0" i="1" dirty="0" smtClean="0">
                        <a:latin typeface="Cambria Math" panose="02040503050406030204" pitchFamily="18" charset="0"/>
                      </a:rPr>
                      <m:t>, </m:t>
                    </m:r>
                  </m:oMath>
                </a14:m>
                <a:r>
                  <a:rPr lang="en-US" dirty="0"/>
                  <a:t> the correlation between measured value and true value</a:t>
                </a:r>
              </a:p>
              <a:p>
                <a:pPr marL="0" indent="0">
                  <a:buNone/>
                </a:pPr>
                <a:endParaRPr lang="en-US" dirty="0"/>
              </a:p>
            </p:txBody>
          </p:sp>
        </mc:Choice>
        <mc:Fallback>
          <p:sp>
            <p:nvSpPr>
              <p:cNvPr id="3" name="Content Placeholder 2">
                <a:extLst>
                  <a:ext uri="{FF2B5EF4-FFF2-40B4-BE49-F238E27FC236}">
                    <a16:creationId xmlns:a16="http://schemas.microsoft.com/office/drawing/2014/main" id="{0765336C-0B35-1829-5129-186E51F81F6E}"/>
                  </a:ext>
                </a:extLst>
              </p:cNvPr>
              <p:cNvSpPr>
                <a:spLocks noGrp="1" noRot="1" noChangeAspect="1" noMove="1" noResize="1" noEditPoints="1" noAdjustHandles="1" noChangeArrowheads="1" noChangeShapeType="1" noTextEdit="1"/>
              </p:cNvSpPr>
              <p:nvPr>
                <p:ph idx="1"/>
              </p:nvPr>
            </p:nvSpPr>
            <p:spPr>
              <a:blipFill>
                <a:blip r:embed="rId4"/>
                <a:stretch>
                  <a:fillRect l="-1217" t="-2381" r="-986"/>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111A84F8-79AE-5E26-80EA-4958E9144155}"/>
              </a:ext>
            </a:extLst>
          </p:cNvPr>
          <p:cNvSpPr>
            <a:spLocks noGrp="1"/>
          </p:cNvSpPr>
          <p:nvPr>
            <p:ph type="sldNum" sz="quarter" idx="12"/>
          </p:nvPr>
        </p:nvSpPr>
        <p:spPr/>
        <p:txBody>
          <a:bodyPr/>
          <a:lstStyle/>
          <a:p>
            <a:fld id="{77C6A7FE-225D-49F1-B302-AA37EA92BB49}" type="slidenum">
              <a:rPr lang="en-US" smtClean="0"/>
              <a:t>7</a:t>
            </a:fld>
            <a:endParaRPr lang="en-US"/>
          </a:p>
        </p:txBody>
      </p:sp>
    </p:spTree>
    <p:extLst>
      <p:ext uri="{BB962C8B-B14F-4D97-AF65-F5344CB8AC3E}">
        <p14:creationId xmlns:p14="http://schemas.microsoft.com/office/powerpoint/2010/main" val="195509532"/>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0"/>
            <a:ext cx="12192000" cy="1265382"/>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2400" dirty="0">
                <a:solidFill>
                  <a:schemeClr val="bg1"/>
                </a:solidFill>
                <a:latin typeface="Arial" panose="020B0604020202020204" pitchFamily="34" charset="0"/>
                <a:cs typeface="Arial" panose="020B0604020202020204" pitchFamily="34" charset="0"/>
              </a:rPr>
              <a:t>High quality validation and reliability data are available across a range of chronic disease risk factors, permitting empirical adjustment to eliminate this source of uncertainty </a:t>
            </a:r>
            <a:endParaRPr lang="en-US" sz="2400" dirty="0">
              <a:solidFill>
                <a:schemeClr val="bg1"/>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765336C-0B35-1829-5129-186E51F81F6E}"/>
                  </a:ext>
                </a:extLst>
              </p:cNvPr>
              <p:cNvSpPr>
                <a:spLocks noGrp="1"/>
              </p:cNvSpPr>
              <p:nvPr>
                <p:ph idx="1"/>
              </p:nvPr>
            </p:nvSpPr>
            <p:spPr>
              <a:xfrm>
                <a:off x="99060" y="1402080"/>
                <a:ext cx="11856720" cy="5128260"/>
              </a:xfrm>
            </p:spPr>
            <p:txBody>
              <a:bodyPr>
                <a:normAutofit fontScale="77500" lnSpcReduction="20000"/>
              </a:bodyPr>
              <a:lstStyle/>
              <a:p>
                <a:pPr>
                  <a:buFont typeface="Wingdings" panose="05000000000000000000" pitchFamily="2" charset="2"/>
                  <a:buChar char="Ø"/>
                </a:pPr>
                <a:r>
                  <a:rPr lang="en-US" dirty="0"/>
                  <a:t>BMI – risk factor for many cancers, CVD, T2D – Measured very well –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𝜌</m:t>
                        </m:r>
                      </m:e>
                      <m:sub>
                        <m:r>
                          <a:rPr lang="en-US" b="0" i="1" dirty="0" smtClean="0">
                            <a:latin typeface="Cambria Math" panose="02040503050406030204" pitchFamily="18" charset="0"/>
                          </a:rPr>
                          <m:t>𝐼</m:t>
                        </m:r>
                      </m:sub>
                    </m:sSub>
                  </m:oMath>
                </a14:m>
                <a:r>
                  <a:rPr lang="en-US" dirty="0"/>
                  <a:t>≈0.9 using DXA (NHANES, Qi Sun et al, AJE 2010. Similar in NHS, HPFS.</a:t>
                </a:r>
              </a:p>
              <a:p>
                <a:pPr lvl="1"/>
                <a:r>
                  <a:rPr lang="en-US" sz="2800" dirty="0"/>
                  <a:t>Tricky because BMI could be a mediator on the pathway between diet and health, but is also a strong indicator of healthy/unhealthy lifestyle</a:t>
                </a:r>
              </a:p>
              <a:p>
                <a:pPr>
                  <a:buFont typeface="Wingdings" panose="05000000000000000000" pitchFamily="2" charset="2"/>
                  <a:buChar char="Ø"/>
                </a:pPr>
                <a:endParaRPr lang="en-US" dirty="0"/>
              </a:p>
              <a:p>
                <a:pPr>
                  <a:buFont typeface="Wingdings" panose="05000000000000000000" pitchFamily="2" charset="2"/>
                  <a:buChar char="Ø"/>
                </a:pPr>
                <a:r>
                  <a:rPr lang="en-US" dirty="0"/>
                  <a:t>Dietary factors when interest is in one – moderate risk factor for CVD, T2D, some cancers – moderate measurement error – scores of validation studies have been conducted</a:t>
                </a:r>
              </a:p>
              <a:p>
                <a:pPr marL="0" indent="0">
                  <a:buNone/>
                </a:pPr>
                <a:r>
                  <a:rPr lang="en-US" dirty="0"/>
                  <a:t>	</a:t>
                </a:r>
              </a:p>
              <a:p>
                <a:pPr>
                  <a:buFont typeface="Wingdings" panose="05000000000000000000" pitchFamily="2" charset="2"/>
                  <a:buChar char="Ø"/>
                </a:pPr>
                <a:r>
                  <a:rPr lang="en-US" dirty="0"/>
                  <a:t>Alcohol intake – risk factor for some cancers, and at high doses for CVD and T2D – measured very well,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𝜌</m:t>
                        </m:r>
                      </m:e>
                      <m:sub>
                        <m:r>
                          <a:rPr lang="en-US" b="0" i="1" dirty="0" smtClean="0">
                            <a:latin typeface="Cambria Math" panose="02040503050406030204" pitchFamily="18" charset="0"/>
                          </a:rPr>
                          <m:t>𝐼</m:t>
                        </m:r>
                      </m:sub>
                    </m:sSub>
                    <m:r>
                      <a:rPr lang="en-US" b="0" i="1" dirty="0" smtClean="0">
                        <a:latin typeface="Cambria Math" panose="02040503050406030204" pitchFamily="18" charset="0"/>
                      </a:rPr>
                      <m:t> </m:t>
                    </m:r>
                  </m:oMath>
                </a14:m>
                <a:r>
                  <a:rPr lang="en-US" dirty="0"/>
                  <a:t>≈0.85 in NHS for example</a:t>
                </a:r>
              </a:p>
              <a:p>
                <a:pPr>
                  <a:buFont typeface="Wingdings" panose="05000000000000000000" pitchFamily="2" charset="2"/>
                  <a:buChar char="Ø"/>
                </a:pPr>
                <a:endParaRPr lang="en-US" dirty="0"/>
              </a:p>
              <a:p>
                <a:pPr>
                  <a:buFont typeface="Wingdings" panose="05000000000000000000" pitchFamily="2" charset="2"/>
                  <a:buChar char="Ø"/>
                </a:pPr>
                <a:r>
                  <a:rPr lang="en-US" dirty="0"/>
                  <a:t>Physical activity – risk factor for a few cancers, CVD, T2D</a:t>
                </a:r>
              </a:p>
              <a:p>
                <a:pPr lvl="1"/>
                <a:r>
                  <a:rPr lang="en-US" sz="2800" dirty="0"/>
                  <a:t> </a:t>
                </a:r>
                <a14:m>
                  <m:oMath xmlns:m="http://schemas.openxmlformats.org/officeDocument/2006/math">
                    <m:sSub>
                      <m:sSubPr>
                        <m:ctrlPr>
                          <a:rPr lang="en-US" sz="2800" i="1" dirty="0" smtClean="0">
                            <a:latin typeface="Cambria Math" panose="02040503050406030204" pitchFamily="18" charset="0"/>
                          </a:rPr>
                        </m:ctrlPr>
                      </m:sSubPr>
                      <m:e>
                        <m:r>
                          <a:rPr lang="en-US" sz="2800" i="1" dirty="0" smtClean="0">
                            <a:latin typeface="Cambria Math" panose="02040503050406030204" pitchFamily="18" charset="0"/>
                          </a:rPr>
                          <m:t>𝜌</m:t>
                        </m:r>
                      </m:e>
                      <m:sub>
                        <m:r>
                          <a:rPr lang="en-US" sz="2800" b="0" i="1" dirty="0" smtClean="0">
                            <a:latin typeface="Cambria Math" panose="02040503050406030204" pitchFamily="18" charset="0"/>
                          </a:rPr>
                          <m:t>𝐼</m:t>
                        </m:r>
                      </m:sub>
                    </m:sSub>
                    <m:r>
                      <a:rPr lang="en-US" sz="2800" b="0" i="1" dirty="0" smtClean="0">
                        <a:latin typeface="Cambria Math" panose="02040503050406030204" pitchFamily="18" charset="0"/>
                      </a:rPr>
                      <m:t> </m:t>
                    </m:r>
                  </m:oMath>
                </a14:m>
                <a:r>
                  <a:rPr lang="en-US" sz="2800" dirty="0"/>
                  <a:t>≈ 0.6 - 0.7 with records or recalls, deattenuated, depending on which aspect of physical activity in NHS, HPFS</a:t>
                </a:r>
              </a:p>
              <a:p>
                <a:pPr marL="0" indent="0">
                  <a:buNone/>
                </a:pPr>
                <a:r>
                  <a:rPr lang="en-US" dirty="0"/>
                  <a:t> </a:t>
                </a:r>
              </a:p>
              <a:p>
                <a:pPr marL="0" indent="0">
                  <a:buNone/>
                </a:pPr>
                <a:endParaRPr lang="en-US" dirty="0"/>
              </a:p>
            </p:txBody>
          </p:sp>
        </mc:Choice>
        <mc:Fallback>
          <p:sp>
            <p:nvSpPr>
              <p:cNvPr id="3" name="Content Placeholder 2">
                <a:extLst>
                  <a:ext uri="{FF2B5EF4-FFF2-40B4-BE49-F238E27FC236}">
                    <a16:creationId xmlns:a16="http://schemas.microsoft.com/office/drawing/2014/main" id="{0765336C-0B35-1829-5129-186E51F81F6E}"/>
                  </a:ext>
                </a:extLst>
              </p:cNvPr>
              <p:cNvSpPr>
                <a:spLocks noGrp="1" noRot="1" noChangeAspect="1" noMove="1" noResize="1" noEditPoints="1" noAdjustHandles="1" noChangeArrowheads="1" noChangeShapeType="1" noTextEdit="1"/>
              </p:cNvSpPr>
              <p:nvPr>
                <p:ph idx="1"/>
              </p:nvPr>
            </p:nvSpPr>
            <p:spPr>
              <a:xfrm>
                <a:off x="99060" y="1402080"/>
                <a:ext cx="11856720" cy="5128260"/>
              </a:xfrm>
              <a:blipFill>
                <a:blip r:embed="rId4"/>
                <a:stretch>
                  <a:fillRect l="-566" t="-2378" r="-1131"/>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3E8BB9CB-5672-77C9-7BC4-0DBE174CA5FD}"/>
              </a:ext>
            </a:extLst>
          </p:cNvPr>
          <p:cNvSpPr>
            <a:spLocks noGrp="1"/>
          </p:cNvSpPr>
          <p:nvPr>
            <p:ph type="sldNum" sz="quarter" idx="12"/>
          </p:nvPr>
        </p:nvSpPr>
        <p:spPr/>
        <p:txBody>
          <a:bodyPr/>
          <a:lstStyle/>
          <a:p>
            <a:fld id="{77C6A7FE-225D-49F1-B302-AA37EA92BB49}" type="slidenum">
              <a:rPr lang="en-US" smtClean="0"/>
              <a:t>8</a:t>
            </a:fld>
            <a:endParaRPr lang="en-US"/>
          </a:p>
        </p:txBody>
      </p:sp>
    </p:spTree>
    <p:extLst>
      <p:ext uri="{BB962C8B-B14F-4D97-AF65-F5344CB8AC3E}">
        <p14:creationId xmlns:p14="http://schemas.microsoft.com/office/powerpoint/2010/main" val="796019788"/>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75B9600-05DF-4A77-84B8-BC4AD27FBCC1}"/>
              </a:ext>
            </a:extLst>
          </p:cNvPr>
          <p:cNvSpPr/>
          <p:nvPr/>
        </p:nvSpPr>
        <p:spPr>
          <a:xfrm>
            <a:off x="0" y="0"/>
            <a:ext cx="12192000" cy="1237230"/>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Arial" panose="020B0604020202020204" pitchFamily="34" charset="0"/>
                <a:cs typeface="Arial" panose="020B0604020202020204" pitchFamily="34" charset="0"/>
              </a:rPr>
              <a:t>Epidemiologists have conducted hundreds of validation and reliability studies</a:t>
            </a:r>
          </a:p>
        </p:txBody>
      </p:sp>
      <p:sp>
        <p:nvSpPr>
          <p:cNvPr id="10" name="Title 9">
            <a:extLst>
              <a:ext uri="{FF2B5EF4-FFF2-40B4-BE49-F238E27FC236}">
                <a16:creationId xmlns:a16="http://schemas.microsoft.com/office/drawing/2014/main" id="{29B6BF7D-DCC7-4DCF-B910-7EAC0B7CC482}"/>
              </a:ext>
            </a:extLst>
          </p:cNvPr>
          <p:cNvSpPr txBox="1">
            <a:spLocks/>
          </p:cNvSpPr>
          <p:nvPr/>
        </p:nvSpPr>
        <p:spPr>
          <a:xfrm>
            <a:off x="0" y="26658"/>
            <a:ext cx="12192000" cy="671938"/>
          </a:xfrm>
          <a:prstGeom prst="rect">
            <a:avLst/>
          </a:prstGeom>
        </p:spPr>
        <p:txBody>
          <a:bodyPr>
            <a:noAutofit/>
          </a:bodyPr>
          <a:lstStyle>
            <a:lvl1pPr algn="l" defTabSz="914400" rtl="0" eaLnBrk="1" fontAlgn="b" latinLnBrk="0" hangingPunct="1">
              <a:lnSpc>
                <a:spcPct val="90000"/>
              </a:lnSpc>
              <a:spcBef>
                <a:spcPct val="0"/>
              </a:spcBef>
              <a:buNone/>
              <a:defRPr sz="4800" kern="1200">
                <a:solidFill>
                  <a:schemeClr val="bg1"/>
                </a:solidFill>
                <a:latin typeface="+mj-lt"/>
                <a:ea typeface="+mj-ea"/>
                <a:cs typeface="+mj-cs"/>
              </a:defRPr>
            </a:lvl1pPr>
          </a:lstStyle>
          <a:p>
            <a:pPr algn="ctr"/>
            <a:endParaRPr lang="en-US" sz="6000" dirty="0"/>
          </a:p>
        </p:txBody>
      </p:sp>
      <p:sp>
        <p:nvSpPr>
          <p:cNvPr id="22" name="TextBox 21">
            <a:extLst>
              <a:ext uri="{FF2B5EF4-FFF2-40B4-BE49-F238E27FC236}">
                <a16:creationId xmlns:a16="http://schemas.microsoft.com/office/drawing/2014/main" id="{B659EE0A-3B85-6A59-3FF5-1BFF863DD740}"/>
              </a:ext>
            </a:extLst>
          </p:cNvPr>
          <p:cNvSpPr txBox="1"/>
          <p:nvPr/>
        </p:nvSpPr>
        <p:spPr>
          <a:xfrm>
            <a:off x="251460" y="1408668"/>
            <a:ext cx="11262360" cy="5632311"/>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[43]C. Yuan, D. Spiegelman, E. B. </a:t>
            </a:r>
            <a:r>
              <a:rPr lang="en-US" sz="1200" dirty="0" err="1">
                <a:latin typeface="Arial" panose="020B0604020202020204" pitchFamily="34" charset="0"/>
                <a:cs typeface="Arial" panose="020B0604020202020204" pitchFamily="34" charset="0"/>
              </a:rPr>
              <a:t>Rimm</a:t>
            </a:r>
            <a:r>
              <a:rPr lang="en-US" sz="1200" dirty="0">
                <a:latin typeface="Arial" panose="020B0604020202020204" pitchFamily="34" charset="0"/>
                <a:cs typeface="Arial" panose="020B0604020202020204" pitchFamily="34" charset="0"/>
              </a:rPr>
              <a:t>, B. A. Rosner, M. J. </a:t>
            </a:r>
            <a:r>
              <a:rPr lang="en-US" sz="1200" dirty="0" err="1">
                <a:latin typeface="Arial" panose="020B0604020202020204" pitchFamily="34" charset="0"/>
                <a:cs typeface="Arial" panose="020B0604020202020204" pitchFamily="34" charset="0"/>
              </a:rPr>
              <a:t>Stampfer</a:t>
            </a:r>
            <a:r>
              <a:rPr lang="en-US" sz="1200" dirty="0">
                <a:latin typeface="Arial" panose="020B0604020202020204" pitchFamily="34" charset="0"/>
                <a:cs typeface="Arial" panose="020B0604020202020204" pitchFamily="34" charset="0"/>
              </a:rPr>
              <a:t>, J. B. Barnett, J. E. </a:t>
            </a:r>
            <a:r>
              <a:rPr lang="en-US" sz="1200" dirty="0" err="1">
                <a:latin typeface="Arial" panose="020B0604020202020204" pitchFamily="34" charset="0"/>
                <a:cs typeface="Arial" panose="020B0604020202020204" pitchFamily="34" charset="0"/>
              </a:rPr>
              <a:t>Chavarro</a:t>
            </a:r>
            <a:r>
              <a:rPr lang="en-US" sz="1200" dirty="0">
                <a:latin typeface="Arial" panose="020B0604020202020204" pitchFamily="34" charset="0"/>
                <a:cs typeface="Arial" panose="020B0604020202020204" pitchFamily="34" charset="0"/>
              </a:rPr>
              <a:t>, J. C. Rood, L. J. </a:t>
            </a:r>
            <a:r>
              <a:rPr lang="en-US" sz="1200" dirty="0" err="1">
                <a:latin typeface="Arial" panose="020B0604020202020204" pitchFamily="34" charset="0"/>
                <a:cs typeface="Arial" panose="020B0604020202020204" pitchFamily="34" charset="0"/>
              </a:rPr>
              <a:t>Harnack</a:t>
            </a:r>
            <a:r>
              <a:rPr lang="en-US" sz="1200" dirty="0">
                <a:latin typeface="Arial" panose="020B0604020202020204" pitchFamily="34" charset="0"/>
                <a:cs typeface="Arial" panose="020B0604020202020204" pitchFamily="34" charset="0"/>
              </a:rPr>
              <a:t>, L. K. Sampson, and W. C. Willett. Relative Validity of Nutrient Intakes Assessed by Questionnaire, 24-Hour Recalls, and Diet Records as Compared With Urinary Recovery and Plasma Concentration Biomarkers: Findings for Women. American Journal of Epidemiology, 187(5):1051–1063, 2018. PMCID: PMC5928456.</a:t>
            </a:r>
          </a:p>
          <a:p>
            <a:r>
              <a:rPr lang="en-US" sz="1200" dirty="0">
                <a:latin typeface="Arial" panose="020B0604020202020204" pitchFamily="34" charset="0"/>
                <a:cs typeface="Arial" panose="020B0604020202020204" pitchFamily="34" charset="0"/>
              </a:rPr>
              <a:t>[44]C. Yuan, D. Spiegelman, E. B. </a:t>
            </a:r>
            <a:r>
              <a:rPr lang="en-US" sz="1200" dirty="0" err="1">
                <a:latin typeface="Arial" panose="020B0604020202020204" pitchFamily="34" charset="0"/>
                <a:cs typeface="Arial" panose="020B0604020202020204" pitchFamily="34" charset="0"/>
              </a:rPr>
              <a:t>Rimm</a:t>
            </a:r>
            <a:r>
              <a:rPr lang="en-US" sz="1200" dirty="0">
                <a:latin typeface="Arial" panose="020B0604020202020204" pitchFamily="34" charset="0"/>
                <a:cs typeface="Arial" panose="020B0604020202020204" pitchFamily="34" charset="0"/>
              </a:rPr>
              <a:t>, B. A. Rosner, M. J. </a:t>
            </a:r>
            <a:r>
              <a:rPr lang="en-US" sz="1200" dirty="0" err="1">
                <a:latin typeface="Arial" panose="020B0604020202020204" pitchFamily="34" charset="0"/>
                <a:cs typeface="Arial" panose="020B0604020202020204" pitchFamily="34" charset="0"/>
              </a:rPr>
              <a:t>Stampfer</a:t>
            </a:r>
            <a:r>
              <a:rPr lang="en-US" sz="1200" dirty="0">
                <a:latin typeface="Arial" panose="020B0604020202020204" pitchFamily="34" charset="0"/>
                <a:cs typeface="Arial" panose="020B0604020202020204" pitchFamily="34" charset="0"/>
              </a:rPr>
              <a:t>, J. B. Barnett, J. E. </a:t>
            </a:r>
            <a:r>
              <a:rPr lang="en-US" sz="1200" dirty="0" err="1">
                <a:latin typeface="Arial" panose="020B0604020202020204" pitchFamily="34" charset="0"/>
                <a:cs typeface="Arial" panose="020B0604020202020204" pitchFamily="34" charset="0"/>
              </a:rPr>
              <a:t>Chavarro</a:t>
            </a:r>
            <a:r>
              <a:rPr lang="en-US" sz="1200" dirty="0">
                <a:latin typeface="Arial" panose="020B0604020202020204" pitchFamily="34" charset="0"/>
                <a:cs typeface="Arial" panose="020B0604020202020204" pitchFamily="34" charset="0"/>
              </a:rPr>
              <a:t>, A. F. </a:t>
            </a:r>
            <a:r>
              <a:rPr lang="en-US" sz="1200" dirty="0" err="1">
                <a:latin typeface="Arial" panose="020B0604020202020204" pitchFamily="34" charset="0"/>
                <a:cs typeface="Arial" panose="020B0604020202020204" pitchFamily="34" charset="0"/>
              </a:rPr>
              <a:t>Subar</a:t>
            </a:r>
            <a:r>
              <a:rPr lang="en-US" sz="1200" dirty="0">
                <a:latin typeface="Arial" panose="020B0604020202020204" pitchFamily="34" charset="0"/>
                <a:cs typeface="Arial" panose="020B0604020202020204" pitchFamily="34" charset="0"/>
              </a:rPr>
              <a:t>, L. K. Sampson, and W. C. Willett. Validity of a Dietary Questionnaire Assessed by Comparison With Multiple Weighed Dietary Records or 24-Hour Recalls. American Journal of Epidemiology, 185(7):570– 584, 2017. PMCID: PMC5859994.</a:t>
            </a:r>
          </a:p>
          <a:p>
            <a:r>
              <a:rPr lang="en-US" sz="1200" dirty="0">
                <a:latin typeface="Arial" panose="020B0604020202020204" pitchFamily="34" charset="0"/>
                <a:cs typeface="Arial" panose="020B0604020202020204" pitchFamily="34" charset="0"/>
              </a:rPr>
              <a:t>[45]L. S. Freedman, J. M. </a:t>
            </a:r>
            <a:r>
              <a:rPr lang="en-US" sz="1200" dirty="0" err="1">
                <a:latin typeface="Arial" panose="020B0604020202020204" pitchFamily="34" charset="0"/>
                <a:cs typeface="Arial" panose="020B0604020202020204" pitchFamily="34" charset="0"/>
              </a:rPr>
              <a:t>Commins</a:t>
            </a:r>
            <a:r>
              <a:rPr lang="en-US" sz="1200" dirty="0">
                <a:latin typeface="Arial" panose="020B0604020202020204" pitchFamily="34" charset="0"/>
                <a:cs typeface="Arial" panose="020B0604020202020204" pitchFamily="34" charset="0"/>
              </a:rPr>
              <a:t>, W. C. Willett, L. F. Tinker, D. Spiegelman, D. Rhodes, N. </a:t>
            </a:r>
            <a:r>
              <a:rPr lang="en-US" sz="1200" dirty="0" err="1">
                <a:latin typeface="Arial" panose="020B0604020202020204" pitchFamily="34" charset="0"/>
                <a:cs typeface="Arial" panose="020B0604020202020204" pitchFamily="34" charset="0"/>
              </a:rPr>
              <a:t>Potischman</a:t>
            </a:r>
            <a:r>
              <a:rPr lang="en-US" sz="1200" dirty="0">
                <a:latin typeface="Arial" panose="020B0604020202020204" pitchFamily="34" charset="0"/>
                <a:cs typeface="Arial" panose="020B0604020202020204" pitchFamily="34" charset="0"/>
              </a:rPr>
              <a:t>, M. L. </a:t>
            </a:r>
            <a:r>
              <a:rPr lang="en-US" sz="1200" dirty="0" err="1">
                <a:latin typeface="Arial" panose="020B0604020202020204" pitchFamily="34" charset="0"/>
                <a:cs typeface="Arial" panose="020B0604020202020204" pitchFamily="34" charset="0"/>
              </a:rPr>
              <a:t>Neuhouser</a:t>
            </a:r>
            <a:r>
              <a:rPr lang="en-US" sz="1200" dirty="0">
                <a:latin typeface="Arial" panose="020B0604020202020204" pitchFamily="34" charset="0"/>
                <a:cs typeface="Arial" panose="020B0604020202020204" pitchFamily="34" charset="0"/>
              </a:rPr>
              <a:t>, A. J. </a:t>
            </a:r>
            <a:r>
              <a:rPr lang="en-US" sz="1200" dirty="0" err="1">
                <a:latin typeface="Arial" panose="020B0604020202020204" pitchFamily="34" charset="0"/>
                <a:cs typeface="Arial" panose="020B0604020202020204" pitchFamily="34" charset="0"/>
              </a:rPr>
              <a:t>Moshfegh</a:t>
            </a:r>
            <a:r>
              <a:rPr lang="en-US" sz="1200" dirty="0">
                <a:latin typeface="Arial" panose="020B0604020202020204" pitchFamily="34" charset="0"/>
                <a:cs typeface="Arial" panose="020B0604020202020204" pitchFamily="34" charset="0"/>
              </a:rPr>
              <a:t>, V. Kipnis, D. J. Baer, L. Arab, R. L. Prentice, and A. F. </a:t>
            </a:r>
            <a:r>
              <a:rPr lang="en-US" sz="1200" dirty="0" err="1">
                <a:latin typeface="Arial" panose="020B0604020202020204" pitchFamily="34" charset="0"/>
                <a:cs typeface="Arial" panose="020B0604020202020204" pitchFamily="34" charset="0"/>
              </a:rPr>
              <a:t>Subar</a:t>
            </a:r>
            <a:r>
              <a:rPr lang="en-US" sz="1200" dirty="0">
                <a:latin typeface="Arial" panose="020B0604020202020204" pitchFamily="34" charset="0"/>
                <a:cs typeface="Arial" panose="020B0604020202020204" pitchFamily="34" charset="0"/>
              </a:rPr>
              <a:t>. Evaluation of the 24-Hour Recall as a Reference Instrument for Calibrating Other Self-Report Instruments in Nutritional Cohort Studies: Evidence From the Validation Studies Pooling Project. American Journal of Epidemiology, 186(1):73–82, 2017. PMCID: PMC5703347.</a:t>
            </a:r>
          </a:p>
          <a:p>
            <a:r>
              <a:rPr lang="en-US" sz="1200" dirty="0">
                <a:latin typeface="Arial" panose="020B0604020202020204" pitchFamily="34" charset="0"/>
                <a:cs typeface="Arial" panose="020B0604020202020204" pitchFamily="34" charset="0"/>
              </a:rPr>
              <a:t> [46]J. K. Bassett, D. R. English, M. T. Fahey, A. B. Forbes, L. C. </a:t>
            </a:r>
            <a:r>
              <a:rPr lang="en-US" sz="1200" dirty="0" err="1">
                <a:latin typeface="Arial" panose="020B0604020202020204" pitchFamily="34" charset="0"/>
                <a:cs typeface="Arial" panose="020B0604020202020204" pitchFamily="34" charset="0"/>
              </a:rPr>
              <a:t>Gurrin</a:t>
            </a:r>
            <a:r>
              <a:rPr lang="en-US" sz="1200" dirty="0">
                <a:latin typeface="Arial" panose="020B0604020202020204" pitchFamily="34" charset="0"/>
                <a:cs typeface="Arial" panose="020B0604020202020204" pitchFamily="34" charset="0"/>
              </a:rPr>
              <a:t>, J. A. Simpson, M. T. Brinkman, G. G. Giles, and A. M. Hodge. Validity and calibration of the FFQ used in the Melbourne Collaborative Cohort Study. Public Health </a:t>
            </a:r>
            <a:r>
              <a:rPr lang="en-US" sz="1200" dirty="0" err="1">
                <a:latin typeface="Arial" panose="020B0604020202020204" pitchFamily="34" charset="0"/>
                <a:cs typeface="Arial" panose="020B0604020202020204" pitchFamily="34" charset="0"/>
              </a:rPr>
              <a:t>Nutr</a:t>
            </a:r>
            <a:r>
              <a:rPr lang="en-US" sz="1200" dirty="0">
                <a:latin typeface="Arial" panose="020B0604020202020204" pitchFamily="34" charset="0"/>
                <a:cs typeface="Arial" panose="020B0604020202020204" pitchFamily="34" charset="0"/>
              </a:rPr>
              <a:t>, 19(13):2357–68, 2016.</a:t>
            </a:r>
          </a:p>
          <a:p>
            <a:r>
              <a:rPr lang="en-US" sz="1200" dirty="0">
                <a:latin typeface="Arial" panose="020B0604020202020204" pitchFamily="34" charset="0"/>
                <a:cs typeface="Arial" panose="020B0604020202020204" pitchFamily="34" charset="0"/>
              </a:rPr>
              <a:t>[47]M. S. </a:t>
            </a:r>
            <a:r>
              <a:rPr lang="en-US" sz="1200" dirty="0" err="1">
                <a:latin typeface="Arial" panose="020B0604020202020204" pitchFamily="34" charset="0"/>
                <a:cs typeface="Arial" panose="020B0604020202020204" pitchFamily="34" charset="0"/>
              </a:rPr>
              <a:t>Buchowski</a:t>
            </a:r>
            <a:r>
              <a:rPr lang="en-US" sz="1200" dirty="0">
                <a:latin typeface="Arial" panose="020B0604020202020204" pitchFamily="34" charset="0"/>
                <a:cs typeface="Arial" panose="020B0604020202020204" pitchFamily="34" charset="0"/>
              </a:rPr>
              <a:t>, D. G. Schlundt, M. K. Hargreaves, J. H. Hankin, L. B. </a:t>
            </a:r>
            <a:r>
              <a:rPr lang="en-US" sz="1200" dirty="0" err="1">
                <a:latin typeface="Arial" panose="020B0604020202020204" pitchFamily="34" charset="0"/>
                <a:cs typeface="Arial" panose="020B0604020202020204" pitchFamily="34" charset="0"/>
              </a:rPr>
              <a:t>Signorello</a:t>
            </a:r>
            <a:r>
              <a:rPr lang="en-US" sz="1200" dirty="0">
                <a:latin typeface="Arial" panose="020B0604020202020204" pitchFamily="34" charset="0"/>
                <a:cs typeface="Arial" panose="020B0604020202020204" pitchFamily="34" charset="0"/>
              </a:rPr>
              <a:t>, and W. J. Blot. Devel- </a:t>
            </a:r>
            <a:r>
              <a:rPr lang="en-US" sz="1200" dirty="0" err="1">
                <a:latin typeface="Arial" panose="020B0604020202020204" pitchFamily="34" charset="0"/>
                <a:cs typeface="Arial" panose="020B0604020202020204" pitchFamily="34" charset="0"/>
              </a:rPr>
              <a:t>opment</a:t>
            </a:r>
            <a:r>
              <a:rPr lang="en-US" sz="1200" dirty="0">
                <a:latin typeface="Arial" panose="020B0604020202020204" pitchFamily="34" charset="0"/>
                <a:cs typeface="Arial" panose="020B0604020202020204" pitchFamily="34" charset="0"/>
              </a:rPr>
              <a:t> of a culturally sensitive food frequency questionnaire for use in the Southern Community Cohort Study. Cell Mol Biol (Noisy-le-grand), 49(8):1295–304, 2003.</a:t>
            </a:r>
          </a:p>
          <a:p>
            <a:r>
              <a:rPr lang="en-US" sz="1200" dirty="0">
                <a:latin typeface="Arial" panose="020B0604020202020204" pitchFamily="34" charset="0"/>
                <a:cs typeface="Arial" panose="020B0604020202020204" pitchFamily="34" charset="0"/>
              </a:rPr>
              <a:t>[48]P. L. Carter-Nolan, L. L. Adams-Campbell, K. </a:t>
            </a:r>
            <a:r>
              <a:rPr lang="en-US" sz="1200" dirty="0" err="1">
                <a:latin typeface="Arial" panose="020B0604020202020204" pitchFamily="34" charset="0"/>
                <a:cs typeface="Arial" panose="020B0604020202020204" pitchFamily="34" charset="0"/>
              </a:rPr>
              <a:t>Makambi</a:t>
            </a:r>
            <a:r>
              <a:rPr lang="en-US" sz="1200" dirty="0">
                <a:latin typeface="Arial" panose="020B0604020202020204" pitchFamily="34" charset="0"/>
                <a:cs typeface="Arial" panose="020B0604020202020204" pitchFamily="34" charset="0"/>
              </a:rPr>
              <a:t>, S. Lewis, J. R. Palmer, and L. Rosenberg. </a:t>
            </a:r>
            <a:r>
              <a:rPr lang="en-US" sz="1200" dirty="0" err="1">
                <a:latin typeface="Arial" panose="020B0604020202020204" pitchFamily="34" charset="0"/>
                <a:cs typeface="Arial" panose="020B0604020202020204" pitchFamily="34" charset="0"/>
              </a:rPr>
              <a:t>Valida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tion</a:t>
            </a:r>
            <a:r>
              <a:rPr lang="en-US" sz="1200" dirty="0">
                <a:latin typeface="Arial" panose="020B0604020202020204" pitchFamily="34" charset="0"/>
                <a:cs typeface="Arial" panose="020B0604020202020204" pitchFamily="34" charset="0"/>
              </a:rPr>
              <a:t> of physical activity instruments: Black Women’s Health Study. </a:t>
            </a:r>
            <a:r>
              <a:rPr lang="en-US" sz="1200" dirty="0" err="1">
                <a:latin typeface="Arial" panose="020B0604020202020204" pitchFamily="34" charset="0"/>
                <a:cs typeface="Arial" panose="020B0604020202020204" pitchFamily="34" charset="0"/>
              </a:rPr>
              <a:t>Ethn</a:t>
            </a:r>
            <a:r>
              <a:rPr lang="en-US" sz="1200" dirty="0">
                <a:latin typeface="Arial" panose="020B0604020202020204" pitchFamily="34" charset="0"/>
                <a:cs typeface="Arial" panose="020B0604020202020204" pitchFamily="34" charset="0"/>
              </a:rPr>
              <a:t> Dis, 16(4):943–7, 2006.</a:t>
            </a:r>
          </a:p>
          <a:p>
            <a:r>
              <a:rPr lang="en-US" sz="1200" dirty="0">
                <a:latin typeface="Arial" panose="020B0604020202020204" pitchFamily="34" charset="0"/>
                <a:cs typeface="Arial" panose="020B0604020202020204" pitchFamily="34" charset="0"/>
              </a:rPr>
              <a:t>[49]D. </a:t>
            </a:r>
            <a:r>
              <a:rPr lang="en-US" sz="1200" dirty="0" err="1">
                <a:latin typeface="Arial" panose="020B0604020202020204" pitchFamily="34" charset="0"/>
                <a:cs typeface="Arial" panose="020B0604020202020204" pitchFamily="34" charset="0"/>
              </a:rPr>
              <a:t>Feskanich</a:t>
            </a:r>
            <a:r>
              <a:rPr lang="en-US" sz="1200" dirty="0">
                <a:latin typeface="Arial" panose="020B0604020202020204" pitchFamily="34" charset="0"/>
                <a:cs typeface="Arial" panose="020B0604020202020204" pitchFamily="34" charset="0"/>
              </a:rPr>
              <a:t>, J. Marshall, E. B. </a:t>
            </a:r>
            <a:r>
              <a:rPr lang="en-US" sz="1200" dirty="0" err="1">
                <a:latin typeface="Arial" panose="020B0604020202020204" pitchFamily="34" charset="0"/>
                <a:cs typeface="Arial" panose="020B0604020202020204" pitchFamily="34" charset="0"/>
              </a:rPr>
              <a:t>Rimm</a:t>
            </a:r>
            <a:r>
              <a:rPr lang="en-US" sz="1200" dirty="0">
                <a:latin typeface="Arial" panose="020B0604020202020204" pitchFamily="34" charset="0"/>
                <a:cs typeface="Arial" panose="020B0604020202020204" pitchFamily="34" charset="0"/>
              </a:rPr>
              <a:t>, L. B. </a:t>
            </a:r>
            <a:r>
              <a:rPr lang="en-US" sz="1200" dirty="0" err="1">
                <a:latin typeface="Arial" panose="020B0604020202020204" pitchFamily="34" charset="0"/>
                <a:cs typeface="Arial" panose="020B0604020202020204" pitchFamily="34" charset="0"/>
              </a:rPr>
              <a:t>Litin</a:t>
            </a:r>
            <a:r>
              <a:rPr lang="en-US" sz="1200" dirty="0">
                <a:latin typeface="Arial" panose="020B0604020202020204" pitchFamily="34" charset="0"/>
                <a:cs typeface="Arial" panose="020B0604020202020204" pitchFamily="34" charset="0"/>
              </a:rPr>
              <a:t>, and W. C. Willett. Simulated validation of a brief food frequency questionnaire. Ann Epidemiol, 4(3):181–7, 1994.</a:t>
            </a:r>
          </a:p>
          <a:p>
            <a:r>
              <a:rPr lang="en-US" sz="1200" dirty="0">
                <a:latin typeface="Arial" panose="020B0604020202020204" pitchFamily="34" charset="0"/>
                <a:cs typeface="Arial" panose="020B0604020202020204" pitchFamily="34" charset="0"/>
              </a:rPr>
              <a:t>[50]D. </a:t>
            </a:r>
            <a:r>
              <a:rPr lang="en-US" sz="1200" dirty="0" err="1">
                <a:latin typeface="Arial" panose="020B0604020202020204" pitchFamily="34" charset="0"/>
                <a:cs typeface="Arial" panose="020B0604020202020204" pitchFamily="34" charset="0"/>
              </a:rPr>
              <a:t>Feskanich</a:t>
            </a:r>
            <a:r>
              <a:rPr lang="en-US" sz="1200" dirty="0">
                <a:latin typeface="Arial" panose="020B0604020202020204" pitchFamily="34" charset="0"/>
                <a:cs typeface="Arial" panose="020B0604020202020204" pitchFamily="34" charset="0"/>
              </a:rPr>
              <a:t>, E. B. </a:t>
            </a:r>
            <a:r>
              <a:rPr lang="en-US" sz="1200" dirty="0" err="1">
                <a:latin typeface="Arial" panose="020B0604020202020204" pitchFamily="34" charset="0"/>
                <a:cs typeface="Arial" panose="020B0604020202020204" pitchFamily="34" charset="0"/>
              </a:rPr>
              <a:t>Rimm</a:t>
            </a:r>
            <a:r>
              <a:rPr lang="en-US" sz="1200" dirty="0">
                <a:latin typeface="Arial" panose="020B0604020202020204" pitchFamily="34" charset="0"/>
                <a:cs typeface="Arial" panose="020B0604020202020204" pitchFamily="34" charset="0"/>
              </a:rPr>
              <a:t>, E. L. Giovannucci, G. Colditz, M. </a:t>
            </a:r>
            <a:r>
              <a:rPr lang="en-US" sz="1200" dirty="0" err="1">
                <a:latin typeface="Arial" panose="020B0604020202020204" pitchFamily="34" charset="0"/>
                <a:cs typeface="Arial" panose="020B0604020202020204" pitchFamily="34" charset="0"/>
              </a:rPr>
              <a:t>Stampfer</a:t>
            </a:r>
            <a:r>
              <a:rPr lang="en-US" sz="1200" dirty="0">
                <a:latin typeface="Arial" panose="020B0604020202020204" pitchFamily="34" charset="0"/>
                <a:cs typeface="Arial" panose="020B0604020202020204" pitchFamily="34" charset="0"/>
              </a:rPr>
              <a:t>, L. </a:t>
            </a:r>
            <a:r>
              <a:rPr lang="en-US" sz="1200" dirty="0" err="1">
                <a:latin typeface="Arial" panose="020B0604020202020204" pitchFamily="34" charset="0"/>
                <a:cs typeface="Arial" panose="020B0604020202020204" pitchFamily="34" charset="0"/>
              </a:rPr>
              <a:t>Litin</a:t>
            </a:r>
            <a:r>
              <a:rPr lang="en-US" sz="1200" dirty="0">
                <a:latin typeface="Arial" panose="020B0604020202020204" pitchFamily="34" charset="0"/>
                <a:cs typeface="Arial" panose="020B0604020202020204" pitchFamily="34" charset="0"/>
              </a:rPr>
              <a:t>, and W. C. Willett. Repro- </a:t>
            </a:r>
            <a:r>
              <a:rPr lang="en-US" sz="1200" dirty="0" err="1">
                <a:latin typeface="Arial" panose="020B0604020202020204" pitchFamily="34" charset="0"/>
                <a:cs typeface="Arial" panose="020B0604020202020204" pitchFamily="34" charset="0"/>
              </a:rPr>
              <a:t>ducibility</a:t>
            </a:r>
            <a:r>
              <a:rPr lang="en-US" sz="1200" dirty="0">
                <a:latin typeface="Arial" panose="020B0604020202020204" pitchFamily="34" charset="0"/>
                <a:cs typeface="Arial" panose="020B0604020202020204" pitchFamily="34" charset="0"/>
              </a:rPr>
              <a:t> and validity of food intake measurements from a semiquantitative food frequency questionnaire. J Am Diet Assoc, 93(7):790–6, 1993.</a:t>
            </a:r>
          </a:p>
          <a:p>
            <a:r>
              <a:rPr lang="en-US" sz="1200" dirty="0">
                <a:latin typeface="Arial" panose="020B0604020202020204" pitchFamily="34" charset="0"/>
                <a:cs typeface="Arial" panose="020B0604020202020204" pitchFamily="34" charset="0"/>
              </a:rPr>
              <a:t>[51]E. W. Flagg, R. J. Coates, E. E. Calle, N. </a:t>
            </a:r>
            <a:r>
              <a:rPr lang="en-US" sz="1200" dirty="0" err="1">
                <a:latin typeface="Arial" panose="020B0604020202020204" pitchFamily="34" charset="0"/>
                <a:cs typeface="Arial" panose="020B0604020202020204" pitchFamily="34" charset="0"/>
              </a:rPr>
              <a:t>Potischman</a:t>
            </a:r>
            <a:r>
              <a:rPr lang="en-US" sz="1200" dirty="0">
                <a:latin typeface="Arial" panose="020B0604020202020204" pitchFamily="34" charset="0"/>
                <a:cs typeface="Arial" panose="020B0604020202020204" pitchFamily="34" charset="0"/>
              </a:rPr>
              <a:t>, and M. J. Thun. Validation of the American Cancer Society Cancer Prevention Study II Nutrition Survey Cohort Food Frequency Questionnaire. Epidemiol- </a:t>
            </a:r>
            <a:r>
              <a:rPr lang="en-US" sz="1200" dirty="0" err="1">
                <a:latin typeface="Arial" panose="020B0604020202020204" pitchFamily="34" charset="0"/>
                <a:cs typeface="Arial" panose="020B0604020202020204" pitchFamily="34" charset="0"/>
              </a:rPr>
              <a:t>ogy</a:t>
            </a:r>
            <a:r>
              <a:rPr lang="en-US" sz="1200" dirty="0">
                <a:latin typeface="Arial" panose="020B0604020202020204" pitchFamily="34" charset="0"/>
                <a:cs typeface="Arial" panose="020B0604020202020204" pitchFamily="34" charset="0"/>
              </a:rPr>
              <a:t>, 11(4):462–8, 2000.</a:t>
            </a:r>
          </a:p>
          <a:p>
            <a:r>
              <a:rPr lang="en-US" sz="1200" dirty="0">
                <a:latin typeface="Arial" panose="020B0604020202020204" pitchFamily="34" charset="0"/>
                <a:cs typeface="Arial" panose="020B0604020202020204" pitchFamily="34" charset="0"/>
              </a:rPr>
              <a:t>[52]R. A. </a:t>
            </a:r>
            <a:r>
              <a:rPr lang="en-US" sz="1200" dirty="0" err="1">
                <a:latin typeface="Arial" panose="020B0604020202020204" pitchFamily="34" charset="0"/>
                <a:cs typeface="Arial" panose="020B0604020202020204" pitchFamily="34" charset="0"/>
              </a:rPr>
              <a:t>Goldbohm</a:t>
            </a:r>
            <a:r>
              <a:rPr lang="en-US" sz="1200" dirty="0">
                <a:latin typeface="Arial" panose="020B0604020202020204" pitchFamily="34" charset="0"/>
                <a:cs typeface="Arial" panose="020B0604020202020204" pitchFamily="34" charset="0"/>
              </a:rPr>
              <a:t>, P. A. van den Brandt, H. A. Brants, P. </a:t>
            </a:r>
            <a:r>
              <a:rPr lang="en-US" sz="1200" dirty="0" err="1">
                <a:latin typeface="Arial" panose="020B0604020202020204" pitchFamily="34" charset="0"/>
                <a:cs typeface="Arial" panose="020B0604020202020204" pitchFamily="34" charset="0"/>
              </a:rPr>
              <a:t>van’t</a:t>
            </a:r>
            <a:r>
              <a:rPr lang="en-US" sz="1200" dirty="0">
                <a:latin typeface="Arial" panose="020B0604020202020204" pitchFamily="34" charset="0"/>
                <a:cs typeface="Arial" panose="020B0604020202020204" pitchFamily="34" charset="0"/>
              </a:rPr>
              <a:t> Veer, M. Al, F. </a:t>
            </a:r>
            <a:r>
              <a:rPr lang="en-US" sz="1200" dirty="0" err="1">
                <a:latin typeface="Arial" panose="020B0604020202020204" pitchFamily="34" charset="0"/>
                <a:cs typeface="Arial" panose="020B0604020202020204" pitchFamily="34" charset="0"/>
              </a:rPr>
              <a:t>Sturmans</a:t>
            </a:r>
            <a:r>
              <a:rPr lang="en-US" sz="1200" dirty="0">
                <a:latin typeface="Arial" panose="020B0604020202020204" pitchFamily="34" charset="0"/>
                <a:cs typeface="Arial" panose="020B0604020202020204" pitchFamily="34" charset="0"/>
              </a:rPr>
              <a:t>, and R. J. </a:t>
            </a:r>
            <a:r>
              <a:rPr lang="en-US" sz="1200" dirty="0" err="1">
                <a:latin typeface="Arial" panose="020B0604020202020204" pitchFamily="34" charset="0"/>
                <a:cs typeface="Arial" panose="020B0604020202020204" pitchFamily="34" charset="0"/>
              </a:rPr>
              <a:t>Hermus</a:t>
            </a:r>
            <a:r>
              <a:rPr lang="en-US" sz="1200" dirty="0">
                <a:latin typeface="Arial" panose="020B0604020202020204" pitchFamily="34" charset="0"/>
                <a:cs typeface="Arial" panose="020B0604020202020204" pitchFamily="34" charset="0"/>
              </a:rPr>
              <a:t>. Validation of a dietary questionnaire used in a large-scale prospective cohort study on diet and cancer. </a:t>
            </a:r>
            <a:r>
              <a:rPr lang="en-US" sz="1200" dirty="0" err="1">
                <a:latin typeface="Arial" panose="020B0604020202020204" pitchFamily="34" charset="0"/>
                <a:cs typeface="Arial" panose="020B0604020202020204" pitchFamily="34" charset="0"/>
              </a:rPr>
              <a:t>Eur</a:t>
            </a:r>
            <a:r>
              <a:rPr lang="en-US" sz="1200" dirty="0">
                <a:latin typeface="Arial" panose="020B0604020202020204" pitchFamily="34" charset="0"/>
                <a:cs typeface="Arial" panose="020B0604020202020204" pitchFamily="34" charset="0"/>
              </a:rPr>
              <a:t> J Clin </a:t>
            </a:r>
            <a:r>
              <a:rPr lang="en-US" sz="1200" dirty="0" err="1">
                <a:latin typeface="Arial" panose="020B0604020202020204" pitchFamily="34" charset="0"/>
                <a:cs typeface="Arial" panose="020B0604020202020204" pitchFamily="34" charset="0"/>
              </a:rPr>
              <a:t>Nutr</a:t>
            </a:r>
            <a:r>
              <a:rPr lang="en-US" sz="1200" dirty="0">
                <a:latin typeface="Arial" panose="020B0604020202020204" pitchFamily="34" charset="0"/>
                <a:cs typeface="Arial" panose="020B0604020202020204" pitchFamily="34" charset="0"/>
              </a:rPr>
              <a:t>, 48(4):253–65, 1994.</a:t>
            </a:r>
          </a:p>
          <a:p>
            <a:r>
              <a:rPr lang="en-US" sz="1200" dirty="0">
                <a:latin typeface="Arial" panose="020B0604020202020204" pitchFamily="34" charset="0"/>
                <a:cs typeface="Arial" panose="020B0604020202020204" pitchFamily="34" charset="0"/>
              </a:rPr>
              <a:t>[53]J. H. Hankin, D. O. </a:t>
            </a:r>
            <a:r>
              <a:rPr lang="en-US" sz="1200" dirty="0" err="1">
                <a:latin typeface="Arial" panose="020B0604020202020204" pitchFamily="34" charset="0"/>
                <a:cs typeface="Arial" panose="020B0604020202020204" pitchFamily="34" charset="0"/>
              </a:rPr>
              <a:t>Stram</a:t>
            </a:r>
            <a:r>
              <a:rPr lang="en-US" sz="1200" dirty="0">
                <a:latin typeface="Arial" panose="020B0604020202020204" pitchFamily="34" charset="0"/>
                <a:cs typeface="Arial" panose="020B0604020202020204" pitchFamily="34" charset="0"/>
              </a:rPr>
              <a:t>, K. Arakawa, S. Park, S. H. Low, H. P. Lee, and M. C. Yu. Singapore Chinese Health Study: development, validation, and calibration of the quantitative food frequency questionnaire. </a:t>
            </a:r>
            <a:r>
              <a:rPr lang="en-US" sz="1200" dirty="0" err="1">
                <a:latin typeface="Arial" panose="020B0604020202020204" pitchFamily="34" charset="0"/>
                <a:cs typeface="Arial" panose="020B0604020202020204" pitchFamily="34" charset="0"/>
              </a:rPr>
              <a:t>Nutr</a:t>
            </a:r>
            <a:r>
              <a:rPr lang="en-US" sz="1200" dirty="0">
                <a:latin typeface="Arial" panose="020B0604020202020204" pitchFamily="34" charset="0"/>
                <a:cs typeface="Arial" panose="020B0604020202020204" pitchFamily="34" charset="0"/>
              </a:rPr>
              <a:t> Cancer, 39(2):187–95, 2001.</a:t>
            </a:r>
          </a:p>
          <a:p>
            <a:r>
              <a:rPr lang="en-US" sz="1200" dirty="0">
                <a:latin typeface="Arial" panose="020B0604020202020204" pitchFamily="34" charset="0"/>
                <a:cs typeface="Arial" panose="020B0604020202020204" pitchFamily="34" charset="0"/>
              </a:rPr>
              <a:t>[54]P. L. Horn-Ross, V. S. Lee, C. N. Collins, S. L. Stewart, A. J. </a:t>
            </a:r>
            <a:r>
              <a:rPr lang="en-US" sz="1200" dirty="0" err="1">
                <a:latin typeface="Arial" panose="020B0604020202020204" pitchFamily="34" charset="0"/>
                <a:cs typeface="Arial" panose="020B0604020202020204" pitchFamily="34" charset="0"/>
              </a:rPr>
              <a:t>Canchola</a:t>
            </a:r>
            <a:r>
              <a:rPr lang="en-US" sz="1200" dirty="0">
                <a:latin typeface="Arial" panose="020B0604020202020204" pitchFamily="34" charset="0"/>
                <a:cs typeface="Arial" panose="020B0604020202020204" pitchFamily="34" charset="0"/>
              </a:rPr>
              <a:t>, M. M. Lee, P. Reynolds, C. A. Clarke,</a:t>
            </a:r>
          </a:p>
          <a:p>
            <a:r>
              <a:rPr lang="en-US" sz="1200" dirty="0">
                <a:latin typeface="Arial" panose="020B0604020202020204" pitchFamily="34" charset="0"/>
                <a:cs typeface="Arial" panose="020B0604020202020204" pitchFamily="34" charset="0"/>
              </a:rPr>
              <a:t>L. Bernstein, and D. O. </a:t>
            </a:r>
            <a:r>
              <a:rPr lang="en-US" sz="1200" dirty="0" err="1">
                <a:latin typeface="Arial" panose="020B0604020202020204" pitchFamily="34" charset="0"/>
                <a:cs typeface="Arial" panose="020B0604020202020204" pitchFamily="34" charset="0"/>
              </a:rPr>
              <a:t>Stram</a:t>
            </a:r>
            <a:r>
              <a:rPr lang="en-US" sz="1200" dirty="0">
                <a:latin typeface="Arial" panose="020B0604020202020204" pitchFamily="34" charset="0"/>
                <a:cs typeface="Arial" panose="020B0604020202020204" pitchFamily="34" charset="0"/>
              </a:rPr>
              <a:t>. Dietary assessment in the California Teachers Study: reproducibility and validity. Cancer Causes Control, 19(6):595–603, 2008.</a:t>
            </a:r>
          </a:p>
          <a:p>
            <a:r>
              <a:rPr lang="en-US" sz="1200" dirty="0">
                <a:latin typeface="Arial" panose="020B0604020202020204" pitchFamily="34" charset="0"/>
                <a:cs typeface="Arial" panose="020B0604020202020204" pitchFamily="34" charset="0"/>
              </a:rPr>
              <a:t>[55]M. G. Jain, L. Harrison, G. R. Howe, and A. B. Miller. Evaluation of a self-administered dietary question- </a:t>
            </a:r>
            <a:r>
              <a:rPr lang="en-US" sz="1200" dirty="0" err="1">
                <a:latin typeface="Arial" panose="020B0604020202020204" pitchFamily="34" charset="0"/>
                <a:cs typeface="Arial" panose="020B0604020202020204" pitchFamily="34" charset="0"/>
              </a:rPr>
              <a:t>naire</a:t>
            </a:r>
            <a:r>
              <a:rPr lang="en-US" sz="1200" dirty="0">
                <a:latin typeface="Arial" panose="020B0604020202020204" pitchFamily="34" charset="0"/>
                <a:cs typeface="Arial" panose="020B0604020202020204" pitchFamily="34" charset="0"/>
              </a:rPr>
              <a:t> for use in a cohort study. Am J Clin </a:t>
            </a:r>
            <a:r>
              <a:rPr lang="en-US" sz="1200" dirty="0" err="1">
                <a:latin typeface="Arial" panose="020B0604020202020204" pitchFamily="34" charset="0"/>
                <a:cs typeface="Arial" panose="020B0604020202020204" pitchFamily="34" charset="0"/>
              </a:rPr>
              <a:t>Nutr</a:t>
            </a:r>
            <a:r>
              <a:rPr lang="en-US" sz="1200" dirty="0">
                <a:latin typeface="Arial" panose="020B0604020202020204" pitchFamily="34" charset="0"/>
                <a:cs typeface="Arial" panose="020B0604020202020204" pitchFamily="34" charset="0"/>
              </a:rPr>
              <a:t>, 36(5):931–5, 1982.</a:t>
            </a:r>
          </a:p>
          <a:p>
            <a:endParaRPr lang="en-US" sz="1200" dirty="0">
              <a:latin typeface="Arial" panose="020B0604020202020204" pitchFamily="34" charset="0"/>
              <a:cs typeface="Arial" panose="020B0604020202020204" pitchFamily="34" charset="0"/>
            </a:endParaRPr>
          </a:p>
        </p:txBody>
      </p:sp>
      <p:sp>
        <p:nvSpPr>
          <p:cNvPr id="2" name="Slide Number Placeholder 1">
            <a:extLst>
              <a:ext uri="{FF2B5EF4-FFF2-40B4-BE49-F238E27FC236}">
                <a16:creationId xmlns:a16="http://schemas.microsoft.com/office/drawing/2014/main" id="{4DE7C253-0C8F-DE6B-9623-1752A2A999A4}"/>
              </a:ext>
            </a:extLst>
          </p:cNvPr>
          <p:cNvSpPr>
            <a:spLocks noGrp="1"/>
          </p:cNvSpPr>
          <p:nvPr>
            <p:ph type="sldNum" sz="quarter" idx="12"/>
          </p:nvPr>
        </p:nvSpPr>
        <p:spPr/>
        <p:txBody>
          <a:bodyPr/>
          <a:lstStyle/>
          <a:p>
            <a:fld id="{77C6A7FE-225D-49F1-B302-AA37EA92BB49}" type="slidenum">
              <a:rPr lang="en-US" smtClean="0"/>
              <a:t>9</a:t>
            </a:fld>
            <a:endParaRPr lang="en-US"/>
          </a:p>
        </p:txBody>
      </p:sp>
    </p:spTree>
    <p:extLst>
      <p:ext uri="{BB962C8B-B14F-4D97-AF65-F5344CB8AC3E}">
        <p14:creationId xmlns:p14="http://schemas.microsoft.com/office/powerpoint/2010/main" val="2692280183"/>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75B9600-05DF-4A77-84B8-BC4AD27FBCC1}"/>
              </a:ext>
            </a:extLst>
          </p:cNvPr>
          <p:cNvSpPr/>
          <p:nvPr/>
        </p:nvSpPr>
        <p:spPr>
          <a:xfrm>
            <a:off x="0" y="-18028"/>
            <a:ext cx="12192000" cy="1237230"/>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Arial" panose="020B0604020202020204" pitchFamily="34" charset="0"/>
                <a:cs typeface="Arial" panose="020B0604020202020204" pitchFamily="34" charset="0"/>
              </a:rPr>
              <a:t>Epidemiologists have conducted hundreds of validation and reliability studies</a:t>
            </a:r>
          </a:p>
        </p:txBody>
      </p:sp>
      <p:sp>
        <p:nvSpPr>
          <p:cNvPr id="10" name="Title 9">
            <a:extLst>
              <a:ext uri="{FF2B5EF4-FFF2-40B4-BE49-F238E27FC236}">
                <a16:creationId xmlns:a16="http://schemas.microsoft.com/office/drawing/2014/main" id="{29B6BF7D-DCC7-4DCF-B910-7EAC0B7CC482}"/>
              </a:ext>
            </a:extLst>
          </p:cNvPr>
          <p:cNvSpPr txBox="1">
            <a:spLocks/>
          </p:cNvSpPr>
          <p:nvPr/>
        </p:nvSpPr>
        <p:spPr>
          <a:xfrm>
            <a:off x="0" y="26658"/>
            <a:ext cx="12192000" cy="671938"/>
          </a:xfrm>
          <a:prstGeom prst="rect">
            <a:avLst/>
          </a:prstGeom>
        </p:spPr>
        <p:txBody>
          <a:bodyPr>
            <a:noAutofit/>
          </a:bodyPr>
          <a:lstStyle>
            <a:lvl1pPr algn="l" defTabSz="914400" rtl="0" eaLnBrk="1" fontAlgn="b" latinLnBrk="0" hangingPunct="1">
              <a:lnSpc>
                <a:spcPct val="90000"/>
              </a:lnSpc>
              <a:spcBef>
                <a:spcPct val="0"/>
              </a:spcBef>
              <a:buNone/>
              <a:defRPr sz="4800" kern="1200">
                <a:solidFill>
                  <a:schemeClr val="bg1"/>
                </a:solidFill>
                <a:latin typeface="+mj-lt"/>
                <a:ea typeface="+mj-ea"/>
                <a:cs typeface="+mj-cs"/>
              </a:defRPr>
            </a:lvl1pPr>
          </a:lstStyle>
          <a:p>
            <a:pPr algn="ctr"/>
            <a:endParaRPr lang="en-US" sz="6000" dirty="0"/>
          </a:p>
        </p:txBody>
      </p:sp>
      <p:sp>
        <p:nvSpPr>
          <p:cNvPr id="22" name="TextBox 21">
            <a:extLst>
              <a:ext uri="{FF2B5EF4-FFF2-40B4-BE49-F238E27FC236}">
                <a16:creationId xmlns:a16="http://schemas.microsoft.com/office/drawing/2014/main" id="{B659EE0A-3B85-6A59-3FF5-1BFF863DD740}"/>
              </a:ext>
            </a:extLst>
          </p:cNvPr>
          <p:cNvSpPr txBox="1"/>
          <p:nvPr/>
        </p:nvSpPr>
        <p:spPr>
          <a:xfrm>
            <a:off x="251460" y="1408668"/>
            <a:ext cx="11262360" cy="526297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[69]F. E. Thompson, V. Kipnis, D. </a:t>
            </a:r>
            <a:r>
              <a:rPr lang="en-US" sz="1200" dirty="0" err="1">
                <a:latin typeface="Arial" panose="020B0604020202020204" pitchFamily="34" charset="0"/>
                <a:cs typeface="Arial" panose="020B0604020202020204" pitchFamily="34" charset="0"/>
              </a:rPr>
              <a:t>Midthune</a:t>
            </a:r>
            <a:r>
              <a:rPr lang="en-US" sz="1200" dirty="0">
                <a:latin typeface="Arial" panose="020B0604020202020204" pitchFamily="34" charset="0"/>
                <a:cs typeface="Arial" panose="020B0604020202020204" pitchFamily="34" charset="0"/>
              </a:rPr>
              <a:t>, L. S. Freedman, R. J. Carroll, A. F. </a:t>
            </a:r>
            <a:r>
              <a:rPr lang="en-US" sz="1200" dirty="0" err="1">
                <a:latin typeface="Arial" panose="020B0604020202020204" pitchFamily="34" charset="0"/>
                <a:cs typeface="Arial" panose="020B0604020202020204" pitchFamily="34" charset="0"/>
              </a:rPr>
              <a:t>Subar</a:t>
            </a:r>
            <a:r>
              <a:rPr lang="en-US" sz="1200" dirty="0">
                <a:latin typeface="Arial" panose="020B0604020202020204" pitchFamily="34" charset="0"/>
                <a:cs typeface="Arial" panose="020B0604020202020204" pitchFamily="34" charset="0"/>
              </a:rPr>
              <a:t>, C. C. Brown, M. S. Butcher, T. </a:t>
            </a:r>
            <a:r>
              <a:rPr lang="en-US" sz="1200" dirty="0" err="1">
                <a:latin typeface="Arial" panose="020B0604020202020204" pitchFamily="34" charset="0"/>
                <a:cs typeface="Arial" panose="020B0604020202020204" pitchFamily="34" charset="0"/>
              </a:rPr>
              <a:t>Mouw</a:t>
            </a:r>
            <a:r>
              <a:rPr lang="en-US" sz="1200" dirty="0">
                <a:latin typeface="Arial" panose="020B0604020202020204" pitchFamily="34" charset="0"/>
                <a:cs typeface="Arial" panose="020B0604020202020204" pitchFamily="34" charset="0"/>
              </a:rPr>
              <a:t>, M. </a:t>
            </a:r>
            <a:r>
              <a:rPr lang="en-US" sz="1200" dirty="0" err="1">
                <a:latin typeface="Arial" panose="020B0604020202020204" pitchFamily="34" charset="0"/>
                <a:cs typeface="Arial" panose="020B0604020202020204" pitchFamily="34" charset="0"/>
              </a:rPr>
              <a:t>Leitzmann</a:t>
            </a:r>
            <a:r>
              <a:rPr lang="en-US" sz="1200" dirty="0">
                <a:latin typeface="Arial" panose="020B0604020202020204" pitchFamily="34" charset="0"/>
                <a:cs typeface="Arial" panose="020B0604020202020204" pitchFamily="34" charset="0"/>
              </a:rPr>
              <a:t>, and A. </a:t>
            </a:r>
            <a:r>
              <a:rPr lang="en-US" sz="1200" dirty="0" err="1">
                <a:latin typeface="Arial" panose="020B0604020202020204" pitchFamily="34" charset="0"/>
                <a:cs typeface="Arial" panose="020B0604020202020204" pitchFamily="34" charset="0"/>
              </a:rPr>
              <a:t>Schatzkin</a:t>
            </a:r>
            <a:r>
              <a:rPr lang="en-US" sz="1200" dirty="0">
                <a:latin typeface="Arial" panose="020B0604020202020204" pitchFamily="34" charset="0"/>
                <a:cs typeface="Arial" panose="020B0604020202020204" pitchFamily="34" charset="0"/>
              </a:rPr>
              <a:t>. Performance of a food-frequency questionnaire in the US NIH-AARP (National Institutes of Health-American Association of Retired Persons) Diet and Health Study. Public Health </a:t>
            </a:r>
            <a:r>
              <a:rPr lang="en-US" sz="1200" dirty="0" err="1">
                <a:latin typeface="Arial" panose="020B0604020202020204" pitchFamily="34" charset="0"/>
                <a:cs typeface="Arial" panose="020B0604020202020204" pitchFamily="34" charset="0"/>
              </a:rPr>
              <a:t>Nutr</a:t>
            </a:r>
            <a:r>
              <a:rPr lang="en-US" sz="1200" dirty="0">
                <a:latin typeface="Arial" panose="020B0604020202020204" pitchFamily="34" charset="0"/>
                <a:cs typeface="Arial" panose="020B0604020202020204" pitchFamily="34" charset="0"/>
              </a:rPr>
              <a:t>, 11(2):183–95, 2008. PMID: 17610761.</a:t>
            </a:r>
          </a:p>
          <a:p>
            <a:r>
              <a:rPr lang="en-US" sz="1200" dirty="0">
                <a:latin typeface="Arial" panose="020B0604020202020204" pitchFamily="34" charset="0"/>
                <a:cs typeface="Arial" panose="020B0604020202020204" pitchFamily="34" charset="0"/>
              </a:rPr>
              <a:t>[70]R. Villegas, G. Yang, D. Liu, Y. B. Xiang, H. Cai, W. Zheng, and X. O. Shu. Validity and reproducibility of the food-frequency questionnaire used in the Shanghai men’s health study. Br J </a:t>
            </a:r>
            <a:r>
              <a:rPr lang="en-US" sz="1200" dirty="0" err="1">
                <a:latin typeface="Arial" panose="020B0604020202020204" pitchFamily="34" charset="0"/>
                <a:cs typeface="Arial" panose="020B0604020202020204" pitchFamily="34" charset="0"/>
              </a:rPr>
              <a:t>Nutr</a:t>
            </a:r>
            <a:r>
              <a:rPr lang="en-US" sz="1200" dirty="0">
                <a:latin typeface="Arial" panose="020B0604020202020204" pitchFamily="34" charset="0"/>
                <a:cs typeface="Arial" panose="020B0604020202020204" pitchFamily="34" charset="0"/>
              </a:rPr>
              <a:t>, 97(5):993–1000, 2007.</a:t>
            </a:r>
          </a:p>
          <a:p>
            <a:r>
              <a:rPr lang="en-US" sz="1200" dirty="0">
                <a:latin typeface="Arial" panose="020B0604020202020204" pitchFamily="34" charset="0"/>
                <a:cs typeface="Arial" panose="020B0604020202020204" pitchFamily="34" charset="0"/>
              </a:rPr>
              <a:t>[71]S. </a:t>
            </a:r>
            <a:r>
              <a:rPr lang="en-US" sz="1200" dirty="0" err="1">
                <a:latin typeface="Arial" panose="020B0604020202020204" pitchFamily="34" charset="0"/>
                <a:cs typeface="Arial" panose="020B0604020202020204" pitchFamily="34" charset="0"/>
              </a:rPr>
              <a:t>Chasan</a:t>
            </a:r>
            <a:r>
              <a:rPr lang="en-US" sz="1200" dirty="0">
                <a:latin typeface="Arial" panose="020B0604020202020204" pitchFamily="34" charset="0"/>
                <a:cs typeface="Arial" panose="020B0604020202020204" pitchFamily="34" charset="0"/>
              </a:rPr>
              <a:t>-Taber, E. B. </a:t>
            </a:r>
            <a:r>
              <a:rPr lang="en-US" sz="1200" dirty="0" err="1">
                <a:latin typeface="Arial" panose="020B0604020202020204" pitchFamily="34" charset="0"/>
                <a:cs typeface="Arial" panose="020B0604020202020204" pitchFamily="34" charset="0"/>
              </a:rPr>
              <a:t>Rimm</a:t>
            </a:r>
            <a:r>
              <a:rPr lang="en-US" sz="1200" dirty="0">
                <a:latin typeface="Arial" panose="020B0604020202020204" pitchFamily="34" charset="0"/>
                <a:cs typeface="Arial" panose="020B0604020202020204" pitchFamily="34" charset="0"/>
              </a:rPr>
              <a:t>, M. J. </a:t>
            </a:r>
            <a:r>
              <a:rPr lang="en-US" sz="1200" dirty="0" err="1">
                <a:latin typeface="Arial" panose="020B0604020202020204" pitchFamily="34" charset="0"/>
                <a:cs typeface="Arial" panose="020B0604020202020204" pitchFamily="34" charset="0"/>
              </a:rPr>
              <a:t>Stampfer</a:t>
            </a:r>
            <a:r>
              <a:rPr lang="en-US" sz="1200" dirty="0">
                <a:latin typeface="Arial" panose="020B0604020202020204" pitchFamily="34" charset="0"/>
                <a:cs typeface="Arial" panose="020B0604020202020204" pitchFamily="34" charset="0"/>
              </a:rPr>
              <a:t>, D. Spiegelman, G. A. Colditz, E. Giovannucci, A. </a:t>
            </a:r>
            <a:r>
              <a:rPr lang="en-US" sz="1200" dirty="0" err="1">
                <a:latin typeface="Arial" panose="020B0604020202020204" pitchFamily="34" charset="0"/>
                <a:cs typeface="Arial" panose="020B0604020202020204" pitchFamily="34" charset="0"/>
              </a:rPr>
              <a:t>Ascherio</a:t>
            </a:r>
            <a:r>
              <a:rPr lang="en-US" sz="1200" dirty="0">
                <a:latin typeface="Arial" panose="020B0604020202020204" pitchFamily="34" charset="0"/>
                <a:cs typeface="Arial" panose="020B0604020202020204" pitchFamily="34" charset="0"/>
              </a:rPr>
              <a:t>, and W. C. Willett. Reproducibility and validity of a self-administered physical activity questionnaire for male health professionals. Epidemiology, 7(1):81–6, 1996.</a:t>
            </a:r>
          </a:p>
          <a:p>
            <a:r>
              <a:rPr lang="en-US" sz="1200" dirty="0">
                <a:latin typeface="Arial" panose="020B0604020202020204" pitchFamily="34" charset="0"/>
                <a:cs typeface="Arial" panose="020B0604020202020204" pitchFamily="34" charset="0"/>
              </a:rPr>
              <a:t>[72]D. </a:t>
            </a:r>
            <a:r>
              <a:rPr lang="en-US" sz="1200" dirty="0" err="1">
                <a:latin typeface="Arial" panose="020B0604020202020204" pitchFamily="34" charset="0"/>
                <a:cs typeface="Arial" panose="020B0604020202020204" pitchFamily="34" charset="0"/>
              </a:rPr>
              <a:t>Feskanich</a:t>
            </a:r>
            <a:r>
              <a:rPr lang="en-US" sz="1200" dirty="0">
                <a:latin typeface="Arial" panose="020B0604020202020204" pitchFamily="34" charset="0"/>
                <a:cs typeface="Arial" panose="020B0604020202020204" pitchFamily="34" charset="0"/>
              </a:rPr>
              <a:t>, E. B. </a:t>
            </a:r>
            <a:r>
              <a:rPr lang="en-US" sz="1200" dirty="0" err="1">
                <a:latin typeface="Arial" panose="020B0604020202020204" pitchFamily="34" charset="0"/>
                <a:cs typeface="Arial" panose="020B0604020202020204" pitchFamily="34" charset="0"/>
              </a:rPr>
              <a:t>Rimm</a:t>
            </a:r>
            <a:r>
              <a:rPr lang="en-US" sz="1200" dirty="0">
                <a:latin typeface="Arial" panose="020B0604020202020204" pitchFamily="34" charset="0"/>
                <a:cs typeface="Arial" panose="020B0604020202020204" pitchFamily="34" charset="0"/>
              </a:rPr>
              <a:t>, E. L. Giovannucci, G. Colditz, M. </a:t>
            </a:r>
            <a:r>
              <a:rPr lang="en-US" sz="1200" dirty="0" err="1">
                <a:latin typeface="Arial" panose="020B0604020202020204" pitchFamily="34" charset="0"/>
                <a:cs typeface="Arial" panose="020B0604020202020204" pitchFamily="34" charset="0"/>
              </a:rPr>
              <a:t>Stampfer</a:t>
            </a:r>
            <a:r>
              <a:rPr lang="en-US" sz="1200" dirty="0">
                <a:latin typeface="Arial" panose="020B0604020202020204" pitchFamily="34" charset="0"/>
                <a:cs typeface="Arial" panose="020B0604020202020204" pitchFamily="34" charset="0"/>
              </a:rPr>
              <a:t>, L. </a:t>
            </a:r>
            <a:r>
              <a:rPr lang="en-US" sz="1200" dirty="0" err="1">
                <a:latin typeface="Arial" panose="020B0604020202020204" pitchFamily="34" charset="0"/>
                <a:cs typeface="Arial" panose="020B0604020202020204" pitchFamily="34" charset="0"/>
              </a:rPr>
              <a:t>Litin</a:t>
            </a:r>
            <a:r>
              <a:rPr lang="en-US" sz="1200" dirty="0">
                <a:latin typeface="Arial" panose="020B0604020202020204" pitchFamily="34" charset="0"/>
                <a:cs typeface="Arial" panose="020B0604020202020204" pitchFamily="34" charset="0"/>
              </a:rPr>
              <a:t>, and W. C. Willett. Repro- </a:t>
            </a:r>
            <a:r>
              <a:rPr lang="en-US" sz="1200" dirty="0" err="1">
                <a:latin typeface="Arial" panose="020B0604020202020204" pitchFamily="34" charset="0"/>
                <a:cs typeface="Arial" panose="020B0604020202020204" pitchFamily="34" charset="0"/>
              </a:rPr>
              <a:t>ducibility</a:t>
            </a:r>
            <a:r>
              <a:rPr lang="en-US" sz="1200" dirty="0">
                <a:latin typeface="Arial" panose="020B0604020202020204" pitchFamily="34" charset="0"/>
                <a:cs typeface="Arial" panose="020B0604020202020204" pitchFamily="34" charset="0"/>
              </a:rPr>
              <a:t> and validity of food intake measurements from a semiquantitative food frequency questionnaire. J Am Diet Assoc, 93:790–796, 1993.</a:t>
            </a:r>
          </a:p>
          <a:p>
            <a:r>
              <a:rPr lang="en-US" sz="1200" dirty="0">
                <a:latin typeface="Arial" panose="020B0604020202020204" pitchFamily="34" charset="0"/>
                <a:cs typeface="Arial" panose="020B0604020202020204" pitchFamily="34" charset="0"/>
              </a:rPr>
              <a:t>[73]E. B. </a:t>
            </a:r>
            <a:r>
              <a:rPr lang="en-US" sz="1200" dirty="0" err="1">
                <a:latin typeface="Arial" panose="020B0604020202020204" pitchFamily="34" charset="0"/>
                <a:cs typeface="Arial" panose="020B0604020202020204" pitchFamily="34" charset="0"/>
              </a:rPr>
              <a:t>Rimm</a:t>
            </a:r>
            <a:r>
              <a:rPr lang="en-US" sz="1200" dirty="0">
                <a:latin typeface="Arial" panose="020B0604020202020204" pitchFamily="34" charset="0"/>
                <a:cs typeface="Arial" panose="020B0604020202020204" pitchFamily="34" charset="0"/>
              </a:rPr>
              <a:t>, E. L. Giovannucci, M. J. </a:t>
            </a:r>
            <a:r>
              <a:rPr lang="en-US" sz="1200" dirty="0" err="1">
                <a:latin typeface="Arial" panose="020B0604020202020204" pitchFamily="34" charset="0"/>
                <a:cs typeface="Arial" panose="020B0604020202020204" pitchFamily="34" charset="0"/>
              </a:rPr>
              <a:t>Stampfer</a:t>
            </a:r>
            <a:r>
              <a:rPr lang="en-US" sz="1200" dirty="0">
                <a:latin typeface="Arial" panose="020B0604020202020204" pitchFamily="34" charset="0"/>
                <a:cs typeface="Arial" panose="020B0604020202020204" pitchFamily="34" charset="0"/>
              </a:rPr>
              <a:t>, G. A. Colditz, L. B. </a:t>
            </a:r>
            <a:r>
              <a:rPr lang="en-US" sz="1200" dirty="0" err="1">
                <a:latin typeface="Arial" panose="020B0604020202020204" pitchFamily="34" charset="0"/>
                <a:cs typeface="Arial" panose="020B0604020202020204" pitchFamily="34" charset="0"/>
              </a:rPr>
              <a:t>Litin</a:t>
            </a:r>
            <a:r>
              <a:rPr lang="en-US" sz="1200" dirty="0">
                <a:latin typeface="Arial" panose="020B0604020202020204" pitchFamily="34" charset="0"/>
                <a:cs typeface="Arial" panose="020B0604020202020204" pitchFamily="34" charset="0"/>
              </a:rPr>
              <a:t>, and W. C. Willett. Reproducibility and validity of an expanded self-administered semiquantitative food frequency questionnaire among male health professionals. Am J Epidemiol, 135(10):1114–26; discussion 1127–36, 1992.</a:t>
            </a:r>
          </a:p>
          <a:p>
            <a:r>
              <a:rPr lang="en-US" sz="1200" dirty="0">
                <a:latin typeface="Arial" panose="020B0604020202020204" pitchFamily="34" charset="0"/>
                <a:cs typeface="Arial" panose="020B0604020202020204" pitchFamily="34" charset="0"/>
              </a:rPr>
              <a:t>[74]S. Salvini, D. Hunter, L. Sampson, M. </a:t>
            </a:r>
            <a:r>
              <a:rPr lang="en-US" sz="1200" dirty="0" err="1">
                <a:latin typeface="Arial" panose="020B0604020202020204" pitchFamily="34" charset="0"/>
                <a:cs typeface="Arial" panose="020B0604020202020204" pitchFamily="34" charset="0"/>
              </a:rPr>
              <a:t>Stampfer</a:t>
            </a:r>
            <a:r>
              <a:rPr lang="en-US" sz="1200" dirty="0">
                <a:latin typeface="Arial" panose="020B0604020202020204" pitchFamily="34" charset="0"/>
                <a:cs typeface="Arial" panose="020B0604020202020204" pitchFamily="34" charset="0"/>
              </a:rPr>
              <a:t>, G. Colditz, B. A. Rosner, and W. C. Willett. Food-based validation of a dietary questionnaire: the effects of week-to-week variation in food consumption. Int J Epidemiol, 18(4):858–867, 1989.</a:t>
            </a:r>
          </a:p>
          <a:p>
            <a:r>
              <a:rPr lang="en-US" sz="1200" dirty="0">
                <a:latin typeface="Arial" panose="020B0604020202020204" pitchFamily="34" charset="0"/>
                <a:cs typeface="Arial" panose="020B0604020202020204" pitchFamily="34" charset="0"/>
              </a:rPr>
              <a:t>[75]W. C. Willett, L. Sampson, M. J. </a:t>
            </a:r>
            <a:r>
              <a:rPr lang="en-US" sz="1200" dirty="0" err="1">
                <a:latin typeface="Arial" panose="020B0604020202020204" pitchFamily="34" charset="0"/>
                <a:cs typeface="Arial" panose="020B0604020202020204" pitchFamily="34" charset="0"/>
              </a:rPr>
              <a:t>Stampfer</a:t>
            </a:r>
            <a:r>
              <a:rPr lang="en-US" sz="1200" dirty="0">
                <a:latin typeface="Arial" panose="020B0604020202020204" pitchFamily="34" charset="0"/>
                <a:cs typeface="Arial" panose="020B0604020202020204" pitchFamily="34" charset="0"/>
              </a:rPr>
              <a:t>, B. A. Rosner, C. Bain, J. </a:t>
            </a:r>
            <a:r>
              <a:rPr lang="en-US" sz="1200" dirty="0" err="1">
                <a:latin typeface="Arial" panose="020B0604020202020204" pitchFamily="34" charset="0"/>
                <a:cs typeface="Arial" panose="020B0604020202020204" pitchFamily="34" charset="0"/>
              </a:rPr>
              <a:t>Witschi</a:t>
            </a:r>
            <a:r>
              <a:rPr lang="en-US" sz="1200" dirty="0">
                <a:latin typeface="Arial" panose="020B0604020202020204" pitchFamily="34" charset="0"/>
                <a:cs typeface="Arial" panose="020B0604020202020204" pitchFamily="34" charset="0"/>
              </a:rPr>
              <a:t>, C. H. </a:t>
            </a:r>
            <a:r>
              <a:rPr lang="en-US" sz="1200" dirty="0" err="1">
                <a:latin typeface="Arial" panose="020B0604020202020204" pitchFamily="34" charset="0"/>
                <a:cs typeface="Arial" panose="020B0604020202020204" pitchFamily="34" charset="0"/>
              </a:rPr>
              <a:t>Hennekens</a:t>
            </a:r>
            <a:r>
              <a:rPr lang="en-US" sz="1200" dirty="0">
                <a:latin typeface="Arial" panose="020B0604020202020204" pitchFamily="34" charset="0"/>
                <a:cs typeface="Arial" panose="020B0604020202020204" pitchFamily="34" charset="0"/>
              </a:rPr>
              <a:t>, and F. E. </a:t>
            </a:r>
            <a:r>
              <a:rPr lang="en-US" sz="1200" dirty="0" err="1">
                <a:latin typeface="Arial" panose="020B0604020202020204" pitchFamily="34" charset="0"/>
                <a:cs typeface="Arial" panose="020B0604020202020204" pitchFamily="34" charset="0"/>
              </a:rPr>
              <a:t>Speizer</a:t>
            </a:r>
            <a:r>
              <a:rPr lang="en-US" sz="1200" dirty="0">
                <a:latin typeface="Arial" panose="020B0604020202020204" pitchFamily="34" charset="0"/>
                <a:cs typeface="Arial" panose="020B0604020202020204" pitchFamily="34" charset="0"/>
              </a:rPr>
              <a:t>. Reproducibility and validity of a semiquantitative food frequency questionnaire. Am J Epidemiol, 122:51–65, 1985.</a:t>
            </a:r>
          </a:p>
          <a:p>
            <a:r>
              <a:rPr lang="en-US" sz="1200" dirty="0">
                <a:latin typeface="Arial" panose="020B0604020202020204" pitchFamily="34" charset="0"/>
                <a:cs typeface="Arial" panose="020B0604020202020204" pitchFamily="34" charset="0"/>
              </a:rPr>
              <a:t>[76]G. A. Colditz, M. J. </a:t>
            </a:r>
            <a:r>
              <a:rPr lang="en-US" sz="1200" dirty="0" err="1">
                <a:latin typeface="Arial" panose="020B0604020202020204" pitchFamily="34" charset="0"/>
                <a:cs typeface="Arial" panose="020B0604020202020204" pitchFamily="34" charset="0"/>
              </a:rPr>
              <a:t>Stampfer</a:t>
            </a:r>
            <a:r>
              <a:rPr lang="en-US" sz="1200" dirty="0">
                <a:latin typeface="Arial" panose="020B0604020202020204" pitchFamily="34" charset="0"/>
                <a:cs typeface="Arial" panose="020B0604020202020204" pitchFamily="34" charset="0"/>
              </a:rPr>
              <a:t>, W. C. Willett, W. B. Stason, B. A. Rosner, C. H. </a:t>
            </a:r>
            <a:r>
              <a:rPr lang="en-US" sz="1200" dirty="0" err="1">
                <a:latin typeface="Arial" panose="020B0604020202020204" pitchFamily="34" charset="0"/>
                <a:cs typeface="Arial" panose="020B0604020202020204" pitchFamily="34" charset="0"/>
              </a:rPr>
              <a:t>Hennekens</a:t>
            </a:r>
            <a:r>
              <a:rPr lang="en-US" sz="1200" dirty="0">
                <a:latin typeface="Arial" panose="020B0604020202020204" pitchFamily="34" charset="0"/>
                <a:cs typeface="Arial" panose="020B0604020202020204" pitchFamily="34" charset="0"/>
              </a:rPr>
              <a:t>, and F. E. </a:t>
            </a:r>
            <a:r>
              <a:rPr lang="en-US" sz="1200" dirty="0" err="1">
                <a:latin typeface="Arial" panose="020B0604020202020204" pitchFamily="34" charset="0"/>
                <a:cs typeface="Arial" panose="020B0604020202020204" pitchFamily="34" charset="0"/>
              </a:rPr>
              <a:t>Speizer</a:t>
            </a:r>
            <a:r>
              <a:rPr lang="en-US" sz="1200" dirty="0">
                <a:latin typeface="Arial" panose="020B0604020202020204" pitchFamily="34" charset="0"/>
                <a:cs typeface="Arial" panose="020B0604020202020204" pitchFamily="34" charset="0"/>
              </a:rPr>
              <a:t>. Reproducibility and validity of self-reported menopausal status in a prospective cohort study. Am J Epidemiol, 126(2):319–325, Aug 1987. PMID: 3605058.</a:t>
            </a:r>
          </a:p>
          <a:p>
            <a:r>
              <a:rPr lang="en-US" sz="1200" dirty="0">
                <a:latin typeface="Arial" panose="020B0604020202020204" pitchFamily="34" charset="0"/>
                <a:cs typeface="Arial" panose="020B0604020202020204" pitchFamily="34" charset="0"/>
              </a:rPr>
              <a:t>[77]L. M. Troy, K. B. Michels, D. J. Hunter, D. Spiegelman, J. E. Manson, G. A. Colditz, M. J. </a:t>
            </a:r>
            <a:r>
              <a:rPr lang="en-US" sz="1200" dirty="0" err="1">
                <a:latin typeface="Arial" panose="020B0604020202020204" pitchFamily="34" charset="0"/>
                <a:cs typeface="Arial" panose="020B0604020202020204" pitchFamily="34" charset="0"/>
              </a:rPr>
              <a:t>Stampfer</a:t>
            </a:r>
            <a:r>
              <a:rPr lang="en-US" sz="1200" dirty="0">
                <a:latin typeface="Arial" panose="020B0604020202020204" pitchFamily="34" charset="0"/>
                <a:cs typeface="Arial" panose="020B0604020202020204" pitchFamily="34" charset="0"/>
              </a:rPr>
              <a:t>, and</a:t>
            </a:r>
          </a:p>
          <a:p>
            <a:r>
              <a:rPr lang="en-US" sz="1200" dirty="0">
                <a:latin typeface="Arial" panose="020B0604020202020204" pitchFamily="34" charset="0"/>
                <a:cs typeface="Arial" panose="020B0604020202020204" pitchFamily="34" charset="0"/>
              </a:rPr>
              <a:t>W. C. Willett. Self-reported birthweight and history of having been breastfed among younger women: an assessment of validity. Int J Epidemiol, 25(1):122–7, Feb 1996. PMID: 8666479.</a:t>
            </a:r>
          </a:p>
          <a:p>
            <a:r>
              <a:rPr lang="en-US" sz="1200" dirty="0">
                <a:latin typeface="Arial" panose="020B0604020202020204" pitchFamily="34" charset="0"/>
                <a:cs typeface="Arial" panose="020B0604020202020204" pitchFamily="34" charset="0"/>
              </a:rPr>
              <a:t>[78]D. J. Hunter, J. E. Manson, G. A. Colditz, L. </a:t>
            </a:r>
            <a:r>
              <a:rPr lang="en-US" sz="1200" dirty="0" err="1">
                <a:latin typeface="Arial" panose="020B0604020202020204" pitchFamily="34" charset="0"/>
                <a:cs typeface="Arial" panose="020B0604020202020204" pitchFamily="34" charset="0"/>
              </a:rPr>
              <a:t>Chasan</a:t>
            </a:r>
            <a:r>
              <a:rPr lang="en-US" sz="1200" dirty="0">
                <a:latin typeface="Arial" panose="020B0604020202020204" pitchFamily="34" charset="0"/>
                <a:cs typeface="Arial" panose="020B0604020202020204" pitchFamily="34" charset="0"/>
              </a:rPr>
              <a:t>-Taber, L. Troy, M. J. </a:t>
            </a:r>
            <a:r>
              <a:rPr lang="en-US" sz="1200" dirty="0" err="1">
                <a:latin typeface="Arial" panose="020B0604020202020204" pitchFamily="34" charset="0"/>
                <a:cs typeface="Arial" panose="020B0604020202020204" pitchFamily="34" charset="0"/>
              </a:rPr>
              <a:t>Stampfer</a:t>
            </a:r>
            <a:r>
              <a:rPr lang="en-US" sz="1200" dirty="0">
                <a:latin typeface="Arial" panose="020B0604020202020204" pitchFamily="34" charset="0"/>
                <a:cs typeface="Arial" panose="020B0604020202020204" pitchFamily="34" charset="0"/>
              </a:rPr>
              <a:t>, F. E. </a:t>
            </a:r>
            <a:r>
              <a:rPr lang="en-US" sz="1200" dirty="0" err="1">
                <a:latin typeface="Arial" panose="020B0604020202020204" pitchFamily="34" charset="0"/>
                <a:cs typeface="Arial" panose="020B0604020202020204" pitchFamily="34" charset="0"/>
              </a:rPr>
              <a:t>Speizer</a:t>
            </a:r>
            <a:r>
              <a:rPr lang="en-US" sz="1200" dirty="0">
                <a:latin typeface="Arial" panose="020B0604020202020204" pitchFamily="34" charset="0"/>
                <a:cs typeface="Arial" panose="020B0604020202020204" pitchFamily="34" charset="0"/>
              </a:rPr>
              <a:t>, and W. C. Willett. Reproducibility of oral contraceptive histories and validity of hormone composition reported in a cohort of US women. Contraception, 56(6):373–378, Dec 1997. PMID: 9494771.</a:t>
            </a:r>
          </a:p>
          <a:p>
            <a:r>
              <a:rPr lang="en-US" sz="1200" dirty="0">
                <a:latin typeface="Arial" panose="020B0604020202020204" pitchFamily="34" charset="0"/>
                <a:cs typeface="Arial" panose="020B0604020202020204" pitchFamily="34" charset="0"/>
              </a:rPr>
              <a:t>[79]C. A. </a:t>
            </a:r>
            <a:r>
              <a:rPr lang="en-US" sz="1200" dirty="0" err="1">
                <a:latin typeface="Arial" panose="020B0604020202020204" pitchFamily="34" charset="0"/>
                <a:cs typeface="Arial" panose="020B0604020202020204" pitchFamily="34" charset="0"/>
              </a:rPr>
              <a:t>Tomeo</a:t>
            </a:r>
            <a:r>
              <a:rPr lang="en-US" sz="1200" dirty="0">
                <a:latin typeface="Arial" panose="020B0604020202020204" pitchFamily="34" charset="0"/>
                <a:cs typeface="Arial" panose="020B0604020202020204" pitchFamily="34" charset="0"/>
              </a:rPr>
              <a:t>, J. W. Rich-Edwards, K. B. Michels, C. S. Berkey, D. J. Hunter, A. L. Frazier, W. C. Willett, and S. L. Buka. Reproducibility and validity of maternal recall of pregnancy-related events. Epidemiology, 10(6):774–7, Nov 1999. PMID: 10535796.</a:t>
            </a:r>
          </a:p>
          <a:p>
            <a:r>
              <a:rPr lang="en-US" sz="1200" dirty="0">
                <a:latin typeface="Arial" panose="020B0604020202020204" pitchFamily="34" charset="0"/>
                <a:cs typeface="Arial" panose="020B0604020202020204" pitchFamily="34" charset="0"/>
              </a:rPr>
              <a:t>[80]E. B. </a:t>
            </a:r>
            <a:r>
              <a:rPr lang="en-US" sz="1200" dirty="0" err="1">
                <a:latin typeface="Arial" panose="020B0604020202020204" pitchFamily="34" charset="0"/>
                <a:cs typeface="Arial" panose="020B0604020202020204" pitchFamily="34" charset="0"/>
              </a:rPr>
              <a:t>Rimm</a:t>
            </a:r>
            <a:r>
              <a:rPr lang="en-US" sz="1200" dirty="0">
                <a:latin typeface="Arial" panose="020B0604020202020204" pitchFamily="34" charset="0"/>
                <a:cs typeface="Arial" panose="020B0604020202020204" pitchFamily="34" charset="0"/>
              </a:rPr>
              <a:t>, M. J. </a:t>
            </a:r>
            <a:r>
              <a:rPr lang="en-US" sz="1200" dirty="0" err="1">
                <a:latin typeface="Arial" panose="020B0604020202020204" pitchFamily="34" charset="0"/>
                <a:cs typeface="Arial" panose="020B0604020202020204" pitchFamily="34" charset="0"/>
              </a:rPr>
              <a:t>Stampfer</a:t>
            </a:r>
            <a:r>
              <a:rPr lang="en-US" sz="1200" dirty="0">
                <a:latin typeface="Arial" panose="020B0604020202020204" pitchFamily="34" charset="0"/>
                <a:cs typeface="Arial" panose="020B0604020202020204" pitchFamily="34" charset="0"/>
              </a:rPr>
              <a:t>, G. A. Colditz, C. G. Chute, L. B. </a:t>
            </a:r>
            <a:r>
              <a:rPr lang="en-US" sz="1200" dirty="0" err="1">
                <a:latin typeface="Arial" panose="020B0604020202020204" pitchFamily="34" charset="0"/>
                <a:cs typeface="Arial" panose="020B0604020202020204" pitchFamily="34" charset="0"/>
              </a:rPr>
              <a:t>Litin</a:t>
            </a:r>
            <a:r>
              <a:rPr lang="en-US" sz="1200" dirty="0">
                <a:latin typeface="Arial" panose="020B0604020202020204" pitchFamily="34" charset="0"/>
                <a:cs typeface="Arial" panose="020B0604020202020204" pitchFamily="34" charset="0"/>
              </a:rPr>
              <a:t>, and W. C. Willett. Validity of self- reported waist and hip circumferences in men and women. Epidemiology, 1(6):466–473, Nov 1990. PMID: 2090285.</a:t>
            </a:r>
          </a:p>
          <a:p>
            <a:r>
              <a:rPr lang="en-US" sz="1200" dirty="0">
                <a:latin typeface="Arial" panose="020B0604020202020204" pitchFamily="34" charset="0"/>
                <a:cs typeface="Arial" panose="020B0604020202020204" pitchFamily="34" charset="0"/>
              </a:rPr>
              <a:t>[81]L. M. Troy, D. J. Hunter, J. E. Manson, G. A. Colditz, M. J. </a:t>
            </a:r>
            <a:r>
              <a:rPr lang="en-US" sz="1200" dirty="0" err="1">
                <a:latin typeface="Arial" panose="020B0604020202020204" pitchFamily="34" charset="0"/>
                <a:cs typeface="Arial" panose="020B0604020202020204" pitchFamily="34" charset="0"/>
              </a:rPr>
              <a:t>Stampfer</a:t>
            </a:r>
            <a:r>
              <a:rPr lang="en-US" sz="1200" dirty="0">
                <a:latin typeface="Arial" panose="020B0604020202020204" pitchFamily="34" charset="0"/>
                <a:cs typeface="Arial" panose="020B0604020202020204" pitchFamily="34" charset="0"/>
              </a:rPr>
              <a:t>, and W. C. Willett. The validity of recalled weight among younger women. Int J </a:t>
            </a:r>
            <a:r>
              <a:rPr lang="en-US" sz="1200" dirty="0" err="1">
                <a:latin typeface="Arial" panose="020B0604020202020204" pitchFamily="34" charset="0"/>
                <a:cs typeface="Arial" panose="020B0604020202020204" pitchFamily="34" charset="0"/>
              </a:rPr>
              <a:t>Obes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Relat</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Metab</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Disord</a:t>
            </a:r>
            <a:r>
              <a:rPr lang="en-US" sz="1200" dirty="0">
                <a:latin typeface="Arial" panose="020B0604020202020204" pitchFamily="34" charset="0"/>
                <a:cs typeface="Arial" panose="020B0604020202020204" pitchFamily="34" charset="0"/>
              </a:rPr>
              <a:t>, 19(8):570–572, Aug 1995. PMID: 7489028.</a:t>
            </a:r>
          </a:p>
        </p:txBody>
      </p:sp>
      <p:sp>
        <p:nvSpPr>
          <p:cNvPr id="2" name="Slide Number Placeholder 1">
            <a:extLst>
              <a:ext uri="{FF2B5EF4-FFF2-40B4-BE49-F238E27FC236}">
                <a16:creationId xmlns:a16="http://schemas.microsoft.com/office/drawing/2014/main" id="{F048D56A-CA94-99B2-9B6F-D8C8F69AA638}"/>
              </a:ext>
            </a:extLst>
          </p:cNvPr>
          <p:cNvSpPr>
            <a:spLocks noGrp="1"/>
          </p:cNvSpPr>
          <p:nvPr>
            <p:ph type="sldNum" sz="quarter" idx="12"/>
          </p:nvPr>
        </p:nvSpPr>
        <p:spPr/>
        <p:txBody>
          <a:bodyPr/>
          <a:lstStyle/>
          <a:p>
            <a:fld id="{77C6A7FE-225D-49F1-B302-AA37EA92BB49}" type="slidenum">
              <a:rPr lang="en-US" smtClean="0"/>
              <a:t>10</a:t>
            </a:fld>
            <a:endParaRPr lang="en-US"/>
          </a:p>
        </p:txBody>
      </p:sp>
    </p:spTree>
    <p:extLst>
      <p:ext uri="{BB962C8B-B14F-4D97-AF65-F5344CB8AC3E}">
        <p14:creationId xmlns:p14="http://schemas.microsoft.com/office/powerpoint/2010/main" val="1009015948"/>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75B9600-05DF-4A77-84B8-BC4AD27FBCC1}"/>
              </a:ext>
            </a:extLst>
          </p:cNvPr>
          <p:cNvSpPr/>
          <p:nvPr/>
        </p:nvSpPr>
        <p:spPr>
          <a:xfrm>
            <a:off x="0" y="-18028"/>
            <a:ext cx="12192000" cy="1237230"/>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Arial" panose="020B0604020202020204" pitchFamily="34" charset="0"/>
                <a:cs typeface="Arial" panose="020B0604020202020204" pitchFamily="34" charset="0"/>
              </a:rPr>
              <a:t>Epidemiologists have conducted hundreds of validation and reliability studies</a:t>
            </a:r>
          </a:p>
        </p:txBody>
      </p:sp>
      <p:sp>
        <p:nvSpPr>
          <p:cNvPr id="10" name="Title 9">
            <a:extLst>
              <a:ext uri="{FF2B5EF4-FFF2-40B4-BE49-F238E27FC236}">
                <a16:creationId xmlns:a16="http://schemas.microsoft.com/office/drawing/2014/main" id="{29B6BF7D-DCC7-4DCF-B910-7EAC0B7CC482}"/>
              </a:ext>
            </a:extLst>
          </p:cNvPr>
          <p:cNvSpPr txBox="1">
            <a:spLocks/>
          </p:cNvSpPr>
          <p:nvPr/>
        </p:nvSpPr>
        <p:spPr>
          <a:xfrm>
            <a:off x="0" y="26658"/>
            <a:ext cx="12192000" cy="671938"/>
          </a:xfrm>
          <a:prstGeom prst="rect">
            <a:avLst/>
          </a:prstGeom>
        </p:spPr>
        <p:txBody>
          <a:bodyPr>
            <a:noAutofit/>
          </a:bodyPr>
          <a:lstStyle>
            <a:lvl1pPr algn="l" defTabSz="914400" rtl="0" eaLnBrk="1" fontAlgn="b" latinLnBrk="0" hangingPunct="1">
              <a:lnSpc>
                <a:spcPct val="90000"/>
              </a:lnSpc>
              <a:spcBef>
                <a:spcPct val="0"/>
              </a:spcBef>
              <a:buNone/>
              <a:defRPr sz="4800" kern="1200">
                <a:solidFill>
                  <a:schemeClr val="bg1"/>
                </a:solidFill>
                <a:latin typeface="+mj-lt"/>
                <a:ea typeface="+mj-ea"/>
                <a:cs typeface="+mj-cs"/>
              </a:defRPr>
            </a:lvl1pPr>
          </a:lstStyle>
          <a:p>
            <a:pPr algn="ctr"/>
            <a:endParaRPr lang="en-US" sz="6000" dirty="0"/>
          </a:p>
        </p:txBody>
      </p:sp>
      <p:sp>
        <p:nvSpPr>
          <p:cNvPr id="22" name="TextBox 21">
            <a:extLst>
              <a:ext uri="{FF2B5EF4-FFF2-40B4-BE49-F238E27FC236}">
                <a16:creationId xmlns:a16="http://schemas.microsoft.com/office/drawing/2014/main" id="{B659EE0A-3B85-6A59-3FF5-1BFF863DD740}"/>
              </a:ext>
            </a:extLst>
          </p:cNvPr>
          <p:cNvSpPr txBox="1"/>
          <p:nvPr/>
        </p:nvSpPr>
        <p:spPr>
          <a:xfrm>
            <a:off x="251460" y="1408668"/>
            <a:ext cx="11262360" cy="5509200"/>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[82]A. L. Frazier, W. C. Willett, and G. A. Colditz. Reproducibility of recall of adolescent diet: Nurses’ Health Study (United States). Cancer Causes Control, 6(6):499–506, Nov 1995. PMID: 8580297.</a:t>
            </a:r>
          </a:p>
          <a:p>
            <a:r>
              <a:rPr lang="en-US" sz="1600" dirty="0">
                <a:latin typeface="Arial" panose="020B0604020202020204" pitchFamily="34" charset="0"/>
                <a:cs typeface="Arial" panose="020B0604020202020204" pitchFamily="34" charset="0"/>
              </a:rPr>
              <a:t>[83]C. Byrne, R. Sinha, E. A. Platz, E. Giovannucci, G. A. Colditz, D. J. Hunter, F. E. </a:t>
            </a:r>
            <a:r>
              <a:rPr lang="en-US" sz="1600" dirty="0" err="1">
                <a:latin typeface="Arial" panose="020B0604020202020204" pitchFamily="34" charset="0"/>
                <a:cs typeface="Arial" panose="020B0604020202020204" pitchFamily="34" charset="0"/>
              </a:rPr>
              <a:t>Speizer</a:t>
            </a:r>
            <a:r>
              <a:rPr lang="en-US" sz="1600" dirty="0">
                <a:latin typeface="Arial" panose="020B0604020202020204" pitchFamily="34" charset="0"/>
                <a:cs typeface="Arial" panose="020B0604020202020204" pitchFamily="34" charset="0"/>
              </a:rPr>
              <a:t>, and W. C. Willett. Predictors of dietary heterocyclic amine intake in three prospective cohorts. Cancer Epidemiol Biomarkers Prev, 7(6):523–529, Jun 1998. PMID: 9641497.</a:t>
            </a:r>
          </a:p>
          <a:p>
            <a:r>
              <a:rPr lang="en-US" sz="1600" dirty="0">
                <a:latin typeface="Arial" panose="020B0604020202020204" pitchFamily="34" charset="0"/>
                <a:cs typeface="Arial" panose="020B0604020202020204" pitchFamily="34" charset="0"/>
              </a:rPr>
              <a:t>[84]I. </a:t>
            </a:r>
            <a:r>
              <a:rPr lang="en-US" sz="1600" dirty="0" err="1">
                <a:latin typeface="Arial" panose="020B0604020202020204" pitchFamily="34" charset="0"/>
                <a:cs typeface="Arial" panose="020B0604020202020204" pitchFamily="34" charset="0"/>
              </a:rPr>
              <a:t>Romieu</a:t>
            </a:r>
            <a:r>
              <a:rPr lang="en-US" sz="1600" dirty="0">
                <a:latin typeface="Arial" panose="020B0604020202020204" pitchFamily="34" charset="0"/>
                <a:cs typeface="Arial" panose="020B0604020202020204" pitchFamily="34" charset="0"/>
              </a:rPr>
              <a:t>, M. J. </a:t>
            </a:r>
            <a:r>
              <a:rPr lang="en-US" sz="1600" dirty="0" err="1">
                <a:latin typeface="Arial" panose="020B0604020202020204" pitchFamily="34" charset="0"/>
                <a:cs typeface="Arial" panose="020B0604020202020204" pitchFamily="34" charset="0"/>
              </a:rPr>
              <a:t>Stampfer</a:t>
            </a:r>
            <a:r>
              <a:rPr lang="en-US" sz="1600" dirty="0">
                <a:latin typeface="Arial" panose="020B0604020202020204" pitchFamily="34" charset="0"/>
                <a:cs typeface="Arial" panose="020B0604020202020204" pitchFamily="34" charset="0"/>
              </a:rPr>
              <a:t>, W. S. Stryker, M. Hernandez, L. Kaplan, A. Sober, B. A. Rosner, and W. C. Willett. Food predictors of plasma beta-carotene and alpha-tocopherol: validation of a food frequency questionnaire. Am J Epidemiol, 131(5):864–876, May 1990. PMID: 2321629.</a:t>
            </a:r>
          </a:p>
          <a:p>
            <a:r>
              <a:rPr lang="en-US" sz="1600" dirty="0">
                <a:latin typeface="Arial" panose="020B0604020202020204" pitchFamily="34" charset="0"/>
                <a:cs typeface="Arial" panose="020B0604020202020204" pitchFamily="34" charset="0"/>
              </a:rPr>
              <a:t>[85]M. Garland, F. M. Sacks, G. A. Colditz, E. B. </a:t>
            </a:r>
            <a:r>
              <a:rPr lang="en-US" sz="1600" dirty="0" err="1">
                <a:latin typeface="Arial" panose="020B0604020202020204" pitchFamily="34" charset="0"/>
                <a:cs typeface="Arial" panose="020B0604020202020204" pitchFamily="34" charset="0"/>
              </a:rPr>
              <a:t>Rimm</a:t>
            </a:r>
            <a:r>
              <a:rPr lang="en-US" sz="1600" dirty="0">
                <a:latin typeface="Arial" panose="020B0604020202020204" pitchFamily="34" charset="0"/>
                <a:cs typeface="Arial" panose="020B0604020202020204" pitchFamily="34" charset="0"/>
              </a:rPr>
              <a:t>, L. A. Sampson, W. C. Willett, and D. J. Hunter. The relation between dietary intake and adipose tissue composition of selected fatty acids in US women. Am J Clin </a:t>
            </a:r>
            <a:r>
              <a:rPr lang="en-US" sz="1600" dirty="0" err="1">
                <a:latin typeface="Arial" panose="020B0604020202020204" pitchFamily="34" charset="0"/>
                <a:cs typeface="Arial" panose="020B0604020202020204" pitchFamily="34" charset="0"/>
              </a:rPr>
              <a:t>Nutr</a:t>
            </a:r>
            <a:r>
              <a:rPr lang="en-US" sz="1600" dirty="0">
                <a:latin typeface="Arial" panose="020B0604020202020204" pitchFamily="34" charset="0"/>
                <a:cs typeface="Arial" panose="020B0604020202020204" pitchFamily="34" charset="0"/>
              </a:rPr>
              <a:t>, 67(1):25–30, 1998.</a:t>
            </a:r>
          </a:p>
          <a:p>
            <a:r>
              <a:rPr lang="en-US" sz="1600" dirty="0">
                <a:latin typeface="Arial" panose="020B0604020202020204" pitchFamily="34" charset="0"/>
                <a:cs typeface="Arial" panose="020B0604020202020204" pitchFamily="34" charset="0"/>
              </a:rPr>
              <a:t>[86]A. Wolf, D. Hunter, G. Colditz, J. Manson, M. </a:t>
            </a:r>
            <a:r>
              <a:rPr lang="en-US" sz="1600" dirty="0" err="1">
                <a:latin typeface="Arial" panose="020B0604020202020204" pitchFamily="34" charset="0"/>
                <a:cs typeface="Arial" panose="020B0604020202020204" pitchFamily="34" charset="0"/>
              </a:rPr>
              <a:t>Stampfer</a:t>
            </a:r>
            <a:r>
              <a:rPr lang="en-US" sz="1600" dirty="0">
                <a:latin typeface="Arial" panose="020B0604020202020204" pitchFamily="34" charset="0"/>
                <a:cs typeface="Arial" panose="020B0604020202020204" pitchFamily="34" charset="0"/>
              </a:rPr>
              <a:t>, K. </a:t>
            </a:r>
            <a:r>
              <a:rPr lang="en-US" sz="1600" dirty="0" err="1">
                <a:latin typeface="Arial" panose="020B0604020202020204" pitchFamily="34" charset="0"/>
                <a:cs typeface="Arial" panose="020B0604020202020204" pitchFamily="34" charset="0"/>
              </a:rPr>
              <a:t>Corsano</a:t>
            </a:r>
            <a:r>
              <a:rPr lang="en-US" sz="1600" dirty="0">
                <a:latin typeface="Arial" panose="020B0604020202020204" pitchFamily="34" charset="0"/>
                <a:cs typeface="Arial" panose="020B0604020202020204" pitchFamily="34" charset="0"/>
              </a:rPr>
              <a:t>, B. A. Rosner, A. </a:t>
            </a:r>
            <a:r>
              <a:rPr lang="en-US" sz="1600" dirty="0" err="1">
                <a:latin typeface="Arial" panose="020B0604020202020204" pitchFamily="34" charset="0"/>
                <a:cs typeface="Arial" panose="020B0604020202020204" pitchFamily="34" charset="0"/>
              </a:rPr>
              <a:t>Kriska</a:t>
            </a:r>
            <a:r>
              <a:rPr lang="en-US" sz="1600" dirty="0">
                <a:latin typeface="Arial" panose="020B0604020202020204" pitchFamily="34" charset="0"/>
                <a:cs typeface="Arial" panose="020B0604020202020204" pitchFamily="34" charset="0"/>
              </a:rPr>
              <a:t>, and W. C. Willett. Reproducibility and validity of a self-administered physical activity questionnaire. Int J Epidemiol, 23(5):991–999, 1994.</a:t>
            </a:r>
          </a:p>
          <a:p>
            <a:r>
              <a:rPr lang="en-US" sz="1600" dirty="0">
                <a:latin typeface="Arial" panose="020B0604020202020204" pitchFamily="34" charset="0"/>
                <a:cs typeface="Arial" panose="020B0604020202020204" pitchFamily="34" charset="0"/>
              </a:rPr>
              <a:t>[87]C. E. Matthews, S. K. </a:t>
            </a:r>
            <a:r>
              <a:rPr lang="en-US" sz="1600" dirty="0" err="1">
                <a:latin typeface="Arial" panose="020B0604020202020204" pitchFamily="34" charset="0"/>
                <a:cs typeface="Arial" panose="020B0604020202020204" pitchFamily="34" charset="0"/>
              </a:rPr>
              <a:t>Keadle</a:t>
            </a:r>
            <a:r>
              <a:rPr lang="en-US" sz="1600" dirty="0">
                <a:latin typeface="Arial" panose="020B0604020202020204" pitchFamily="34" charset="0"/>
                <a:cs typeface="Arial" panose="020B0604020202020204" pitchFamily="34" charset="0"/>
              </a:rPr>
              <a:t>, S. C. Moore, D. S. </a:t>
            </a:r>
            <a:r>
              <a:rPr lang="en-US" sz="1600" dirty="0" err="1">
                <a:latin typeface="Arial" panose="020B0604020202020204" pitchFamily="34" charset="0"/>
                <a:cs typeface="Arial" panose="020B0604020202020204" pitchFamily="34" charset="0"/>
              </a:rPr>
              <a:t>Schoeller</a:t>
            </a:r>
            <a:r>
              <a:rPr lang="en-US" sz="1600" dirty="0">
                <a:latin typeface="Arial" panose="020B0604020202020204" pitchFamily="34" charset="0"/>
                <a:cs typeface="Arial" panose="020B0604020202020204" pitchFamily="34" charset="0"/>
              </a:rPr>
              <a:t>, R. J. Carroll, R. P. Troiano, and J. N. Sampson. Measurement of Active and Sedentary Behavior in Context of Large Epidemiologic Studies. Medicine &amp; Science in Sports &amp; Exercise, 50(2):266–276, 2018. PMCID: PMC5768470.</a:t>
            </a:r>
          </a:p>
          <a:p>
            <a:r>
              <a:rPr lang="en-US" sz="1600" dirty="0">
                <a:latin typeface="Arial" panose="020B0604020202020204" pitchFamily="34" charset="0"/>
                <a:cs typeface="Arial" panose="020B0604020202020204" pitchFamily="34" charset="0"/>
              </a:rPr>
              <a:t>[88]C. E. Matthews, S. K. </a:t>
            </a:r>
            <a:r>
              <a:rPr lang="en-US" sz="1600" dirty="0" err="1">
                <a:latin typeface="Arial" panose="020B0604020202020204" pitchFamily="34" charset="0"/>
                <a:cs typeface="Arial" panose="020B0604020202020204" pitchFamily="34" charset="0"/>
              </a:rPr>
              <a:t>Keadle</a:t>
            </a:r>
            <a:r>
              <a:rPr lang="en-US" sz="1600" dirty="0">
                <a:latin typeface="Arial" panose="020B0604020202020204" pitchFamily="34" charset="0"/>
                <a:cs typeface="Arial" panose="020B0604020202020204" pitchFamily="34" charset="0"/>
              </a:rPr>
              <a:t>, P. F. Saint-Maurice, S. C. Moore, E. A. Willis, J. N. Sampson, and D. Berrigan. Use of Time and Energy on Exercise, Prolonged TV Viewing, and Work Days. American Journal of Preventive Medicine, 55(3):e61 – e69, 2018.</a:t>
            </a:r>
          </a:p>
          <a:p>
            <a:r>
              <a:rPr lang="en-US" sz="1600" dirty="0">
                <a:latin typeface="Arial" panose="020B0604020202020204" pitchFamily="34" charset="0"/>
                <a:cs typeface="Arial" panose="020B0604020202020204" pitchFamily="34" charset="0"/>
              </a:rPr>
              <a:t>[89]A. K. </a:t>
            </a:r>
            <a:r>
              <a:rPr lang="en-US" sz="1600" dirty="0" err="1">
                <a:latin typeface="Arial" panose="020B0604020202020204" pitchFamily="34" charset="0"/>
                <a:cs typeface="Arial" panose="020B0604020202020204" pitchFamily="34" charset="0"/>
              </a:rPr>
              <a:t>Chomistek</a:t>
            </a:r>
            <a:r>
              <a:rPr lang="en-US" sz="1600" dirty="0">
                <a:latin typeface="Arial" panose="020B0604020202020204" pitchFamily="34" charset="0"/>
                <a:cs typeface="Arial" panose="020B0604020202020204" pitchFamily="34" charset="0"/>
              </a:rPr>
              <a:t>, C. Yuan, C. E. Matthews, R. P. Troiano, H. R. Bowles, J. Rood, J. B. Barnett, W. C. Willett,</a:t>
            </a:r>
          </a:p>
          <a:p>
            <a:r>
              <a:rPr lang="en-US" sz="1600" dirty="0">
                <a:latin typeface="Arial" panose="020B0604020202020204" pitchFamily="34" charset="0"/>
                <a:cs typeface="Arial" panose="020B0604020202020204" pitchFamily="34" charset="0"/>
              </a:rPr>
              <a:t>E. B. </a:t>
            </a:r>
            <a:r>
              <a:rPr lang="en-US" sz="1600" dirty="0" err="1">
                <a:latin typeface="Arial" panose="020B0604020202020204" pitchFamily="34" charset="0"/>
                <a:cs typeface="Arial" panose="020B0604020202020204" pitchFamily="34" charset="0"/>
              </a:rPr>
              <a:t>Rimm</a:t>
            </a:r>
            <a:r>
              <a:rPr lang="en-US" sz="1600" dirty="0">
                <a:latin typeface="Arial" panose="020B0604020202020204" pitchFamily="34" charset="0"/>
                <a:cs typeface="Arial" panose="020B0604020202020204" pitchFamily="34" charset="0"/>
              </a:rPr>
              <a:t>, and D. R. Bassett. Physical Activity Assessment with the </a:t>
            </a:r>
            <a:r>
              <a:rPr lang="en-US" sz="1600" dirty="0" err="1">
                <a:latin typeface="Arial" panose="020B0604020202020204" pitchFamily="34" charset="0"/>
                <a:cs typeface="Arial" panose="020B0604020202020204" pitchFamily="34" charset="0"/>
              </a:rPr>
              <a:t>ActiGraph</a:t>
            </a:r>
            <a:r>
              <a:rPr lang="en-US" sz="1600" dirty="0">
                <a:latin typeface="Arial" panose="020B0604020202020204" pitchFamily="34" charset="0"/>
                <a:cs typeface="Arial" panose="020B0604020202020204" pitchFamily="34" charset="0"/>
              </a:rPr>
              <a:t> GT3X and Doubly Labeled Water. Medicine and science in sports and exercise, 49(9):1935–1944, 2017. PMCID: PMC5561512.</a:t>
            </a:r>
          </a:p>
        </p:txBody>
      </p:sp>
      <p:sp>
        <p:nvSpPr>
          <p:cNvPr id="2" name="Slide Number Placeholder 1">
            <a:extLst>
              <a:ext uri="{FF2B5EF4-FFF2-40B4-BE49-F238E27FC236}">
                <a16:creationId xmlns:a16="http://schemas.microsoft.com/office/drawing/2014/main" id="{4B9928D6-04B9-AE30-91EE-AED7EBE1DA2A}"/>
              </a:ext>
            </a:extLst>
          </p:cNvPr>
          <p:cNvSpPr>
            <a:spLocks noGrp="1"/>
          </p:cNvSpPr>
          <p:nvPr>
            <p:ph type="sldNum" sz="quarter" idx="12"/>
          </p:nvPr>
        </p:nvSpPr>
        <p:spPr/>
        <p:txBody>
          <a:bodyPr/>
          <a:lstStyle/>
          <a:p>
            <a:fld id="{77C6A7FE-225D-49F1-B302-AA37EA92BB49}" type="slidenum">
              <a:rPr lang="en-US" smtClean="0"/>
              <a:t>11</a:t>
            </a:fld>
            <a:endParaRPr lang="en-US"/>
          </a:p>
        </p:txBody>
      </p:sp>
    </p:spTree>
    <p:extLst>
      <p:ext uri="{BB962C8B-B14F-4D97-AF65-F5344CB8AC3E}">
        <p14:creationId xmlns:p14="http://schemas.microsoft.com/office/powerpoint/2010/main" val="3187082595"/>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0"/>
            <a:ext cx="12192000" cy="1265382"/>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2400" dirty="0">
                <a:solidFill>
                  <a:schemeClr val="bg1"/>
                </a:solidFill>
                <a:latin typeface="Times New Roman" panose="02020603050405020304" pitchFamily="18" charset="0"/>
                <a:cs typeface="Times New Roman" panose="02020603050405020304" pitchFamily="18" charset="0"/>
              </a:rPr>
              <a:t>High quality validation and reliability data are available across a range of chronic disease risk factors, permitting empirical adjustment to eliminate this source of uncertainty </a:t>
            </a:r>
            <a:endParaRPr lang="en-US" sz="2400" dirty="0">
              <a:solidFill>
                <a:schemeClr val="bg1"/>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765336C-0B35-1829-5129-186E51F81F6E}"/>
                  </a:ext>
                </a:extLst>
              </p:cNvPr>
              <p:cNvSpPr>
                <a:spLocks noGrp="1"/>
              </p:cNvSpPr>
              <p:nvPr>
                <p:ph idx="1"/>
              </p:nvPr>
            </p:nvSpPr>
            <p:spPr>
              <a:xfrm>
                <a:off x="247071" y="1379270"/>
                <a:ext cx="11845869" cy="4981576"/>
              </a:xfrm>
            </p:spPr>
            <p:txBody>
              <a:bodyPr>
                <a:normAutofit fontScale="25000" lnSpcReduction="20000"/>
              </a:bodyPr>
              <a:lstStyle/>
              <a:p>
                <a:pPr>
                  <a:buFont typeface="Wingdings" panose="05000000000000000000" pitchFamily="2" charset="2"/>
                  <a:buChar char="Ø"/>
                </a:pPr>
                <a:r>
                  <a:rPr lang="en-US" sz="9600" dirty="0">
                    <a:cs typeface="Arial" panose="020B0604020202020204" pitchFamily="34" charset="0"/>
                  </a:rPr>
                  <a:t>Smoking – moderate risk factor for many cancers (but not breast), CVD, T2D – high to moderate measurement error –and long-term smoking difficult to validate</a:t>
                </a:r>
              </a:p>
              <a:p>
                <a:pPr lvl="1">
                  <a:buFont typeface="Wingdings" panose="05000000000000000000" pitchFamily="2" charset="2"/>
                  <a:buChar char="Ø"/>
                </a:pPr>
                <a:endParaRPr lang="en-US" sz="7200" dirty="0">
                  <a:cs typeface="Arial" panose="020B0604020202020204" pitchFamily="34" charset="0"/>
                </a:endParaRPr>
              </a:p>
              <a:p>
                <a:pPr lvl="1">
                  <a:buFont typeface="Wingdings" panose="05000000000000000000" pitchFamily="2" charset="2"/>
                  <a:buChar char="Ø"/>
                </a:pPr>
                <a:r>
                  <a:rPr lang="en-US" sz="7200" dirty="0">
                    <a:cs typeface="Arial" panose="020B0604020202020204" pitchFamily="34" charset="0"/>
                  </a:rPr>
                  <a:t>From 26 reports containing 51 comparisons between self-reported behavior and biochemical measures, Sensitivity ≈6% - 100% (mean = 87.5%), and specificity ≈33% - 100% (mean = 89.2%). Interviewer-administered questionnaires, observational studies, reports by adults, and biochemical validation with cotinine plasma were associated with higher estimates of sensitivity and specificity. (Patrick DL, Cheadle A, Thompson DC, </a:t>
                </a:r>
                <a:r>
                  <a:rPr lang="en-US" sz="7200" dirty="0" err="1">
                    <a:cs typeface="Arial" panose="020B0604020202020204" pitchFamily="34" charset="0"/>
                  </a:rPr>
                  <a:t>Diehr</a:t>
                </a:r>
                <a:r>
                  <a:rPr lang="en-US" sz="7200" dirty="0">
                    <a:cs typeface="Arial" panose="020B0604020202020204" pitchFamily="34" charset="0"/>
                  </a:rPr>
                  <a:t> P, </a:t>
                </a:r>
                <a:r>
                  <a:rPr lang="en-US" sz="7200" dirty="0" err="1">
                    <a:cs typeface="Arial" panose="020B0604020202020204" pitchFamily="34" charset="0"/>
                  </a:rPr>
                  <a:t>Koepsell</a:t>
                </a:r>
                <a:r>
                  <a:rPr lang="en-US" sz="7200" dirty="0">
                    <a:cs typeface="Arial" panose="020B0604020202020204" pitchFamily="34" charset="0"/>
                  </a:rPr>
                  <a:t> T, </a:t>
                </a:r>
                <a:r>
                  <a:rPr lang="en-US" sz="7200" dirty="0" err="1">
                    <a:cs typeface="Arial" panose="020B0604020202020204" pitchFamily="34" charset="0"/>
                  </a:rPr>
                  <a:t>Kinne</a:t>
                </a:r>
                <a:r>
                  <a:rPr lang="en-US" sz="7200" dirty="0">
                    <a:cs typeface="Arial" panose="020B0604020202020204" pitchFamily="34" charset="0"/>
                  </a:rPr>
                  <a:t> S. The validity of self-reported smoking: a review and meta-analysis. Am J Public Health. 1994 Jul;84(7):1086-93.)</a:t>
                </a:r>
              </a:p>
              <a:p>
                <a:pPr lvl="1">
                  <a:buFont typeface="Wingdings" panose="05000000000000000000" pitchFamily="2" charset="2"/>
                  <a:buChar char="Ø"/>
                </a:pPr>
                <a:endParaRPr lang="en-US" sz="7200" dirty="0">
                  <a:cs typeface="Arial" panose="020B0604020202020204" pitchFamily="34" charset="0"/>
                </a:endParaRPr>
              </a:p>
              <a:p>
                <a:pPr lvl="1">
                  <a:buFont typeface="Wingdings" panose="05000000000000000000" pitchFamily="2" charset="2"/>
                  <a:buChar char="Ø"/>
                </a:pPr>
                <a:r>
                  <a:rPr lang="en-US" sz="7200" dirty="0">
                    <a:cs typeface="Arial" panose="020B0604020202020204" pitchFamily="34" charset="0"/>
                  </a:rPr>
                  <a:t>Self-reported consumption in National Health Interview Surveys (NHIS) and National Household Surveys on Drug Abuse (NSDUH) was compared to USDA estimated consumption, </a:t>
                </a:r>
                <a14:m>
                  <m:oMath xmlns:m="http://schemas.openxmlformats.org/officeDocument/2006/math">
                    <m:sSub>
                      <m:sSubPr>
                        <m:ctrlPr>
                          <a:rPr lang="en-US" sz="7200" i="1" dirty="0" smtClean="0">
                            <a:latin typeface="Cambria Math" panose="02040503050406030204" pitchFamily="18" charset="0"/>
                          </a:rPr>
                        </m:ctrlPr>
                      </m:sSubPr>
                      <m:e>
                        <m:r>
                          <a:rPr lang="en-US" sz="7200" i="1" dirty="0" smtClean="0">
                            <a:latin typeface="Cambria Math" panose="02040503050406030204" pitchFamily="18" charset="0"/>
                          </a:rPr>
                          <m:t>𝜌</m:t>
                        </m:r>
                      </m:e>
                      <m:sub>
                        <m:r>
                          <a:rPr lang="en-US" sz="7200" b="0" i="1" dirty="0" smtClean="0">
                            <a:latin typeface="Cambria Math" panose="02040503050406030204" pitchFamily="18" charset="0"/>
                          </a:rPr>
                          <m:t>𝐼</m:t>
                        </m:r>
                      </m:sub>
                    </m:sSub>
                    <m:r>
                      <a:rPr lang="en-US" sz="7200" b="0" i="1" dirty="0" smtClean="0">
                        <a:latin typeface="Cambria Math" panose="02040503050406030204" pitchFamily="18" charset="0"/>
                      </a:rPr>
                      <m:t> </m:t>
                    </m:r>
                  </m:oMath>
                </a14:m>
                <a:r>
                  <a:rPr lang="en-US" sz="7200" dirty="0">
                    <a:cs typeface="Arial" panose="020B0604020202020204" pitchFamily="34" charset="0"/>
                  </a:rPr>
                  <a:t>≈0.72. (</a:t>
                </a:r>
                <a:r>
                  <a:rPr lang="en-US" sz="7200" dirty="0" err="1">
                    <a:cs typeface="Arial" panose="020B0604020202020204" pitchFamily="34" charset="0"/>
                  </a:rPr>
                  <a:t>Hatziandreu</a:t>
                </a:r>
                <a:r>
                  <a:rPr lang="en-US" sz="7200" dirty="0">
                    <a:cs typeface="Arial" panose="020B0604020202020204" pitchFamily="34" charset="0"/>
                  </a:rPr>
                  <a:t> EJ, Pierce JP, Fiore MC, Grise V, Novotny TE, Davis RM. The reliability of self-reported cigarette consumption in the United States. Am J Public Health. 1989 Aug;79(8):1020-3.)</a:t>
                </a:r>
              </a:p>
              <a:p>
                <a:pPr lvl="1">
                  <a:buFont typeface="Wingdings" panose="05000000000000000000" pitchFamily="2" charset="2"/>
                  <a:buChar char="Ø"/>
                </a:pPr>
                <a:endParaRPr lang="en-US" sz="7200" dirty="0">
                  <a:cs typeface="Arial" panose="020B0604020202020204" pitchFamily="34" charset="0"/>
                </a:endParaRPr>
              </a:p>
              <a:p>
                <a:pPr lvl="1">
                  <a:buFont typeface="Wingdings" panose="05000000000000000000" pitchFamily="2" charset="2"/>
                  <a:buChar char="Ø"/>
                </a:pPr>
                <a:r>
                  <a:rPr lang="en-US" sz="7200" dirty="0">
                    <a:cs typeface="Arial" panose="020B0604020202020204" pitchFamily="34" charset="0"/>
                  </a:rPr>
                  <a:t>Between 1979 - 1997, the amount of cigarettes that NSDUH and NHIS respondents reported corresponded to an average of 59.5% and 65.6%, respectively, of taxed cigarette sales. After 1997, reported smoking data corresponded an average of 64.2% and 63.3%, respectively, of taxed cigarette sales. Suggests low sensitivity. (Alex C Liber, Kenneth E Warner, Has  Underreporting of Cigarette Consumption Changed Over Time? Estimates Derived From US National Health Surveillance Systems Between 1965 and 2015, American Journal of Epidemiology, Volume 187, Issue 1, January 2018, Pages 113–119)</a:t>
                </a:r>
              </a:p>
              <a:p>
                <a:pPr marL="0" indent="0">
                  <a:buNone/>
                </a:pPr>
                <a:r>
                  <a:rPr lang="en-US" sz="6400" dirty="0"/>
                  <a:t> </a:t>
                </a:r>
              </a:p>
              <a:p>
                <a:pPr marL="0" indent="0">
                  <a:buNone/>
                </a:pPr>
                <a:endParaRPr lang="en-US" dirty="0"/>
              </a:p>
            </p:txBody>
          </p:sp>
        </mc:Choice>
        <mc:Fallback>
          <p:sp>
            <p:nvSpPr>
              <p:cNvPr id="3" name="Content Placeholder 2">
                <a:extLst>
                  <a:ext uri="{FF2B5EF4-FFF2-40B4-BE49-F238E27FC236}">
                    <a16:creationId xmlns:a16="http://schemas.microsoft.com/office/drawing/2014/main" id="{0765336C-0B35-1829-5129-186E51F81F6E}"/>
                  </a:ext>
                </a:extLst>
              </p:cNvPr>
              <p:cNvSpPr>
                <a:spLocks noGrp="1" noRot="1" noChangeAspect="1" noMove="1" noResize="1" noEditPoints="1" noAdjustHandles="1" noChangeArrowheads="1" noChangeShapeType="1" noTextEdit="1"/>
              </p:cNvSpPr>
              <p:nvPr>
                <p:ph idx="1"/>
              </p:nvPr>
            </p:nvSpPr>
            <p:spPr>
              <a:xfrm>
                <a:off x="247071" y="1379270"/>
                <a:ext cx="11845869" cy="4981576"/>
              </a:xfrm>
              <a:blipFill>
                <a:blip r:embed="rId4"/>
                <a:stretch>
                  <a:fillRect l="-721" t="-2693" r="-618"/>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5B900C9C-E273-8592-55DE-EB34996BE6DF}"/>
              </a:ext>
            </a:extLst>
          </p:cNvPr>
          <p:cNvSpPr>
            <a:spLocks noGrp="1"/>
          </p:cNvSpPr>
          <p:nvPr>
            <p:ph type="sldNum" sz="quarter" idx="12"/>
          </p:nvPr>
        </p:nvSpPr>
        <p:spPr/>
        <p:txBody>
          <a:bodyPr/>
          <a:lstStyle/>
          <a:p>
            <a:fld id="{77C6A7FE-225D-49F1-B302-AA37EA92BB49}" type="slidenum">
              <a:rPr lang="en-US" smtClean="0"/>
              <a:t>12</a:t>
            </a:fld>
            <a:endParaRPr lang="en-US"/>
          </a:p>
        </p:txBody>
      </p:sp>
    </p:spTree>
    <p:extLst>
      <p:ext uri="{BB962C8B-B14F-4D97-AF65-F5344CB8AC3E}">
        <p14:creationId xmlns:p14="http://schemas.microsoft.com/office/powerpoint/2010/main" val="845648666"/>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0"/>
            <a:ext cx="12192000" cy="1265382"/>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2400" dirty="0">
                <a:solidFill>
                  <a:schemeClr val="bg1"/>
                </a:solidFill>
                <a:latin typeface="Times New Roman" panose="02020603050405020304" pitchFamily="18" charset="0"/>
                <a:cs typeface="Times New Roman" panose="02020603050405020304" pitchFamily="18" charset="0"/>
              </a:rPr>
              <a:t>High quality validation and reliability data are available across a range of chronic disease risk factors, permitting empirical adjustment to eliminate this source of uncertainty </a:t>
            </a:r>
            <a:endParaRPr lang="en-US" sz="2400" dirty="0">
              <a:solidFill>
                <a:schemeClr val="bg1"/>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765336C-0B35-1829-5129-186E51F81F6E}"/>
                  </a:ext>
                </a:extLst>
              </p:cNvPr>
              <p:cNvSpPr>
                <a:spLocks noGrp="1"/>
              </p:cNvSpPr>
              <p:nvPr>
                <p:ph idx="1"/>
              </p:nvPr>
            </p:nvSpPr>
            <p:spPr>
              <a:xfrm>
                <a:off x="247071" y="1379270"/>
                <a:ext cx="11353801" cy="4981576"/>
              </a:xfrm>
            </p:spPr>
            <p:txBody>
              <a:bodyPr>
                <a:normAutofit fontScale="32500" lnSpcReduction="20000"/>
              </a:bodyPr>
              <a:lstStyle/>
              <a:p>
                <a:pPr>
                  <a:buFont typeface="Wingdings" panose="05000000000000000000" pitchFamily="2" charset="2"/>
                  <a:buChar char="Ø"/>
                </a:pPr>
                <a:r>
                  <a:rPr lang="en-US" sz="11200" dirty="0">
                    <a:cs typeface="Arial" panose="020B0604020202020204" pitchFamily="34" charset="0"/>
                  </a:rPr>
                  <a:t>Trauma – strong CVD risk factor, moderate for T2D. </a:t>
                </a:r>
              </a:p>
              <a:p>
                <a:pPr>
                  <a:buFont typeface="Wingdings" panose="05000000000000000000" pitchFamily="2" charset="2"/>
                  <a:buChar char="Ø"/>
                </a:pPr>
                <a:endParaRPr lang="en-US" sz="9600" dirty="0">
                  <a:cs typeface="Arial" panose="020B0604020202020204" pitchFamily="34" charset="0"/>
                </a:endParaRPr>
              </a:p>
              <a:p>
                <a:pPr lvl="1"/>
                <a:r>
                  <a:rPr lang="en-US" sz="9200" dirty="0">
                    <a:cs typeface="Arial" panose="020B0604020202020204" pitchFamily="34" charset="0"/>
                  </a:rPr>
                  <a:t>Comparison of prospective and retrospective measures finds </a:t>
                </a:r>
                <a:r>
                  <a:rPr lang="en-US" sz="8800" dirty="0">
                    <a:cs typeface="Arial" panose="020B0604020202020204" pitchFamily="34" charset="0"/>
                  </a:rPr>
                  <a:t>residual confounding a concern – </a:t>
                </a:r>
                <a14:m>
                  <m:oMath xmlns:m="http://schemas.openxmlformats.org/officeDocument/2006/math">
                    <m:sSub>
                      <m:sSubPr>
                        <m:ctrlPr>
                          <a:rPr lang="en-US" sz="9600" i="1" dirty="0" smtClean="0">
                            <a:latin typeface="Cambria Math" panose="02040503050406030204" pitchFamily="18" charset="0"/>
                          </a:rPr>
                        </m:ctrlPr>
                      </m:sSubPr>
                      <m:e>
                        <m:r>
                          <a:rPr lang="en-US" sz="9600" i="1" dirty="0" smtClean="0">
                            <a:latin typeface="Cambria Math" panose="02040503050406030204" pitchFamily="18" charset="0"/>
                          </a:rPr>
                          <m:t>𝜌</m:t>
                        </m:r>
                      </m:e>
                      <m:sub>
                        <m:r>
                          <a:rPr lang="en-US" sz="9600" b="0" i="1" dirty="0" smtClean="0">
                            <a:latin typeface="Cambria Math" panose="02040503050406030204" pitchFamily="18" charset="0"/>
                          </a:rPr>
                          <m:t>𝐼</m:t>
                        </m:r>
                      </m:sub>
                    </m:sSub>
                  </m:oMath>
                </a14:m>
                <a:r>
                  <a:rPr lang="el-GR" sz="9200" dirty="0">
                    <a:cs typeface="Arial" panose="020B0604020202020204" pitchFamily="34" charset="0"/>
                  </a:rPr>
                  <a:t>≈0.72 </a:t>
                </a:r>
                <a:r>
                  <a:rPr lang="el-GR" sz="4000" dirty="0">
                    <a:cs typeface="Arial" panose="020B0604020202020204" pitchFamily="34" charset="0"/>
                  </a:rPr>
                  <a:t>(</a:t>
                </a:r>
                <a:r>
                  <a:rPr lang="en-US" sz="4000" dirty="0">
                    <a:cs typeface="Arial" panose="020B0604020202020204" pitchFamily="34" charset="0"/>
                  </a:rPr>
                  <a:t>Reuben, A., Moffitt, T.E., Caspi, A., Belsky, D.W., Harrington, H., Schroeder, F., Hogan, S., </a:t>
                </a:r>
                <a:r>
                  <a:rPr lang="en-US" sz="4000" dirty="0" err="1">
                    <a:cs typeface="Arial" panose="020B0604020202020204" pitchFamily="34" charset="0"/>
                  </a:rPr>
                  <a:t>Ramrakha</a:t>
                </a:r>
                <a:r>
                  <a:rPr lang="en-US" sz="4000" dirty="0">
                    <a:cs typeface="Arial" panose="020B0604020202020204" pitchFamily="34" charset="0"/>
                  </a:rPr>
                  <a:t>, S., Poulton, R. and </a:t>
                </a:r>
                <a:r>
                  <a:rPr lang="en-US" sz="4000" dirty="0" err="1">
                    <a:cs typeface="Arial" panose="020B0604020202020204" pitchFamily="34" charset="0"/>
                  </a:rPr>
                  <a:t>Danese</a:t>
                </a:r>
                <a:r>
                  <a:rPr lang="en-US" sz="4000" dirty="0">
                    <a:cs typeface="Arial" panose="020B0604020202020204" pitchFamily="34" charset="0"/>
                  </a:rPr>
                  <a:t>, A. (2016), Lest we forget: comparing retrospective and prospective assessments of adverse childhood experiences in the prediction of adult health. J Child Psychol </a:t>
                </a:r>
                <a:r>
                  <a:rPr lang="en-US" sz="4000" dirty="0" err="1">
                    <a:cs typeface="Arial" panose="020B0604020202020204" pitchFamily="34" charset="0"/>
                  </a:rPr>
                  <a:t>Psychiatr</a:t>
                </a:r>
                <a:r>
                  <a:rPr lang="en-US" sz="4000" dirty="0">
                    <a:cs typeface="Arial" panose="020B0604020202020204" pitchFamily="34" charset="0"/>
                  </a:rPr>
                  <a:t>, 57: 1103-1112</a:t>
                </a:r>
              </a:p>
              <a:p>
                <a:pPr lvl="1"/>
                <a:endParaRPr lang="en-US" sz="9200" dirty="0">
                  <a:cs typeface="Arial" panose="020B0604020202020204" pitchFamily="34" charset="0"/>
                </a:endParaRPr>
              </a:p>
              <a:p>
                <a:pPr lvl="1"/>
                <a:r>
                  <a:rPr lang="en-US" sz="9200" dirty="0">
                    <a:cs typeface="Arial" panose="020B0604020202020204" pitchFamily="34" charset="0"/>
                  </a:rPr>
                  <a:t>Meta-analysis found 16 such validation studies, with low kappa </a:t>
                </a:r>
                <a:r>
                  <a:rPr lang="el-GR" sz="9200" dirty="0">
                    <a:cs typeface="Arial" panose="020B0604020202020204" pitchFamily="34" charset="0"/>
                  </a:rPr>
                  <a:t>κ=0.19) </a:t>
                </a:r>
                <a:r>
                  <a:rPr lang="en-US" sz="3700" dirty="0">
                    <a:cs typeface="Arial" panose="020B0604020202020204" pitchFamily="34" charset="0"/>
                  </a:rPr>
                  <a:t>Baldwin JR, Reuben A, Newbury JB, </a:t>
                </a:r>
                <a:r>
                  <a:rPr lang="en-US" sz="3700" dirty="0" err="1">
                    <a:cs typeface="Arial" panose="020B0604020202020204" pitchFamily="34" charset="0"/>
                  </a:rPr>
                  <a:t>Danese</a:t>
                </a:r>
                <a:r>
                  <a:rPr lang="en-US" sz="3700" dirty="0">
                    <a:cs typeface="Arial" panose="020B0604020202020204" pitchFamily="34" charset="0"/>
                  </a:rPr>
                  <a:t> A. Agreement Between Prospective and Retrospective Measures of Childhood Maltreatment: A Systematic Review and Meta-analysis. JAMA Psychiatry. 2019;76(6):584–593.)</a:t>
                </a:r>
              </a:p>
              <a:p>
                <a:pPr marL="0" indent="0">
                  <a:buNone/>
                </a:pPr>
                <a:r>
                  <a:rPr lang="en-US" dirty="0"/>
                  <a:t> </a:t>
                </a:r>
              </a:p>
              <a:p>
                <a:pPr marL="0" indent="0">
                  <a:buNone/>
                </a:pPr>
                <a:endParaRPr lang="en-US" dirty="0"/>
              </a:p>
            </p:txBody>
          </p:sp>
        </mc:Choice>
        <mc:Fallback>
          <p:sp>
            <p:nvSpPr>
              <p:cNvPr id="3" name="Content Placeholder 2">
                <a:extLst>
                  <a:ext uri="{FF2B5EF4-FFF2-40B4-BE49-F238E27FC236}">
                    <a16:creationId xmlns:a16="http://schemas.microsoft.com/office/drawing/2014/main" id="{0765336C-0B35-1829-5129-186E51F81F6E}"/>
                  </a:ext>
                </a:extLst>
              </p:cNvPr>
              <p:cNvSpPr>
                <a:spLocks noGrp="1" noRot="1" noChangeAspect="1" noMove="1" noResize="1" noEditPoints="1" noAdjustHandles="1" noChangeArrowheads="1" noChangeShapeType="1" noTextEdit="1"/>
              </p:cNvSpPr>
              <p:nvPr>
                <p:ph idx="1"/>
              </p:nvPr>
            </p:nvSpPr>
            <p:spPr>
              <a:xfrm>
                <a:off x="247071" y="1379270"/>
                <a:ext cx="11353801" cy="4981576"/>
              </a:xfrm>
              <a:blipFill>
                <a:blip r:embed="rId4"/>
                <a:stretch>
                  <a:fillRect l="-1450" t="-4529" r="-483"/>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09461A64-07C8-49AA-CF78-1F37E77014DC}"/>
              </a:ext>
            </a:extLst>
          </p:cNvPr>
          <p:cNvSpPr>
            <a:spLocks noGrp="1"/>
          </p:cNvSpPr>
          <p:nvPr>
            <p:ph type="sldNum" sz="quarter" idx="12"/>
          </p:nvPr>
        </p:nvSpPr>
        <p:spPr/>
        <p:txBody>
          <a:bodyPr/>
          <a:lstStyle/>
          <a:p>
            <a:fld id="{77C6A7FE-225D-49F1-B302-AA37EA92BB49}" type="slidenum">
              <a:rPr lang="en-US" smtClean="0"/>
              <a:t>13</a:t>
            </a:fld>
            <a:endParaRPr lang="en-US"/>
          </a:p>
        </p:txBody>
      </p:sp>
    </p:spTree>
    <p:extLst>
      <p:ext uri="{BB962C8B-B14F-4D97-AF65-F5344CB8AC3E}">
        <p14:creationId xmlns:p14="http://schemas.microsoft.com/office/powerpoint/2010/main" val="1312984568"/>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0"/>
            <a:ext cx="12192000" cy="1265382"/>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2400" dirty="0">
                <a:solidFill>
                  <a:schemeClr val="bg1"/>
                </a:solidFill>
                <a:latin typeface="Times New Roman" panose="02020603050405020304" pitchFamily="18" charset="0"/>
                <a:cs typeface="Times New Roman" panose="02020603050405020304" pitchFamily="18" charset="0"/>
              </a:rPr>
              <a:t>High quality validation and reliability data are available across a range of chronic disease risk factors, permitting empirical adjustment to eliminate this source of uncertainty </a:t>
            </a:r>
            <a:endParaRPr lang="en-US" sz="2400" dirty="0">
              <a:solidFill>
                <a:schemeClr val="bg1"/>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3" name="Content Placeholder 2">
            <a:extLst>
              <a:ext uri="{FF2B5EF4-FFF2-40B4-BE49-F238E27FC236}">
                <a16:creationId xmlns:a16="http://schemas.microsoft.com/office/drawing/2014/main" id="{0765336C-0B35-1829-5129-186E51F81F6E}"/>
              </a:ext>
            </a:extLst>
          </p:cNvPr>
          <p:cNvSpPr>
            <a:spLocks noGrp="1"/>
          </p:cNvSpPr>
          <p:nvPr>
            <p:ph idx="1"/>
          </p:nvPr>
        </p:nvSpPr>
        <p:spPr>
          <a:xfrm>
            <a:off x="247071" y="1379270"/>
            <a:ext cx="11353801" cy="4981576"/>
          </a:xfrm>
        </p:spPr>
        <p:txBody>
          <a:bodyPr>
            <a:normAutofit fontScale="25000" lnSpcReduction="20000"/>
          </a:bodyPr>
          <a:lstStyle/>
          <a:p>
            <a:pPr>
              <a:buFont typeface="Wingdings" panose="05000000000000000000" pitchFamily="2" charset="2"/>
              <a:buChar char="Ø"/>
            </a:pPr>
            <a:endParaRPr lang="en-US" sz="11200" dirty="0">
              <a:cs typeface="Arial" panose="020B0604020202020204" pitchFamily="34" charset="0"/>
            </a:endParaRPr>
          </a:p>
          <a:p>
            <a:pPr>
              <a:buFont typeface="Wingdings" panose="05000000000000000000" pitchFamily="2" charset="2"/>
              <a:buChar char="Ø"/>
            </a:pPr>
            <a:r>
              <a:rPr lang="en-US" sz="11200" dirty="0">
                <a:cs typeface="Arial" panose="020B0604020202020204" pitchFamily="34" charset="0"/>
              </a:rPr>
              <a:t>Regular high quality preventive health care – strong risk factor for CRC, not breast, for CVD, T2D</a:t>
            </a:r>
          </a:p>
          <a:p>
            <a:pPr marL="0" indent="0">
              <a:buNone/>
            </a:pPr>
            <a:endParaRPr lang="en-US" sz="11200" dirty="0">
              <a:cs typeface="Arial" panose="020B0604020202020204" pitchFamily="34" charset="0"/>
            </a:endParaRPr>
          </a:p>
          <a:p>
            <a:pPr lvl="1"/>
            <a:r>
              <a:rPr lang="en-US" sz="10800" dirty="0">
                <a:cs typeface="Arial" panose="020B0604020202020204" pitchFamily="34" charset="0"/>
              </a:rPr>
              <a:t>The sensitivity of self-reported screening was 96.2% for the FOBT, 94.9% for flexible sigmoidoscopy, 88.7% for colonoscopy, and 96.2% for either endoscopic screening test.</a:t>
            </a:r>
          </a:p>
          <a:p>
            <a:pPr lvl="1"/>
            <a:r>
              <a:rPr lang="en-US" sz="10800" dirty="0">
                <a:cs typeface="Arial" panose="020B0604020202020204" pitchFamily="34" charset="0"/>
              </a:rPr>
              <a:t> The specificity of self-reported screening was 85.9%for the FOBT, 92.2% for flexible sigmoidoscopy, 96.8%for colonoscopy, and 92.0% for either endoscopic screening test</a:t>
            </a:r>
            <a:r>
              <a:rPr lang="en-US" sz="6400" dirty="0">
                <a:cs typeface="Arial" panose="020B0604020202020204" pitchFamily="34" charset="0"/>
              </a:rPr>
              <a:t>. (Baier M, </a:t>
            </a:r>
            <a:r>
              <a:rPr lang="en-US" sz="6400" dirty="0" err="1">
                <a:cs typeface="Arial" panose="020B0604020202020204" pitchFamily="34" charset="0"/>
              </a:rPr>
              <a:t>Calonge</a:t>
            </a:r>
            <a:r>
              <a:rPr lang="en-US" sz="6400" dirty="0">
                <a:cs typeface="Arial" panose="020B0604020202020204" pitchFamily="34" charset="0"/>
              </a:rPr>
              <a:t> N, Cutter G, </a:t>
            </a:r>
            <a:r>
              <a:rPr lang="en-US" sz="6400" dirty="0" err="1">
                <a:cs typeface="Arial" panose="020B0604020202020204" pitchFamily="34" charset="0"/>
              </a:rPr>
              <a:t>McClatchey</a:t>
            </a:r>
            <a:r>
              <a:rPr lang="en-US" sz="6400" dirty="0">
                <a:cs typeface="Arial" panose="020B0604020202020204" pitchFamily="34" charset="0"/>
              </a:rPr>
              <a:t> M, </a:t>
            </a:r>
            <a:r>
              <a:rPr lang="en-US" sz="6400" dirty="0" err="1">
                <a:cs typeface="Arial" panose="020B0604020202020204" pitchFamily="34" charset="0"/>
              </a:rPr>
              <a:t>Schoentgen</a:t>
            </a:r>
            <a:r>
              <a:rPr lang="en-US" sz="6400" dirty="0">
                <a:cs typeface="Arial" panose="020B0604020202020204" pitchFamily="34" charset="0"/>
              </a:rPr>
              <a:t> S, Hines S, Marcus A, </a:t>
            </a:r>
            <a:r>
              <a:rPr lang="en-US" sz="6400" dirty="0" err="1">
                <a:cs typeface="Arial" panose="020B0604020202020204" pitchFamily="34" charset="0"/>
              </a:rPr>
              <a:t>Ahnen</a:t>
            </a:r>
            <a:r>
              <a:rPr lang="en-US" sz="6400" dirty="0">
                <a:cs typeface="Arial" panose="020B0604020202020204" pitchFamily="34" charset="0"/>
              </a:rPr>
              <a:t> D. Validity of self-reported colorectal cancer screening behavior. Cancer Epidemiol Biomarkers Prev. 2000 Feb;9(2):229-32. )</a:t>
            </a:r>
          </a:p>
          <a:p>
            <a:pPr marL="0" indent="0">
              <a:buNone/>
            </a:pPr>
            <a:endParaRPr lang="en-US" dirty="0"/>
          </a:p>
        </p:txBody>
      </p:sp>
      <p:sp>
        <p:nvSpPr>
          <p:cNvPr id="2" name="Slide Number Placeholder 1">
            <a:extLst>
              <a:ext uri="{FF2B5EF4-FFF2-40B4-BE49-F238E27FC236}">
                <a16:creationId xmlns:a16="http://schemas.microsoft.com/office/drawing/2014/main" id="{59AF53C4-CC82-C0D3-AEEF-B8575AA65C59}"/>
              </a:ext>
            </a:extLst>
          </p:cNvPr>
          <p:cNvSpPr>
            <a:spLocks noGrp="1"/>
          </p:cNvSpPr>
          <p:nvPr>
            <p:ph type="sldNum" sz="quarter" idx="12"/>
          </p:nvPr>
        </p:nvSpPr>
        <p:spPr/>
        <p:txBody>
          <a:bodyPr/>
          <a:lstStyle/>
          <a:p>
            <a:fld id="{77C6A7FE-225D-49F1-B302-AA37EA92BB49}" type="slidenum">
              <a:rPr lang="en-US" smtClean="0"/>
              <a:t>14</a:t>
            </a:fld>
            <a:endParaRPr lang="en-US"/>
          </a:p>
        </p:txBody>
      </p:sp>
    </p:spTree>
    <p:extLst>
      <p:ext uri="{BB962C8B-B14F-4D97-AF65-F5344CB8AC3E}">
        <p14:creationId xmlns:p14="http://schemas.microsoft.com/office/powerpoint/2010/main" val="1365251236"/>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0"/>
            <a:ext cx="12192000" cy="1265382"/>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r>
              <a:rPr lang="en-US" sz="3200" dirty="0">
                <a:cs typeface="Arial" panose="020B0604020202020204" pitchFamily="34" charset="0"/>
              </a:rPr>
              <a:t>To what extent do trials resolve problems?</a:t>
            </a: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3" name="Content Placeholder 2">
            <a:extLst>
              <a:ext uri="{FF2B5EF4-FFF2-40B4-BE49-F238E27FC236}">
                <a16:creationId xmlns:a16="http://schemas.microsoft.com/office/drawing/2014/main" id="{0765336C-0B35-1829-5129-186E51F81F6E}"/>
              </a:ext>
            </a:extLst>
          </p:cNvPr>
          <p:cNvSpPr>
            <a:spLocks noGrp="1"/>
          </p:cNvSpPr>
          <p:nvPr>
            <p:ph idx="1"/>
          </p:nvPr>
        </p:nvSpPr>
        <p:spPr>
          <a:xfrm>
            <a:off x="247071" y="1379270"/>
            <a:ext cx="11353801" cy="4981576"/>
          </a:xfrm>
        </p:spPr>
        <p:txBody>
          <a:bodyPr>
            <a:normAutofit fontScale="85000" lnSpcReduction="20000"/>
          </a:bodyPr>
          <a:lstStyle/>
          <a:p>
            <a:pPr marL="0" indent="0">
              <a:buNone/>
            </a:pPr>
            <a:endParaRPr lang="en-US" dirty="0">
              <a:cs typeface="Arial" panose="020B0604020202020204" pitchFamily="34" charset="0"/>
            </a:endParaRPr>
          </a:p>
          <a:p>
            <a:r>
              <a:rPr lang="en-US" dirty="0">
                <a:cs typeface="Arial" panose="020B0604020202020204" pitchFamily="34" charset="0"/>
              </a:rPr>
              <a:t>Intent to treat estimates are biased towards the null by random non-adherence, and bias could be in either direction due to non-random non-adherence</a:t>
            </a:r>
          </a:p>
          <a:p>
            <a:endParaRPr lang="en-US" dirty="0">
              <a:cs typeface="Arial" panose="020B0604020202020204" pitchFamily="34" charset="0"/>
            </a:endParaRPr>
          </a:p>
          <a:p>
            <a:r>
              <a:rPr lang="en-US" dirty="0">
                <a:cs typeface="Arial" panose="020B0604020202020204" pitchFamily="34" charset="0"/>
              </a:rPr>
              <a:t>‘As treated’ and ‘per protocol’ estimates can be biased by confounding and selection bias, respectively, just as in an observational study</a:t>
            </a:r>
          </a:p>
          <a:p>
            <a:endParaRPr lang="en-US" dirty="0">
              <a:cs typeface="Arial" panose="020B0604020202020204" pitchFamily="34" charset="0"/>
            </a:endParaRPr>
          </a:p>
          <a:p>
            <a:r>
              <a:rPr lang="en-US" dirty="0">
                <a:cs typeface="Arial" panose="020B0604020202020204" pitchFamily="34" charset="0"/>
              </a:rPr>
              <a:t>No bias in p-values for random non-adherence</a:t>
            </a:r>
          </a:p>
          <a:p>
            <a:endParaRPr lang="en-US" dirty="0">
              <a:cs typeface="Arial" panose="020B0604020202020204" pitchFamily="34" charset="0"/>
            </a:endParaRPr>
          </a:p>
          <a:p>
            <a:r>
              <a:rPr lang="en-US" dirty="0">
                <a:cs typeface="Arial" panose="020B0604020202020204" pitchFamily="34" charset="0"/>
              </a:rPr>
              <a:t>Trials of sustained dietary intakes likely suffer from substantial non-adherence</a:t>
            </a:r>
          </a:p>
          <a:p>
            <a:endParaRPr lang="en-US" dirty="0">
              <a:cs typeface="Arial" panose="020B0604020202020204" pitchFamily="34" charset="0"/>
            </a:endParaRPr>
          </a:p>
          <a:p>
            <a:r>
              <a:rPr lang="en-US" dirty="0">
                <a:cs typeface="Arial" panose="020B0604020202020204" pitchFamily="34" charset="0"/>
              </a:rPr>
              <a:t>Empirical methods to correct for bias due to non-adherence are not as well developed, particularly for random non-adherence</a:t>
            </a:r>
            <a:endParaRPr lang="en-US" dirty="0"/>
          </a:p>
          <a:p>
            <a:endParaRPr lang="en-US" dirty="0">
              <a:cs typeface="Arial" panose="020B0604020202020204" pitchFamily="34" charset="0"/>
            </a:endParaRPr>
          </a:p>
          <a:p>
            <a:endParaRPr lang="en-US" dirty="0">
              <a:cs typeface="Arial" panose="020B0604020202020204" pitchFamily="34" charset="0"/>
            </a:endParaRPr>
          </a:p>
        </p:txBody>
      </p:sp>
      <p:sp>
        <p:nvSpPr>
          <p:cNvPr id="2" name="Slide Number Placeholder 1">
            <a:extLst>
              <a:ext uri="{FF2B5EF4-FFF2-40B4-BE49-F238E27FC236}">
                <a16:creationId xmlns:a16="http://schemas.microsoft.com/office/drawing/2014/main" id="{6F964D96-C6B3-0074-9D9C-62AA0CCE073C}"/>
              </a:ext>
            </a:extLst>
          </p:cNvPr>
          <p:cNvSpPr>
            <a:spLocks noGrp="1"/>
          </p:cNvSpPr>
          <p:nvPr>
            <p:ph type="sldNum" sz="quarter" idx="12"/>
          </p:nvPr>
        </p:nvSpPr>
        <p:spPr/>
        <p:txBody>
          <a:bodyPr/>
          <a:lstStyle/>
          <a:p>
            <a:fld id="{77C6A7FE-225D-49F1-B302-AA37EA92BB49}" type="slidenum">
              <a:rPr lang="en-US" smtClean="0"/>
              <a:t>15</a:t>
            </a:fld>
            <a:endParaRPr lang="en-US"/>
          </a:p>
        </p:txBody>
      </p:sp>
    </p:spTree>
    <p:extLst>
      <p:ext uri="{BB962C8B-B14F-4D97-AF65-F5344CB8AC3E}">
        <p14:creationId xmlns:p14="http://schemas.microsoft.com/office/powerpoint/2010/main" val="2868278932"/>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D47506-8A72-4560-B0F4-9050CA0C7E18}"/>
              </a:ext>
            </a:extLst>
          </p:cNvPr>
          <p:cNvSpPr>
            <a:spLocks noGrp="1"/>
          </p:cNvSpPr>
          <p:nvPr>
            <p:ph idx="1"/>
          </p:nvPr>
        </p:nvSpPr>
        <p:spPr>
          <a:xfrm>
            <a:off x="314130" y="2149094"/>
            <a:ext cx="11563739" cy="3207996"/>
          </a:xfrm>
        </p:spPr>
        <p:txBody>
          <a:bodyPr>
            <a:noAutofit/>
          </a:bodyPr>
          <a:lstStyle/>
          <a:p>
            <a:pPr marL="0" marR="0" indent="0">
              <a:lnSpc>
                <a:spcPct val="107000"/>
              </a:lnSpc>
              <a:spcBef>
                <a:spcPts val="0"/>
              </a:spcBef>
              <a:spcAft>
                <a:spcPts val="800"/>
              </a:spcAft>
              <a:buNone/>
            </a:pPr>
            <a:r>
              <a:rPr lang="en-US" sz="3200" kern="100" dirty="0">
                <a:effectLst/>
                <a:latin typeface="Arial" panose="020B0604020202020204" pitchFamily="34" charset="0"/>
                <a:ea typeface="Calibri" panose="020F0502020204030204" pitchFamily="34" charset="0"/>
                <a:cs typeface="Arial" panose="020B0604020202020204" pitchFamily="34" charset="0"/>
              </a:rPr>
              <a:t>Good  news:</a:t>
            </a:r>
          </a:p>
          <a:p>
            <a:pPr marL="0" marR="0" indent="0">
              <a:lnSpc>
                <a:spcPct val="107000"/>
              </a:lnSpc>
              <a:spcBef>
                <a:spcPts val="0"/>
              </a:spcBef>
              <a:spcAft>
                <a:spcPts val="800"/>
              </a:spcAft>
              <a:buNone/>
            </a:pPr>
            <a:endParaRPr lang="en-US" sz="3200" kern="100" dirty="0">
              <a:latin typeface="Arial" panose="020B0604020202020204" pitchFamily="34" charset="0"/>
              <a:ea typeface="Calibri" panose="020F0502020204030204" pitchFamily="34" charset="0"/>
              <a:cs typeface="Arial" panose="020B0604020202020204" pitchFamily="34" charset="0"/>
            </a:endParaRPr>
          </a:p>
          <a:p>
            <a:pPr marL="0" marR="0" indent="0">
              <a:lnSpc>
                <a:spcPct val="107000"/>
              </a:lnSpc>
              <a:spcBef>
                <a:spcPts val="0"/>
              </a:spcBef>
              <a:spcAft>
                <a:spcPts val="800"/>
              </a:spcAft>
              <a:buNone/>
            </a:pPr>
            <a:r>
              <a:rPr lang="en-US" sz="3200" kern="100" dirty="0">
                <a:effectLst/>
                <a:latin typeface="Arial" panose="020B0604020202020204" pitchFamily="34" charset="0"/>
                <a:ea typeface="Calibri" panose="020F0502020204030204" pitchFamily="34" charset="0"/>
                <a:cs typeface="Arial" panose="020B0604020202020204" pitchFamily="34" charset="0"/>
              </a:rPr>
              <a:t>– with these validation or reliability data, hundreds of publications provide a robust, flexible set of methods to empirically correct for measurement error in exposures of interest and confounders simultaneously.</a:t>
            </a:r>
          </a:p>
        </p:txBody>
      </p:sp>
      <p:sp>
        <p:nvSpPr>
          <p:cNvPr id="4" name="Rectangle 3">
            <a:extLst>
              <a:ext uri="{FF2B5EF4-FFF2-40B4-BE49-F238E27FC236}">
                <a16:creationId xmlns:a16="http://schemas.microsoft.com/office/drawing/2014/main" id="{FA2AFBA0-B906-4A1A-8F2B-7DABBA8D5113}"/>
              </a:ext>
            </a:extLst>
          </p:cNvPr>
          <p:cNvSpPr/>
          <p:nvPr/>
        </p:nvSpPr>
        <p:spPr>
          <a:xfrm>
            <a:off x="0" y="0"/>
            <a:ext cx="12192000" cy="1355216"/>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4400" dirty="0">
                <a:solidFill>
                  <a:schemeClr val="bg1"/>
                </a:solidFill>
                <a:latin typeface="Times New Roman" panose="02020603050405020304" pitchFamily="18" charset="0"/>
                <a:cs typeface="Times New Roman" panose="02020603050405020304" pitchFamily="18" charset="0"/>
              </a:rPr>
              <a:t>Empirical correction for measurement error in exposures and confounders</a:t>
            </a:r>
            <a:endParaRPr lang="en-US" sz="2800" dirty="0">
              <a:solidFill>
                <a:schemeClr val="bg1"/>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2" name="Slide Number Placeholder 1">
            <a:extLst>
              <a:ext uri="{FF2B5EF4-FFF2-40B4-BE49-F238E27FC236}">
                <a16:creationId xmlns:a16="http://schemas.microsoft.com/office/drawing/2014/main" id="{EA433DFF-774B-8B32-2AE6-34E252A8D207}"/>
              </a:ext>
            </a:extLst>
          </p:cNvPr>
          <p:cNvSpPr>
            <a:spLocks noGrp="1"/>
          </p:cNvSpPr>
          <p:nvPr>
            <p:ph type="sldNum" sz="quarter" idx="12"/>
          </p:nvPr>
        </p:nvSpPr>
        <p:spPr/>
        <p:txBody>
          <a:bodyPr/>
          <a:lstStyle/>
          <a:p>
            <a:fld id="{77C6A7FE-225D-49F1-B302-AA37EA92BB49}" type="slidenum">
              <a:rPr lang="en-US" smtClean="0"/>
              <a:t>16</a:t>
            </a:fld>
            <a:endParaRPr lang="en-US"/>
          </a:p>
        </p:txBody>
      </p:sp>
    </p:spTree>
    <p:extLst>
      <p:ext uri="{BB962C8B-B14F-4D97-AF65-F5344CB8AC3E}">
        <p14:creationId xmlns:p14="http://schemas.microsoft.com/office/powerpoint/2010/main" val="1703700728"/>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D47506-8A72-4560-B0F4-9050CA0C7E18}"/>
              </a:ext>
            </a:extLst>
          </p:cNvPr>
          <p:cNvSpPr>
            <a:spLocks noGrp="1"/>
          </p:cNvSpPr>
          <p:nvPr>
            <p:ph idx="1"/>
          </p:nvPr>
        </p:nvSpPr>
        <p:spPr>
          <a:xfrm>
            <a:off x="1" y="1355216"/>
            <a:ext cx="12091480" cy="3207996"/>
          </a:xfrm>
        </p:spPr>
        <p:txBody>
          <a:bodyPr>
            <a:noAutofit/>
          </a:bodyPr>
          <a:lstStyle/>
          <a:p>
            <a:pPr marR="0">
              <a:lnSpc>
                <a:spcPct val="107000"/>
              </a:lnSpc>
              <a:spcBef>
                <a:spcPts val="0"/>
              </a:spcBef>
              <a:spcAft>
                <a:spcPts val="800"/>
              </a:spcAft>
              <a:buFont typeface="Wingdings" panose="05000000000000000000" pitchFamily="2" charset="2"/>
              <a:buChar char="Ø"/>
            </a:pPr>
            <a:r>
              <a:rPr lang="en-US" sz="2400" kern="100" dirty="0">
                <a:effectLst/>
                <a:latin typeface="Arial" panose="020B0604020202020204" pitchFamily="34" charset="0"/>
                <a:ea typeface="Calibri" panose="020F0502020204030204" pitchFamily="34" charset="0"/>
                <a:cs typeface="Arial" panose="020B0604020202020204" pitchFamily="34" charset="0"/>
              </a:rPr>
              <a:t> Seminal textbook and scores of papers by Ray Carroll and colleagues</a:t>
            </a:r>
          </a:p>
          <a:p>
            <a:pPr lvl="1">
              <a:lnSpc>
                <a:spcPct val="107000"/>
              </a:lnSpc>
              <a:spcBef>
                <a:spcPts val="0"/>
              </a:spcBef>
              <a:spcAft>
                <a:spcPts val="800"/>
              </a:spcAft>
              <a:buFont typeface="Wingdings" panose="05000000000000000000" pitchFamily="2" charset="2"/>
              <a:buChar char="Ø"/>
            </a:pPr>
            <a:r>
              <a:rPr lang="en-US" sz="1600" dirty="0"/>
              <a:t>Carroll, R.J., Ruppert, D., Stefanski, L.A., &amp; </a:t>
            </a:r>
            <a:r>
              <a:rPr lang="en-US" sz="1600" dirty="0" err="1"/>
              <a:t>Crainiceanu</a:t>
            </a:r>
            <a:r>
              <a:rPr lang="en-US" sz="1600" dirty="0"/>
              <a:t>, C.M. (2006). Measurement Error in Nonlinear Models: A Modern Perspective, Second Edition (2nd ed.). Chapman and Hall/CRC. https://doi.org/10.1201/9781420010138</a:t>
            </a:r>
            <a:endParaRPr lang="en-US" sz="1600" kern="100" dirty="0">
              <a:effectLst/>
              <a:latin typeface="Arial" panose="020B0604020202020204" pitchFamily="34" charset="0"/>
              <a:ea typeface="Calibri" panose="020F0502020204030204" pitchFamily="34" charset="0"/>
              <a:cs typeface="Arial" panose="020B0604020202020204" pitchFamily="34" charset="0"/>
            </a:endParaRPr>
          </a:p>
          <a:p>
            <a:pPr marR="0">
              <a:lnSpc>
                <a:spcPct val="107000"/>
              </a:lnSpc>
              <a:spcBef>
                <a:spcPts val="0"/>
              </a:spcBef>
              <a:spcAft>
                <a:spcPts val="800"/>
              </a:spcAft>
              <a:buFont typeface="Wingdings" panose="05000000000000000000" pitchFamily="2" charset="2"/>
              <a:buChar char="Ø"/>
            </a:pPr>
            <a:r>
              <a:rPr lang="en-US" sz="2400" kern="100" dirty="0">
                <a:effectLst/>
                <a:latin typeface="Arial" panose="020B0604020202020204" pitchFamily="34" charset="0"/>
                <a:ea typeface="Calibri" panose="020F0502020204030204" pitchFamily="34" charset="0"/>
                <a:cs typeface="Arial" panose="020B0604020202020204" pitchFamily="34" charset="0"/>
              </a:rPr>
              <a:t>Three key papers from the Harvard/Yale group:</a:t>
            </a:r>
          </a:p>
          <a:p>
            <a:pPr lvl="2" indent="-457200">
              <a:lnSpc>
                <a:spcPct val="107000"/>
              </a:lnSpc>
              <a:spcBef>
                <a:spcPts val="0"/>
              </a:spcBef>
              <a:spcAft>
                <a:spcPts val="800"/>
              </a:spcAft>
              <a:buFont typeface="Wingdings" panose="05000000000000000000" pitchFamily="2" charset="2"/>
              <a:buChar char="§"/>
            </a:pPr>
            <a:r>
              <a:rPr lang="en-US" sz="1600" kern="100" dirty="0">
                <a:effectLst/>
                <a:latin typeface="Arial" panose="020B0604020202020204" pitchFamily="34" charset="0"/>
                <a:ea typeface="Calibri" panose="020F0502020204030204" pitchFamily="34" charset="0"/>
                <a:cs typeface="Arial" panose="020B0604020202020204" pitchFamily="34" charset="0"/>
              </a:rPr>
              <a:t>Rosner, B., Willett, W.C. and Spiegelman, D. (1989), Correction of logistic regression relative risk estimates and confidence intervals for systematic within-person measurement error. Statist. Med., 8: 1051-1069.</a:t>
            </a:r>
          </a:p>
          <a:p>
            <a:pPr lvl="2" indent="-457200">
              <a:lnSpc>
                <a:spcPct val="107000"/>
              </a:lnSpc>
              <a:spcBef>
                <a:spcPts val="0"/>
              </a:spcBef>
              <a:spcAft>
                <a:spcPts val="800"/>
              </a:spcAft>
              <a:buFont typeface="Wingdings" panose="05000000000000000000" pitchFamily="2" charset="2"/>
              <a:buChar char="§"/>
            </a:pPr>
            <a:r>
              <a:rPr lang="en-US" sz="1600" kern="100" dirty="0">
                <a:effectLst/>
                <a:latin typeface="Arial" panose="020B0604020202020204" pitchFamily="34" charset="0"/>
                <a:ea typeface="Calibri" panose="020F0502020204030204" pitchFamily="34" charset="0"/>
                <a:cs typeface="Arial" panose="020B0604020202020204" pitchFamily="34" charset="0"/>
              </a:rPr>
              <a:t>Rosner B, Spiegelman D, Willett WC. Correction of logistic regression relative risk estimates and confidence intervals for measurement error: the case of multiple covariates measured with error. Am J Epidemiol. 1990 Oct;132(4):734-45. </a:t>
            </a:r>
          </a:p>
          <a:p>
            <a:pPr lvl="2" indent="-457200">
              <a:lnSpc>
                <a:spcPct val="107000"/>
              </a:lnSpc>
              <a:spcBef>
                <a:spcPts val="0"/>
              </a:spcBef>
              <a:spcAft>
                <a:spcPts val="800"/>
              </a:spcAft>
              <a:buFont typeface="Wingdings" panose="05000000000000000000" pitchFamily="2" charset="2"/>
              <a:buChar char="§"/>
            </a:pPr>
            <a:r>
              <a:rPr lang="en-US" sz="1600" kern="100" dirty="0">
                <a:effectLst/>
                <a:latin typeface="Arial" panose="020B0604020202020204" pitchFamily="34" charset="0"/>
                <a:ea typeface="Calibri" panose="020F0502020204030204" pitchFamily="34" charset="0"/>
                <a:cs typeface="Arial" panose="020B0604020202020204" pitchFamily="34" charset="0"/>
              </a:rPr>
              <a:t>Rosner B, Spiegelman D, Willett WC. Correction of logistic regression relative risk estimates and confidence intervals for random within-person measurement error. Am J Epidemiol. 1992</a:t>
            </a:r>
          </a:p>
          <a:p>
            <a:pPr lvl="1">
              <a:lnSpc>
                <a:spcPct val="107000"/>
              </a:lnSpc>
              <a:spcBef>
                <a:spcPts val="0"/>
              </a:spcBef>
              <a:spcAft>
                <a:spcPts val="800"/>
              </a:spcAft>
              <a:buFont typeface="Wingdings" panose="05000000000000000000" pitchFamily="2" charset="2"/>
              <a:buChar char="Ø"/>
            </a:pPr>
            <a:r>
              <a:rPr lang="en-US" sz="2000" kern="100" dirty="0">
                <a:effectLst/>
                <a:latin typeface="Arial" panose="020B0604020202020204" pitchFamily="34" charset="0"/>
                <a:ea typeface="Calibri" panose="020F0502020204030204" pitchFamily="34" charset="0"/>
                <a:cs typeface="Arial" panose="020B0604020202020204" pitchFamily="34" charset="0"/>
              </a:rPr>
              <a:t>1088 citations as of early 2025, 73% of citations in non-statistical journals</a:t>
            </a:r>
          </a:p>
          <a:p>
            <a:pPr marR="0">
              <a:lnSpc>
                <a:spcPct val="107000"/>
              </a:lnSpc>
              <a:spcBef>
                <a:spcPts val="0"/>
              </a:spcBef>
              <a:spcAft>
                <a:spcPts val="800"/>
              </a:spcAft>
              <a:buFont typeface="Wingdings" panose="05000000000000000000" pitchFamily="2" charset="2"/>
              <a:buChar char="Ø"/>
            </a:pPr>
            <a:r>
              <a:rPr lang="en-US" sz="2400" kern="100" dirty="0">
                <a:effectLst/>
                <a:latin typeface="Arial" panose="020B0604020202020204" pitchFamily="34" charset="0"/>
                <a:ea typeface="Calibri" panose="020F0502020204030204" pitchFamily="34" charset="0"/>
                <a:cs typeface="Arial" panose="020B0604020202020204" pitchFamily="34" charset="0"/>
              </a:rPr>
              <a:t>Other work covers survival data analysis, population attributable risks, principles of modeling, design of MS/VS, misclassification,  risk prediction, changepoint analysis, and a wide range of other topics. </a:t>
            </a:r>
          </a:p>
          <a:p>
            <a:pPr>
              <a:lnSpc>
                <a:spcPct val="107000"/>
              </a:lnSpc>
              <a:spcBef>
                <a:spcPts val="0"/>
              </a:spcBef>
              <a:spcAft>
                <a:spcPts val="800"/>
              </a:spcAft>
              <a:buFont typeface="Wingdings" panose="05000000000000000000" pitchFamily="2" charset="2"/>
              <a:buChar char="Ø"/>
            </a:pPr>
            <a:r>
              <a:rPr lang="en-US" sz="2400" kern="100" dirty="0">
                <a:latin typeface="Arial" panose="020B0604020202020204" pitchFamily="34" charset="0"/>
                <a:ea typeface="Calibri" panose="020F0502020204030204" pitchFamily="34" charset="0"/>
                <a:cs typeface="Arial" panose="020B0604020202020204" pitchFamily="34" charset="0"/>
              </a:rPr>
              <a:t>Software available here https://ysph.yale.edu/cmips/research/software/</a:t>
            </a:r>
            <a:endParaRPr lang="en-US" sz="2400" kern="100" dirty="0">
              <a:effectLst/>
              <a:latin typeface="Arial" panose="020B0604020202020204" pitchFamily="34" charset="0"/>
              <a:ea typeface="Calibri" panose="020F0502020204030204" pitchFamily="34" charset="0"/>
              <a:cs typeface="Arial" panose="020B0604020202020204" pitchFamily="34" charset="0"/>
            </a:endParaRPr>
          </a:p>
          <a:p>
            <a:pPr marR="0">
              <a:lnSpc>
                <a:spcPct val="107000"/>
              </a:lnSpc>
              <a:spcBef>
                <a:spcPts val="0"/>
              </a:spcBef>
              <a:spcAft>
                <a:spcPts val="800"/>
              </a:spcAft>
              <a:buFont typeface="Wingdings" panose="05000000000000000000" pitchFamily="2" charset="2"/>
              <a:buChar char="Ø"/>
            </a:pPr>
            <a:endParaRPr lang="en-US" sz="2400" kern="100" dirty="0">
              <a:effectLst/>
              <a:latin typeface="Arial" panose="020B0604020202020204" pitchFamily="34" charset="0"/>
              <a:ea typeface="Calibri" panose="020F050202020403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FA2AFBA0-B906-4A1A-8F2B-7DABBA8D5113}"/>
              </a:ext>
            </a:extLst>
          </p:cNvPr>
          <p:cNvSpPr/>
          <p:nvPr/>
        </p:nvSpPr>
        <p:spPr>
          <a:xfrm>
            <a:off x="0" y="0"/>
            <a:ext cx="12192000" cy="1355216"/>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4400" dirty="0">
                <a:solidFill>
                  <a:schemeClr val="bg1"/>
                </a:solidFill>
                <a:latin typeface="Times New Roman" panose="02020603050405020304" pitchFamily="18" charset="0"/>
                <a:cs typeface="Times New Roman" panose="02020603050405020304" pitchFamily="18" charset="0"/>
              </a:rPr>
              <a:t>Empirical correction for measurement error in exposures and confounders</a:t>
            </a:r>
            <a:endParaRPr lang="en-US" sz="2800" dirty="0">
              <a:solidFill>
                <a:schemeClr val="bg1"/>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2" name="Slide Number Placeholder 1">
            <a:extLst>
              <a:ext uri="{FF2B5EF4-FFF2-40B4-BE49-F238E27FC236}">
                <a16:creationId xmlns:a16="http://schemas.microsoft.com/office/drawing/2014/main" id="{20F8289A-05C7-4F25-A6D2-8828851D98A3}"/>
              </a:ext>
            </a:extLst>
          </p:cNvPr>
          <p:cNvSpPr>
            <a:spLocks noGrp="1"/>
          </p:cNvSpPr>
          <p:nvPr>
            <p:ph type="sldNum" sz="quarter" idx="12"/>
          </p:nvPr>
        </p:nvSpPr>
        <p:spPr/>
        <p:txBody>
          <a:bodyPr/>
          <a:lstStyle/>
          <a:p>
            <a:fld id="{77C6A7FE-225D-49F1-B302-AA37EA92BB49}" type="slidenum">
              <a:rPr lang="en-US" smtClean="0"/>
              <a:t>17</a:t>
            </a:fld>
            <a:endParaRPr lang="en-US" dirty="0"/>
          </a:p>
        </p:txBody>
      </p:sp>
    </p:spTree>
    <p:extLst>
      <p:ext uri="{BB962C8B-B14F-4D97-AF65-F5344CB8AC3E}">
        <p14:creationId xmlns:p14="http://schemas.microsoft.com/office/powerpoint/2010/main" val="2455601373"/>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71C6098C-4208-7312-9195-71228CD6BA0F}"/>
                  </a:ext>
                </a:extLst>
              </p14:cNvPr>
              <p14:cNvContentPartPr/>
              <p14:nvPr/>
            </p14:nvContentPartPr>
            <p14:xfrm>
              <a:off x="1340592" y="2633304"/>
              <a:ext cx="360" cy="360"/>
            </p14:xfrm>
          </p:contentPart>
        </mc:Choice>
        <mc:Fallback>
          <p:pic>
            <p:nvPicPr>
              <p:cNvPr id="4" name="Ink 3">
                <a:extLst>
                  <a:ext uri="{FF2B5EF4-FFF2-40B4-BE49-F238E27FC236}">
                    <a16:creationId xmlns:a16="http://schemas.microsoft.com/office/drawing/2014/main" id="{71C6098C-4208-7312-9195-71228CD6BA0F}"/>
                  </a:ext>
                </a:extLst>
              </p:cNvPr>
              <p:cNvPicPr/>
              <p:nvPr/>
            </p:nvPicPr>
            <p:blipFill>
              <a:blip r:embed="rId3"/>
              <a:stretch>
                <a:fillRect/>
              </a:stretch>
            </p:blipFill>
            <p:spPr>
              <a:xfrm>
                <a:off x="1331592" y="2624664"/>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10" name="Ink 9">
                <a:extLst>
                  <a:ext uri="{FF2B5EF4-FFF2-40B4-BE49-F238E27FC236}">
                    <a16:creationId xmlns:a16="http://schemas.microsoft.com/office/drawing/2014/main" id="{A3A44125-684E-3ED2-44BE-AD6DD1B87F7A}"/>
                  </a:ext>
                </a:extLst>
              </p14:cNvPr>
              <p14:cNvContentPartPr/>
              <p14:nvPr/>
            </p14:nvContentPartPr>
            <p14:xfrm>
              <a:off x="10412370" y="1062810"/>
              <a:ext cx="360" cy="360"/>
            </p14:xfrm>
          </p:contentPart>
        </mc:Choice>
        <mc:Fallback>
          <p:pic>
            <p:nvPicPr>
              <p:cNvPr id="10" name="Ink 9">
                <a:extLst>
                  <a:ext uri="{FF2B5EF4-FFF2-40B4-BE49-F238E27FC236}">
                    <a16:creationId xmlns:a16="http://schemas.microsoft.com/office/drawing/2014/main" id="{A3A44125-684E-3ED2-44BE-AD6DD1B87F7A}"/>
                  </a:ext>
                </a:extLst>
              </p:cNvPr>
              <p:cNvPicPr/>
              <p:nvPr/>
            </p:nvPicPr>
            <p:blipFill>
              <a:blip r:embed="rId3"/>
              <a:stretch>
                <a:fillRect/>
              </a:stretch>
            </p:blipFill>
            <p:spPr>
              <a:xfrm>
                <a:off x="10403370" y="1054170"/>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11" name="Ink 10">
                <a:extLst>
                  <a:ext uri="{FF2B5EF4-FFF2-40B4-BE49-F238E27FC236}">
                    <a16:creationId xmlns:a16="http://schemas.microsoft.com/office/drawing/2014/main" id="{4B8ABC8A-2C11-EC63-D088-EAC2A51CF979}"/>
                  </a:ext>
                </a:extLst>
              </p14:cNvPr>
              <p14:cNvContentPartPr/>
              <p14:nvPr/>
            </p14:nvContentPartPr>
            <p14:xfrm>
              <a:off x="627930" y="6241050"/>
              <a:ext cx="360" cy="360"/>
            </p14:xfrm>
          </p:contentPart>
        </mc:Choice>
        <mc:Fallback>
          <p:pic>
            <p:nvPicPr>
              <p:cNvPr id="11" name="Ink 10">
                <a:extLst>
                  <a:ext uri="{FF2B5EF4-FFF2-40B4-BE49-F238E27FC236}">
                    <a16:creationId xmlns:a16="http://schemas.microsoft.com/office/drawing/2014/main" id="{4B8ABC8A-2C11-EC63-D088-EAC2A51CF979}"/>
                  </a:ext>
                </a:extLst>
              </p:cNvPr>
              <p:cNvPicPr/>
              <p:nvPr/>
            </p:nvPicPr>
            <p:blipFill>
              <a:blip r:embed="rId3"/>
              <a:stretch>
                <a:fillRect/>
              </a:stretch>
            </p:blipFill>
            <p:spPr>
              <a:xfrm>
                <a:off x="618930" y="6232050"/>
                <a:ext cx="18000" cy="18000"/>
              </a:xfrm>
              <a:prstGeom prst="rect">
                <a:avLst/>
              </a:prstGeom>
            </p:spPr>
          </p:pic>
        </mc:Fallback>
      </mc:AlternateContent>
      <p:pic>
        <p:nvPicPr>
          <p:cNvPr id="13" name="Picture 12">
            <a:extLst>
              <a:ext uri="{FF2B5EF4-FFF2-40B4-BE49-F238E27FC236}">
                <a16:creationId xmlns:a16="http://schemas.microsoft.com/office/drawing/2014/main" id="{8B8648F3-BE52-EFA8-724A-EA42BF883669}"/>
              </a:ext>
            </a:extLst>
          </p:cNvPr>
          <p:cNvPicPr>
            <a:picLocks noChangeAspect="1"/>
          </p:cNvPicPr>
          <p:nvPr/>
        </p:nvPicPr>
        <p:blipFill>
          <a:blip r:embed="rId6"/>
          <a:stretch>
            <a:fillRect/>
          </a:stretch>
        </p:blipFill>
        <p:spPr>
          <a:xfrm>
            <a:off x="0" y="0"/>
            <a:ext cx="12192000" cy="6858000"/>
          </a:xfrm>
          <a:prstGeom prst="rect">
            <a:avLst/>
          </a:prstGeom>
        </p:spPr>
      </p:pic>
      <mc:AlternateContent xmlns:mc="http://schemas.openxmlformats.org/markup-compatibility/2006">
        <mc:Choice xmlns:p14="http://schemas.microsoft.com/office/powerpoint/2010/main" Requires="p14">
          <p:contentPart p14:bwMode="auto" r:id="rId7">
            <p14:nvContentPartPr>
              <p14:cNvPr id="14" name="Ink 13">
                <a:extLst>
                  <a:ext uri="{FF2B5EF4-FFF2-40B4-BE49-F238E27FC236}">
                    <a16:creationId xmlns:a16="http://schemas.microsoft.com/office/drawing/2014/main" id="{2F746C79-E6EF-8E90-8BE0-F36A69E4FBB9}"/>
                  </a:ext>
                </a:extLst>
              </p14:cNvPr>
              <p14:cNvContentPartPr/>
              <p14:nvPr/>
            </p14:nvContentPartPr>
            <p14:xfrm>
              <a:off x="1886130" y="398250"/>
              <a:ext cx="3166560" cy="711360"/>
            </p14:xfrm>
          </p:contentPart>
        </mc:Choice>
        <mc:Fallback>
          <p:pic>
            <p:nvPicPr>
              <p:cNvPr id="14" name="Ink 13">
                <a:extLst>
                  <a:ext uri="{FF2B5EF4-FFF2-40B4-BE49-F238E27FC236}">
                    <a16:creationId xmlns:a16="http://schemas.microsoft.com/office/drawing/2014/main" id="{2F746C79-E6EF-8E90-8BE0-F36A69E4FBB9}"/>
                  </a:ext>
                </a:extLst>
              </p:cNvPr>
              <p:cNvPicPr/>
              <p:nvPr/>
            </p:nvPicPr>
            <p:blipFill>
              <a:blip r:embed="rId8"/>
              <a:stretch>
                <a:fillRect/>
              </a:stretch>
            </p:blipFill>
            <p:spPr>
              <a:xfrm>
                <a:off x="1877130" y="389610"/>
                <a:ext cx="3184200" cy="7290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5" name="Ink 14">
                <a:extLst>
                  <a:ext uri="{FF2B5EF4-FFF2-40B4-BE49-F238E27FC236}">
                    <a16:creationId xmlns:a16="http://schemas.microsoft.com/office/drawing/2014/main" id="{D0941710-4A14-616C-FC45-4308F3BF8870}"/>
                  </a:ext>
                </a:extLst>
              </p14:cNvPr>
              <p14:cNvContentPartPr/>
              <p14:nvPr/>
            </p14:nvContentPartPr>
            <p14:xfrm>
              <a:off x="1413450" y="2729970"/>
              <a:ext cx="4418280" cy="563400"/>
            </p14:xfrm>
          </p:contentPart>
        </mc:Choice>
        <mc:Fallback>
          <p:pic>
            <p:nvPicPr>
              <p:cNvPr id="15" name="Ink 14">
                <a:extLst>
                  <a:ext uri="{FF2B5EF4-FFF2-40B4-BE49-F238E27FC236}">
                    <a16:creationId xmlns:a16="http://schemas.microsoft.com/office/drawing/2014/main" id="{D0941710-4A14-616C-FC45-4308F3BF8870}"/>
                  </a:ext>
                </a:extLst>
              </p:cNvPr>
              <p:cNvPicPr/>
              <p:nvPr/>
            </p:nvPicPr>
            <p:blipFill>
              <a:blip r:embed="rId10"/>
              <a:stretch>
                <a:fillRect/>
              </a:stretch>
            </p:blipFill>
            <p:spPr>
              <a:xfrm>
                <a:off x="1404450" y="2720970"/>
                <a:ext cx="4435920" cy="581040"/>
              </a:xfrm>
              <a:prstGeom prst="rect">
                <a:avLst/>
              </a:prstGeom>
            </p:spPr>
          </p:pic>
        </mc:Fallback>
      </mc:AlternateContent>
    </p:spTree>
    <p:extLst>
      <p:ext uri="{BB962C8B-B14F-4D97-AF65-F5344CB8AC3E}">
        <p14:creationId xmlns:p14="http://schemas.microsoft.com/office/powerpoint/2010/main" val="25421001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88BC2021-6068-902E-5581-F6ECE87C245E}"/>
                  </a:ext>
                </a:extLst>
              </p14:cNvPr>
              <p14:cNvContentPartPr/>
              <p14:nvPr/>
            </p14:nvContentPartPr>
            <p14:xfrm>
              <a:off x="2171610" y="1279890"/>
              <a:ext cx="360" cy="360"/>
            </p14:xfrm>
          </p:contentPart>
        </mc:Choice>
        <mc:Fallback>
          <p:pic>
            <p:nvPicPr>
              <p:cNvPr id="2" name="Ink 1">
                <a:extLst>
                  <a:ext uri="{FF2B5EF4-FFF2-40B4-BE49-F238E27FC236}">
                    <a16:creationId xmlns:a16="http://schemas.microsoft.com/office/drawing/2014/main" id="{88BC2021-6068-902E-5581-F6ECE87C245E}"/>
                  </a:ext>
                </a:extLst>
              </p:cNvPr>
              <p:cNvPicPr/>
              <p:nvPr/>
            </p:nvPicPr>
            <p:blipFill>
              <a:blip r:embed="rId3"/>
              <a:stretch>
                <a:fillRect/>
              </a:stretch>
            </p:blipFill>
            <p:spPr>
              <a:xfrm>
                <a:off x="2162610" y="1270890"/>
                <a:ext cx="18000" cy="18000"/>
              </a:xfrm>
              <a:prstGeom prst="rect">
                <a:avLst/>
              </a:prstGeom>
            </p:spPr>
          </p:pic>
        </mc:Fallback>
      </mc:AlternateContent>
      <p:pic>
        <p:nvPicPr>
          <p:cNvPr id="4" name="Picture 3">
            <a:extLst>
              <a:ext uri="{FF2B5EF4-FFF2-40B4-BE49-F238E27FC236}">
                <a16:creationId xmlns:a16="http://schemas.microsoft.com/office/drawing/2014/main" id="{6E7BDAC5-7318-2C2D-815B-D98E6A425415}"/>
              </a:ext>
            </a:extLst>
          </p:cNvPr>
          <p:cNvPicPr>
            <a:picLocks noChangeAspect="1"/>
          </p:cNvPicPr>
          <p:nvPr/>
        </p:nvPicPr>
        <p:blipFill>
          <a:blip r:embed="rId4"/>
          <a:stretch>
            <a:fillRect/>
          </a:stretch>
        </p:blipFill>
        <p:spPr>
          <a:xfrm>
            <a:off x="0" y="0"/>
            <a:ext cx="12192000" cy="6858000"/>
          </a:xfrm>
          <a:prstGeom prst="rect">
            <a:avLst/>
          </a:prstGeom>
        </p:spPr>
      </p:pic>
      <mc:AlternateContent xmlns:mc="http://schemas.openxmlformats.org/markup-compatibility/2006">
        <mc:Choice xmlns:p14="http://schemas.microsoft.com/office/powerpoint/2010/main" Requires="p14">
          <p:contentPart p14:bwMode="auto" r:id="rId5">
            <p14:nvContentPartPr>
              <p14:cNvPr id="5" name="Ink 4">
                <a:extLst>
                  <a:ext uri="{FF2B5EF4-FFF2-40B4-BE49-F238E27FC236}">
                    <a16:creationId xmlns:a16="http://schemas.microsoft.com/office/drawing/2014/main" id="{09B6C362-E971-40A8-3B4F-B837E34CBF9D}"/>
                  </a:ext>
                </a:extLst>
              </p14:cNvPr>
              <p14:cNvContentPartPr/>
              <p14:nvPr/>
            </p14:nvContentPartPr>
            <p14:xfrm>
              <a:off x="-50310" y="79290"/>
              <a:ext cx="9319680" cy="950400"/>
            </p14:xfrm>
          </p:contentPart>
        </mc:Choice>
        <mc:Fallback>
          <p:pic>
            <p:nvPicPr>
              <p:cNvPr id="5" name="Ink 4">
                <a:extLst>
                  <a:ext uri="{FF2B5EF4-FFF2-40B4-BE49-F238E27FC236}">
                    <a16:creationId xmlns:a16="http://schemas.microsoft.com/office/drawing/2014/main" id="{09B6C362-E971-40A8-3B4F-B837E34CBF9D}"/>
                  </a:ext>
                </a:extLst>
              </p:cNvPr>
              <p:cNvPicPr/>
              <p:nvPr/>
            </p:nvPicPr>
            <p:blipFill>
              <a:blip r:embed="rId6"/>
              <a:stretch>
                <a:fillRect/>
              </a:stretch>
            </p:blipFill>
            <p:spPr>
              <a:xfrm>
                <a:off x="-58950" y="70290"/>
                <a:ext cx="9337320" cy="968040"/>
              </a:xfrm>
              <a:prstGeom prst="rect">
                <a:avLst/>
              </a:prstGeom>
            </p:spPr>
          </p:pic>
        </mc:Fallback>
      </mc:AlternateContent>
    </p:spTree>
    <p:extLst>
      <p:ext uri="{BB962C8B-B14F-4D97-AF65-F5344CB8AC3E}">
        <p14:creationId xmlns:p14="http://schemas.microsoft.com/office/powerpoint/2010/main" val="22769852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303</TotalTime>
  <Words>4540</Words>
  <Application>Microsoft Office PowerPoint</Application>
  <PresentationFormat>Widescreen</PresentationFormat>
  <Paragraphs>223</Paragraphs>
  <Slides>19</Slides>
  <Notes>16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Aptos</vt:lpstr>
      <vt:lpstr>Aptos Display</vt:lpstr>
      <vt:lpstr>Arial</vt:lpstr>
      <vt:lpstr>Calibri</vt:lpstr>
      <vt:lpstr>Cambria Math</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Spiegelman, Donna</dc:creator>
  <cp:lastModifiedBy>Spiegelman, Donna</cp:lastModifiedBy>
  <cp:revision>12</cp:revision>
  <dcterms:created xsi:type="dcterms:W3CDTF">2026-03-03T22:10:07Z</dcterms:created>
  <dcterms:modified xsi:type="dcterms:W3CDTF">2026-03-04T03:13:30Z</dcterms:modified>
</cp:coreProperties>
</file>